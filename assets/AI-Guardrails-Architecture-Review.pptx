
<file path=[Content_Types].xml><?xml version="1.0" encoding="utf-8"?>
<Types xmlns="http://schemas.openxmlformats.org/package/2006/content-types">
  <Default Extension="bin" ContentType="application/vnd.openxmlformats-officedocument.presentationml.printerSetting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count</c:v>
                </c:pt>
              </c:strCache>
            </c:strRef>
          </c:tx>
          <c:dPt>
            <c:idx val="0"/>
            <c:spPr>
              <a:solidFill>
                <a:srgbClr val="E06C5F"/>
              </a:solidFill>
              <a:ln>
                <a:noFill/>
              </a:ln>
            </c:spPr>
          </c:dPt>
          <c:dPt>
            <c:idx val="1"/>
            <c:spPr>
              <a:solidFill>
                <a:srgbClr val="E0B341"/>
              </a:solidFill>
              <a:ln>
                <a:noFill/>
              </a:ln>
            </c:spPr>
          </c:dPt>
          <c:dPt>
            <c:idx val="2"/>
            <c:spPr>
              <a:solidFill>
                <a:srgbClr val="4FB477"/>
              </a:solidFill>
              <a:ln>
                <a:noFill/>
              </a:ln>
            </c:spPr>
          </c:dPt>
          <c:cat>
            <c:strRef>
              <c:f>Sheet1!$A$2:$A$4</c:f>
              <c:strCache>
                <c:ptCount val="3"/>
                <c:pt idx="0">
                  <c:v>Major — new prefix,
plus bind-time refusal</c:v>
                </c:pt>
                <c:pt idx="1">
                  <c:v>Major — new path prefix</c:v>
                </c:pt>
                <c:pt idx="2">
                  <c:v>Minor — no client change</c:v>
                </c:pt>
              </c:strCache>
            </c:strRef>
          </c:cat>
          <c:val>
            <c:numRef>
              <c:f>Sheet1!$B$2:$B$4</c:f>
              <c:numCache>
                <c:formatCode>General</c:formatCode>
                <c:ptCount val="3"/>
                <c:pt idx="0">
                  <c:v>1</c:v>
                </c:pt>
                <c:pt idx="1">
                  <c:v>4</c:v>
                </c:pt>
                <c:pt idx="2">
                  <c:v>2</c:v>
                </c:pt>
              </c:numCache>
            </c:numRef>
          </c:val>
        </c:ser>
        <c:dLbls>
          <c:txPr>
            <a:bodyPr/>
            <a:lstStyle/>
            <a:p>
              <a:pPr>
                <a:defRPr sz="1300" b="1">
                  <a:solidFill>
                    <a:srgbClr val="E8ECF2"/>
                  </a:solidFill>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l"/>
        <c:majorTickMark val="out"/>
        <c:minorTickMark val="none"/>
        <c:tickLblPos val="nextTo"/>
        <c:spPr>
          <a:ln>
            <a:solidFill>
              <a:srgbClr val="2E3945"/>
            </a:solidFill>
          </a:ln>
        </c:spPr>
        <c:txPr>
          <a:bodyPr/>
          <a:lstStyle/>
          <a:p>
            <a:pPr>
              <a:defRPr sz="1200">
                <a:solidFill>
                  <a:srgbClr val="E8ECF2"/>
                </a:solidFill>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spPr>
        <a:noFill/>
        <a:ln>
          <a:noFill/>
        </a:ln>
      </c:spPr>
    </c:plotArea>
    <c:dispBlanksAs val="gap"/>
  </c:chart>
  <c:spPr>
    <a:noFill/>
    <a:ln>
      <a:noFill/>
    </a:ln>
  </c:spPr>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DECK-VARIANTS.md §3; the contract set under review is ADR-0004, ADR-0005, ADR-0007 through ADR-0015, all Accepted pending owner ratification.</a:t>
            </a:r>
          </a:p>
          <a:p>
            <a:r>
              <a:t>CAVEAT NOT ON SLIDE — Every ADR in this deck is Accepted pending owner ratification on a working branch — do not present any of them as immutable. The board can still change them, which is why the session exists.</a:t>
            </a:r>
          </a:p>
          <a:p>
            <a:r>
              <a:t>TALK TRACK — Open by naming what this session is: a design review with sign-off authority, not a status update and not a funding pitch. Name the five things under review — evaluation contract, policy schema, enforcement semantics, connector compatibility, runtime compatibility — then go straight to what is already decided versus what is open.</a:t>
            </a:r>
          </a:p>
          <a:p>
            <a:r>
              <a:t>IF ASKED — 'Has any of this been built?' — No. These are records of design decisions and their consequences. The first code lands in Phase 1, after this review.</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DECK-VARIANTS.md §3 (review scope); the authority ladder is DOCUMENT-GOVERNANCE.md §6, with L1 registers above L3 architecture records.</a:t>
            </a:r>
          </a:p>
          <a:p>
            <a:r>
              <a:t>CAVEAT NOT ON SLIDE — The ADRs are Accepted pending owner ratification on a working branch. This board's objection is still cheap today; after ratification it is a register-level change with a documented supersession.</a:t>
            </a:r>
          </a:p>
          <a:p>
            <a:r>
              <a:t>TALK TRACK — Read the three rows, then name what sits in each. Settled: standalone platform, policy separate from connector, one evaluation contract across all three modes, guardrails are not authorization, failure behavior is part of policy. Decided in records: wire format and versioning, policy schema, enforcement clamping, reason-code namespacing, policy storage and distribution, connector identity and integrity, runtime deployment target. Open: the closing section. Then land the governing rule — where a design record and an agreement disagree, the agreement governs and the record is corrected, never the reverse. That rule is what makes this review bounded.</a:t>
            </a:r>
          </a:p>
          <a:p>
            <a:r>
              <a:t>IF ASKED — 'Can an agreement be reopened?' — Yes, through the scope-change process with a recorded decision. Not informally in session.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SYSTEM-CONTEXT.md external actors and dependencies; consumer list per INTEGRATION-ARCHITECTURE.md §4–§5; exclusions per AGR-010 and the connector non-responsibilities in INTEGRATION-ARCHITECTURE.md §4.3.</a:t>
            </a:r>
          </a:p>
          <a:p>
            <a:r>
              <a:t>CAVEAT NOT ON SLIDE — In Mode A the model call never transits this platform — only the two evaluation calls do. Reviewers frequently assume a proxy topology; correct it here rather than at the topology slides.</a:t>
            </a:r>
          </a:p>
          <a:p>
            <a:r>
              <a:t>TALK TRACK — Establish the boundary before the internals. The red panel is the part people get wrong, and getting it wrong makes every later slide read differently. Say that the exclusions are permanent, not phase-one simplifications — model invocation stays outside the boundary in every cooperative mode.</a:t>
            </a:r>
          </a:p>
          <a:p>
            <a:r>
              <a:t>IF ASKED — 'Why is Bedrock Guardrails a dependency rather than the product?' — Because it sits behind an evaluator adapter (AGR-004). It is the first managed engine, not a permanent or exclusive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CONTAINER-ARCHITECTURE.md §1 container map; deployment target per ADR-0015 (ECS Fargate behind an ALB, container-based so Phase 4 is a packaging exercise); evaluation-engine list per AGR-004.</a:t>
            </a:r>
          </a:p>
          <a:p>
            <a:r>
              <a:t>CAVEAT NOT ON SLIDE — Fargate over EKS is a deliberate deferral, not a conviction — the Phase 1–2 workload is two long-running services. ALB over API Gateway is the weakest-held decision in the record and revisiting it changes an entry point, not an architecture.</a:t>
            </a:r>
          </a:p>
          <a:p>
            <a:r>
              <a:t>TALK TRACK — Give them the layering once, then say the load-bearing part out loud: policy is distributed asynchronously and resolution reads local state only. That is what the next several slides depend on.</a:t>
            </a:r>
          </a:p>
          <a:p>
            <a:r>
              <a:t>IF ASKED — 'Why containers rather than functions?' — Because Phase 4 ships the same artifact into a customer account. A function-based hosted deployment would mean two packaging paths for one codebase, and they would drift (ADR-0015).</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AGR-007 (policies are separate from connectors); portability consequence AGR-005; the client-configuration boundary is ADR-0012 §4, the published artifact boundary ADR-0008 §5.</a:t>
            </a:r>
          </a:p>
          <a:p>
            <a:r>
              <a:t>CAVEAT NOT ON SLIDE — This is stated as a property of the distributed artifact, not only of the runtime design — a connector release that embedded a policy or a credential would be detectable in the artifact itself.</a:t>
            </a:r>
          </a:p>
          <a:p>
            <a:r>
              <a:t>TALK TRACK — If the board only stress-tests one thing, make it this. Every portability claim later in the deck is a consequence of it holding. The line to land: the client learns how long to wait and what to do when it cannot wait longer — it never learns what to detect or what to do about a finding, and that boundary is checkable at the artifact, not only in the design.</a:t>
            </a:r>
          </a:p>
          <a:p>
            <a:r>
              <a:t>IF ASKED — 'What stops policy leaking into the client over the config channel?' — The configuration payload carries timeouts and failure behaviour only, by schema. No thresholds, no evaluator selection, no detection rules (ADR-0012 §4).</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ADR-0005 §1 transport, §2 versioning classification, §3 generated OpenAPI, §5 bodies; field set from INTEGRATION-ARCHITECTURE.md §3.2 and §3.3; guardrail_category per ADR-0003, enforcement_state per ADR-0004.</a:t>
            </a:r>
          </a:p>
          <a:p>
            <a:r>
              <a:t>CAVEAT NOT ON SLIDE — Adding a value to a response enum — a new action, a new stage — is classified major, not minor. That is a deliberately expensive classification and it is the one most likely to be argued with in this session.</a:t>
            </a:r>
          </a:p>
          <a:p>
            <a:r>
              <a:t>TALK TRACK — Walk the two payloads field by field and stop on three things. policy_ref is advisory — that single word is what stops a client negotiating itself weaker enforcement. content is a discriminated union, because a bare string would make every future stage a breaking change. enforcement_state is on the decision and not only in audit, because a client cannot implement warn without it at request time. Then add that the OpenAPI document is generated from the runtime's own models and committed as a golden file, so an unversioned contract change is a build failure rather than a review omission.</a:t>
            </a:r>
          </a:p>
          <a:p>
            <a:r>
              <a:t>IF ASKED — 'Why is a new enum value a major?' — Because a client that receives an action it does not know cannot apply it, and the contract must stay compatible across three deployment modes indefinitely (ADR-0005 §7, TECHNICAL-RISKS R8).</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ADR-0005 §2 versioning classification table — the seven change kinds and what each requires; the enum-value rule and its bind-time consequence are §7; the one-contract-across-modes obligation is AGR-006.</a:t>
            </a:r>
          </a:p>
          <a:p>
            <a:r>
              <a:t>CAVEAT NOT ON SLIDE — The counts are of change kinds in the classification table, not of changes anyone has made or expects to make. Nothing has been built, so there is no change history to chart — do not let this be read as a measured rate.</a:t>
            </a:r>
          </a:p>
          <a:p>
            <a:r>
              <a:t>TALK TRACK — This is the argument for the classification, in one shape: only two kinds of change are free — adding an optional request field and adding a response field. Everything else costs a new path prefix, and adding a value to a response enum additionally costs a bind-time compatibility refusal. That is the price of one contract serving all three deployment modes indefinitely. Invite the board to argue the enum row specifically; it is the expensive one and the one they are most likely to want relaxed.</a:t>
            </a:r>
          </a:p>
          <a:p>
            <a:r>
              <a:t>IF ASKED — 'Can two majors run at once?' — Yes, during a migration window. There is no header-based or media-type negotiation; the major lives in the path.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ADR-0005 §6 status-code table and the 5xx rule; failure-path substitution per AGR-012; error envelope is RFC 9457 problem+json extended with reason_code.</a:t>
            </a:r>
          </a:p>
          <a:p>
            <a:r>
              <a:t>CAVEAT NOT ON SLIDE — This is the rule most likely to be violated by an implementer under time pressure — returning 403 for a block is locally convenient and permanently corrosive. Worth stating as a conformance test, not a convention.</a:t>
            </a:r>
          </a:p>
          <a:p>
            <a:r>
              <a:t>TALK TRACK — One sentence carries the slide: enforcement outcomes are successes. Then fill in what the table does not say. A detector outage, an evaluation timeout or an unresolvable policy all produce a completed response carrying a substitute decision — never a server error — because encoding enforcement as an error would make every client's error path also its enforcement path. Problem responses carry a reason code from the same taxonomy as decisions, plus a correlation identifier. Then move to the policy document, which is where the failure behaviours come from.</a:t>
            </a:r>
          </a:p>
          <a:p>
            <a:r>
              <a:t>IF ASKED — 'How does a client distinguish a block from an outage?' — By status class. A completed response means the platform decided; a server error means it did not, and the client's own configured behaviour takes over.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ADR-0009 §1 schema and pre-publication validation, §2 required contents, §3 capability-not-vendor selection, §4 no-default failure keys; AGR-012 enumerates the failure modes; separation of binding attributes per AGR-017.</a:t>
            </a:r>
          </a:p>
          <a:p>
            <a:r>
              <a:t>CAVEAT NOT ON SLIDE — The same no-default rule applies at the client: a client that has never retrieved its configuration and was given none refuses to evaluate rather than allowing (ADR-0012 §2). Reviewers usually accept the server rule and flinch at the client one.</a:t>
            </a:r>
          </a:p>
          <a:p>
            <a:r>
              <a:t>TALK TRACK — The third bullet is the one to spend time on, because it carries a real cost. 'No undocumented fallback' and 'sensible defaults' are mutually exclusive: any default, however conservative, means an author who omits the section still gets behaviour, and that behaviour is undocumented from the author's point of view. So every policy author writes every failure key, including for modes they consider unlikely. That verbosity is the documentation the agreement requires — a real cost, accepted deliberately. Read the argument out, invite the objection, and let the board weigh it. Close by noting what the policy does not carry: no tenant, no workload, no enforcement mode — those live on the binding, which is what lets one policy version serve many workloads at different points on the ladder.</a:t>
            </a:r>
          </a:p>
          <a:p>
            <a:r>
              <a:t>IF ASKED — 'Could just the unlikely modes be defaulted?' — Then those are the ones nobody writes down, which is precisely the class of behaviour the agreement exists to eliminate. The alternatives are recorded in the decision record.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ADR-0004 §1 state on the binding, §2 clamping table, §3 warn distinguished by a decision field rather than a fifth action, §4 disabled still audits; AGR-011; binding attributes per DATA-ARCHITECTURE.md §1.5.</a:t>
            </a:r>
          </a:p>
          <a:p>
            <a:r>
              <a:t>CAVEAT NOT ON SLIDE — Disabled still produces a decision and an audit record, with evaluators skipped entirely. That is what makes a disabled workload provably disabled rather than merely silent — the audit trail distinguishes 'evaluation ran and was disabled by binding' from 'no evaluation occurred'.</a:t>
            </a:r>
          </a:p>
          <a:p>
            <a:r>
              <a:t>TALK TRACK — Walk the five states once and say what the ladder is for: the decision engine computes the action from the policy, then clamps it to what the state permits. The state is an upper bound on what may happen to traffic, not a selection of what to detect. The next slide is the mechanism.</a:t>
            </a:r>
          </a:p>
          <a:p>
            <a:r>
              <a:t>IF ASKED — 'Why is warn not an action?' — Because the caller proceeds either way. Warn differs from observe in whether the client surfaces the reason codes, and how it surfaces them is deliberately client-specific.</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ADR-0004 §2 clamping table, §5 clamping never alters findings; AGR-011; guardrail_category as a first-class decision field per ADR-0003; binding attributes per DATA-ARCHITECTURE.md §1.5.</a:t>
            </a:r>
          </a:p>
          <a:p>
            <a:r>
              <a:t>CAVEAT NOT ON SLIDE — The disabled state is the exception at the left of the pipeline: evaluators do not run at all, so there are no findings to report — the audit record still distinguishes that from an evaluation that never occurred.</a:t>
            </a:r>
          </a:p>
          <a:p>
            <a:r>
              <a:t>TALK TRACK — Walk the pipeline left to right, then read the three rows that matter. A binding in observe with a policy calling for block delivers log_only. A binding in redact with a policy calling for block delivers redact. A binding in block with a policy calling for redact delivers redact — not block. That third one is the row people misread: a ceiling is an upper bound and never a floor, so clamping never escalates. Findings are reported unchanged in all three, which is what makes observe-mode measurement real measurement rather than a muted preview of enforcement.</a:t>
            </a:r>
          </a:p>
          <a:p>
            <a:r>
              <a:t>IF ASKED — 'Does a lower state suppress the findings as well as the action?' — No. The clamp applies to the action only. A workload in observe reports exactly what a workload in block would report; it simply does not act on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ADR-0003 decision §1 canonical format, §2 guardrail_category as a first-class decision field, §3 reporting consequence; recorded as DEC-013; adapter seam per AGR-004; catalog traceability per AGR-021.</a:t>
            </a:r>
          </a:p>
          <a:p>
            <a:r>
              <a:t>CAVEAT NOT ON SLIDE — The eighteen catalog categories are change-controlled; the individual guardrails inside a category are illustrative and are not. Do not let the catalog be read as a commitment — it is classification, and several entries are explicitly vision-uncommitted or out-of-boundary.</a:t>
            </a:r>
          </a:p>
          <a:p>
            <a:r>
              <a:t>TALK TRACK — A small decision with a large reporting consequence. The category is also mirrored onto its own decision field, so per-category metrics and catalog-to-decision traceability become a group or filter on a first-class field — no side table, no forked decision structure, no per-mode divergence of the contract. It is a normalisation rule inside the existing adapter seam plus an additive field on an existing entity: no new domain entity, no new stage, no new action. Worked example: a personal-data finding from the first managed engine and the same finding from a future evaluator carry the same category segment and are queryable together. Spend a minute, not five, unless the board wants to argue the namespacing.</a:t>
            </a:r>
          </a:p>
          <a:p>
            <a:r>
              <a:t>IF ASKED — 'What if an engine's native codes collide across families?' — They cannot collide across the full form, because the family segment disambiguates them and the adapter owns the mapping.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ADR-0010 §1 store split, §2 append-only bindings, §3 the stored artifact is the distribution artifact, §4 regionality follows the tenant; ADR-0011 §1 pull, §2 local-only resolution, §3 refresh failure, §4 staleness visibility, §5 the rollback-urgency statement; AGR-006, AGR-015; NFR-REC-001.</a:t>
            </a:r>
          </a:p>
          <a:p>
            <a:r>
              <a:t>CAVEAT NOT ON SLIDE — The rollback wording in the non-functional register says 'immediate'. ADR-0011 §5 bounds it explicitly and forbids product or sales material from implying otherwise. If the board wants a tighter bound, the refresh interval is the knob and it has a cost.</a:t>
            </a:r>
          </a:p>
          <a:p>
            <a:r>
              <a:t>TALK TRACK — Give the reasoning behind each rule. Pull was chosen for the customer-managed case — a push mechanism would need inbound connectivity into a customer environment, and one mechanism across all three modes is what keeps Phase 4 a packaging exercise rather than a redesign. Local-only resolution exists because otherwise the control plane becomes a hot-path dependency whose availability bounds the evaluation path's. On refresh failure, a cached immutable version is never wrong for its version, only potentially superseded; staleness is measured, bounded, reported, and routed through the configured control-plane-unavailable behaviour once tolerance is exceeded. Then the honest caveat: rollback is immediate at the control plane, and runtimes converge within their refresh interval. That interval is a safety parameter, not a tuning knob.</a:t>
            </a:r>
          </a:p>
          <a:p>
            <a:r>
              <a:t>IF ASKED — 'What is the maximum tolerable staleness?' — Configured per deployment with an explicit value; the default figure is not set and must come from Phase 4 discovery with candidate adopters (ASM-013).</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ADR-0007 §1 two-phase table, §2 identity on the request as an optional field, §3 graded mismatch, §4 pending-verification state, §5 staleness; the runtime half of the check is ADR-0013 §3; distribution and integrity per ADR-0008; FR-016 is satisfied by neither phase alone; CON-012 and AGR-018 forbid citing identity as a control.</a:t>
            </a:r>
          </a:p>
          <a:p>
            <a:r>
              <a:t>CAVEAT NOT ON SLIDE — Identity is an optional request field in the current major deliberately — making it required would break every existing client on the day it lands, for a field whose purpose is diagnostic. A client that omits it is recorded as unknown, not as compatible.</a:t>
            </a:r>
          </a:p>
          <a:p>
            <a:r>
              <a:t>TALK TRACK — Two phases, one rule: check intent early, check reality continuously, never confuse a cooperative signal with a control. Three things are not on the slide. First, a workload is not onboarded until its installation is verified — it sits in a pending-verification state until the platform has observed at least one evaluation at every stage the bound policy declares, and verification is a precondition for promotion out of observe. Second, connectors are published artifacts on a named, externally reachable channel with verifiable integrity and documented privilege, and the published documentation states plainly what the connector does inside the consuming team's process, because that team's security review needs a factual description. Third, and most important: connector identity is self-reported and must never be cited as evidence that a workload's guardrails cannot be bypassed — a client that would lie about its version would equally decline to call at all.</a:t>
            </a:r>
          </a:p>
          <a:p>
            <a:r>
              <a:t>IF ASKED — 'Why not block on a version mismatch?' — Because blocking converts metadata drift into a production outage, which is a worse failure than the drift. A contract-major mismatch does refuse, because serving a shape the runtime does not understand is how silently wrong decisions are produced.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ADR-0013 §1 capabilities not implementations, §2 fail-to-start, §3 bind-time validation as the runtime half of ADR-0007's two-phase check, §4 re-check on capability change, §5 request-time shortfall as a configured failure mode; vocabulary shared with ADR-0009 §3; vendor boundary per AGR-004 and CON-004.</a:t>
            </a:r>
          </a:p>
          <a:p>
            <a:r>
              <a:t>CAVEAT NOT ON SLIDE — A drifted hand-maintained capability list would be worse than no check at all, because it reports confidence it does not have. That is the reasoning behind deriving the manifest rather than declaring it.</a:t>
            </a:r>
          </a:p>
          <a:p>
            <a:r>
              <a:t>TALK TRACK — Three claims, one theme: make the failure visible at the cheapest moment — startup, then bind time, then only as a last resort request time under a configured behaviour. Fill in each. A runtime declares that it can evaluate a given detection family and capability without disclosing which engine does so, which keeps the vendor boundary intact where leaking it would be most tempting and lets a deployment change implementations without changing what it advertises. A container that boots while missing a detector is the same class of failure as undocumented fallback behaviour: something is quietly not happening and nothing says so. And bind-time validation converts a production-time degradation into an error seen by the operator making the change, with the context to fix it.</a:t>
            </a:r>
          </a:p>
          <a:p>
            <a:r>
              <a:t>IF ASKED — 'What happens to existing bindings when a capability is removed?' — A running deployment cannot un-create a binding. It reports the affected workloads as degraded so an operator can act; the check is repeatable against current state, not a one-time gate.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AGR-002 three modes; one logical contract per AGR-006 and CON-005; the invariant connector contract is INTEGRATION-ARCHITECTURE.md §4.7; single packaging path per ADR-0015 §3; the packaging criterion is MVP-09.</a:t>
            </a:r>
          </a:p>
          <a:p>
            <a:r>
              <a:t>CAVEAT NOT ON SLIDE — Modes are not a maturity ladder and the modes are not equally mature — the customer-managed runtime lands in Phase 4. A reviewer with a residency requirement in mind should hear that timing explicitly.</a:t>
            </a:r>
          </a:p>
          <a:p>
            <a:r>
              <a:t>TALK TRACK — Frame the modes as a deployment axis and move quickly to the topologies, which is where this audience actually wants to be. One line worth saying: a single packaging path serves the hosted deployment, the customer-managed runtime and the later guarded gateway, because a second packaging path for the same code would drift — which is how 'packaged for customer-managed deployment without changing the connector contract' quietly becomes false.</a:t>
            </a:r>
          </a:p>
          <a:p>
            <a:r>
              <a:t>IF ASKED — 'Does the decision structure differ per mode?' — No. A caching optimisation in the hosted modes must not alter the externally observable decision or audit contract; that is a constraint, not a design preference.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DEPLOYMENT-ARCHITECTURE.md §2.1 topology, §2.2 ownership, §2.3 exposure; request sequence per INTEGRATION-ARCHITECTURE.md §4.1; framing mandated by AGR-009.</a:t>
            </a:r>
          </a:p>
          <a:p>
            <a:r>
              <a:t>CAVEAT NOT ON SLIDE — Decision metadata, evaluation latency and audit records flow to the hosted control plane as normal operation — not optional telemetry in this mode.</a:t>
            </a:r>
          </a:p>
          <a:p>
            <a:r>
              <a:t>TALK TRACK — Trace the pre-call and post-call hops and stop on the fact that model invocation stays in the team's environment. That is the property the whole cooperative posture depends on. Two evaluation calls per request, and the gateway holds the team's own model-provider credentials throughout.</a:t>
            </a:r>
          </a:p>
          <a:p>
            <a:r>
              <a:t>IF ASKED — 'What is the latency cost of two synchronous hops?' — Unmeasured. It is instrumented from Phase 1 and no target percentile value is set (ASM-011).</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DEPLOYMENT-ARCHITECTURE.md §3.1 topology, §3.2 ownership, §3.3 exposure; the gateway itself is specified on the same container platform per ADR-0015.</a:t>
            </a:r>
          </a:p>
          <a:p>
            <a:r>
              <a:t>CAVEAT NOT ON SLIDE — This mode puts the provider in the full inference path and creates the largest operational and security scope for the provider. It sits behind two validation gates for exactly that reason.</a:t>
            </a:r>
          </a:p>
          <a:p>
            <a:r>
              <a:t>TALK TRACK — Keep this brief unless the board wants to review Phase 3 scope — it is the mode furthest from the work in front of them. Add only that raw content is not persisted by default here either; decision metadata is.</a:t>
            </a:r>
          </a:p>
          <a:p>
            <a:r>
              <a:t>IF ASKED — 'Does the evaluation contract change when the runtime is in-process?' — No. The connector talks to the same contract; only the destination changes.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DEPLOYMENT-ARCHITECTURE.md §4.1 topology, §4.4 no synchronous control-plane dependency, §4.5 exposure, §9 the container artifact; AGR-015, AGR-016; pull and local-only resolution per ADR-0011; shared packaging per ADR-0015 §3.</a:t>
            </a:r>
          </a:p>
          <a:p>
            <a:r>
              <a:t>CAVEAT NOT ON SLIDE — The customer takes on runtime infrastructure, availability, upgrades and local audit storage. Policy artifacts reach this runtime over TLS, not as signed artifacts — policy signing is deferred and tracked as an open question.</a:t>
            </a:r>
          </a:p>
          <a:p>
            <a:r>
              <a:t>TALK TRACK — This is the slide that justifies several earlier decisions — pull over push, local-only resolution, containers over functions. Point back at them rather than re-arguing each. Two additions: raw content must never leave that runtime unless explicitly configured, and no telemetry at all is a fully supported configuration rather than a degraded one.</a:t>
            </a:r>
          </a:p>
          <a:p>
            <a:r>
              <a:t>IF ASKED — 'What protects the policy artifact in transit to a customer runtime?' — Transport security today. Cryptographic policy signing is permitted future scope and is not built (OQ-012).</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ADR-0002 decision §1 catalog, §2 the four extension seams formalised in EXTENSIBILITY-ARCHITECTURE.md, §3 governance rules; catalog is GUARDRAIL-CATALOG.md (GR-001–GR-018) under AGR-021; graduation is the scope-change process in SCOPE.md §8; the first graduation is recorded as DEC-020.</a:t>
            </a:r>
          </a:p>
          <a:p>
            <a:r>
              <a:t>CAVEAT NOT ON SLIDE — The catalog does not alter the defined-and-estimated feature set. If a reviewer reads eighteen categories as eighteen commitments, correct it immediately — several are explicitly uncommitted or out of boundary.</a:t>
            </a:r>
          </a:p>
          <a:p>
            <a:r>
              <a:t>TALK TRACK — Name the seams, then land the governance point: growth is bounded by a process, which is the actual answer to 'what stops this becoming a DLP platform'. The catalog itself is classification, not commitment — eighteen change-controlled categories, each carrying an enforcement layer, the stages it uses, its evaluator family, and a phase status from a fixed vocabulary: core, later-phase committed, vision-uncommitted, or out-of-boundary. Individual guardrails inside a category are illustrative and not change-controlled. Promoting a vision entry to committed scope is a recorded scope-change decision, never a silent graduation, and out-of-boundary entries carry a named external owner and are never presented as future deliverables.</a:t>
            </a:r>
          </a:p>
          <a:p>
            <a:r>
              <a:t>IF ASKED — 'Which seam is most expensive?' — A new decision action. Every client in every mode must handle it, and the contract must stay compatible indefinitely, so it is classified as a major contract change.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NON-FUNCTIONAL-REQUIREMENTS.md availability, reliability, performance and operability sections — NFR-AVAIL-001/002, NFR-PERF-001 through 007, NFR-OPS-001 through 005; timeout and retry mechanics in OPERABILITY.md §2.2–§2.6; the gaps are ASM-011 and ASM-012; mandatory timeouts per CON-016.</a:t>
            </a:r>
          </a:p>
          <a:p>
            <a:r>
              <a:t>CAVEAT NOT ON SLIDE — If the board wants a latency number today, the correct answer is that none is available. Setting a target before Phase 1 instrumentation would make it an aspiration presented as a requirement.</a:t>
            </a:r>
          </a:p>
          <a:p>
            <a:r>
              <a:t>TALK TRACK — Deliver this as a plan with a date-bearing owner, not as an apology — done that way it usually earns credibility rather than losing it. The framing: this is the stated position, not an oversight. No representative load data exists yet, and a target set without it would be a number nobody could defend. Instrumentation lands in Phase 1 precisely so the targets can be set in Phase 2 from real traffic. Detail worth adding per row: every detector budget sits strictly inside its stage budget; degraded-mode continuity is mandatory and no policy may leave observe without declaring its degraded behaviour; the circuit-breaker state is an observable signal; and tolerable staleness is owed by discovery with candidate adopters.</a:t>
            </a:r>
          </a:p>
          <a:p>
            <a:r>
              <a:t>IF ASKED — 'When are the numbers set?' — Instrumented from Phase 1, targets set in Phase 2 against real traffic, published before any mode reaches general availability.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TRADE-OFFS.md §3 hosted vs customer-managed, §4 remote vs local checks, §5 cooperative vs enforced posture, §6 the two policy stores, §7 managed engine vs custom evaluators, §8 audit delivery, §9 adapters as the cross-cutting mechanism, §10 coverage breadth vs contract surface; the accepted costs are recorded in ADR-0009 §4, ADR-0011 §5 and ADR-0015 §2–§3.</a:t>
            </a:r>
          </a:p>
          <a:p>
            <a:r>
              <a:t>CAVEAT NOT ON SLIDE — Every row is reversible at a stated price except the last, which is a posture choice rather than an architectural one and moves whenever the trust requirement moves.</a:t>
            </a:r>
          </a:p>
          <a:p>
            <a:r>
              <a:t>TALK TRACK — Invite disagreement row by row. A board that argues one of these into a different position is doing exactly what this session is for. Expand where asked: the failure keys must be written including for modes an author considers unlikely; rollback is immediate at the control plane but not instantaneous everywhere; the idle cost buys one packaging path across all three modes; bypass is accepted for Phases 1–2 and not eliminated. Close on the cross-cutting point — adapters are what stops most of these being re-litigated, because vendor behaviour, engine choice and deployment configuration sit behind a seam, so changing one does not reopen the contract.</a:t>
            </a:r>
          </a:p>
          <a:p>
            <a:r>
              <a:t>IF ASKED — 'Which of these would change first?' — The starting posture, if the board judges the residual bypass risk unacceptable for the pilot. It is the cheapest to change and the most consequential.</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OPEN-QUESTIONS.md OQ-001 (enforcement posture for first external customers), OQ-014 (observe-to-enforce go/no-go), OQ-018 (stage vocabulary expansion), OQ-022 (connector support window), OQ-012 (policy signing and inheritance); the numeric gaps are ASM-011 and ASM-012.</a:t>
            </a:r>
          </a:p>
          <a:p>
            <a:r>
              <a:t>CAVEAT NOT ON SLIDE — These are register entries with no owner and no date on several of them. That is the actual ask of this slide — a ruling is ideal, an owner and a date is acceptable, silence is not.</a:t>
            </a:r>
          </a:p>
          <a:p>
            <a:r>
              <a:t>TALK TRACK — Slow down here. This is the only slide where the board's output is required rather than optional. Work down the list, giving today's answer for each. Posture: Phases 1–2 start cooperative; if external customers need platform-managed or network-enforced, that work moves earlier and the platform takes on gateway infrastructure sooner. Promotion: it is an explicit, audited action today, but what evidence justifies it — false-positive rate, traffic volume, review sign-off — is not defined. Stage vocabulary: the content union is tagged precisely so new stages are additive, but whether the reserved seven suffice is a contract question and widening the response enum is a major version. Support window: compatibility checks are meaningless without one, and 'supported' has no definition today. Signing: transport security is the current safeguard for policy reaching a runtime the provider does not operate; signing is permitted future scope and is not built. Record what the board decides.</a:t>
            </a:r>
          </a:p>
          <a:p>
            <a:r>
              <a:t>IF ASKED — 'Can all of them be deferred?' — OQ-001 and OQ-022 gate Phase 1 design work; the rest can wait. Deferring the first two means designing against an unknown posture and an undefined support commitment.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DECK-VARIANTS.md §3 (the decision this deck asks for); authority ladder per DOCUMENT-GOVERNANCE.md §6; the open-question list is OPEN-QUESTIONS.md.</a:t>
            </a:r>
          </a:p>
          <a:p>
            <a:r>
              <a:t>CAVEAT NOT ON SLIDE — Sign-off here does not commit anyone to delivery — that decision sits with the investment review and has not been made either. Do not let the two be conflated in the minutes.</a:t>
            </a:r>
          </a:p>
          <a:p>
            <a:r>
              <a:t>TALK TRACK — Restate the contract elements, take the rulings, and stop. If sign-off is not reachable today, the useful outcome is a written list of the contract elements the board disputes — a shorter, more specific document than a general objection, and what a revision would be built from. If the board wants to keep going on a specific record, that is a follow-up session with a narrower agenda, not an extension of this one.</a:t>
            </a:r>
          </a:p>
          <a:p>
            <a:r>
              <a:t>IF ASKED — 'What if sign-off happens and an agreement then changes?' — The agreement governs and the design record is corrected. That is the ladder, and it is why the records are separate documents rather than one specification.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DECK-VARIANTS.md §3 appendix list.</a:t>
            </a:r>
          </a:p>
          <a:p>
            <a:r>
              <a:t>CAVEAT NOT ON SLIDE — The appendix is reference, not reserve narrative. Reaching for it unprompted turns a bounded review into an unbounded one.</a:t>
            </a:r>
          </a:p>
          <a:p>
            <a:r>
              <a:t>TALK TRACK — Pause. If the contract sign-off landed and the open questions are recorded, stop here. What follows, if raised: core domain model, integration manifest and client bootstrap, audit coverage, trust and enforcement postures, and the onboarding sequence.</a:t>
            </a:r>
          </a:p>
          <a:p>
            <a:r>
              <a:t>IF ASKED — n/a — divider slide.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AGR-017 core domain model; per-entity attributes in DATA-ARCHITECTURE.md §1.2–§1.7 and GLOSSARY.md; made testable in REQUIREMENTS.md.</a:t>
            </a:r>
          </a:p>
          <a:p>
            <a:r>
              <a:t>CAVEAT NOT ON SLIDE — The binding is where enforcement state, allowed overrides, effective date and rollback version live — not the policy. That separation is load-bearing for the clamping model and for the portability claim.</a:t>
            </a:r>
          </a:p>
          <a:p>
            <a:r>
              <a:t>TALK TRACK — Use this if the vocabulary slips during the contract discussion.</a:t>
            </a:r>
          </a:p>
          <a:p>
            <a:r>
              <a:t>IF ASKED — 'Why is evaluation a first-class entity rather than a log line?' — Because stage, content kind and correlation are contract-visible and must be queryable, not reconstructed from records.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ADR-0006 §1 file not screen, §2 derived not authoritative, §3 required contents, §4 the prohibited-contents list enforcing AGR-019; ADR-0012 §1 separate retrieval path, §2 refuse without configuration, §3 refresh failure, §4 no policy in configuration, §5 manifest seeds the client; timeouts per CON-016.</a:t>
            </a:r>
          </a:p>
          <a:p>
            <a:r>
              <a:t>CAVEAT NOT ON SLIDE — The explicit-configuration escape hatch exists so a client can start where the platform is not yet reachable — but it makes the values a deliberate, visible choice rather than a hidden one. It is not a default.</a:t>
            </a:r>
          </a:p>
          <a:p>
            <a:r>
              <a:t>TALK TRACK — Reach for this when someone asks what a consuming team actually receives, or challenges the refuse-without-configuration rule. The reasoning: evaluation is synchronous and latency-critical, so configuration is retrieved on its own path rather than riding the evaluation response; and if losing contact un-configured a client, a control-plane outage would turn every working client into a refusing one — a worse failure than briefly stale timeouts.</a:t>
            </a:r>
          </a:p>
          <a:p>
            <a:r>
              <a:t>IF ASKED — 'Is refusing to evaluate not just an outage?' — It is a loud configuration error at install time rather than a silent guardrail bypass in production. Defaulting to allow would disable guardrails for a workload whose owner believes they are on.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ADR-0014 §1 four event classes, §2 rejections carry no policy and no content, §3 client-synthesized records, §4 client-origin is not evidentiary; retention default per AGR-014; audit fields per DATA-ARCHITECTURE.md §4 and NFR-AUDIT-001.</a:t>
            </a:r>
          </a:p>
          <a:p>
            <a:r>
              <a:t>CAVEAT NOT ON SLIDE — The client-side store lives on infrastructure this platform does not operate, where the no-raw-retention default cannot be enforced or audited. That is why it holds reason and correlation only, and why best-effort delivery must be stated rather than implied in any compliance discussion.</a:t>
            </a:r>
          </a:p>
          <a:p>
            <a:r>
              <a:t>TALK TRACK — Use this when a reviewer asks what happens to the audit trail during an outage — the honest answer has three qualifications. A client-origin record is never presented as equivalent to a runtime record: it is self-reported by a cooperative component, so it says what a client reports having done, not what the platform observed. Operationally valuable, not evidentiary. The local store is bounded, discards oldest first on overflow, and reports how many it discarded — because discarding silently would understate an outage in exactly the direction that flatters the platform. And delivery is best-effort, because records may be lost if the client process dies.</a:t>
            </a:r>
          </a:p>
          <a:p>
            <a:r>
              <a:t>IF ASKED — 'Can a client-origin record satisfy a compliance question?' — No. It is operational evidence of what a client reports, and it must never be offered as proof of what the platform enforced.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AGR-018; the three-posture table and the honesty statement are SECURITY-ARCHITECTURE.md §3.1 and §3.3; cooperative start for Phases 1–2 per ASM-005; the external-customer posture is OQ-001.</a:t>
            </a:r>
          </a:p>
          <a:p>
            <a:r>
              <a:t>CAVEAT NOT ON SLIDE — Connector-health telemetry shows an installed connector is reporting, not that no request bypassed it. It may never be cited as the reason a workload's guardrails cannot be bypassed.</a:t>
            </a:r>
          </a:p>
          <a:p>
            <a:r>
              <a:t>TALK TRACK — Reach for this when the open question about external-customer posture comes back, or when someone challenges the strength of the pilot. The rule that goes with the table: whichever posture a workload actually runs under must be recorded and visible, and must never be described as stronger than it is.</a:t>
            </a:r>
          </a:p>
          <a:p>
            <a:r>
              <a:t>IF ASKED — 'Why not start at the strongest posture?' — Network- or identity-enforced gateway adds platform-layer work that does not help prove policy portability, which is what the first phase exists to prove.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AGR-019 meaning of import; sequence reproduced in PRODUCT-OVERVIEW.md §8; the manifest step is ADR-0006; the verification state is ADR-0007 §4.</a:t>
            </a:r>
          </a:p>
          <a:p>
            <a:r>
              <a:t>CAVEAT NOT ON SLIDE — This flow is multi-step and reviewed. It is not one-click, instant, or zero-configuration, and the claims register prohibits describing it that way.</a:t>
            </a:r>
          </a:p>
          <a:p>
            <a:r>
              <a:t>TALK TRACK — Use this if the review turns to what a consuming team experiences, or when the verification state needs a place on a timeline. Two things to add. Between install and observe sits the verification state: copying another team's LiteLLM database  ·  transferring model-provider credentials  ·  exposing gateway administration endpoints  ·  replacing model-routing configuration  ·  granting the guardrail provider administrative access to the team's gateway Onboarding never requires any of that, and the workload is not onboarded until the platform has seen an evaluation at every stage the bound policy declares.</a:t>
            </a:r>
          </a:p>
          <a:p>
            <a:r>
              <a:t>IF ASKED — 'How much application change is involved?' — Designed to be minimal, primarily connector installation and configuration. No measurement of actual change volume exists, so no figure is offered.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Rounded Rectangle 1"/>
          <p:cNvSpPr/>
          <p:nvPr/>
        </p:nvSpPr>
        <p:spPr>
          <a:xfrm>
            <a:off x="685800" y="1417320"/>
            <a:ext cx="10820095" cy="3246120"/>
          </a:xfrm>
          <a:prstGeom prst="roundRect">
            <a:avLst>
              <a:gd name="adj" fmla="val 4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777240"/>
            <a:ext cx="10820095" cy="411480"/>
          </a:xfrm>
          <a:prstGeom prst="rect">
            <a:avLst/>
          </a:prstGeom>
          <a:noFill/>
        </p:spPr>
        <p:txBody>
          <a:bodyPr wrap="square" lIns="0" rIns="0" tIns="0" bIns="0" anchor="t">
            <a:spAutoFit/>
          </a:bodyPr>
          <a:lstStyle/>
          <a:p>
            <a:pPr algn="l">
              <a:lnSpc>
                <a:spcPct val="115000"/>
              </a:lnSpc>
              <a:spcAft>
                <a:spcPts val="0"/>
              </a:spcAft>
            </a:pPr>
            <a:r>
              <a:rPr sz="1400" b="1" i="0">
                <a:solidFill>
                  <a:srgbClr val="5AA0E0"/>
                </a:solidFill>
                <a:latin typeface="Calibri"/>
              </a:rPr>
              <a:t>AI GUARDRAILS</a:t>
            </a:r>
          </a:p>
        </p:txBody>
      </p:sp>
      <p:sp>
        <p:nvSpPr>
          <p:cNvPr id="4" name="TextBox 3"/>
          <p:cNvSpPr txBox="1"/>
          <p:nvPr/>
        </p:nvSpPr>
        <p:spPr>
          <a:xfrm>
            <a:off x="1188720" y="1965960"/>
            <a:ext cx="9357055" cy="2377440"/>
          </a:xfrm>
          <a:prstGeom prst="rect">
            <a:avLst/>
          </a:prstGeom>
          <a:noFill/>
        </p:spPr>
        <p:txBody>
          <a:bodyPr wrap="square" lIns="0" rIns="0" tIns="0" bIns="0" anchor="t">
            <a:spAutoFit/>
          </a:bodyPr>
          <a:lstStyle/>
          <a:p>
            <a:pPr algn="l">
              <a:lnSpc>
                <a:spcPct val="105000"/>
              </a:lnSpc>
              <a:spcAft>
                <a:spcPts val="600"/>
              </a:spcAft>
            </a:pPr>
            <a:r>
              <a:rPr sz="3400" b="1" i="0">
                <a:solidFill>
                  <a:srgbClr val="E8ECF2"/>
                </a:solidFill>
                <a:latin typeface="Calibri"/>
              </a:rPr>
              <a:t>One policy, many gateways.</a:t>
            </a:r>
          </a:p>
          <a:p>
            <a:pPr algn="l">
              <a:lnSpc>
                <a:spcPct val="105000"/>
              </a:lnSpc>
              <a:spcAft>
                <a:spcPts val="600"/>
              </a:spcAft>
            </a:pPr>
            <a:r>
              <a:rPr sz="3400" b="1" i="0">
                <a:solidFill>
                  <a:srgbClr val="E8ECF2"/>
                </a:solidFill>
                <a:latin typeface="Calibri"/>
              </a:rPr>
              <a:t>That claim rests entirely on</a:t>
            </a:r>
          </a:p>
          <a:p>
            <a:pPr algn="l">
              <a:lnSpc>
                <a:spcPct val="105000"/>
              </a:lnSpc>
              <a:spcAft>
                <a:spcPts val="0"/>
              </a:spcAft>
            </a:pPr>
            <a:r>
              <a:rPr sz="3400" b="1" i="0">
                <a:solidFill>
                  <a:srgbClr val="5AA0E0"/>
                </a:solidFill>
                <a:latin typeface="Calibri"/>
              </a:rPr>
              <a:t>the contracts this session reviews.</a:t>
            </a:r>
          </a:p>
        </p:txBody>
      </p:sp>
      <p:sp>
        <p:nvSpPr>
          <p:cNvPr id="5" name="TextBox 4"/>
          <p:cNvSpPr txBox="1"/>
          <p:nvPr/>
        </p:nvSpPr>
        <p:spPr>
          <a:xfrm>
            <a:off x="685800" y="4956048"/>
            <a:ext cx="10820095" cy="822960"/>
          </a:xfrm>
          <a:prstGeom prst="rect">
            <a:avLst/>
          </a:prstGeom>
          <a:noFill/>
        </p:spPr>
        <p:txBody>
          <a:bodyPr wrap="square" lIns="0" rIns="0" tIns="0" bIns="0" anchor="t">
            <a:spAutoFit/>
          </a:bodyPr>
          <a:lstStyle/>
          <a:p>
            <a:pPr algn="l">
              <a:lnSpc>
                <a:spcPct val="115000"/>
              </a:lnSpc>
              <a:spcAft>
                <a:spcPts val="800"/>
              </a:spcAft>
            </a:pPr>
            <a:r>
              <a:rPr sz="1700" b="0" i="0">
                <a:solidFill>
                  <a:srgbClr val="E8ECF2"/>
                </a:solidFill>
                <a:latin typeface="Calibri"/>
              </a:rPr>
              <a:t>Architecture review  ·  Presenter: TBD</a:t>
            </a:r>
          </a:p>
          <a:p>
            <a:pPr algn="l">
              <a:lnSpc>
                <a:spcPct val="115000"/>
              </a:lnSpc>
              <a:spcAft>
                <a:spcPts val="0"/>
              </a:spcAft>
            </a:pPr>
            <a:r>
              <a:rPr sz="1150" b="0" i="0">
                <a:solidFill>
                  <a:srgbClr val="98A4B3"/>
                </a:solidFill>
                <a:latin typeface="Calibri"/>
              </a:rPr>
              <a:t>Nothing in this deck is built or running.</a:t>
            </a:r>
          </a:p>
        </p:txBody>
      </p:sp>
      <p:sp>
        <p:nvSpPr>
          <p:cNvPr id="6" name="TextBox 5"/>
          <p:cNvSpPr txBox="1"/>
          <p:nvPr/>
        </p:nvSpPr>
        <p:spPr>
          <a:xfrm>
            <a:off x="685800" y="6327648"/>
            <a:ext cx="10820095" cy="457200"/>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Placeholder styling — no brand kit exists yet.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What this session reviews</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Three categories. Only the third needs a decision from the board today.</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AI Guardrails · design intent and delivery plan — nothing built or piloted today</a:t>
            </a:r>
          </a:p>
        </p:txBody>
      </p:sp>
      <p:graphicFrame>
        <p:nvGraphicFramePr>
          <p:cNvPr id="6" name="Table 5"/>
          <p:cNvGraphicFramePr>
            <a:graphicFrameLocks noGrp="1"/>
          </p:cNvGraphicFramePr>
          <p:nvPr/>
        </p:nvGraphicFramePr>
        <p:xfrm>
          <a:off x="685800" y="2194560"/>
          <a:ext cx="10820093" cy="2084832"/>
        </p:xfrm>
        <a:graphic>
          <a:graphicData uri="http://schemas.openxmlformats.org/drawingml/2006/table">
            <a:tbl>
              <a:tblPr firstRow="1">
                <a:tableStyleId>{5C22544A-7EE6-4342-B048-85BDC9FD1C3A}</a:tableStyleId>
              </a:tblPr>
              <a:tblGrid>
                <a:gridCol w="2813224"/>
                <a:gridCol w="2596822"/>
                <a:gridCol w="5410047"/>
              </a:tblGrid>
              <a:tr h="384048">
                <a:tc>
                  <a:txBody>
                    <a:bodyPr wrap="square"/>
                    <a:lstStyle/>
                    <a:p>
                      <a:pPr algn="l">
                        <a:lnSpc>
                          <a:spcPct val="105000"/>
                        </a:lnSpc>
                        <a:spcAft>
                          <a:spcPts val="0"/>
                        </a:spcAft>
                      </a:pPr>
                      <a:r>
                        <a:rPr sz="1200" b="1" i="0">
                          <a:solidFill>
                            <a:srgbClr val="5AA0E0"/>
                          </a:solidFill>
                          <a:latin typeface="Calibri"/>
                        </a:rPr>
                        <a:t>Category</a:t>
                      </a:r>
                    </a:p>
                  </a:txBody>
                  <a:tcPr marL="91440" marR="91440" marT="45720" marB="45720" anchor="ctr">
                    <a:solidFill>
                      <a:srgbClr val="1D242C"/>
                    </a:solidFill>
                  </a:tcPr>
                </a:tc>
                <a:tc>
                  <a:txBody>
                    <a:bodyPr wrap="square"/>
                    <a:lstStyle/>
                    <a:p>
                      <a:pPr algn="l">
                        <a:lnSpc>
                          <a:spcPct val="105000"/>
                        </a:lnSpc>
                        <a:spcAft>
                          <a:spcPts val="0"/>
                        </a:spcAft>
                      </a:pPr>
                      <a:r>
                        <a:rPr sz="1200" b="1" i="0">
                          <a:solidFill>
                            <a:srgbClr val="5AA0E0"/>
                          </a:solidFill>
                          <a:latin typeface="Calibri"/>
                        </a:rPr>
                        <a:t>Scope</a:t>
                      </a:r>
                    </a:p>
                  </a:txBody>
                  <a:tcPr marL="91440" marR="91440" marT="45720" marB="45720" anchor="ctr">
                    <a:solidFill>
                      <a:srgbClr val="1D242C"/>
                    </a:solidFill>
                  </a:tcPr>
                </a:tc>
                <a:tc>
                  <a:txBody>
                    <a:bodyPr wrap="square"/>
                    <a:lstStyle/>
                    <a:p>
                      <a:pPr algn="l">
                        <a:lnSpc>
                          <a:spcPct val="105000"/>
                        </a:lnSpc>
                        <a:spcAft>
                          <a:spcPts val="0"/>
                        </a:spcAft>
                      </a:pPr>
                      <a:r>
                        <a:rPr sz="1200" b="1" i="0">
                          <a:solidFill>
                            <a:srgbClr val="5AA0E0"/>
                          </a:solidFill>
                          <a:latin typeface="Calibri"/>
                        </a:rPr>
                        <a:t>Asked of the board</a:t>
                      </a:r>
                    </a:p>
                  </a:txBody>
                  <a:tcPr marL="91440" marR="91440" marT="45720" marB="45720" anchor="ctr">
                    <a:solidFill>
                      <a:srgbClr val="1D242C"/>
                    </a:solidFill>
                  </a:tcPr>
                </a:tc>
              </a:tr>
              <a:tr h="566928">
                <a:tc>
                  <a:txBody>
                    <a:bodyPr wrap="square"/>
                    <a:lstStyle/>
                    <a:p>
                      <a:pPr algn="l">
                        <a:lnSpc>
                          <a:spcPct val="105000"/>
                        </a:lnSpc>
                        <a:spcAft>
                          <a:spcPts val="0"/>
                        </a:spcAft>
                      </a:pPr>
                      <a:r>
                        <a:rPr sz="1300" b="1" i="0">
                          <a:solidFill>
                            <a:srgbClr val="E8ECF2"/>
                          </a:solidFill>
                          <a:latin typeface="Calibri"/>
                        </a:rPr>
                        <a:t>Settled by agreement</a:t>
                      </a:r>
                    </a:p>
                  </a:txBody>
                  <a:tcPr marL="91440" marR="91440" marT="45720" marB="45720" anchor="ctr">
                    <a:solidFill>
                      <a:srgbClr val="161C23"/>
                    </a:solidFill>
                  </a:tcPr>
                </a:tc>
                <a:tc>
                  <a:txBody>
                    <a:bodyPr wrap="square"/>
                    <a:lstStyle/>
                    <a:p>
                      <a:pPr algn="l">
                        <a:lnSpc>
                          <a:spcPct val="105000"/>
                        </a:lnSpc>
                        <a:spcAft>
                          <a:spcPts val="0"/>
                        </a:spcAft>
                      </a:pPr>
                      <a:r>
                        <a:rPr sz="1300" b="0" i="0">
                          <a:solidFill>
                            <a:srgbClr val="E8ECF2"/>
                          </a:solidFill>
                          <a:latin typeface="Calibri"/>
                        </a:rPr>
                        <a:t>Five agreements</a:t>
                      </a:r>
                    </a:p>
                  </a:txBody>
                  <a:tcPr marL="91440" marR="91440" marT="45720" marB="45720" anchor="ctr">
                    <a:solidFill>
                      <a:srgbClr val="161C23"/>
                    </a:solidFill>
                  </a:tcPr>
                </a:tc>
                <a:tc>
                  <a:txBody>
                    <a:bodyPr wrap="square"/>
                    <a:lstStyle/>
                    <a:p>
                      <a:pPr algn="l">
                        <a:lnSpc>
                          <a:spcPct val="105000"/>
                        </a:lnSpc>
                        <a:spcAft>
                          <a:spcPts val="0"/>
                        </a:spcAft>
                      </a:pPr>
                      <a:r>
                        <a:rPr sz="1300" b="0" i="0">
                          <a:solidFill>
                            <a:srgbClr val="98A4B3"/>
                          </a:solidFill>
                          <a:latin typeface="Calibri"/>
                        </a:rPr>
                        <a:t>Confirm. Reopening one is a register-level change.</a:t>
                      </a:r>
                    </a:p>
                  </a:txBody>
                  <a:tcPr marL="91440" marR="91440" marT="45720" marB="45720" anchor="ctr">
                    <a:solidFill>
                      <a:srgbClr val="161C23"/>
                    </a:solidFill>
                  </a:tcPr>
                </a:tc>
              </a:tr>
              <a:tr h="566928">
                <a:tc>
                  <a:txBody>
                    <a:bodyPr wrap="square"/>
                    <a:lstStyle/>
                    <a:p>
                      <a:pPr algn="l">
                        <a:lnSpc>
                          <a:spcPct val="105000"/>
                        </a:lnSpc>
                        <a:spcAft>
                          <a:spcPts val="0"/>
                        </a:spcAft>
                      </a:pPr>
                      <a:r>
                        <a:rPr sz="1300" b="1" i="0">
                          <a:solidFill>
                            <a:srgbClr val="E8ECF2"/>
                          </a:solidFill>
                          <a:latin typeface="Calibri"/>
                        </a:rPr>
                        <a:t>Decided in design records</a:t>
                      </a:r>
                    </a:p>
                  </a:txBody>
                  <a:tcPr marL="91440" marR="91440" marT="45720" marB="45720" anchor="ctr">
                    <a:solidFill>
                      <a:srgbClr val="12161B"/>
                    </a:solidFill>
                  </a:tcPr>
                </a:tc>
                <a:tc>
                  <a:txBody>
                    <a:bodyPr wrap="square"/>
                    <a:lstStyle/>
                    <a:p>
                      <a:pPr algn="l">
                        <a:lnSpc>
                          <a:spcPct val="105000"/>
                        </a:lnSpc>
                        <a:spcAft>
                          <a:spcPts val="0"/>
                        </a:spcAft>
                      </a:pPr>
                      <a:r>
                        <a:rPr sz="1300" b="0" i="0">
                          <a:solidFill>
                            <a:srgbClr val="E8ECF2"/>
                          </a:solidFill>
                          <a:latin typeface="Calibri"/>
                        </a:rPr>
                        <a:t>Seven design records</a:t>
                      </a:r>
                    </a:p>
                  </a:txBody>
                  <a:tcPr marL="91440" marR="91440" marT="45720" marB="45720" anchor="ctr">
                    <a:solidFill>
                      <a:srgbClr val="12161B"/>
                    </a:solidFill>
                  </a:tcPr>
                </a:tc>
                <a:tc>
                  <a:txBody>
                    <a:bodyPr wrap="square"/>
                    <a:lstStyle/>
                    <a:p>
                      <a:pPr algn="l">
                        <a:lnSpc>
                          <a:spcPct val="105000"/>
                        </a:lnSpc>
                        <a:spcAft>
                          <a:spcPts val="0"/>
                        </a:spcAft>
                      </a:pPr>
                      <a:r>
                        <a:rPr sz="1300" b="0" i="0">
                          <a:solidFill>
                            <a:srgbClr val="E8ECF2"/>
                          </a:solidFill>
                          <a:latin typeface="Calibri"/>
                        </a:rPr>
                        <a:t>Challenge them — the argument is in the accepted cost.</a:t>
                      </a:r>
                    </a:p>
                  </a:txBody>
                  <a:tcPr marL="91440" marR="91440" marT="45720" marB="45720" anchor="ctr">
                    <a:solidFill>
                      <a:srgbClr val="12161B"/>
                    </a:solidFill>
                  </a:tcPr>
                </a:tc>
              </a:tr>
              <a:tr h="566928">
                <a:tc>
                  <a:txBody>
                    <a:bodyPr wrap="square"/>
                    <a:lstStyle/>
                    <a:p>
                      <a:pPr algn="l">
                        <a:lnSpc>
                          <a:spcPct val="105000"/>
                        </a:lnSpc>
                        <a:spcAft>
                          <a:spcPts val="0"/>
                        </a:spcAft>
                      </a:pPr>
                      <a:r>
                        <a:rPr sz="1300" b="1" i="0">
                          <a:solidFill>
                            <a:srgbClr val="E8ECF2"/>
                          </a:solidFill>
                          <a:latin typeface="Calibri"/>
                        </a:rPr>
                        <a:t>Open, and blocking</a:t>
                      </a:r>
                    </a:p>
                  </a:txBody>
                  <a:tcPr marL="91440" marR="91440" marT="45720" marB="45720" anchor="ctr">
                    <a:solidFill>
                      <a:srgbClr val="161C23"/>
                    </a:solidFill>
                  </a:tcPr>
                </a:tc>
                <a:tc>
                  <a:txBody>
                    <a:bodyPr wrap="square"/>
                    <a:lstStyle/>
                    <a:p>
                      <a:pPr algn="l">
                        <a:lnSpc>
                          <a:spcPct val="105000"/>
                        </a:lnSpc>
                        <a:spcAft>
                          <a:spcPts val="0"/>
                        </a:spcAft>
                      </a:pPr>
                      <a:r>
                        <a:rPr sz="1300" b="0" i="0">
                          <a:solidFill>
                            <a:srgbClr val="E8ECF2"/>
                          </a:solidFill>
                          <a:latin typeface="Calibri"/>
                        </a:rPr>
                        <a:t>Five questions</a:t>
                      </a:r>
                    </a:p>
                  </a:txBody>
                  <a:tcPr marL="91440" marR="91440" marT="45720" marB="45720" anchor="ctr">
                    <a:solidFill>
                      <a:srgbClr val="161C23"/>
                    </a:solidFill>
                  </a:tcPr>
                </a:tc>
                <a:tc>
                  <a:txBody>
                    <a:bodyPr wrap="square"/>
                    <a:lstStyle/>
                    <a:p>
                      <a:pPr algn="l">
                        <a:lnSpc>
                          <a:spcPct val="105000"/>
                        </a:lnSpc>
                        <a:spcAft>
                          <a:spcPts val="0"/>
                        </a:spcAft>
                      </a:pPr>
                      <a:r>
                        <a:rPr sz="1300" b="0" i="0">
                          <a:solidFill>
                            <a:srgbClr val="5AA0E0"/>
                          </a:solidFill>
                          <a:latin typeface="Calibri"/>
                        </a:rPr>
                        <a:t>Rule on them, or name an owner and a date.</a:t>
                      </a:r>
                    </a:p>
                  </a:txBody>
                  <a:tcPr marL="91440" marR="91440" marT="45720" marB="45720" anchor="ctr">
                    <a:solidFill>
                      <a:srgbClr val="161C23"/>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System context</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Who calls the platform, what it calls, and what it never touches.</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AI Guardrails · design intent and delivery plan — nothing built or piloted today</a:t>
            </a:r>
          </a:p>
        </p:txBody>
      </p:sp>
      <p:sp>
        <p:nvSpPr>
          <p:cNvPr id="6" name="Rounded Rectangle 5"/>
          <p:cNvSpPr/>
          <p:nvPr/>
        </p:nvSpPr>
        <p:spPr>
          <a:xfrm>
            <a:off x="685800" y="1874519"/>
            <a:ext cx="3246120" cy="301752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20824"/>
            <a:ext cx="2834640" cy="457200"/>
          </a:xfrm>
          <a:prstGeom prst="rect">
            <a:avLst/>
          </a:prstGeom>
          <a:noFill/>
        </p:spPr>
        <p:txBody>
          <a:bodyPr wrap="square" lIns="0" rIns="0" tIns="0" bIns="0" anchor="t">
            <a:spAutoFit/>
          </a:bodyPr>
          <a:lstStyle/>
          <a:p>
            <a:pPr algn="l">
              <a:lnSpc>
                <a:spcPct val="115000"/>
              </a:lnSpc>
              <a:spcAft>
                <a:spcPts val="0"/>
              </a:spcAft>
            </a:pPr>
            <a:r>
              <a:rPr sz="1000" b="0" i="0">
                <a:solidFill>
                  <a:srgbClr val="98A4B3"/>
                </a:solidFill>
                <a:latin typeface="Calibri"/>
              </a:rPr>
              <a:t>CONSUMERS</a:t>
            </a:r>
          </a:p>
        </p:txBody>
      </p:sp>
      <p:sp>
        <p:nvSpPr>
          <p:cNvPr id="8" name="Rounded Rectangle 7"/>
          <p:cNvSpPr/>
          <p:nvPr/>
        </p:nvSpPr>
        <p:spPr>
          <a:xfrm>
            <a:off x="941832" y="2386584"/>
            <a:ext cx="2743200" cy="640080"/>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150" b="0" i="0">
                <a:solidFill>
                  <a:srgbClr val="E8ECF2"/>
                </a:solidFill>
                <a:latin typeface="Calibri"/>
              </a:rPr>
              <a:t>Team-owned LiteLLM</a:t>
            </a:r>
          </a:p>
          <a:p>
            <a:pPr algn="ctr">
              <a:lnSpc>
                <a:spcPct val="115000"/>
              </a:lnSpc>
              <a:spcAft>
                <a:spcPts val="200"/>
              </a:spcAft>
            </a:pPr>
            <a:r>
              <a:rPr sz="1000" b="0" i="0">
                <a:solidFill>
                  <a:srgbClr val="98A4B3"/>
                </a:solidFill>
                <a:latin typeface="Calibri"/>
              </a:rPr>
              <a:t>with connector</a:t>
            </a:r>
          </a:p>
        </p:txBody>
      </p:sp>
      <p:sp>
        <p:nvSpPr>
          <p:cNvPr id="9" name="Rounded Rectangle 8"/>
          <p:cNvSpPr/>
          <p:nvPr/>
        </p:nvSpPr>
        <p:spPr>
          <a:xfrm>
            <a:off x="941832" y="3172968"/>
            <a:ext cx="2743200" cy="640080"/>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150" b="0" i="0">
                <a:solidFill>
                  <a:srgbClr val="E8ECF2"/>
                </a:solidFill>
                <a:latin typeface="Calibri"/>
              </a:rPr>
              <a:t>Application via the SDK</a:t>
            </a:r>
          </a:p>
        </p:txBody>
      </p:sp>
      <p:sp>
        <p:nvSpPr>
          <p:cNvPr id="10" name="Rounded Rectangle 9"/>
          <p:cNvSpPr/>
          <p:nvPr/>
        </p:nvSpPr>
        <p:spPr>
          <a:xfrm>
            <a:off x="941832" y="3959352"/>
            <a:ext cx="2743200" cy="640080"/>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150" b="0" i="0">
                <a:solidFill>
                  <a:srgbClr val="E8ECF2"/>
                </a:solidFill>
                <a:latin typeface="Calibri"/>
              </a:rPr>
              <a:t>Any authenticated</a:t>
            </a:r>
          </a:p>
          <a:p>
            <a:pPr algn="ctr">
              <a:lnSpc>
                <a:spcPct val="115000"/>
              </a:lnSpc>
              <a:spcAft>
                <a:spcPts val="200"/>
              </a:spcAft>
            </a:pPr>
            <a:r>
              <a:rPr sz="1000" b="0" i="0">
                <a:solidFill>
                  <a:srgbClr val="98A4B3"/>
                </a:solidFill>
                <a:latin typeface="Calibri"/>
              </a:rPr>
              <a:t>HTTP client</a:t>
            </a:r>
          </a:p>
        </p:txBody>
      </p:sp>
      <p:sp>
        <p:nvSpPr>
          <p:cNvPr id="11" name="Rounded Rectangle 10"/>
          <p:cNvSpPr/>
          <p:nvPr/>
        </p:nvSpPr>
        <p:spPr>
          <a:xfrm>
            <a:off x="4343400" y="2441448"/>
            <a:ext cx="3520440" cy="1920240"/>
          </a:xfrm>
          <a:prstGeom prst="roundRect">
            <a:avLst>
              <a:gd name="adj" fmla="val 8000"/>
            </a:avLst>
          </a:prstGeom>
          <a:solidFill>
            <a:srgbClr val="1D242C"/>
          </a:solidFill>
          <a:ln w="12700">
            <a:solidFill>
              <a:srgbClr val="5AA0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400" b="1" i="0">
                <a:solidFill>
                  <a:srgbClr val="E8ECF2"/>
                </a:solidFill>
                <a:latin typeface="Calibri"/>
              </a:rPr>
              <a:t>AI Guardrails</a:t>
            </a:r>
          </a:p>
          <a:p>
            <a:pPr algn="ctr">
              <a:lnSpc>
                <a:spcPct val="115000"/>
              </a:lnSpc>
              <a:spcAft>
                <a:spcPts val="200"/>
              </a:spcAft>
            </a:pPr>
            <a:r>
              <a:rPr sz="1250" b="0" i="0">
                <a:solidFill>
                  <a:srgbClr val="98A4B3"/>
                </a:solidFill>
                <a:latin typeface="Calibri"/>
              </a:rPr>
              <a:t/>
            </a:r>
          </a:p>
          <a:p>
            <a:pPr algn="ctr">
              <a:lnSpc>
                <a:spcPct val="115000"/>
              </a:lnSpc>
              <a:spcAft>
                <a:spcPts val="200"/>
              </a:spcAft>
            </a:pPr>
            <a:r>
              <a:rPr sz="1250" b="0" i="0">
                <a:solidFill>
                  <a:srgbClr val="98A4B3"/>
                </a:solidFill>
                <a:latin typeface="Calibri"/>
              </a:rPr>
              <a:t>Control plane · Evaluation API · decision engine · evaluator adapters · audit producer</a:t>
            </a:r>
          </a:p>
        </p:txBody>
      </p:sp>
      <p:cxnSp>
        <p:nvCxnSpPr>
          <p:cNvPr id="12" name="Connector 11"/>
          <p:cNvCxnSpPr/>
          <p:nvPr/>
        </p:nvCxnSpPr>
        <p:spPr>
          <a:xfrm>
            <a:off x="3703320" y="3246120"/>
            <a:ext cx="612648" cy="0"/>
          </a:xfrm>
          <a:prstGeom prst="line">
            <a:avLst/>
          </a:prstGeom>
          <a:ln w="15875">
            <a:solidFill>
              <a:srgbClr val="5AA0E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882127" y="3017520"/>
            <a:ext cx="850393" cy="0"/>
          </a:xfrm>
          <a:prstGeom prst="line">
            <a:avLst/>
          </a:prstGeom>
          <a:ln w="15875">
            <a:solidFill>
              <a:srgbClr val="5AA0E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8759952" y="1874519"/>
            <a:ext cx="2743200" cy="301752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0" y="2020824"/>
            <a:ext cx="2377440" cy="457200"/>
          </a:xfrm>
          <a:prstGeom prst="rect">
            <a:avLst/>
          </a:prstGeom>
          <a:noFill/>
        </p:spPr>
        <p:txBody>
          <a:bodyPr wrap="square" lIns="0" rIns="0" tIns="0" bIns="0" anchor="t">
            <a:spAutoFit/>
          </a:bodyPr>
          <a:lstStyle/>
          <a:p>
            <a:pPr algn="l">
              <a:lnSpc>
                <a:spcPct val="115000"/>
              </a:lnSpc>
              <a:spcAft>
                <a:spcPts val="0"/>
              </a:spcAft>
            </a:pPr>
            <a:r>
              <a:rPr sz="1000" b="0" i="0">
                <a:solidFill>
                  <a:srgbClr val="98A4B3"/>
                </a:solidFill>
                <a:latin typeface="Calibri"/>
              </a:rPr>
              <a:t>DEPENDENCIES</a:t>
            </a:r>
          </a:p>
        </p:txBody>
      </p:sp>
      <p:sp>
        <p:nvSpPr>
          <p:cNvPr id="16" name="Rounded Rectangle 15"/>
          <p:cNvSpPr/>
          <p:nvPr/>
        </p:nvSpPr>
        <p:spPr>
          <a:xfrm>
            <a:off x="8961120" y="2386584"/>
            <a:ext cx="2331720" cy="640080"/>
          </a:xfrm>
          <a:prstGeom prst="roundRect">
            <a:avLst>
              <a:gd name="adj" fmla="val 8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150" b="0" i="0">
                <a:solidFill>
                  <a:srgbClr val="E8ECF2"/>
                </a:solidFill>
                <a:latin typeface="Calibri"/>
              </a:rPr>
              <a:t>Amazon Bedrock</a:t>
            </a:r>
          </a:p>
          <a:p>
            <a:pPr algn="ctr">
              <a:lnSpc>
                <a:spcPct val="115000"/>
              </a:lnSpc>
              <a:spcAft>
                <a:spcPts val="200"/>
              </a:spcAft>
            </a:pPr>
            <a:r>
              <a:rPr sz="1000" b="0" i="0">
                <a:solidFill>
                  <a:srgbClr val="98A4B3"/>
                </a:solidFill>
                <a:latin typeface="Calibri"/>
              </a:rPr>
              <a:t>Guardrails</a:t>
            </a:r>
          </a:p>
        </p:txBody>
      </p:sp>
      <p:sp>
        <p:nvSpPr>
          <p:cNvPr id="17" name="Rounded Rectangle 16"/>
          <p:cNvSpPr/>
          <p:nvPr/>
        </p:nvSpPr>
        <p:spPr>
          <a:xfrm>
            <a:off x="8961120" y="3172968"/>
            <a:ext cx="2331720" cy="640080"/>
          </a:xfrm>
          <a:prstGeom prst="roundRect">
            <a:avLst>
              <a:gd name="adj" fmla="val 8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150" b="0" i="0">
                <a:solidFill>
                  <a:srgbClr val="E8ECF2"/>
                </a:solidFill>
                <a:latin typeface="Calibri"/>
              </a:rPr>
              <a:t>Deterministic and</a:t>
            </a:r>
          </a:p>
          <a:p>
            <a:pPr algn="ctr">
              <a:lnSpc>
                <a:spcPct val="115000"/>
              </a:lnSpc>
              <a:spcAft>
                <a:spcPts val="200"/>
              </a:spcAft>
            </a:pPr>
            <a:r>
              <a:rPr sz="1000" b="0" i="0">
                <a:solidFill>
                  <a:srgbClr val="98A4B3"/>
                </a:solidFill>
                <a:latin typeface="Calibri"/>
              </a:rPr>
              <a:t>PII evaluators</a:t>
            </a:r>
          </a:p>
        </p:txBody>
      </p:sp>
      <p:sp>
        <p:nvSpPr>
          <p:cNvPr id="18" name="Rounded Rectangle 17"/>
          <p:cNvSpPr/>
          <p:nvPr/>
        </p:nvSpPr>
        <p:spPr>
          <a:xfrm>
            <a:off x="8961120" y="3959352"/>
            <a:ext cx="2331720" cy="640080"/>
          </a:xfrm>
          <a:prstGeom prst="roundRect">
            <a:avLst>
              <a:gd name="adj" fmla="val 8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150" b="0" i="0">
                <a:solidFill>
                  <a:srgbClr val="E8ECF2"/>
                </a:solidFill>
                <a:latin typeface="Calibri"/>
              </a:rPr>
              <a:t>Queue and object</a:t>
            </a:r>
          </a:p>
          <a:p>
            <a:pPr algn="ctr">
              <a:lnSpc>
                <a:spcPct val="115000"/>
              </a:lnSpc>
              <a:spcAft>
                <a:spcPts val="200"/>
              </a:spcAft>
            </a:pPr>
            <a:r>
              <a:rPr sz="1000" b="0" i="0">
                <a:solidFill>
                  <a:srgbClr val="98A4B3"/>
                </a:solidFill>
                <a:latin typeface="Calibri"/>
              </a:rPr>
              <a:t>store for audit</a:t>
            </a:r>
          </a:p>
        </p:txBody>
      </p:sp>
      <p:sp>
        <p:nvSpPr>
          <p:cNvPr id="19" name="Rounded Rectangle 18"/>
          <p:cNvSpPr/>
          <p:nvPr/>
        </p:nvSpPr>
        <p:spPr>
          <a:xfrm>
            <a:off x="685800" y="4974336"/>
            <a:ext cx="10820095" cy="987552"/>
          </a:xfrm>
          <a:prstGeom prst="roundRect">
            <a:avLst>
              <a:gd name="adj" fmla="val 4000"/>
            </a:avLst>
          </a:prstGeom>
          <a:solidFill>
            <a:srgbClr val="161C23"/>
          </a:solidFill>
          <a:ln w="12700">
            <a:solidFill>
              <a:srgbClr val="E06C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8408" y="5120640"/>
            <a:ext cx="10234879" cy="777240"/>
          </a:xfrm>
          <a:prstGeom prst="rect">
            <a:avLst/>
          </a:prstGeom>
          <a:noFill/>
        </p:spPr>
        <p:txBody>
          <a:bodyPr wrap="square" lIns="0" rIns="0" tIns="0" bIns="0" anchor="t">
            <a:spAutoFit/>
          </a:bodyPr>
          <a:lstStyle/>
          <a:p>
            <a:pPr algn="l">
              <a:lnSpc>
                <a:spcPct val="115000"/>
              </a:lnSpc>
              <a:spcAft>
                <a:spcPts val="400"/>
              </a:spcAft>
            </a:pPr>
            <a:r>
              <a:rPr sz="1100" b="1" i="0">
                <a:solidFill>
                  <a:srgbClr val="E06C5F"/>
                </a:solidFill>
                <a:latin typeface="Calibri"/>
              </a:rPr>
              <a:t>Outside the boundary, permanently</a:t>
            </a:r>
          </a:p>
          <a:p>
            <a:pPr algn="l">
              <a:lnSpc>
                <a:spcPct val="115000"/>
              </a:lnSpc>
              <a:spcAft>
                <a:spcPts val="0"/>
              </a:spcAft>
            </a:pPr>
            <a:r>
              <a:rPr sz="1200" b="0" i="0">
                <a:solidFill>
                  <a:srgbClr val="98A4B3"/>
                </a:solidFill>
                <a:latin typeface="Calibri"/>
              </a:rPr>
              <a:t>Model invocation  ·  model-provider credentials  ·  end-user authentication  ·  business authorization  ·  gateway administration  ·  the caller's own retry and fallback behaviour.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Container architecture</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Control plane owns policy. Runtime decides. Engines detect. Audit leaves asynchronously.</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AI Guardrails · design intent and delivery plan — nothing built or piloted today</a:t>
            </a:r>
          </a:p>
        </p:txBody>
      </p:sp>
      <p:sp>
        <p:nvSpPr>
          <p:cNvPr id="6" name="Rounded Rectangle 5"/>
          <p:cNvSpPr/>
          <p:nvPr/>
        </p:nvSpPr>
        <p:spPr>
          <a:xfrm>
            <a:off x="4160520" y="1828800"/>
            <a:ext cx="3886200" cy="960120"/>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400" b="1" i="0">
                <a:solidFill>
                  <a:srgbClr val="E8ECF2"/>
                </a:solidFill>
                <a:latin typeface="Calibri"/>
              </a:rPr>
              <a:t>Guardrails Control Plane</a:t>
            </a:r>
          </a:p>
          <a:p>
            <a:pPr algn="ctr">
              <a:lnSpc>
                <a:spcPct val="115000"/>
              </a:lnSpc>
              <a:spcAft>
                <a:spcPts val="200"/>
              </a:spcAft>
            </a:pPr>
            <a:r>
              <a:rPr sz="1250" b="0" i="0">
                <a:solidFill>
                  <a:srgbClr val="98A4B3"/>
                </a:solidFill>
                <a:latin typeface="Calibri"/>
              </a:rPr>
              <a:t>Tenants · Workloads · Policies · Bindings · Rollouts</a:t>
            </a:r>
          </a:p>
        </p:txBody>
      </p:sp>
      <p:cxnSp>
        <p:nvCxnSpPr>
          <p:cNvPr id="7" name="Connector 6"/>
          <p:cNvCxnSpPr/>
          <p:nvPr/>
        </p:nvCxnSpPr>
        <p:spPr>
          <a:xfrm>
            <a:off x="6103620" y="2788920"/>
            <a:ext cx="0" cy="566928"/>
          </a:xfrm>
          <a:prstGeom prst="line">
            <a:avLst/>
          </a:prstGeom>
          <a:ln w="15875">
            <a:solidFill>
              <a:srgbClr val="5AA0E0"/>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172200" y="2898648"/>
            <a:ext cx="2377440" cy="347472"/>
          </a:xfrm>
          <a:prstGeom prst="rect">
            <a:avLst/>
          </a:prstGeom>
          <a:noFill/>
        </p:spPr>
        <p:txBody>
          <a:bodyPr wrap="square" lIns="0" rIns="0" tIns="0" bIns="0" anchor="t">
            <a:spAutoFit/>
          </a:bodyPr>
          <a:lstStyle/>
          <a:p>
            <a:pPr algn="l">
              <a:lnSpc>
                <a:spcPct val="110000"/>
              </a:lnSpc>
              <a:spcAft>
                <a:spcPts val="0"/>
              </a:spcAft>
            </a:pPr>
            <a:r>
              <a:rPr sz="950" b="0" i="0">
                <a:solidFill>
                  <a:srgbClr val="98A4B3"/>
                </a:solidFill>
                <a:latin typeface="Calibri"/>
              </a:rPr>
              <a:t>policy distribution (async)</a:t>
            </a:r>
          </a:p>
        </p:txBody>
      </p:sp>
      <p:sp>
        <p:nvSpPr>
          <p:cNvPr id="9" name="Rounded Rectangle 8"/>
          <p:cNvSpPr/>
          <p:nvPr/>
        </p:nvSpPr>
        <p:spPr>
          <a:xfrm>
            <a:off x="822960" y="3429000"/>
            <a:ext cx="2240280" cy="502920"/>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200" b="0" i="0">
                <a:solidFill>
                  <a:srgbClr val="E8ECF2"/>
                </a:solidFill>
                <a:latin typeface="Calibri"/>
              </a:rPr>
              <a:t>LiteLLM Connector</a:t>
            </a:r>
          </a:p>
        </p:txBody>
      </p:sp>
      <p:cxnSp>
        <p:nvCxnSpPr>
          <p:cNvPr id="10" name="Connector 9"/>
          <p:cNvCxnSpPr/>
          <p:nvPr/>
        </p:nvCxnSpPr>
        <p:spPr>
          <a:xfrm>
            <a:off x="3081528" y="3680460"/>
            <a:ext cx="1033272" cy="187451"/>
          </a:xfrm>
          <a:prstGeom prst="line">
            <a:avLst/>
          </a:prstGeom>
          <a:ln w="15875">
            <a:solidFill>
              <a:srgbClr val="5AA0E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22960" y="4087368"/>
            <a:ext cx="2240280" cy="502920"/>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200" b="0" i="0">
                <a:solidFill>
                  <a:srgbClr val="E8ECF2"/>
                </a:solidFill>
                <a:latin typeface="Calibri"/>
              </a:rPr>
              <a:t>Generic SDK</a:t>
            </a:r>
          </a:p>
        </p:txBody>
      </p:sp>
      <p:cxnSp>
        <p:nvCxnSpPr>
          <p:cNvPr id="12" name="Connector 11"/>
          <p:cNvCxnSpPr/>
          <p:nvPr/>
        </p:nvCxnSpPr>
        <p:spPr>
          <a:xfrm flipV="1">
            <a:off x="3081528" y="3867911"/>
            <a:ext cx="1033272" cy="470917"/>
          </a:xfrm>
          <a:prstGeom prst="line">
            <a:avLst/>
          </a:prstGeom>
          <a:ln w="15875">
            <a:solidFill>
              <a:srgbClr val="5AA0E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822960" y="4745736"/>
            <a:ext cx="2240280" cy="502920"/>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200" b="0" i="0">
                <a:solidFill>
                  <a:srgbClr val="E8ECF2"/>
                </a:solidFill>
                <a:latin typeface="Calibri"/>
              </a:rPr>
              <a:t>Guarded Gateway</a:t>
            </a:r>
          </a:p>
        </p:txBody>
      </p:sp>
      <p:cxnSp>
        <p:nvCxnSpPr>
          <p:cNvPr id="14" name="Connector 13"/>
          <p:cNvCxnSpPr/>
          <p:nvPr/>
        </p:nvCxnSpPr>
        <p:spPr>
          <a:xfrm flipV="1">
            <a:off x="3081528" y="3867911"/>
            <a:ext cx="1033272" cy="1129285"/>
          </a:xfrm>
          <a:prstGeom prst="line">
            <a:avLst/>
          </a:prstGeom>
          <a:ln w="15875">
            <a:solidFill>
              <a:srgbClr val="5AA0E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22960" y="5477256"/>
            <a:ext cx="2240280" cy="347472"/>
          </a:xfrm>
          <a:prstGeom prst="rect">
            <a:avLst/>
          </a:prstGeom>
          <a:noFill/>
        </p:spPr>
        <p:txBody>
          <a:bodyPr wrap="square" lIns="0" rIns="0" tIns="0" bIns="0" anchor="t">
            <a:spAutoFit/>
          </a:bodyPr>
          <a:lstStyle/>
          <a:p>
            <a:pPr algn="ctr">
              <a:lnSpc>
                <a:spcPct val="110000"/>
              </a:lnSpc>
              <a:spcAft>
                <a:spcPts val="0"/>
              </a:spcAft>
            </a:pPr>
            <a:r>
              <a:rPr sz="950" b="0" i="0">
                <a:solidFill>
                  <a:srgbClr val="98A4B3"/>
                </a:solidFill>
                <a:latin typeface="Calibri"/>
              </a:rPr>
              <a:t>entry points — evaluation calls</a:t>
            </a:r>
          </a:p>
        </p:txBody>
      </p:sp>
      <p:sp>
        <p:nvSpPr>
          <p:cNvPr id="16" name="Rounded Rectangle 15"/>
          <p:cNvSpPr/>
          <p:nvPr/>
        </p:nvSpPr>
        <p:spPr>
          <a:xfrm>
            <a:off x="4160520" y="3383280"/>
            <a:ext cx="3886200" cy="1325880"/>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400" b="1" i="0">
                <a:solidFill>
                  <a:srgbClr val="E8ECF2"/>
                </a:solidFill>
                <a:latin typeface="Calibri"/>
              </a:rPr>
              <a:t>Guardrails Runtime</a:t>
            </a:r>
          </a:p>
          <a:p>
            <a:pPr algn="ctr">
              <a:lnSpc>
                <a:spcPct val="115000"/>
              </a:lnSpc>
              <a:spcAft>
                <a:spcPts val="200"/>
              </a:spcAft>
            </a:pPr>
            <a:r>
              <a:rPr sz="1250" b="0" i="0">
                <a:solidFill>
                  <a:srgbClr val="98A4B3"/>
                </a:solidFill>
                <a:latin typeface="Calibri"/>
              </a:rPr>
              <a:t>Evaluation API · Policy resolver · Decision engine · Evaluator adapters · Audit producer</a:t>
            </a:r>
          </a:p>
        </p:txBody>
      </p:sp>
      <p:cxnSp>
        <p:nvCxnSpPr>
          <p:cNvPr id="17" name="Connector 16"/>
          <p:cNvCxnSpPr/>
          <p:nvPr/>
        </p:nvCxnSpPr>
        <p:spPr>
          <a:xfrm>
            <a:off x="8092440" y="4041648"/>
            <a:ext cx="822960" cy="0"/>
          </a:xfrm>
          <a:prstGeom prst="line">
            <a:avLst/>
          </a:prstGeom>
          <a:ln w="15875">
            <a:solidFill>
              <a:srgbClr val="5AA0E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942832" y="3383280"/>
            <a:ext cx="2560320" cy="1325880"/>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300" b="1" i="0">
                <a:solidFill>
                  <a:srgbClr val="E8ECF2"/>
                </a:solidFill>
                <a:latin typeface="Calibri"/>
              </a:rPr>
              <a:t>Evaluation engines</a:t>
            </a:r>
          </a:p>
          <a:p>
            <a:pPr algn="ctr">
              <a:lnSpc>
                <a:spcPct val="115000"/>
              </a:lnSpc>
              <a:spcAft>
                <a:spcPts val="200"/>
              </a:spcAft>
            </a:pPr>
            <a:r>
              <a:rPr sz="1150" b="0" i="0">
                <a:solidFill>
                  <a:srgbClr val="98A4B3"/>
                </a:solidFill>
                <a:latin typeface="Calibri"/>
              </a:rPr>
              <a:t>Bedrock Guardrails · Deterministic rules · PII evaluators · Schema validators</a:t>
            </a:r>
          </a:p>
        </p:txBody>
      </p:sp>
      <p:cxnSp>
        <p:nvCxnSpPr>
          <p:cNvPr id="19" name="Connector 18"/>
          <p:cNvCxnSpPr/>
          <p:nvPr/>
        </p:nvCxnSpPr>
        <p:spPr>
          <a:xfrm>
            <a:off x="6103620" y="4727448"/>
            <a:ext cx="0" cy="457200"/>
          </a:xfrm>
          <a:prstGeom prst="line">
            <a:avLst/>
          </a:prstGeom>
          <a:ln w="15875">
            <a:solidFill>
              <a:srgbClr val="2E394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160520" y="5202936"/>
            <a:ext cx="3886200" cy="438912"/>
          </a:xfrm>
          <a:prstGeom prst="roundRect">
            <a:avLst>
              <a:gd name="adj" fmla="val 8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150" b="0" i="0">
                <a:solidFill>
                  <a:srgbClr val="98A4B3"/>
                </a:solidFill>
                <a:latin typeface="Calibri"/>
              </a:rPr>
              <a:t>Audit events → Amazon SQS → Amazon S3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The separation everything else rests on</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A policy is expressible without any connector. A connector carries no policy.</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AI Guardrails · design intent and delivery plan — nothing built or piloted today</a:t>
            </a:r>
          </a:p>
        </p:txBody>
      </p:sp>
      <p:sp>
        <p:nvSpPr>
          <p:cNvPr id="6" name="Rounded Rectangle 5"/>
          <p:cNvSpPr/>
          <p:nvPr/>
        </p:nvSpPr>
        <p:spPr>
          <a:xfrm>
            <a:off x="685800" y="1920240"/>
            <a:ext cx="5074920" cy="566928"/>
          </a:xfrm>
          <a:prstGeom prst="roundRect">
            <a:avLst>
              <a:gd name="adj" fmla="val 8000"/>
            </a:avLst>
          </a:prstGeom>
          <a:solidFill>
            <a:srgbClr val="2B4A69"/>
          </a:solidFill>
          <a:ln w="12700">
            <a:solidFill>
              <a:srgbClr val="5AA0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300" b="1" i="0">
                <a:solidFill>
                  <a:srgbClr val="E8ECF2"/>
                </a:solidFill>
                <a:latin typeface="Calibri"/>
              </a:rPr>
              <a:t>POLICY</a:t>
            </a:r>
          </a:p>
        </p:txBody>
      </p:sp>
      <p:sp>
        <p:nvSpPr>
          <p:cNvPr id="7" name="Rounded Rectangle 6"/>
          <p:cNvSpPr/>
          <p:nvPr/>
        </p:nvSpPr>
        <p:spPr>
          <a:xfrm>
            <a:off x="685800" y="2514600"/>
            <a:ext cx="5074920" cy="205740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743200"/>
            <a:ext cx="4526280" cy="1737360"/>
          </a:xfrm>
          <a:prstGeom prst="rect">
            <a:avLst/>
          </a:prstGeom>
          <a:noFill/>
        </p:spPr>
        <p:txBody>
          <a:bodyPr wrap="square" lIns="0" rIns="0" tIns="0" bIns="0" anchor="t">
            <a:spAutoFit/>
          </a:bodyPr>
          <a:lstStyle/>
          <a:p>
            <a:pPr algn="l">
              <a:lnSpc>
                <a:spcPct val="115000"/>
              </a:lnSpc>
              <a:spcAft>
                <a:spcPts val="1200"/>
              </a:spcAft>
            </a:pPr>
            <a:r>
              <a:rPr sz="1400" b="0" i="0">
                <a:solidFill>
                  <a:srgbClr val="E8ECF2"/>
                </a:solidFill>
                <a:latin typeface="Calibri"/>
              </a:rPr>
              <a:t>What must be evaluated, and how violations are handled.</a:t>
            </a:r>
          </a:p>
          <a:p>
            <a:pPr algn="l">
              <a:lnSpc>
                <a:spcPct val="115000"/>
              </a:lnSpc>
              <a:spcAft>
                <a:spcPts val="1200"/>
              </a:spcAft>
            </a:pPr>
            <a:r>
              <a:rPr sz="1600" b="1" i="0">
                <a:solidFill>
                  <a:srgbClr val="5AA0E0"/>
                </a:solidFill>
                <a:latin typeface="Calibri"/>
              </a:rPr>
              <a:t>“Detect prompt injection and block it.”</a:t>
            </a:r>
          </a:p>
          <a:p>
            <a:pPr algn="l">
              <a:lnSpc>
                <a:spcPct val="115000"/>
              </a:lnSpc>
              <a:spcAft>
                <a:spcPts val="0"/>
              </a:spcAft>
            </a:pPr>
            <a:r>
              <a:rPr sz="1200" b="0" i="0">
                <a:solidFill>
                  <a:srgbClr val="98A4B3"/>
                </a:solidFill>
                <a:latin typeface="Calibri"/>
              </a:rPr>
              <a:t>Expressible and testable without reference to any connector. Carries no integration mechanics.</a:t>
            </a:r>
          </a:p>
        </p:txBody>
      </p:sp>
      <p:sp>
        <p:nvSpPr>
          <p:cNvPr id="9" name="Rounded Rectangle 8"/>
          <p:cNvSpPr/>
          <p:nvPr/>
        </p:nvSpPr>
        <p:spPr>
          <a:xfrm>
            <a:off x="6428232" y="1920240"/>
            <a:ext cx="5074920" cy="566928"/>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300" b="1" i="0">
                <a:solidFill>
                  <a:srgbClr val="E8ECF2"/>
                </a:solidFill>
                <a:latin typeface="Calibri"/>
              </a:rPr>
              <a:t>CONNECTOR</a:t>
            </a:r>
          </a:p>
        </p:txBody>
      </p:sp>
      <p:sp>
        <p:nvSpPr>
          <p:cNvPr id="10" name="Rounded Rectangle 9"/>
          <p:cNvSpPr/>
          <p:nvPr/>
        </p:nvSpPr>
        <p:spPr>
          <a:xfrm>
            <a:off x="6428232" y="2514600"/>
            <a:ext cx="5074920" cy="205740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02552" y="2743200"/>
            <a:ext cx="4526280" cy="1737360"/>
          </a:xfrm>
          <a:prstGeom prst="rect">
            <a:avLst/>
          </a:prstGeom>
          <a:noFill/>
        </p:spPr>
        <p:txBody>
          <a:bodyPr wrap="square" lIns="0" rIns="0" tIns="0" bIns="0" anchor="t">
            <a:spAutoFit/>
          </a:bodyPr>
          <a:lstStyle/>
          <a:p>
            <a:pPr algn="l">
              <a:lnSpc>
                <a:spcPct val="115000"/>
              </a:lnSpc>
              <a:spcAft>
                <a:spcPts val="1200"/>
              </a:spcAft>
            </a:pPr>
            <a:r>
              <a:rPr sz="1400" b="0" i="0">
                <a:solidFill>
                  <a:srgbClr val="E8ECF2"/>
                </a:solidFill>
                <a:latin typeface="Calibri"/>
              </a:rPr>
              <a:t>How one specific gateway invokes and enforces that policy.</a:t>
            </a:r>
          </a:p>
          <a:p>
            <a:pPr algn="l">
              <a:lnSpc>
                <a:spcPct val="115000"/>
              </a:lnSpc>
              <a:spcAft>
                <a:spcPts val="1200"/>
              </a:spcAft>
            </a:pPr>
            <a:r>
              <a:rPr sz="1600" b="1" i="0">
                <a:solidFill>
                  <a:srgbClr val="E8ECF2"/>
                </a:solidFill>
                <a:latin typeface="Calibri"/>
              </a:rPr>
              <a:t>“Invoke the Evaluation API during LiteLLM pre-call execution.”</a:t>
            </a:r>
          </a:p>
          <a:p>
            <a:pPr algn="l">
              <a:lnSpc>
                <a:spcPct val="115000"/>
              </a:lnSpc>
              <a:spcAft>
                <a:spcPts val="0"/>
              </a:spcAft>
            </a:pPr>
            <a:r>
              <a:rPr sz="1200" b="0" i="0">
                <a:solidFill>
                  <a:srgbClr val="98A4B3"/>
                </a:solidFill>
                <a:latin typeface="Calibri"/>
              </a:rPr>
              <a:t>Carries no policy logic, thresholds, or detection rules. A new gateway means a new connector — never a new policy.</a:t>
            </a:r>
          </a:p>
        </p:txBody>
      </p:sp>
      <p:sp>
        <p:nvSpPr>
          <p:cNvPr id="12" name="Rectangle 11"/>
          <p:cNvSpPr/>
          <p:nvPr/>
        </p:nvSpPr>
        <p:spPr>
          <a:xfrm>
            <a:off x="6053328" y="1920240"/>
            <a:ext cx="18288" cy="2651760"/>
          </a:xfrm>
          <a:prstGeom prst="rect">
            <a:avLst/>
          </a:prstGeom>
          <a:solidFill>
            <a:srgbClr val="2E3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The evaluation contract</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Synchronous HTTPS, JSON, IAM-authenticated. Major version in the path.</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AI Guardrails · design intent and delivery plan — nothing built or piloted today</a:t>
            </a:r>
          </a:p>
        </p:txBody>
      </p:sp>
      <p:sp>
        <p:nvSpPr>
          <p:cNvPr id="6" name="Rounded Rectangle 5"/>
          <p:cNvSpPr/>
          <p:nvPr/>
        </p:nvSpPr>
        <p:spPr>
          <a:xfrm>
            <a:off x="685800" y="2011680"/>
            <a:ext cx="5440680" cy="324612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2011680"/>
            <a:ext cx="5440680" cy="420624"/>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150" b="1" i="0">
                <a:solidFill>
                  <a:srgbClr val="E8ECF2"/>
                </a:solidFill>
                <a:latin typeface="Calibri"/>
              </a:rPr>
              <a:t>EVALUATION REQUEST</a:t>
            </a:r>
          </a:p>
        </p:txBody>
      </p:sp>
      <p:sp>
        <p:nvSpPr>
          <p:cNvPr id="8" name="TextBox 7"/>
          <p:cNvSpPr txBox="1"/>
          <p:nvPr/>
        </p:nvSpPr>
        <p:spPr>
          <a:xfrm>
            <a:off x="923544" y="2578608"/>
            <a:ext cx="4965192" cy="2514600"/>
          </a:xfrm>
          <a:prstGeom prst="rect">
            <a:avLst/>
          </a:prstGeom>
          <a:noFill/>
        </p:spPr>
        <p:txBody>
          <a:bodyPr wrap="square" lIns="0" rIns="0" tIns="0" bIns="0" anchor="t">
            <a:spAutoFit/>
          </a:bodyPr>
          <a:lstStyle/>
          <a:p>
            <a:pPr algn="l">
              <a:lnSpc>
                <a:spcPct val="115000"/>
              </a:lnSpc>
              <a:spcAft>
                <a:spcPts val="100"/>
              </a:spcAft>
            </a:pPr>
            <a:r>
              <a:rPr sz="1150" b="0" i="0">
                <a:solidFill>
                  <a:srgbClr val="E8ECF2"/>
                </a:solidFill>
                <a:latin typeface="Calibri"/>
              </a:rPr>
              <a:t>tenant_id · workload_id</a:t>
            </a:r>
          </a:p>
          <a:p>
            <a:pPr algn="l">
              <a:lnSpc>
                <a:spcPct val="110000"/>
              </a:lnSpc>
              <a:spcAft>
                <a:spcPts val="500"/>
              </a:spcAft>
            </a:pPr>
            <a:r>
              <a:rPr sz="1000" b="0" i="0">
                <a:solidFill>
                  <a:srgbClr val="98A4B3"/>
                </a:solidFill>
                <a:latin typeface="Calibri"/>
              </a:rPr>
              <a:t>What every evaluation and audit record resolves to.</a:t>
            </a:r>
          </a:p>
          <a:p>
            <a:pPr algn="l">
              <a:lnSpc>
                <a:spcPct val="115000"/>
              </a:lnSpc>
              <a:spcAft>
                <a:spcPts val="100"/>
              </a:spcAft>
            </a:pPr>
            <a:r>
              <a:rPr sz="1150" b="0" i="0">
                <a:solidFill>
                  <a:srgbClr val="E8ECF2"/>
                </a:solidFill>
                <a:latin typeface="Calibri"/>
              </a:rPr>
              <a:t>stage</a:t>
            </a:r>
          </a:p>
          <a:p>
            <a:pPr algn="l">
              <a:lnSpc>
                <a:spcPct val="110000"/>
              </a:lnSpc>
              <a:spcAft>
                <a:spcPts val="500"/>
              </a:spcAft>
            </a:pPr>
            <a:r>
              <a:rPr sz="1000" b="0" i="0">
                <a:solidFill>
                  <a:srgbClr val="98A4B3"/>
                </a:solidFill>
                <a:latin typeface="Calibri"/>
              </a:rPr>
              <a:t>input or output today.</a:t>
            </a:r>
          </a:p>
          <a:p>
            <a:pPr algn="l">
              <a:lnSpc>
                <a:spcPct val="115000"/>
              </a:lnSpc>
              <a:spcAft>
                <a:spcPts val="100"/>
              </a:spcAft>
            </a:pPr>
            <a:r>
              <a:rPr sz="1150" b="0" i="0">
                <a:solidFill>
                  <a:srgbClr val="E8ECF2"/>
                </a:solidFill>
                <a:latin typeface="Calibri"/>
              </a:rPr>
              <a:t>content</a:t>
            </a:r>
          </a:p>
          <a:p>
            <a:pPr algn="l">
              <a:lnSpc>
                <a:spcPct val="110000"/>
              </a:lnSpc>
              <a:spcAft>
                <a:spcPts val="500"/>
              </a:spcAft>
            </a:pPr>
            <a:r>
              <a:rPr sz="1000" b="0" i="0">
                <a:solidFill>
                  <a:srgbClr val="98A4B3"/>
                </a:solidFill>
                <a:latin typeface="Calibri"/>
              </a:rPr>
              <a:t>A union tagged by kind. Text is the only Phase 1 member.</a:t>
            </a:r>
          </a:p>
          <a:p>
            <a:pPr algn="l">
              <a:lnSpc>
                <a:spcPct val="115000"/>
              </a:lnSpc>
              <a:spcAft>
                <a:spcPts val="100"/>
              </a:spcAft>
            </a:pPr>
            <a:r>
              <a:rPr sz="1150" b="0" i="0">
                <a:solidFill>
                  <a:srgbClr val="E8ECF2"/>
                </a:solidFill>
                <a:latin typeface="Calibri"/>
              </a:rPr>
              <a:t>correlation_id</a:t>
            </a:r>
          </a:p>
          <a:p>
            <a:pPr algn="l">
              <a:lnSpc>
                <a:spcPct val="110000"/>
              </a:lnSpc>
              <a:spcAft>
                <a:spcPts val="500"/>
              </a:spcAft>
            </a:pPr>
            <a:r>
              <a:rPr sz="1000" b="0" i="0">
                <a:solidFill>
                  <a:srgbClr val="98A4B3"/>
                </a:solidFill>
                <a:latin typeface="Calibri"/>
              </a:rPr>
              <a:t>Threaded across input, model call and output.</a:t>
            </a:r>
          </a:p>
          <a:p>
            <a:pPr algn="l">
              <a:lnSpc>
                <a:spcPct val="115000"/>
              </a:lnSpc>
              <a:spcAft>
                <a:spcPts val="100"/>
              </a:spcAft>
            </a:pPr>
            <a:r>
              <a:rPr sz="1150" b="0" i="0">
                <a:solidFill>
                  <a:srgbClr val="E8ECF2"/>
                </a:solidFill>
                <a:latin typeface="Calibri"/>
              </a:rPr>
              <a:t>policy_ref</a:t>
            </a:r>
          </a:p>
          <a:p>
            <a:pPr algn="l">
              <a:lnSpc>
                <a:spcPct val="110000"/>
              </a:lnSpc>
              <a:spcAft>
                <a:spcPts val="500"/>
              </a:spcAft>
            </a:pPr>
            <a:r>
              <a:rPr sz="1000" b="0" i="0">
                <a:solidFill>
                  <a:srgbClr val="98A4B3"/>
                </a:solidFill>
                <a:latin typeface="Calibri"/>
              </a:rPr>
              <a:t>Advisory only. The runtime resolves server-side.</a:t>
            </a:r>
          </a:p>
        </p:txBody>
      </p:sp>
      <p:sp>
        <p:nvSpPr>
          <p:cNvPr id="9" name="Rounded Rectangle 8"/>
          <p:cNvSpPr/>
          <p:nvPr/>
        </p:nvSpPr>
        <p:spPr>
          <a:xfrm>
            <a:off x="6519672" y="2011680"/>
            <a:ext cx="4983480" cy="324612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519672" y="2011680"/>
            <a:ext cx="4983480" cy="420624"/>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150" b="1" i="0">
                <a:solidFill>
                  <a:srgbClr val="E8ECF2"/>
                </a:solidFill>
                <a:latin typeface="Calibri"/>
              </a:rPr>
              <a:t>DECISION</a:t>
            </a:r>
          </a:p>
        </p:txBody>
      </p:sp>
      <p:sp>
        <p:nvSpPr>
          <p:cNvPr id="11" name="TextBox 10"/>
          <p:cNvSpPr txBox="1"/>
          <p:nvPr/>
        </p:nvSpPr>
        <p:spPr>
          <a:xfrm>
            <a:off x="6757416" y="2578608"/>
            <a:ext cx="4507992" cy="2514600"/>
          </a:xfrm>
          <a:prstGeom prst="rect">
            <a:avLst/>
          </a:prstGeom>
          <a:noFill/>
        </p:spPr>
        <p:txBody>
          <a:bodyPr wrap="square" lIns="0" rIns="0" tIns="0" bIns="0" anchor="t">
            <a:spAutoFit/>
          </a:bodyPr>
          <a:lstStyle/>
          <a:p>
            <a:pPr algn="l">
              <a:lnSpc>
                <a:spcPct val="115000"/>
              </a:lnSpc>
              <a:spcAft>
                <a:spcPts val="100"/>
              </a:spcAft>
            </a:pPr>
            <a:r>
              <a:rPr sz="1150" b="0" i="0">
                <a:solidFill>
                  <a:srgbClr val="E8ECF2"/>
                </a:solidFill>
                <a:latin typeface="Calibri"/>
              </a:rPr>
              <a:t>action · allowed</a:t>
            </a:r>
          </a:p>
          <a:p>
            <a:pPr algn="l">
              <a:lnSpc>
                <a:spcPct val="110000"/>
              </a:lnSpc>
              <a:spcAft>
                <a:spcPts val="500"/>
              </a:spcAft>
            </a:pPr>
            <a:r>
              <a:rPr sz="1000" b="0" i="0">
                <a:solidFill>
                  <a:srgbClr val="98A4B3"/>
                </a:solidFill>
                <a:latin typeface="Calibri"/>
              </a:rPr>
              <a:t>allow · block · redact · log_only.</a:t>
            </a:r>
          </a:p>
          <a:p>
            <a:pPr algn="l">
              <a:lnSpc>
                <a:spcPct val="115000"/>
              </a:lnSpc>
              <a:spcAft>
                <a:spcPts val="100"/>
              </a:spcAft>
            </a:pPr>
            <a:r>
              <a:rPr sz="1150" b="0" i="0">
                <a:solidFill>
                  <a:srgbClr val="E8ECF2"/>
                </a:solidFill>
                <a:latin typeface="Calibri"/>
              </a:rPr>
              <a:t>enforcement_state</a:t>
            </a:r>
          </a:p>
          <a:p>
            <a:pPr algn="l">
              <a:lnSpc>
                <a:spcPct val="110000"/>
              </a:lnSpc>
              <a:spcAft>
                <a:spcPts val="500"/>
              </a:spcAft>
            </a:pPr>
            <a:r>
              <a:rPr sz="1000" b="0" i="0">
                <a:solidFill>
                  <a:srgbClr val="98A4B3"/>
                </a:solidFill>
                <a:latin typeface="Calibri"/>
              </a:rPr>
              <a:t>The binding state that produced this decision.</a:t>
            </a:r>
          </a:p>
          <a:p>
            <a:pPr algn="l">
              <a:lnSpc>
                <a:spcPct val="115000"/>
              </a:lnSpc>
              <a:spcAft>
                <a:spcPts val="100"/>
              </a:spcAft>
            </a:pPr>
            <a:r>
              <a:rPr sz="1150" b="0" i="0">
                <a:solidFill>
                  <a:srgbClr val="E8ECF2"/>
                </a:solidFill>
                <a:latin typeface="Calibri"/>
              </a:rPr>
              <a:t>reason_codes · guardrail_category</a:t>
            </a:r>
          </a:p>
          <a:p>
            <a:pPr algn="l">
              <a:lnSpc>
                <a:spcPct val="110000"/>
              </a:lnSpc>
              <a:spcAft>
                <a:spcPts val="500"/>
              </a:spcAft>
            </a:pPr>
            <a:r>
              <a:rPr sz="1000" b="0" i="0">
                <a:solidFill>
                  <a:srgbClr val="98A4B3"/>
                </a:solidFill>
                <a:latin typeface="Calibri"/>
              </a:rPr>
              <a:t>Namespaced, engine-independent.</a:t>
            </a:r>
          </a:p>
          <a:p>
            <a:pPr algn="l">
              <a:lnSpc>
                <a:spcPct val="115000"/>
              </a:lnSpc>
              <a:spcAft>
                <a:spcPts val="100"/>
              </a:spcAft>
            </a:pPr>
            <a:r>
              <a:rPr sz="1150" b="0" i="0">
                <a:solidFill>
                  <a:srgbClr val="E8ECF2"/>
                </a:solidFill>
                <a:latin typeface="Calibri"/>
              </a:rPr>
              <a:t>policy_name · policy_version · evaluator_metadata</a:t>
            </a:r>
          </a:p>
          <a:p>
            <a:pPr algn="l">
              <a:lnSpc>
                <a:spcPct val="110000"/>
              </a:lnSpc>
              <a:spcAft>
                <a:spcPts val="500"/>
              </a:spcAft>
            </a:pPr>
            <a:r>
              <a:rPr sz="1000" b="0" i="0">
                <a:solidFill>
                  <a:srgbClr val="98A4B3"/>
                </a:solidFill>
                <a:latin typeface="Calibri"/>
              </a:rPr>
              <a:t>What decided, and which version.</a:t>
            </a:r>
          </a:p>
          <a:p>
            <a:pPr algn="l">
              <a:lnSpc>
                <a:spcPct val="115000"/>
              </a:lnSpc>
              <a:spcAft>
                <a:spcPts val="100"/>
              </a:spcAft>
            </a:pPr>
            <a:r>
              <a:rPr sz="1150" b="0" i="0">
                <a:solidFill>
                  <a:srgbClr val="E8ECF2"/>
                </a:solidFill>
                <a:latin typeface="Calibri"/>
              </a:rPr>
              <a:t>transformed_content</a:t>
            </a:r>
          </a:p>
          <a:p>
            <a:pPr algn="l">
              <a:lnSpc>
                <a:spcPct val="110000"/>
              </a:lnSpc>
              <a:spcAft>
                <a:spcPts val="500"/>
              </a:spcAft>
            </a:pPr>
            <a:r>
              <a:rPr sz="1000" b="0" i="0">
                <a:solidFill>
                  <a:srgbClr val="98A4B3"/>
                </a:solidFill>
                <a:latin typeface="Calibri"/>
              </a:rPr>
              <a:t>Present only when the action is redact.</a:t>
            </a:r>
          </a:p>
          <a:p>
            <a:pPr algn="l">
              <a:lnSpc>
                <a:spcPct val="115000"/>
              </a:lnSpc>
              <a:spcAft>
                <a:spcPts val="100"/>
              </a:spcAft>
            </a:pPr>
            <a:r>
              <a:rPr sz="1150" b="0" i="0">
                <a:solidFill>
                  <a:srgbClr val="E8ECF2"/>
                </a:solidFill>
                <a:latin typeface="Calibri"/>
              </a:rPr>
              <a:t>correlation_id · audit_id · evaluation_latency_ms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Widening the contract is deliberately expensive</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Of the seven kinds of contract change, five force a new major version.</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AI Guardrails · design intent and delivery plan — nothing built or piloted today</a:t>
            </a:r>
          </a:p>
        </p:txBody>
      </p:sp>
      <p:graphicFrame>
        <p:nvGraphicFramePr>
          <p:cNvPr id="6" name="Chart 5"/>
          <p:cNvGraphicFramePr>
            <a:graphicFrameLocks noGrp="1"/>
          </p:cNvGraphicFramePr>
          <p:nvPr/>
        </p:nvGraphicFramePr>
        <p:xfrm>
          <a:off x="685800" y="2011680"/>
          <a:ext cx="10820095" cy="3017520"/>
        </p:xfrm>
        <a:graphic>
          <a:graphicData uri="http://schemas.openxmlformats.org/drawingml/2006/chart">
            <c:chart xmlns:c="http://schemas.openxmlformats.org/drawingml/2006/chart" r:id="rId2"/>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A block is a success</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The runtime never returns a server error to express an evaluation outcome.</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AI Guardrails · design intent and delivery plan — nothing built or piloted today</a:t>
            </a:r>
          </a:p>
        </p:txBody>
      </p:sp>
      <p:graphicFrame>
        <p:nvGraphicFramePr>
          <p:cNvPr id="6" name="Table 5"/>
          <p:cNvGraphicFramePr>
            <a:graphicFrameLocks noGrp="1"/>
          </p:cNvGraphicFramePr>
          <p:nvPr/>
        </p:nvGraphicFramePr>
        <p:xfrm>
          <a:off x="685800" y="2103120"/>
          <a:ext cx="10820094" cy="2596896"/>
        </p:xfrm>
        <a:graphic>
          <a:graphicData uri="http://schemas.openxmlformats.org/drawingml/2006/table">
            <a:tbl>
              <a:tblPr firstRow="1">
                <a:tableStyleId>{5C22544A-7EE6-4342-B048-85BDC9FD1C3A}</a:tableStyleId>
              </a:tblPr>
              <a:tblGrid>
                <a:gridCol w="1406612"/>
                <a:gridCol w="7574066"/>
                <a:gridCol w="1839416"/>
              </a:tblGrid>
              <a:tr h="347472">
                <a:tc>
                  <a:txBody>
                    <a:bodyPr wrap="square"/>
                    <a:lstStyle/>
                    <a:p>
                      <a:pPr algn="l">
                        <a:lnSpc>
                          <a:spcPct val="105000"/>
                        </a:lnSpc>
                        <a:spcAft>
                          <a:spcPts val="0"/>
                        </a:spcAft>
                      </a:pPr>
                      <a:r>
                        <a:rPr sz="1200" b="1" i="0">
                          <a:solidFill>
                            <a:srgbClr val="5AA0E0"/>
                          </a:solidFill>
                          <a:latin typeface="Calibri"/>
                        </a:rPr>
                        <a:t>Status</a:t>
                      </a:r>
                    </a:p>
                  </a:txBody>
                  <a:tcPr marL="91440" marR="91440" marT="45720" marB="45720" anchor="ctr">
                    <a:solidFill>
                      <a:srgbClr val="1D242C"/>
                    </a:solidFill>
                  </a:tcPr>
                </a:tc>
                <a:tc>
                  <a:txBody>
                    <a:bodyPr wrap="square"/>
                    <a:lstStyle/>
                    <a:p>
                      <a:pPr algn="l">
                        <a:lnSpc>
                          <a:spcPct val="105000"/>
                        </a:lnSpc>
                        <a:spcAft>
                          <a:spcPts val="0"/>
                        </a:spcAft>
                      </a:pPr>
                      <a:r>
                        <a:rPr sz="1200" b="1" i="0">
                          <a:solidFill>
                            <a:srgbClr val="5AA0E0"/>
                          </a:solidFill>
                          <a:latin typeface="Calibri"/>
                        </a:rPr>
                        <a:t>Meaning</a:t>
                      </a:r>
                    </a:p>
                  </a:txBody>
                  <a:tcPr marL="91440" marR="91440" marT="45720" marB="45720" anchor="ctr">
                    <a:solidFill>
                      <a:srgbClr val="1D242C"/>
                    </a:solidFill>
                  </a:tcPr>
                </a:tc>
                <a:tc>
                  <a:txBody>
                    <a:bodyPr wrap="square"/>
                    <a:lstStyle/>
                    <a:p>
                      <a:pPr algn="l">
                        <a:lnSpc>
                          <a:spcPct val="105000"/>
                        </a:lnSpc>
                        <a:spcAft>
                          <a:spcPts val="0"/>
                        </a:spcAft>
                      </a:pPr>
                      <a:r>
                        <a:rPr sz="1200" b="1" i="0">
                          <a:solidFill>
                            <a:srgbClr val="5AA0E0"/>
                          </a:solidFill>
                          <a:latin typeface="Calibri"/>
                        </a:rPr>
                        <a:t>Body</a:t>
                      </a:r>
                    </a:p>
                  </a:txBody>
                  <a:tcPr marL="91440" marR="91440" marT="45720" marB="45720" anchor="ctr">
                    <a:solidFill>
                      <a:srgbClr val="1D242C"/>
                    </a:solidFill>
                  </a:tcPr>
                </a:tc>
              </a:tr>
              <a:tr h="475488">
                <a:tc>
                  <a:txBody>
                    <a:bodyPr wrap="square"/>
                    <a:lstStyle/>
                    <a:p>
                      <a:pPr algn="l">
                        <a:lnSpc>
                          <a:spcPct val="105000"/>
                        </a:lnSpc>
                        <a:spcAft>
                          <a:spcPts val="0"/>
                        </a:spcAft>
                      </a:pPr>
                      <a:r>
                        <a:rPr sz="1250" b="1" i="0">
                          <a:solidFill>
                            <a:srgbClr val="4FB477"/>
                          </a:solidFill>
                          <a:latin typeface="Calibri"/>
                        </a:rPr>
                        <a:t>200</a:t>
                      </a:r>
                    </a:p>
                  </a:txBody>
                  <a:tcPr marL="91440" marR="91440" marT="45720" marB="45720" anchor="ctr">
                    <a:solidFill>
                      <a:srgbClr val="161C23"/>
                    </a:solidFill>
                  </a:tcPr>
                </a:tc>
                <a:tc>
                  <a:txBody>
                    <a:bodyPr wrap="square"/>
                    <a:lstStyle/>
                    <a:p>
                      <a:pPr algn="l">
                        <a:lnSpc>
                          <a:spcPct val="105000"/>
                        </a:lnSpc>
                        <a:spcAft>
                          <a:spcPts val="0"/>
                        </a:spcAft>
                      </a:pPr>
                      <a:r>
                        <a:rPr sz="1250" b="0" i="0">
                          <a:solidFill>
                            <a:srgbClr val="E8ECF2"/>
                          </a:solidFill>
                          <a:latin typeface="Calibri"/>
                        </a:rPr>
                        <a:t>Evaluation completed — including block, and including a substitute decision.</a:t>
                      </a:r>
                    </a:p>
                  </a:txBody>
                  <a:tcPr marL="91440" marR="91440" marT="45720" marB="45720" anchor="ctr">
                    <a:solidFill>
                      <a:srgbClr val="161C23"/>
                    </a:solidFill>
                  </a:tcPr>
                </a:tc>
                <a:tc>
                  <a:txBody>
                    <a:bodyPr wrap="square"/>
                    <a:lstStyle/>
                    <a:p>
                      <a:pPr algn="l">
                        <a:lnSpc>
                          <a:spcPct val="105000"/>
                        </a:lnSpc>
                        <a:spcAft>
                          <a:spcPts val="0"/>
                        </a:spcAft>
                      </a:pPr>
                      <a:r>
                        <a:rPr sz="1250" b="0" i="0">
                          <a:solidFill>
                            <a:srgbClr val="E8ECF2"/>
                          </a:solidFill>
                          <a:latin typeface="Calibri"/>
                        </a:rPr>
                        <a:t>Decision</a:t>
                      </a:r>
                    </a:p>
                  </a:txBody>
                  <a:tcPr marL="91440" marR="91440" marT="45720" marB="45720" anchor="ctr">
                    <a:solidFill>
                      <a:srgbClr val="161C23"/>
                    </a:solidFill>
                  </a:tcPr>
                </a:tc>
              </a:tr>
              <a:tr h="347472">
                <a:tc>
                  <a:txBody>
                    <a:bodyPr wrap="square"/>
                    <a:lstStyle/>
                    <a:p>
                      <a:pPr algn="l">
                        <a:lnSpc>
                          <a:spcPct val="105000"/>
                        </a:lnSpc>
                        <a:spcAft>
                          <a:spcPts val="0"/>
                        </a:spcAft>
                      </a:pPr>
                      <a:r>
                        <a:rPr sz="1250" b="1" i="0">
                          <a:solidFill>
                            <a:srgbClr val="E8ECF2"/>
                          </a:solidFill>
                          <a:latin typeface="Calibri"/>
                        </a:rPr>
                        <a:t>400 · 422</a:t>
                      </a:r>
                    </a:p>
                  </a:txBody>
                  <a:tcPr marL="91440" marR="91440" marT="45720" marB="45720" anchor="ctr">
                    <a:solidFill>
                      <a:srgbClr val="12161B"/>
                    </a:solidFill>
                  </a:tcPr>
                </a:tc>
                <a:tc>
                  <a:txBody>
                    <a:bodyPr wrap="square"/>
                    <a:lstStyle/>
                    <a:p>
                      <a:pPr algn="l">
                        <a:lnSpc>
                          <a:spcPct val="105000"/>
                        </a:lnSpc>
                        <a:spcAft>
                          <a:spcPts val="0"/>
                        </a:spcAft>
                      </a:pPr>
                      <a:r>
                        <a:rPr sz="1250" b="0" i="0">
                          <a:solidFill>
                            <a:srgbClr val="E8ECF2"/>
                          </a:solidFill>
                          <a:latin typeface="Calibri"/>
                        </a:rPr>
                        <a:t>Malformed, or well-formed but invalid.</a:t>
                      </a:r>
                    </a:p>
                  </a:txBody>
                  <a:tcPr marL="91440" marR="91440" marT="45720" marB="45720" anchor="ctr">
                    <a:solidFill>
                      <a:srgbClr val="12161B"/>
                    </a:solidFill>
                  </a:tcPr>
                </a:tc>
                <a:tc>
                  <a:txBody>
                    <a:bodyPr wrap="square"/>
                    <a:lstStyle/>
                    <a:p>
                      <a:pPr algn="l">
                        <a:lnSpc>
                          <a:spcPct val="105000"/>
                        </a:lnSpc>
                        <a:spcAft>
                          <a:spcPts val="0"/>
                        </a:spcAft>
                      </a:pPr>
                      <a:r>
                        <a:rPr sz="1250" b="0" i="0">
                          <a:solidFill>
                            <a:srgbClr val="E8ECF2"/>
                          </a:solidFill>
                          <a:latin typeface="Calibri"/>
                        </a:rPr>
                        <a:t>Problem</a:t>
                      </a:r>
                    </a:p>
                  </a:txBody>
                  <a:tcPr marL="91440" marR="91440" marT="45720" marB="45720" anchor="ctr">
                    <a:solidFill>
                      <a:srgbClr val="12161B"/>
                    </a:solidFill>
                  </a:tcPr>
                </a:tc>
              </a:tr>
              <a:tr h="347472">
                <a:tc>
                  <a:txBody>
                    <a:bodyPr wrap="square"/>
                    <a:lstStyle/>
                    <a:p>
                      <a:pPr algn="l">
                        <a:lnSpc>
                          <a:spcPct val="105000"/>
                        </a:lnSpc>
                        <a:spcAft>
                          <a:spcPts val="0"/>
                        </a:spcAft>
                      </a:pPr>
                      <a:r>
                        <a:rPr sz="1250" b="1" i="0">
                          <a:solidFill>
                            <a:srgbClr val="E8ECF2"/>
                          </a:solidFill>
                          <a:latin typeface="Calibri"/>
                        </a:rPr>
                        <a:t>401 · 403</a:t>
                      </a:r>
                    </a:p>
                  </a:txBody>
                  <a:tcPr marL="91440" marR="91440" marT="45720" marB="45720" anchor="ctr">
                    <a:solidFill>
                      <a:srgbClr val="161C23"/>
                    </a:solidFill>
                  </a:tcPr>
                </a:tc>
                <a:tc>
                  <a:txBody>
                    <a:bodyPr wrap="square"/>
                    <a:lstStyle/>
                    <a:p>
                      <a:pPr algn="l">
                        <a:lnSpc>
                          <a:spcPct val="105000"/>
                        </a:lnSpc>
                        <a:spcAft>
                          <a:spcPts val="0"/>
                        </a:spcAft>
                      </a:pPr>
                      <a:r>
                        <a:rPr sz="1250" b="0" i="0">
                          <a:solidFill>
                            <a:srgbClr val="E8ECF2"/>
                          </a:solidFill>
                          <a:latin typeface="Calibri"/>
                        </a:rPr>
                        <a:t>Authentication or authorization failure.</a:t>
                      </a:r>
                    </a:p>
                  </a:txBody>
                  <a:tcPr marL="91440" marR="91440" marT="45720" marB="45720" anchor="ctr">
                    <a:solidFill>
                      <a:srgbClr val="161C23"/>
                    </a:solidFill>
                  </a:tcPr>
                </a:tc>
                <a:tc>
                  <a:txBody>
                    <a:bodyPr wrap="square"/>
                    <a:lstStyle/>
                    <a:p>
                      <a:pPr algn="l">
                        <a:lnSpc>
                          <a:spcPct val="105000"/>
                        </a:lnSpc>
                        <a:spcAft>
                          <a:spcPts val="0"/>
                        </a:spcAft>
                      </a:pPr>
                      <a:r>
                        <a:rPr sz="1250" b="0" i="0">
                          <a:solidFill>
                            <a:srgbClr val="E8ECF2"/>
                          </a:solidFill>
                          <a:latin typeface="Calibri"/>
                        </a:rPr>
                        <a:t>Problem</a:t>
                      </a:r>
                    </a:p>
                  </a:txBody>
                  <a:tcPr marL="91440" marR="91440" marT="45720" marB="45720" anchor="ctr">
                    <a:solidFill>
                      <a:srgbClr val="161C23"/>
                    </a:solidFill>
                  </a:tcPr>
                </a:tc>
              </a:tr>
              <a:tr h="347472">
                <a:tc>
                  <a:txBody>
                    <a:bodyPr wrap="square"/>
                    <a:lstStyle/>
                    <a:p>
                      <a:pPr algn="l">
                        <a:lnSpc>
                          <a:spcPct val="105000"/>
                        </a:lnSpc>
                        <a:spcAft>
                          <a:spcPts val="0"/>
                        </a:spcAft>
                      </a:pPr>
                      <a:r>
                        <a:rPr sz="1250" b="1" i="0">
                          <a:solidFill>
                            <a:srgbClr val="E8ECF2"/>
                          </a:solidFill>
                          <a:latin typeface="Calibri"/>
                        </a:rPr>
                        <a:t>413</a:t>
                      </a:r>
                    </a:p>
                  </a:txBody>
                  <a:tcPr marL="91440" marR="91440" marT="45720" marB="45720" anchor="ctr">
                    <a:solidFill>
                      <a:srgbClr val="12161B"/>
                    </a:solidFill>
                  </a:tcPr>
                </a:tc>
                <a:tc>
                  <a:txBody>
                    <a:bodyPr wrap="square"/>
                    <a:lstStyle/>
                    <a:p>
                      <a:pPr algn="l">
                        <a:lnSpc>
                          <a:spcPct val="105000"/>
                        </a:lnSpc>
                        <a:spcAft>
                          <a:spcPts val="0"/>
                        </a:spcAft>
                      </a:pPr>
                      <a:r>
                        <a:rPr sz="1250" b="0" i="0">
                          <a:solidFill>
                            <a:srgbClr val="E8ECF2"/>
                          </a:solidFill>
                          <a:latin typeface="Calibri"/>
                        </a:rPr>
                        <a:t>Content exceeds the deployment's size ceiling.</a:t>
                      </a:r>
                    </a:p>
                  </a:txBody>
                  <a:tcPr marL="91440" marR="91440" marT="45720" marB="45720" anchor="ctr">
                    <a:solidFill>
                      <a:srgbClr val="12161B"/>
                    </a:solidFill>
                  </a:tcPr>
                </a:tc>
                <a:tc>
                  <a:txBody>
                    <a:bodyPr wrap="square"/>
                    <a:lstStyle/>
                    <a:p>
                      <a:pPr algn="l">
                        <a:lnSpc>
                          <a:spcPct val="105000"/>
                        </a:lnSpc>
                        <a:spcAft>
                          <a:spcPts val="0"/>
                        </a:spcAft>
                      </a:pPr>
                      <a:r>
                        <a:rPr sz="1250" b="0" i="0">
                          <a:solidFill>
                            <a:srgbClr val="E8ECF2"/>
                          </a:solidFill>
                          <a:latin typeface="Calibri"/>
                        </a:rPr>
                        <a:t>Problem</a:t>
                      </a:r>
                    </a:p>
                  </a:txBody>
                  <a:tcPr marL="91440" marR="91440" marT="45720" marB="45720" anchor="ctr">
                    <a:solidFill>
                      <a:srgbClr val="12161B"/>
                    </a:solidFill>
                  </a:tcPr>
                </a:tc>
              </a:tr>
              <a:tr h="347472">
                <a:tc>
                  <a:txBody>
                    <a:bodyPr wrap="square"/>
                    <a:lstStyle/>
                    <a:p>
                      <a:pPr algn="l">
                        <a:lnSpc>
                          <a:spcPct val="105000"/>
                        </a:lnSpc>
                        <a:spcAft>
                          <a:spcPts val="0"/>
                        </a:spcAft>
                      </a:pPr>
                      <a:r>
                        <a:rPr sz="1250" b="1" i="0">
                          <a:solidFill>
                            <a:srgbClr val="E8ECF2"/>
                          </a:solidFill>
                          <a:latin typeface="Calibri"/>
                        </a:rPr>
                        <a:t>429</a:t>
                      </a:r>
                    </a:p>
                  </a:txBody>
                  <a:tcPr marL="91440" marR="91440" marT="45720" marB="45720" anchor="ctr">
                    <a:solidFill>
                      <a:srgbClr val="161C23"/>
                    </a:solidFill>
                  </a:tcPr>
                </a:tc>
                <a:tc>
                  <a:txBody>
                    <a:bodyPr wrap="square"/>
                    <a:lstStyle/>
                    <a:p>
                      <a:pPr algn="l">
                        <a:lnSpc>
                          <a:spcPct val="105000"/>
                        </a:lnSpc>
                        <a:spcAft>
                          <a:spcPts val="0"/>
                        </a:spcAft>
                      </a:pPr>
                      <a:r>
                        <a:rPr sz="1250" b="0" i="0">
                          <a:solidFill>
                            <a:srgbClr val="E8ECF2"/>
                          </a:solidFill>
                          <a:latin typeface="Calibri"/>
                        </a:rPr>
                        <a:t>Quota or rate limit. Phase 2.</a:t>
                      </a:r>
                    </a:p>
                  </a:txBody>
                  <a:tcPr marL="91440" marR="91440" marT="45720" marB="45720" anchor="ctr">
                    <a:solidFill>
                      <a:srgbClr val="161C23"/>
                    </a:solidFill>
                  </a:tcPr>
                </a:tc>
                <a:tc>
                  <a:txBody>
                    <a:bodyPr wrap="square"/>
                    <a:lstStyle/>
                    <a:p>
                      <a:pPr algn="l">
                        <a:lnSpc>
                          <a:spcPct val="105000"/>
                        </a:lnSpc>
                        <a:spcAft>
                          <a:spcPts val="0"/>
                        </a:spcAft>
                      </a:pPr>
                      <a:r>
                        <a:rPr sz="1250" b="0" i="0">
                          <a:solidFill>
                            <a:srgbClr val="E8ECF2"/>
                          </a:solidFill>
                          <a:latin typeface="Calibri"/>
                        </a:rPr>
                        <a:t>Problem</a:t>
                      </a:r>
                    </a:p>
                  </a:txBody>
                  <a:tcPr marL="91440" marR="91440" marT="45720" marB="45720" anchor="ctr">
                    <a:solidFill>
                      <a:srgbClr val="161C23"/>
                    </a:solidFill>
                  </a:tcPr>
                </a:tc>
              </a:tr>
              <a:tr h="384048">
                <a:tc>
                  <a:txBody>
                    <a:bodyPr wrap="square"/>
                    <a:lstStyle/>
                    <a:p>
                      <a:pPr algn="l">
                        <a:lnSpc>
                          <a:spcPct val="105000"/>
                        </a:lnSpc>
                        <a:spcAft>
                          <a:spcPts val="0"/>
                        </a:spcAft>
                      </a:pPr>
                      <a:r>
                        <a:rPr sz="1250" b="1" i="0">
                          <a:solidFill>
                            <a:srgbClr val="E06C5F"/>
                          </a:solidFill>
                          <a:latin typeface="Calibri"/>
                        </a:rPr>
                        <a:t>5xx</a:t>
                      </a:r>
                    </a:p>
                  </a:txBody>
                  <a:tcPr marL="91440" marR="91440" marT="45720" marB="45720" anchor="ctr">
                    <a:solidFill>
                      <a:srgbClr val="12161B"/>
                    </a:solidFill>
                  </a:tcPr>
                </a:tc>
                <a:tc>
                  <a:txBody>
                    <a:bodyPr wrap="square"/>
                    <a:lstStyle/>
                    <a:p>
                      <a:pPr algn="l">
                        <a:lnSpc>
                          <a:spcPct val="105000"/>
                        </a:lnSpc>
                        <a:spcAft>
                          <a:spcPts val="0"/>
                        </a:spcAft>
                      </a:pPr>
                      <a:r>
                        <a:rPr sz="1250" b="0" i="0">
                          <a:solidFill>
                            <a:srgbClr val="E8ECF2"/>
                          </a:solidFill>
                          <a:latin typeface="Calibri"/>
                        </a:rPr>
                        <a:t>The runtime is unavailable — no evaluation happened.</a:t>
                      </a:r>
                    </a:p>
                  </a:txBody>
                  <a:tcPr marL="91440" marR="91440" marT="45720" marB="45720" anchor="ctr">
                    <a:solidFill>
                      <a:srgbClr val="12161B"/>
                    </a:solidFill>
                  </a:tcPr>
                </a:tc>
                <a:tc>
                  <a:txBody>
                    <a:bodyPr wrap="square"/>
                    <a:lstStyle/>
                    <a:p>
                      <a:pPr algn="l">
                        <a:lnSpc>
                          <a:spcPct val="105000"/>
                        </a:lnSpc>
                        <a:spcAft>
                          <a:spcPts val="0"/>
                        </a:spcAft>
                      </a:pPr>
                      <a:r>
                        <a:rPr sz="1250" b="0" i="0">
                          <a:solidFill>
                            <a:srgbClr val="E8ECF2"/>
                          </a:solidFill>
                          <a:latin typeface="Calibri"/>
                        </a:rPr>
                        <a:t>Problem</a:t>
                      </a:r>
                    </a:p>
                  </a:txBody>
                  <a:tcPr marL="91440" marR="91440" marT="45720" marB="45720" anchor="ctr">
                    <a:solidFill>
                      <a:srgbClr val="12161B"/>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The policy document has no defaults</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Validated before publication, published immutable. No tenant, no workload, no enforcement mode.</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AI Guardrails · design intent and delivery plan — nothing built or piloted today</a:t>
            </a:r>
          </a:p>
        </p:txBody>
      </p:sp>
      <p:sp>
        <p:nvSpPr>
          <p:cNvPr id="6" name="Rectangle 5"/>
          <p:cNvSpPr/>
          <p:nvPr/>
        </p:nvSpPr>
        <p:spPr>
          <a:xfrm>
            <a:off x="685800" y="2363724"/>
            <a:ext cx="77724" cy="77724"/>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286000"/>
            <a:ext cx="10545775" cy="365760"/>
          </a:xfrm>
          <a:prstGeom prst="rect">
            <a:avLst/>
          </a:prstGeom>
          <a:noFill/>
        </p:spPr>
        <p:txBody>
          <a:bodyPr wrap="square" lIns="0" rIns="0" tIns="0" bIns="0" anchor="t">
            <a:spAutoFit/>
          </a:bodyPr>
          <a:lstStyle/>
          <a:p>
            <a:pPr algn="l">
              <a:lnSpc>
                <a:spcPct val="115000"/>
              </a:lnSpc>
              <a:spcAft>
                <a:spcPts val="100"/>
              </a:spcAft>
            </a:pPr>
            <a:r>
              <a:rPr sz="1600" b="1" i="0">
                <a:solidFill>
                  <a:srgbClr val="E8ECF2"/>
                </a:solidFill>
                <a:latin typeface="Calibri"/>
              </a:rPr>
              <a:t>Every section required, validated before publication</a:t>
            </a:r>
          </a:p>
          <a:p>
            <a:pPr algn="l">
              <a:lnSpc>
                <a:spcPct val="115000"/>
              </a:lnSpc>
              <a:spcAft>
                <a:spcPts val="0"/>
              </a:spcAft>
            </a:pPr>
            <a:r>
              <a:rPr sz="1400" b="0" i="0">
                <a:solidFill>
                  <a:srgbClr val="98A4B3"/>
                </a:solidFill>
                <a:latin typeface="Calibri"/>
              </a:rPr>
              <a:t>The runtime never resolves an invalid policy.</a:t>
            </a:r>
          </a:p>
        </p:txBody>
      </p:sp>
      <p:sp>
        <p:nvSpPr>
          <p:cNvPr id="8" name="Rectangle 7"/>
          <p:cNvSpPr/>
          <p:nvPr/>
        </p:nvSpPr>
        <p:spPr>
          <a:xfrm>
            <a:off x="685800" y="3424428"/>
            <a:ext cx="77724" cy="77724"/>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3346704"/>
            <a:ext cx="10545775" cy="365760"/>
          </a:xfrm>
          <a:prstGeom prst="rect">
            <a:avLst/>
          </a:prstGeom>
          <a:noFill/>
        </p:spPr>
        <p:txBody>
          <a:bodyPr wrap="square" lIns="0" rIns="0" tIns="0" bIns="0" anchor="t">
            <a:spAutoFit/>
          </a:bodyPr>
          <a:lstStyle/>
          <a:p>
            <a:pPr algn="l">
              <a:lnSpc>
                <a:spcPct val="115000"/>
              </a:lnSpc>
              <a:spcAft>
                <a:spcPts val="100"/>
              </a:spcAft>
            </a:pPr>
            <a:r>
              <a:rPr sz="1600" b="1" i="0">
                <a:solidFill>
                  <a:srgbClr val="E8ECF2"/>
                </a:solidFill>
                <a:latin typeface="Calibri"/>
              </a:rPr>
              <a:t>Evaluators selected by capability, never by vendor</a:t>
            </a:r>
          </a:p>
          <a:p>
            <a:pPr algn="l">
              <a:lnSpc>
                <a:spcPct val="115000"/>
              </a:lnSpc>
              <a:spcAft>
                <a:spcPts val="0"/>
              </a:spcAft>
            </a:pPr>
            <a:r>
              <a:rPr sz="1400" b="0" i="0">
                <a:solidFill>
                  <a:srgbClr val="98A4B3"/>
                </a:solidFill>
                <a:latin typeface="Calibri"/>
              </a:rPr>
              <a:t>A vendor name in a policy document is a schema violation.</a:t>
            </a:r>
          </a:p>
        </p:txBody>
      </p:sp>
      <p:sp>
        <p:nvSpPr>
          <p:cNvPr id="10" name="Rectangle 9"/>
          <p:cNvSpPr/>
          <p:nvPr/>
        </p:nvSpPr>
        <p:spPr>
          <a:xfrm>
            <a:off x="685800" y="4485132"/>
            <a:ext cx="77724" cy="77724"/>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4407408"/>
            <a:ext cx="10545775" cy="365760"/>
          </a:xfrm>
          <a:prstGeom prst="rect">
            <a:avLst/>
          </a:prstGeom>
          <a:noFill/>
        </p:spPr>
        <p:txBody>
          <a:bodyPr wrap="square" lIns="0" rIns="0" tIns="0" bIns="0" anchor="t">
            <a:spAutoFit/>
          </a:bodyPr>
          <a:lstStyle/>
          <a:p>
            <a:pPr algn="l">
              <a:lnSpc>
                <a:spcPct val="115000"/>
              </a:lnSpc>
              <a:spcAft>
                <a:spcPts val="100"/>
              </a:spcAft>
            </a:pPr>
            <a:r>
              <a:rPr sz="1600" b="1" i="0">
                <a:solidFill>
                  <a:srgbClr val="E8ECF2"/>
                </a:solidFill>
                <a:latin typeface="Calibri"/>
              </a:rPr>
              <a:t>One required key per failure mode, and no default for any</a:t>
            </a:r>
          </a:p>
          <a:p>
            <a:pPr algn="l">
              <a:lnSpc>
                <a:spcPct val="115000"/>
              </a:lnSpc>
              <a:spcAft>
                <a:spcPts val="0"/>
              </a:spcAft>
            </a:pPr>
            <a:r>
              <a:rPr sz="1400" b="0" i="0">
                <a:solidFill>
                  <a:srgbClr val="98A4B3"/>
                </a:solidFill>
                <a:latin typeface="Calibri"/>
              </a:rPr>
              <a:t>A policy missing any failure key is never published.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Enforcement state is a ceiling, not a selector</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The state lives on the binding, not on the policy.</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AI Guardrails · design intent and delivery plan — nothing built or piloted today</a:t>
            </a:r>
          </a:p>
        </p:txBody>
      </p:sp>
      <p:sp>
        <p:nvSpPr>
          <p:cNvPr id="6" name="Chevron 5"/>
          <p:cNvSpPr/>
          <p:nvPr/>
        </p:nvSpPr>
        <p:spPr>
          <a:xfrm>
            <a:off x="685800" y="2468880"/>
            <a:ext cx="2331720" cy="960120"/>
          </a:xfrm>
          <a:prstGeom prst="chevron">
            <a:avLst/>
          </a:prstGeom>
          <a:solidFill>
            <a:srgbClr val="1D242C"/>
          </a:solidFill>
          <a:ln w="12700">
            <a:solidFill>
              <a:srgbClr val="98A4B3"/>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lnSpc>
                <a:spcPct val="115000"/>
              </a:lnSpc>
              <a:spcAft>
                <a:spcPts val="200"/>
              </a:spcAft>
            </a:pPr>
            <a:r>
              <a:rPr sz="1500" b="1" i="0">
                <a:solidFill>
                  <a:srgbClr val="E8ECF2"/>
                </a:solidFill>
                <a:latin typeface="Calibri"/>
              </a:rPr>
              <a:t>Disabled</a:t>
            </a:r>
          </a:p>
        </p:txBody>
      </p:sp>
      <p:sp>
        <p:nvSpPr>
          <p:cNvPr id="7" name="TextBox 6"/>
          <p:cNvSpPr txBox="1"/>
          <p:nvPr/>
        </p:nvSpPr>
        <p:spPr>
          <a:xfrm>
            <a:off x="1069848" y="3611880"/>
            <a:ext cx="1645919" cy="914400"/>
          </a:xfrm>
          <a:prstGeom prst="rect">
            <a:avLst/>
          </a:prstGeom>
          <a:noFill/>
        </p:spPr>
        <p:txBody>
          <a:bodyPr wrap="square" lIns="0" rIns="0" tIns="0" bIns="0" anchor="t">
            <a:spAutoFit/>
          </a:bodyPr>
          <a:lstStyle/>
          <a:p>
            <a:pPr algn="ctr">
              <a:lnSpc>
                <a:spcPct val="120000"/>
              </a:lnSpc>
              <a:spcAft>
                <a:spcPts val="0"/>
              </a:spcAft>
            </a:pPr>
            <a:r>
              <a:rPr sz="1150" b="0" i="0">
                <a:solidFill>
                  <a:srgbClr val="98A4B3"/>
                </a:solidFill>
                <a:latin typeface="Calibri"/>
              </a:rPr>
              <a:t>Bound, not
evaluating</a:t>
            </a:r>
          </a:p>
        </p:txBody>
      </p:sp>
      <p:sp>
        <p:nvSpPr>
          <p:cNvPr id="8" name="Chevron 7"/>
          <p:cNvSpPr/>
          <p:nvPr/>
        </p:nvSpPr>
        <p:spPr>
          <a:xfrm>
            <a:off x="2743200" y="2468880"/>
            <a:ext cx="2331720" cy="960120"/>
          </a:xfrm>
          <a:prstGeom prst="chevron">
            <a:avLst/>
          </a:prstGeom>
          <a:solidFill>
            <a:srgbClr val="2B4A69"/>
          </a:solidFill>
          <a:ln w="12700">
            <a:solidFill>
              <a:srgbClr val="5AA0E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lnSpc>
                <a:spcPct val="115000"/>
              </a:lnSpc>
              <a:spcAft>
                <a:spcPts val="200"/>
              </a:spcAft>
            </a:pPr>
            <a:r>
              <a:rPr sz="1500" b="1" i="0">
                <a:solidFill>
                  <a:srgbClr val="E8ECF2"/>
                </a:solidFill>
                <a:latin typeface="Calibri"/>
              </a:rPr>
              <a:t>Observe</a:t>
            </a:r>
          </a:p>
        </p:txBody>
      </p:sp>
      <p:sp>
        <p:nvSpPr>
          <p:cNvPr id="9" name="TextBox 8"/>
          <p:cNvSpPr txBox="1"/>
          <p:nvPr/>
        </p:nvSpPr>
        <p:spPr>
          <a:xfrm>
            <a:off x="3127248" y="3611880"/>
            <a:ext cx="1645919" cy="914400"/>
          </a:xfrm>
          <a:prstGeom prst="rect">
            <a:avLst/>
          </a:prstGeom>
          <a:noFill/>
        </p:spPr>
        <p:txBody>
          <a:bodyPr wrap="square" lIns="0" rIns="0" tIns="0" bIns="0" anchor="t">
            <a:spAutoFit/>
          </a:bodyPr>
          <a:lstStyle/>
          <a:p>
            <a:pPr algn="ctr">
              <a:lnSpc>
                <a:spcPct val="120000"/>
              </a:lnSpc>
              <a:spcAft>
                <a:spcPts val="0"/>
              </a:spcAft>
            </a:pPr>
            <a:r>
              <a:rPr sz="1150" b="0" i="0">
                <a:solidFill>
                  <a:srgbClr val="98A4B3"/>
                </a:solidFill>
                <a:latin typeface="Calibri"/>
              </a:rPr>
              <a:t>Evaluates and
records. Never
acts on traffic.</a:t>
            </a:r>
          </a:p>
        </p:txBody>
      </p:sp>
      <p:sp>
        <p:nvSpPr>
          <p:cNvPr id="10" name="Chevron 9"/>
          <p:cNvSpPr/>
          <p:nvPr/>
        </p:nvSpPr>
        <p:spPr>
          <a:xfrm>
            <a:off x="4800600" y="2468880"/>
            <a:ext cx="2331720" cy="960120"/>
          </a:xfrm>
          <a:prstGeom prst="chevron">
            <a:avLst/>
          </a:prstGeom>
          <a:solidFill>
            <a:srgbClr val="1D242C"/>
          </a:solidFill>
          <a:ln w="12700">
            <a:solidFill>
              <a:srgbClr val="E0B341"/>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lnSpc>
                <a:spcPct val="115000"/>
              </a:lnSpc>
              <a:spcAft>
                <a:spcPts val="200"/>
              </a:spcAft>
            </a:pPr>
            <a:r>
              <a:rPr sz="1500" b="1" i="0">
                <a:solidFill>
                  <a:srgbClr val="E8ECF2"/>
                </a:solidFill>
                <a:latin typeface="Calibri"/>
              </a:rPr>
              <a:t>Warn</a:t>
            </a:r>
          </a:p>
        </p:txBody>
      </p:sp>
      <p:sp>
        <p:nvSpPr>
          <p:cNvPr id="11" name="TextBox 10"/>
          <p:cNvSpPr txBox="1"/>
          <p:nvPr/>
        </p:nvSpPr>
        <p:spPr>
          <a:xfrm>
            <a:off x="5184648" y="3611880"/>
            <a:ext cx="1645919" cy="914400"/>
          </a:xfrm>
          <a:prstGeom prst="rect">
            <a:avLst/>
          </a:prstGeom>
          <a:noFill/>
        </p:spPr>
        <p:txBody>
          <a:bodyPr wrap="square" lIns="0" rIns="0" tIns="0" bIns="0" anchor="t">
            <a:spAutoFit/>
          </a:bodyPr>
          <a:lstStyle/>
          <a:p>
            <a:pPr algn="ctr">
              <a:lnSpc>
                <a:spcPct val="120000"/>
              </a:lnSpc>
              <a:spcAft>
                <a:spcPts val="0"/>
              </a:spcAft>
            </a:pPr>
            <a:r>
              <a:rPr sz="1150" b="0" i="0">
                <a:solidFill>
                  <a:srgbClr val="98A4B3"/>
                </a:solidFill>
                <a:latin typeface="Calibri"/>
              </a:rPr>
              <a:t>Surfaces a
violation without
stopping it</a:t>
            </a:r>
          </a:p>
        </p:txBody>
      </p:sp>
      <p:sp>
        <p:nvSpPr>
          <p:cNvPr id="12" name="Chevron 11"/>
          <p:cNvSpPr/>
          <p:nvPr/>
        </p:nvSpPr>
        <p:spPr>
          <a:xfrm>
            <a:off x="6858000" y="2468880"/>
            <a:ext cx="2331720" cy="960120"/>
          </a:xfrm>
          <a:prstGeom prst="chevron">
            <a:avLst/>
          </a:prstGeom>
          <a:solidFill>
            <a:srgbClr val="1D242C"/>
          </a:solidFill>
          <a:ln w="12700">
            <a:solidFill>
              <a:srgbClr val="E0B341"/>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lnSpc>
                <a:spcPct val="115000"/>
              </a:lnSpc>
              <a:spcAft>
                <a:spcPts val="200"/>
              </a:spcAft>
            </a:pPr>
            <a:r>
              <a:rPr sz="1500" b="1" i="0">
                <a:solidFill>
                  <a:srgbClr val="E8ECF2"/>
                </a:solidFill>
                <a:latin typeface="Calibri"/>
              </a:rPr>
              <a:t>Redact</a:t>
            </a:r>
          </a:p>
        </p:txBody>
      </p:sp>
      <p:sp>
        <p:nvSpPr>
          <p:cNvPr id="13" name="TextBox 12"/>
          <p:cNvSpPr txBox="1"/>
          <p:nvPr/>
        </p:nvSpPr>
        <p:spPr>
          <a:xfrm>
            <a:off x="7242048" y="3611880"/>
            <a:ext cx="1645919" cy="914400"/>
          </a:xfrm>
          <a:prstGeom prst="rect">
            <a:avLst/>
          </a:prstGeom>
          <a:noFill/>
        </p:spPr>
        <p:txBody>
          <a:bodyPr wrap="square" lIns="0" rIns="0" tIns="0" bIns="0" anchor="t">
            <a:spAutoFit/>
          </a:bodyPr>
          <a:lstStyle/>
          <a:p>
            <a:pPr algn="ctr">
              <a:lnSpc>
                <a:spcPct val="120000"/>
              </a:lnSpc>
              <a:spcAft>
                <a:spcPts val="0"/>
              </a:spcAft>
            </a:pPr>
            <a:r>
              <a:rPr sz="1150" b="0" i="0">
                <a:solidFill>
                  <a:srgbClr val="98A4B3"/>
                </a:solidFill>
                <a:latin typeface="Calibri"/>
              </a:rPr>
              <a:t>Transforms the
content it
must remove</a:t>
            </a:r>
          </a:p>
        </p:txBody>
      </p:sp>
      <p:sp>
        <p:nvSpPr>
          <p:cNvPr id="14" name="Chevron 13"/>
          <p:cNvSpPr/>
          <p:nvPr/>
        </p:nvSpPr>
        <p:spPr>
          <a:xfrm>
            <a:off x="8915400" y="2468880"/>
            <a:ext cx="2331720" cy="960120"/>
          </a:xfrm>
          <a:prstGeom prst="chevron">
            <a:avLst/>
          </a:prstGeom>
          <a:solidFill>
            <a:srgbClr val="1D242C"/>
          </a:solidFill>
          <a:ln w="12700">
            <a:solidFill>
              <a:srgbClr val="E06C5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lnSpc>
                <a:spcPct val="115000"/>
              </a:lnSpc>
              <a:spcAft>
                <a:spcPts val="200"/>
              </a:spcAft>
            </a:pPr>
            <a:r>
              <a:rPr sz="1500" b="1" i="0">
                <a:solidFill>
                  <a:srgbClr val="E8ECF2"/>
                </a:solidFill>
                <a:latin typeface="Calibri"/>
              </a:rPr>
              <a:t>Block</a:t>
            </a:r>
          </a:p>
        </p:txBody>
      </p:sp>
      <p:sp>
        <p:nvSpPr>
          <p:cNvPr id="15" name="TextBox 14"/>
          <p:cNvSpPr txBox="1"/>
          <p:nvPr/>
        </p:nvSpPr>
        <p:spPr>
          <a:xfrm>
            <a:off x="9299448" y="3611880"/>
            <a:ext cx="1645919" cy="914400"/>
          </a:xfrm>
          <a:prstGeom prst="rect">
            <a:avLst/>
          </a:prstGeom>
          <a:noFill/>
        </p:spPr>
        <p:txBody>
          <a:bodyPr wrap="square" lIns="0" rIns="0" tIns="0" bIns="0" anchor="t">
            <a:spAutoFit/>
          </a:bodyPr>
          <a:lstStyle/>
          <a:p>
            <a:pPr algn="ctr">
              <a:lnSpc>
                <a:spcPct val="120000"/>
              </a:lnSpc>
              <a:spcAft>
                <a:spcPts val="0"/>
              </a:spcAft>
            </a:pPr>
            <a:r>
              <a:rPr sz="1150" b="0" i="0">
                <a:solidFill>
                  <a:srgbClr val="98A4B3"/>
                </a:solidFill>
                <a:latin typeface="Calibri"/>
              </a:rPr>
              <a:t>Stops the
request or
response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The ceiling narrows the action, and nothing else</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Findings, reason codes and category reach the caller unchanged at every state.</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AI Guardrails · design intent and delivery plan — nothing built or piloted today</a:t>
            </a:r>
          </a:p>
        </p:txBody>
      </p:sp>
      <p:sp>
        <p:nvSpPr>
          <p:cNvPr id="6" name="Rounded Rectangle 5"/>
          <p:cNvSpPr/>
          <p:nvPr/>
        </p:nvSpPr>
        <p:spPr>
          <a:xfrm>
            <a:off x="685800" y="2560320"/>
            <a:ext cx="1915302" cy="914400"/>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300" b="1" i="0">
                <a:solidFill>
                  <a:srgbClr val="E8ECF2"/>
                </a:solidFill>
                <a:latin typeface="Calibri"/>
              </a:rPr>
              <a:t>Evaluators</a:t>
            </a:r>
          </a:p>
        </p:txBody>
      </p:sp>
      <p:sp>
        <p:nvSpPr>
          <p:cNvPr id="7" name="TextBox 6"/>
          <p:cNvSpPr txBox="1"/>
          <p:nvPr/>
        </p:nvSpPr>
        <p:spPr>
          <a:xfrm>
            <a:off x="740664" y="3566160"/>
            <a:ext cx="1805574" cy="640080"/>
          </a:xfrm>
          <a:prstGeom prst="rect">
            <a:avLst/>
          </a:prstGeom>
          <a:noFill/>
        </p:spPr>
        <p:txBody>
          <a:bodyPr wrap="square" lIns="0" rIns="0" tIns="0" bIns="0" anchor="t">
            <a:spAutoFit/>
          </a:bodyPr>
          <a:lstStyle/>
          <a:p>
            <a:pPr algn="ctr">
              <a:lnSpc>
                <a:spcPct val="115000"/>
              </a:lnSpc>
              <a:spcAft>
                <a:spcPts val="0"/>
              </a:spcAft>
            </a:pPr>
            <a:r>
              <a:rPr sz="1050" b="0" i="0">
                <a:solidFill>
                  <a:srgbClr val="98A4B3"/>
                </a:solidFill>
                <a:latin typeface="Calibri"/>
              </a:rPr>
              <a:t>Run unless the binding is disabled</a:t>
            </a:r>
          </a:p>
        </p:txBody>
      </p:sp>
      <p:cxnSp>
        <p:nvCxnSpPr>
          <p:cNvPr id="8" name="Connector 7"/>
          <p:cNvCxnSpPr/>
          <p:nvPr/>
        </p:nvCxnSpPr>
        <p:spPr>
          <a:xfrm>
            <a:off x="2619390" y="3017520"/>
            <a:ext cx="274320" cy="0"/>
          </a:xfrm>
          <a:prstGeom prst="line">
            <a:avLst/>
          </a:prstGeom>
          <a:ln w="19050">
            <a:solidFill>
              <a:srgbClr val="2E3945"/>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911998" y="2560320"/>
            <a:ext cx="1915302" cy="914400"/>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300" b="1" i="0">
                <a:solidFill>
                  <a:srgbClr val="E8ECF2"/>
                </a:solidFill>
                <a:latin typeface="Calibri"/>
              </a:rPr>
              <a:t>Policy</a:t>
            </a:r>
          </a:p>
        </p:txBody>
      </p:sp>
      <p:sp>
        <p:nvSpPr>
          <p:cNvPr id="10" name="TextBox 9"/>
          <p:cNvSpPr txBox="1"/>
          <p:nvPr/>
        </p:nvSpPr>
        <p:spPr>
          <a:xfrm>
            <a:off x="2966862" y="3566160"/>
            <a:ext cx="1805574" cy="640080"/>
          </a:xfrm>
          <a:prstGeom prst="rect">
            <a:avLst/>
          </a:prstGeom>
          <a:noFill/>
        </p:spPr>
        <p:txBody>
          <a:bodyPr wrap="square" lIns="0" rIns="0" tIns="0" bIns="0" anchor="t">
            <a:spAutoFit/>
          </a:bodyPr>
          <a:lstStyle/>
          <a:p>
            <a:pPr algn="ctr">
              <a:lnSpc>
                <a:spcPct val="115000"/>
              </a:lnSpc>
              <a:spcAft>
                <a:spcPts val="0"/>
              </a:spcAft>
            </a:pPr>
            <a:r>
              <a:rPr sz="1050" b="0" i="0">
                <a:solidFill>
                  <a:srgbClr val="98A4B3"/>
                </a:solidFill>
                <a:latin typeface="Calibri"/>
              </a:rPr>
              <a:t>States the action each finding calls for</a:t>
            </a:r>
          </a:p>
        </p:txBody>
      </p:sp>
      <p:cxnSp>
        <p:nvCxnSpPr>
          <p:cNvPr id="11" name="Connector 10"/>
          <p:cNvCxnSpPr/>
          <p:nvPr/>
        </p:nvCxnSpPr>
        <p:spPr>
          <a:xfrm>
            <a:off x="4845588" y="3017520"/>
            <a:ext cx="274320" cy="0"/>
          </a:xfrm>
          <a:prstGeom prst="line">
            <a:avLst/>
          </a:prstGeom>
          <a:ln w="19050">
            <a:solidFill>
              <a:srgbClr val="2E394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138196" y="2560320"/>
            <a:ext cx="1915302" cy="914400"/>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300" b="1" i="0">
                <a:solidFill>
                  <a:srgbClr val="E8ECF2"/>
                </a:solidFill>
                <a:latin typeface="Calibri"/>
              </a:rPr>
              <a:t>Binding</a:t>
            </a:r>
          </a:p>
        </p:txBody>
      </p:sp>
      <p:sp>
        <p:nvSpPr>
          <p:cNvPr id="13" name="TextBox 12"/>
          <p:cNvSpPr txBox="1"/>
          <p:nvPr/>
        </p:nvSpPr>
        <p:spPr>
          <a:xfrm>
            <a:off x="5193060" y="3566160"/>
            <a:ext cx="1805574" cy="640080"/>
          </a:xfrm>
          <a:prstGeom prst="rect">
            <a:avLst/>
          </a:prstGeom>
          <a:noFill/>
        </p:spPr>
        <p:txBody>
          <a:bodyPr wrap="square" lIns="0" rIns="0" tIns="0" bIns="0" anchor="t">
            <a:spAutoFit/>
          </a:bodyPr>
          <a:lstStyle/>
          <a:p>
            <a:pPr algn="ctr">
              <a:lnSpc>
                <a:spcPct val="115000"/>
              </a:lnSpc>
              <a:spcAft>
                <a:spcPts val="0"/>
              </a:spcAft>
            </a:pPr>
            <a:r>
              <a:rPr sz="1050" b="0" i="0">
                <a:solidFill>
                  <a:srgbClr val="98A4B3"/>
                </a:solidFill>
                <a:latin typeface="Calibri"/>
              </a:rPr>
              <a:t>Carries the enforcement state — the ceiling</a:t>
            </a:r>
          </a:p>
        </p:txBody>
      </p:sp>
      <p:cxnSp>
        <p:nvCxnSpPr>
          <p:cNvPr id="14" name="Connector 13"/>
          <p:cNvCxnSpPr/>
          <p:nvPr/>
        </p:nvCxnSpPr>
        <p:spPr>
          <a:xfrm>
            <a:off x="7071786" y="3017520"/>
            <a:ext cx="274320" cy="0"/>
          </a:xfrm>
          <a:prstGeom prst="line">
            <a:avLst/>
          </a:prstGeom>
          <a:ln w="19050">
            <a:solidFill>
              <a:srgbClr val="2E394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7364394" y="2560320"/>
            <a:ext cx="1915302" cy="914400"/>
          </a:xfrm>
          <a:prstGeom prst="roundRect">
            <a:avLst>
              <a:gd name="adj" fmla="val 8000"/>
            </a:avLst>
          </a:prstGeom>
          <a:solidFill>
            <a:srgbClr val="2B4A69"/>
          </a:solidFill>
          <a:ln w="12700">
            <a:solidFill>
              <a:srgbClr val="5AA0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300" b="1" i="0">
                <a:solidFill>
                  <a:srgbClr val="E8ECF2"/>
                </a:solidFill>
                <a:latin typeface="Calibri"/>
              </a:rPr>
              <a:t>Clamp</a:t>
            </a:r>
          </a:p>
        </p:txBody>
      </p:sp>
      <p:sp>
        <p:nvSpPr>
          <p:cNvPr id="16" name="TextBox 15"/>
          <p:cNvSpPr txBox="1"/>
          <p:nvPr/>
        </p:nvSpPr>
        <p:spPr>
          <a:xfrm>
            <a:off x="7419258" y="3566160"/>
            <a:ext cx="1805574" cy="640080"/>
          </a:xfrm>
          <a:prstGeom prst="rect">
            <a:avLst/>
          </a:prstGeom>
          <a:noFill/>
        </p:spPr>
        <p:txBody>
          <a:bodyPr wrap="square" lIns="0" rIns="0" tIns="0" bIns="0" anchor="t">
            <a:spAutoFit/>
          </a:bodyPr>
          <a:lstStyle/>
          <a:p>
            <a:pPr algn="ctr">
              <a:lnSpc>
                <a:spcPct val="115000"/>
              </a:lnSpc>
              <a:spcAft>
                <a:spcPts val="0"/>
              </a:spcAft>
            </a:pPr>
            <a:r>
              <a:rPr sz="1050" b="0" i="0">
                <a:solidFill>
                  <a:srgbClr val="98A4B3"/>
                </a:solidFill>
                <a:latin typeface="Calibri"/>
              </a:rPr>
              <a:t>Takes the lesser of the two, never the greater</a:t>
            </a:r>
          </a:p>
        </p:txBody>
      </p:sp>
      <p:cxnSp>
        <p:nvCxnSpPr>
          <p:cNvPr id="17" name="Connector 16"/>
          <p:cNvCxnSpPr/>
          <p:nvPr/>
        </p:nvCxnSpPr>
        <p:spPr>
          <a:xfrm>
            <a:off x="9297984" y="3017520"/>
            <a:ext cx="274320" cy="0"/>
          </a:xfrm>
          <a:prstGeom prst="line">
            <a:avLst/>
          </a:prstGeom>
          <a:ln w="19050">
            <a:solidFill>
              <a:srgbClr val="2E394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9590592" y="2560320"/>
            <a:ext cx="1915302" cy="914400"/>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300" b="1" i="0">
                <a:solidFill>
                  <a:srgbClr val="E8ECF2"/>
                </a:solidFill>
                <a:latin typeface="Calibri"/>
              </a:rPr>
              <a:t>Decision</a:t>
            </a:r>
          </a:p>
        </p:txBody>
      </p:sp>
      <p:sp>
        <p:nvSpPr>
          <p:cNvPr id="19" name="TextBox 18"/>
          <p:cNvSpPr txBox="1"/>
          <p:nvPr/>
        </p:nvSpPr>
        <p:spPr>
          <a:xfrm>
            <a:off x="9645456" y="3566160"/>
            <a:ext cx="1805574" cy="640080"/>
          </a:xfrm>
          <a:prstGeom prst="rect">
            <a:avLst/>
          </a:prstGeom>
          <a:noFill/>
        </p:spPr>
        <p:txBody>
          <a:bodyPr wrap="square" lIns="0" rIns="0" tIns="0" bIns="0" anchor="t">
            <a:spAutoFit/>
          </a:bodyPr>
          <a:lstStyle/>
          <a:p>
            <a:pPr algn="ctr">
              <a:lnSpc>
                <a:spcPct val="115000"/>
              </a:lnSpc>
              <a:spcAft>
                <a:spcPts val="0"/>
              </a:spcAft>
            </a:pPr>
            <a:r>
              <a:rPr sz="1050" b="0" i="0">
                <a:solidFill>
                  <a:srgbClr val="98A4B3"/>
                </a:solidFill>
                <a:latin typeface="Calibri"/>
              </a:rPr>
              <a:t>One action, plus everything that produced it</a:t>
            </a:r>
          </a:p>
        </p:txBody>
      </p:sp>
      <p:sp>
        <p:nvSpPr>
          <p:cNvPr id="20" name="Rounded Rectangle 19"/>
          <p:cNvSpPr/>
          <p:nvPr/>
        </p:nvSpPr>
        <p:spPr>
          <a:xfrm>
            <a:off x="685800" y="4297680"/>
            <a:ext cx="10820095" cy="566928"/>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41832" y="4416552"/>
            <a:ext cx="4023360" cy="365760"/>
          </a:xfrm>
          <a:prstGeom prst="rect">
            <a:avLst/>
          </a:prstGeom>
          <a:noFill/>
        </p:spPr>
        <p:txBody>
          <a:bodyPr wrap="square" lIns="0" rIns="0" tIns="0" bIns="0" anchor="t">
            <a:spAutoFit/>
          </a:bodyPr>
          <a:lstStyle/>
          <a:p>
            <a:pPr algn="l">
              <a:lnSpc>
                <a:spcPct val="115000"/>
              </a:lnSpc>
              <a:spcAft>
                <a:spcPts val="0"/>
              </a:spcAft>
            </a:pPr>
            <a:r>
              <a:rPr sz="1150" b="1" i="0">
                <a:solidFill>
                  <a:srgbClr val="4FB477"/>
                </a:solidFill>
                <a:latin typeface="Calibri"/>
              </a:rPr>
              <a:t>findings · reason_codes · guardrail_category</a:t>
            </a:r>
          </a:p>
        </p:txBody>
      </p:sp>
      <p:cxnSp>
        <p:nvCxnSpPr>
          <p:cNvPr id="22" name="Connector 21"/>
          <p:cNvCxnSpPr/>
          <p:nvPr/>
        </p:nvCxnSpPr>
        <p:spPr>
          <a:xfrm>
            <a:off x="5120640" y="4581144"/>
            <a:ext cx="1554480" cy="0"/>
          </a:xfrm>
          <a:prstGeom prst="line">
            <a:avLst/>
          </a:prstGeom>
          <a:ln w="19050">
            <a:solidFill>
              <a:srgbClr val="4FB477"/>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858000" y="4416552"/>
            <a:ext cx="4373575" cy="365760"/>
          </a:xfrm>
          <a:prstGeom prst="rect">
            <a:avLst/>
          </a:prstGeom>
          <a:noFill/>
        </p:spPr>
        <p:txBody>
          <a:bodyPr wrap="square" lIns="0" rIns="0" tIns="0" bIns="0" anchor="t">
            <a:spAutoFit/>
          </a:bodyPr>
          <a:lstStyle/>
          <a:p>
            <a:pPr algn="l">
              <a:lnSpc>
                <a:spcPct val="115000"/>
              </a:lnSpc>
              <a:spcAft>
                <a:spcPts val="0"/>
              </a:spcAft>
            </a:pPr>
            <a:r>
              <a:rPr sz="1150" b="0" i="0">
                <a:solidFill>
                  <a:srgbClr val="98A4B3"/>
                </a:solidFill>
                <a:latin typeface="Calibri"/>
              </a:rPr>
              <a:t>bypass the clamp entirely and are reported unchanged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Reason codes are namespaced by category, at the adapter</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Whatever the engine emits, the adapter normalises it before it reaches a decision.</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AI Guardrails · design intent and delivery plan — nothing built or piloted today</a:t>
            </a:r>
          </a:p>
        </p:txBody>
      </p:sp>
      <p:sp>
        <p:nvSpPr>
          <p:cNvPr id="6" name="Rounded Rectangle 5"/>
          <p:cNvSpPr/>
          <p:nvPr/>
        </p:nvSpPr>
        <p:spPr>
          <a:xfrm>
            <a:off x="2103120" y="2606040"/>
            <a:ext cx="6035040" cy="749808"/>
          </a:xfrm>
          <a:prstGeom prst="roundRect">
            <a:avLst>
              <a:gd name="adj" fmla="val 8000"/>
            </a:avLst>
          </a:prstGeom>
          <a:solidFill>
            <a:srgbClr val="2B4A69"/>
          </a:solidFill>
          <a:ln w="12700">
            <a:solidFill>
              <a:srgbClr val="5AA0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2000" b="1" i="0">
                <a:solidFill>
                  <a:srgbClr val="E8ECF2"/>
                </a:solidFill>
                <a:latin typeface="Calibri"/>
              </a:rPr>
              <a:t>GR-0NN : &lt;evaluator-family&gt; : &lt;code&gt;</a:t>
            </a:r>
          </a:p>
        </p:txBody>
      </p:sp>
      <p:sp>
        <p:nvSpPr>
          <p:cNvPr id="7" name="TextBox 6"/>
          <p:cNvSpPr txBox="1"/>
          <p:nvPr/>
        </p:nvSpPr>
        <p:spPr>
          <a:xfrm>
            <a:off x="2103120" y="3447288"/>
            <a:ext cx="2011680" cy="822960"/>
          </a:xfrm>
          <a:prstGeom prst="rect">
            <a:avLst/>
          </a:prstGeom>
          <a:noFill/>
        </p:spPr>
        <p:txBody>
          <a:bodyPr wrap="square" lIns="0" rIns="0" tIns="0" bIns="0" anchor="t">
            <a:spAutoFit/>
          </a:bodyPr>
          <a:lstStyle/>
          <a:p>
            <a:pPr algn="ctr">
              <a:lnSpc>
                <a:spcPct val="115000"/>
              </a:lnSpc>
              <a:spcAft>
                <a:spcPts val="300"/>
              </a:spcAft>
            </a:pPr>
            <a:r>
              <a:rPr sz="1100" b="1" i="0">
                <a:solidFill>
                  <a:srgbClr val="5AA0E0"/>
                </a:solidFill>
                <a:latin typeface="Calibri"/>
              </a:rPr>
              <a:t>catalog category</a:t>
            </a:r>
          </a:p>
          <a:p>
            <a:pPr algn="ctr">
              <a:lnSpc>
                <a:spcPct val="115000"/>
              </a:lnSpc>
              <a:spcAft>
                <a:spcPts val="0"/>
              </a:spcAft>
            </a:pPr>
            <a:r>
              <a:rPr sz="1000" b="0" i="0">
                <a:solidFill>
                  <a:srgbClr val="98A4B3"/>
                </a:solidFill>
                <a:latin typeface="Calibri"/>
              </a:rPr>
              <a:t>mandatory — no code may be emitted without one</a:t>
            </a:r>
          </a:p>
        </p:txBody>
      </p:sp>
      <p:sp>
        <p:nvSpPr>
          <p:cNvPr id="8" name="TextBox 7"/>
          <p:cNvSpPr txBox="1"/>
          <p:nvPr/>
        </p:nvSpPr>
        <p:spPr>
          <a:xfrm>
            <a:off x="4114800" y="3447288"/>
            <a:ext cx="2011680" cy="822960"/>
          </a:xfrm>
          <a:prstGeom prst="rect">
            <a:avLst/>
          </a:prstGeom>
          <a:noFill/>
        </p:spPr>
        <p:txBody>
          <a:bodyPr wrap="square" lIns="0" rIns="0" tIns="0" bIns="0" anchor="t">
            <a:spAutoFit/>
          </a:bodyPr>
          <a:lstStyle/>
          <a:p>
            <a:pPr algn="ctr">
              <a:lnSpc>
                <a:spcPct val="115000"/>
              </a:lnSpc>
              <a:spcAft>
                <a:spcPts val="300"/>
              </a:spcAft>
            </a:pPr>
            <a:r>
              <a:rPr sz="1100" b="1" i="0">
                <a:solidFill>
                  <a:srgbClr val="5AA0E0"/>
                </a:solidFill>
                <a:latin typeface="Calibri"/>
              </a:rPr>
              <a:t>which evaluator produced the finding</a:t>
            </a:r>
          </a:p>
          <a:p>
            <a:pPr algn="ctr">
              <a:lnSpc>
                <a:spcPct val="115000"/>
              </a:lnSpc>
              <a:spcAft>
                <a:spcPts val="0"/>
              </a:spcAft>
            </a:pPr>
            <a:r>
              <a:rPr sz="1000" b="0" i="0">
                <a:solidFill>
                  <a:srgbClr val="98A4B3"/>
                </a:solidFill>
                <a:latin typeface="Calibri"/>
              </a:rPr>
              <a:t>not which product the deployment happens to use</a:t>
            </a:r>
          </a:p>
        </p:txBody>
      </p:sp>
      <p:sp>
        <p:nvSpPr>
          <p:cNvPr id="9" name="TextBox 8"/>
          <p:cNvSpPr txBox="1"/>
          <p:nvPr/>
        </p:nvSpPr>
        <p:spPr>
          <a:xfrm>
            <a:off x="6126480" y="3447288"/>
            <a:ext cx="2011680" cy="822960"/>
          </a:xfrm>
          <a:prstGeom prst="rect">
            <a:avLst/>
          </a:prstGeom>
          <a:noFill/>
        </p:spPr>
        <p:txBody>
          <a:bodyPr wrap="square" lIns="0" rIns="0" tIns="0" bIns="0" anchor="t">
            <a:spAutoFit/>
          </a:bodyPr>
          <a:lstStyle/>
          <a:p>
            <a:pPr algn="ctr">
              <a:lnSpc>
                <a:spcPct val="115000"/>
              </a:lnSpc>
              <a:spcAft>
                <a:spcPts val="300"/>
              </a:spcAft>
            </a:pPr>
            <a:r>
              <a:rPr sz="1100" b="1" i="0">
                <a:solidFill>
                  <a:srgbClr val="5AA0E0"/>
                </a:solidFill>
                <a:latin typeface="Calibri"/>
              </a:rPr>
              <a:t>that evaluator's own native code</a:t>
            </a:r>
          </a:p>
          <a:p>
            <a:pPr algn="ctr">
              <a:lnSpc>
                <a:spcPct val="115000"/>
              </a:lnSpc>
              <a:spcAft>
                <a:spcPts val="0"/>
              </a:spcAft>
            </a:pPr>
            <a:r>
              <a:rPr sz="1000" b="0" i="0">
                <a:solidFill>
                  <a:srgbClr val="98A4B3"/>
                </a:solidFill>
                <a:latin typeface="Calibri"/>
              </a:rPr>
              <a:t>or a short stable slug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Policy storage and distribution</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Runtimes pull. The control plane never pushes. Evaluation reads local state only.</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AI Guardrails · design intent and delivery plan — nothing built or piloted today</a:t>
            </a:r>
          </a:p>
        </p:txBody>
      </p:sp>
      <p:sp>
        <p:nvSpPr>
          <p:cNvPr id="6" name="Rounded Rectangle 5"/>
          <p:cNvSpPr/>
          <p:nvPr/>
        </p:nvSpPr>
        <p:spPr>
          <a:xfrm>
            <a:off x="685800" y="1874519"/>
            <a:ext cx="5440680" cy="822960"/>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250" b="1" i="0">
                <a:solidFill>
                  <a:srgbClr val="E8ECF2"/>
                </a:solidFill>
                <a:latin typeface="Calibri"/>
              </a:rPr>
              <a:t>Bindings — low-latency key-value store</a:t>
            </a:r>
          </a:p>
          <a:p>
            <a:pPr algn="ctr">
              <a:lnSpc>
                <a:spcPct val="115000"/>
              </a:lnSpc>
              <a:spcAft>
                <a:spcPts val="200"/>
              </a:spcAft>
            </a:pPr>
            <a:r>
              <a:rPr sz="1100" b="0" i="0">
                <a:solidFill>
                  <a:srgbClr val="98A4B3"/>
                </a:solidFill>
                <a:latin typeface="Calibri"/>
              </a:rPr>
              <a:t>Read once per evaluation. Append-only.</a:t>
            </a:r>
          </a:p>
        </p:txBody>
      </p:sp>
      <p:sp>
        <p:nvSpPr>
          <p:cNvPr id="7" name="Rounded Rectangle 6"/>
          <p:cNvSpPr/>
          <p:nvPr/>
        </p:nvSpPr>
        <p:spPr>
          <a:xfrm>
            <a:off x="6519672" y="1874519"/>
            <a:ext cx="4983480" cy="822960"/>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250" b="1" i="0">
                <a:solidFill>
                  <a:srgbClr val="E8ECF2"/>
                </a:solidFill>
                <a:latin typeface="Calibri"/>
              </a:rPr>
              <a:t>Policy documents — versioned object store</a:t>
            </a:r>
          </a:p>
          <a:p>
            <a:pPr algn="ctr">
              <a:lnSpc>
                <a:spcPct val="115000"/>
              </a:lnSpc>
              <a:spcAft>
                <a:spcPts val="200"/>
              </a:spcAft>
            </a:pPr>
            <a:r>
              <a:rPr sz="1100" b="0" i="0">
                <a:solidFill>
                  <a:srgbClr val="98A4B3"/>
                </a:solidFill>
                <a:latin typeface="Calibri"/>
              </a:rPr>
              <a:t>Immutability is native.</a:t>
            </a:r>
          </a:p>
        </p:txBody>
      </p:sp>
      <p:cxnSp>
        <p:nvCxnSpPr>
          <p:cNvPr id="8" name="Connector 7"/>
          <p:cNvCxnSpPr/>
          <p:nvPr/>
        </p:nvCxnSpPr>
        <p:spPr>
          <a:xfrm>
            <a:off x="6323076" y="2834639"/>
            <a:ext cx="0" cy="384048"/>
          </a:xfrm>
          <a:prstGeom prst="line">
            <a:avLst/>
          </a:prstGeom>
          <a:ln w="15875">
            <a:solidFill>
              <a:srgbClr val="2E3945"/>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85800" y="3291839"/>
            <a:ext cx="3472586" cy="146304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6968" y="3474720"/>
            <a:ext cx="3070250" cy="1143000"/>
          </a:xfrm>
          <a:prstGeom prst="rect">
            <a:avLst/>
          </a:prstGeom>
          <a:noFill/>
        </p:spPr>
        <p:txBody>
          <a:bodyPr wrap="square" lIns="0" rIns="0" tIns="0" bIns="0" anchor="t">
            <a:spAutoFit/>
          </a:bodyPr>
          <a:lstStyle/>
          <a:p>
            <a:pPr algn="l">
              <a:lnSpc>
                <a:spcPct val="115000"/>
              </a:lnSpc>
              <a:spcAft>
                <a:spcPts val="600"/>
              </a:spcAft>
            </a:pPr>
            <a:r>
              <a:rPr sz="1300" b="1" i="0">
                <a:solidFill>
                  <a:srgbClr val="E8ECF2"/>
                </a:solidFill>
                <a:latin typeface="Calibri"/>
              </a:rPr>
              <a:t>Runtimes pull on an interval</a:t>
            </a:r>
          </a:p>
          <a:p>
            <a:pPr algn="l">
              <a:lnSpc>
                <a:spcPct val="120000"/>
              </a:lnSpc>
              <a:spcAft>
                <a:spcPts val="0"/>
              </a:spcAft>
            </a:pPr>
            <a:r>
              <a:rPr sz="1100" b="0" i="0">
                <a:solidFill>
                  <a:srgbClr val="98A4B3"/>
                </a:solidFill>
                <a:latin typeface="Calibri"/>
              </a:rPr>
              <a:t>The control plane never initiates a connection. One mechanism serves all three modes.</a:t>
            </a:r>
          </a:p>
        </p:txBody>
      </p:sp>
      <p:sp>
        <p:nvSpPr>
          <p:cNvPr id="11" name="Rounded Rectangle 10"/>
          <p:cNvSpPr/>
          <p:nvPr/>
        </p:nvSpPr>
        <p:spPr>
          <a:xfrm>
            <a:off x="4359554" y="3291839"/>
            <a:ext cx="3472586" cy="146304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60722" y="3474720"/>
            <a:ext cx="3070250" cy="1143000"/>
          </a:xfrm>
          <a:prstGeom prst="rect">
            <a:avLst/>
          </a:prstGeom>
          <a:noFill/>
        </p:spPr>
        <p:txBody>
          <a:bodyPr wrap="square" lIns="0" rIns="0" tIns="0" bIns="0" anchor="t">
            <a:spAutoFit/>
          </a:bodyPr>
          <a:lstStyle/>
          <a:p>
            <a:pPr algn="l">
              <a:lnSpc>
                <a:spcPct val="115000"/>
              </a:lnSpc>
              <a:spcAft>
                <a:spcPts val="600"/>
              </a:spcAft>
            </a:pPr>
            <a:r>
              <a:rPr sz="1300" b="1" i="0">
                <a:solidFill>
                  <a:srgbClr val="E8ECF2"/>
                </a:solidFill>
                <a:latin typeface="Calibri"/>
              </a:rPr>
              <a:t>Resolution reads the local cache only</a:t>
            </a:r>
          </a:p>
          <a:p>
            <a:pPr algn="l">
              <a:lnSpc>
                <a:spcPct val="120000"/>
              </a:lnSpc>
              <a:spcAft>
                <a:spcPts val="0"/>
              </a:spcAft>
            </a:pPr>
            <a:r>
              <a:rPr sz="1100" b="0" i="0">
                <a:solidFill>
                  <a:srgbClr val="98A4B3"/>
                </a:solidFill>
                <a:latin typeface="Calibri"/>
              </a:rPr>
              <a:t>No evaluation makes a synchronous control-plane call, in any mode.</a:t>
            </a:r>
          </a:p>
        </p:txBody>
      </p:sp>
      <p:sp>
        <p:nvSpPr>
          <p:cNvPr id="13" name="Rounded Rectangle 12"/>
          <p:cNvSpPr/>
          <p:nvPr/>
        </p:nvSpPr>
        <p:spPr>
          <a:xfrm>
            <a:off x="8033308" y="3291839"/>
            <a:ext cx="3472586" cy="146304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34476" y="3474720"/>
            <a:ext cx="3070250" cy="1143000"/>
          </a:xfrm>
          <a:prstGeom prst="rect">
            <a:avLst/>
          </a:prstGeom>
          <a:noFill/>
        </p:spPr>
        <p:txBody>
          <a:bodyPr wrap="square" lIns="0" rIns="0" tIns="0" bIns="0" anchor="t">
            <a:spAutoFit/>
          </a:bodyPr>
          <a:lstStyle/>
          <a:p>
            <a:pPr algn="l">
              <a:lnSpc>
                <a:spcPct val="115000"/>
              </a:lnSpc>
              <a:spcAft>
                <a:spcPts val="600"/>
              </a:spcAft>
            </a:pPr>
            <a:r>
              <a:rPr sz="1300" b="1" i="0">
                <a:solidFill>
                  <a:srgbClr val="E8ECF2"/>
                </a:solidFill>
                <a:latin typeface="Calibri"/>
              </a:rPr>
              <a:t>A refresh failure is not an evaluation failure</a:t>
            </a:r>
          </a:p>
          <a:p>
            <a:pPr algn="l">
              <a:lnSpc>
                <a:spcPct val="120000"/>
              </a:lnSpc>
              <a:spcAft>
                <a:spcPts val="0"/>
              </a:spcAft>
            </a:pPr>
            <a:r>
              <a:rPr sz="1100" b="0" i="0">
                <a:solidFill>
                  <a:srgbClr val="98A4B3"/>
                </a:solidFill>
                <a:latin typeface="Calibri"/>
              </a:rPr>
              <a:t>The runtime keeps evaluating against its last retrieved state.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Compatibility is two-phase</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Bind time checks intent. Request time checks reality.</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AI Guardrails · design intent and delivery plan — nothing built or piloted today</a:t>
            </a:r>
          </a:p>
        </p:txBody>
      </p:sp>
      <p:graphicFrame>
        <p:nvGraphicFramePr>
          <p:cNvPr id="6" name="Table 5"/>
          <p:cNvGraphicFramePr>
            <a:graphicFrameLocks noGrp="1"/>
          </p:cNvGraphicFramePr>
          <p:nvPr/>
        </p:nvGraphicFramePr>
        <p:xfrm>
          <a:off x="685800" y="2286000"/>
          <a:ext cx="10820093" cy="2011680"/>
        </p:xfrm>
        <a:graphic>
          <a:graphicData uri="http://schemas.openxmlformats.org/drawingml/2006/table">
            <a:tbl>
              <a:tblPr firstRow="1">
                <a:tableStyleId>{5C22544A-7EE6-4342-B048-85BDC9FD1C3A}</a:tableStyleId>
              </a:tblPr>
              <a:tblGrid>
                <a:gridCol w="1298411"/>
                <a:gridCol w="1947617"/>
                <a:gridCol w="4544439"/>
                <a:gridCol w="3029626"/>
              </a:tblGrid>
              <a:tr h="365760">
                <a:tc>
                  <a:txBody>
                    <a:bodyPr wrap="square"/>
                    <a:lstStyle/>
                    <a:p>
                      <a:pPr algn="l">
                        <a:lnSpc>
                          <a:spcPct val="105000"/>
                        </a:lnSpc>
                        <a:spcAft>
                          <a:spcPts val="0"/>
                        </a:spcAft>
                      </a:pPr>
                      <a:r>
                        <a:rPr sz="1200" b="1" i="0">
                          <a:solidFill>
                            <a:srgbClr val="5AA0E0"/>
                          </a:solidFill>
                          <a:latin typeface="Calibri"/>
                        </a:rPr>
                        <a:t>Phase</a:t>
                      </a:r>
                    </a:p>
                  </a:txBody>
                  <a:tcPr marL="91440" marR="91440" marT="45720" marB="45720" anchor="ctr">
                    <a:solidFill>
                      <a:srgbClr val="1D242C"/>
                    </a:solidFill>
                  </a:tcPr>
                </a:tc>
                <a:tc>
                  <a:txBody>
                    <a:bodyPr wrap="square"/>
                    <a:lstStyle/>
                    <a:p>
                      <a:pPr algn="l">
                        <a:lnSpc>
                          <a:spcPct val="105000"/>
                        </a:lnSpc>
                        <a:spcAft>
                          <a:spcPts val="0"/>
                        </a:spcAft>
                      </a:pPr>
                      <a:r>
                        <a:rPr sz="1200" b="1" i="0">
                          <a:solidFill>
                            <a:srgbClr val="5AA0E0"/>
                          </a:solidFill>
                          <a:latin typeface="Calibri"/>
                        </a:rPr>
                        <a:t>When</a:t>
                      </a:r>
                    </a:p>
                  </a:txBody>
                  <a:tcPr marL="91440" marR="91440" marT="45720" marB="45720" anchor="ctr">
                    <a:solidFill>
                      <a:srgbClr val="1D242C"/>
                    </a:solidFill>
                  </a:tcPr>
                </a:tc>
                <a:tc>
                  <a:txBody>
                    <a:bodyPr wrap="square"/>
                    <a:lstStyle/>
                    <a:p>
                      <a:pPr algn="l">
                        <a:lnSpc>
                          <a:spcPct val="105000"/>
                        </a:lnSpc>
                        <a:spcAft>
                          <a:spcPts val="0"/>
                        </a:spcAft>
                      </a:pPr>
                      <a:r>
                        <a:rPr sz="1200" b="1" i="0">
                          <a:solidFill>
                            <a:srgbClr val="5AA0E0"/>
                          </a:solidFill>
                          <a:latin typeface="Calibri"/>
                        </a:rPr>
                        <a:t>Validates</a:t>
                      </a:r>
                    </a:p>
                  </a:txBody>
                  <a:tcPr marL="91440" marR="91440" marT="45720" marB="45720" anchor="ctr">
                    <a:solidFill>
                      <a:srgbClr val="1D242C"/>
                    </a:solidFill>
                  </a:tcPr>
                </a:tc>
                <a:tc>
                  <a:txBody>
                    <a:bodyPr wrap="square"/>
                    <a:lstStyle/>
                    <a:p>
                      <a:pPr algn="l">
                        <a:lnSpc>
                          <a:spcPct val="105000"/>
                        </a:lnSpc>
                        <a:spcAft>
                          <a:spcPts val="0"/>
                        </a:spcAft>
                      </a:pPr>
                      <a:r>
                        <a:rPr sz="1200" b="1" i="0">
                          <a:solidFill>
                            <a:srgbClr val="5AA0E0"/>
                          </a:solidFill>
                          <a:latin typeface="Calibri"/>
                        </a:rPr>
                        <a:t>On failure</a:t>
                      </a:r>
                    </a:p>
                  </a:txBody>
                  <a:tcPr marL="91440" marR="91440" marT="45720" marB="45720" anchor="ctr">
                    <a:solidFill>
                      <a:srgbClr val="1D242C"/>
                    </a:solidFill>
                  </a:tcPr>
                </a:tc>
              </a:tr>
              <a:tr h="822960">
                <a:tc>
                  <a:txBody>
                    <a:bodyPr wrap="square"/>
                    <a:lstStyle/>
                    <a:p>
                      <a:pPr algn="l">
                        <a:lnSpc>
                          <a:spcPct val="105000"/>
                        </a:lnSpc>
                        <a:spcAft>
                          <a:spcPts val="0"/>
                        </a:spcAft>
                      </a:pPr>
                      <a:r>
                        <a:rPr sz="1250" b="1" i="0">
                          <a:solidFill>
                            <a:srgbClr val="E8ECF2"/>
                          </a:solidFill>
                          <a:latin typeface="Calibri"/>
                        </a:rPr>
                        <a:t>Declared</a:t>
                      </a:r>
                    </a:p>
                  </a:txBody>
                  <a:tcPr marL="91440" marR="91440" marT="45720" marB="45720" anchor="ctr">
                    <a:solidFill>
                      <a:srgbClr val="161C23"/>
                    </a:solidFill>
                  </a:tcPr>
                </a:tc>
                <a:tc>
                  <a:txBody>
                    <a:bodyPr wrap="square"/>
                    <a:lstStyle/>
                    <a:p>
                      <a:pPr algn="l">
                        <a:lnSpc>
                          <a:spcPct val="105000"/>
                        </a:lnSpc>
                        <a:spcAft>
                          <a:spcPts val="0"/>
                        </a:spcAft>
                      </a:pPr>
                      <a:r>
                        <a:rPr sz="1250" b="0" i="0">
                          <a:solidFill>
                            <a:srgbClr val="E8ECF2"/>
                          </a:solidFill>
                          <a:latin typeface="Calibri"/>
                        </a:rPr>
                        <a:t>Binding creation</a:t>
                      </a:r>
                    </a:p>
                  </a:txBody>
                  <a:tcPr marL="91440" marR="91440" marT="45720" marB="45720" anchor="ctr">
                    <a:solidFill>
                      <a:srgbClr val="161C23"/>
                    </a:solidFill>
                  </a:tcPr>
                </a:tc>
                <a:tc>
                  <a:txBody>
                    <a:bodyPr wrap="square"/>
                    <a:lstStyle/>
                    <a:p>
                      <a:pPr algn="l">
                        <a:lnSpc>
                          <a:spcPct val="105000"/>
                        </a:lnSpc>
                        <a:spcAft>
                          <a:spcPts val="0"/>
                        </a:spcAft>
                      </a:pPr>
                      <a:r>
                        <a:rPr sz="1250" b="0" i="0">
                          <a:solidFill>
                            <a:srgbClr val="E8ECF2"/>
                          </a:solidFill>
                          <a:latin typeface="Calibri"/>
                        </a:rPr>
                        <a:t>Policy requirements against connector range and runtime capabilities.</a:t>
                      </a:r>
                    </a:p>
                  </a:txBody>
                  <a:tcPr marL="91440" marR="91440" marT="45720" marB="45720" anchor="ctr">
                    <a:solidFill>
                      <a:srgbClr val="161C23"/>
                    </a:solidFill>
                  </a:tcPr>
                </a:tc>
                <a:tc>
                  <a:txBody>
                    <a:bodyPr wrap="square"/>
                    <a:lstStyle/>
                    <a:p>
                      <a:pPr algn="l">
                        <a:lnSpc>
                          <a:spcPct val="105000"/>
                        </a:lnSpc>
                        <a:spcAft>
                          <a:spcPts val="0"/>
                        </a:spcAft>
                      </a:pPr>
                      <a:r>
                        <a:rPr sz="1250" b="0" i="0">
                          <a:solidFill>
                            <a:srgbClr val="E06C5F"/>
                          </a:solidFill>
                          <a:latin typeface="Calibri"/>
                        </a:rPr>
                        <a:t>Refuse the binding.</a:t>
                      </a:r>
                    </a:p>
                  </a:txBody>
                  <a:tcPr marL="91440" marR="91440" marT="45720" marB="45720" anchor="ctr">
                    <a:solidFill>
                      <a:srgbClr val="161C23"/>
                    </a:solidFill>
                  </a:tcPr>
                </a:tc>
              </a:tr>
              <a:tr h="822960">
                <a:tc>
                  <a:txBody>
                    <a:bodyPr wrap="square"/>
                    <a:lstStyle/>
                    <a:p>
                      <a:pPr algn="l">
                        <a:lnSpc>
                          <a:spcPct val="105000"/>
                        </a:lnSpc>
                        <a:spcAft>
                          <a:spcPts val="0"/>
                        </a:spcAft>
                      </a:pPr>
                      <a:r>
                        <a:rPr sz="1250" b="1" i="0">
                          <a:solidFill>
                            <a:srgbClr val="E8ECF2"/>
                          </a:solidFill>
                          <a:latin typeface="Calibri"/>
                        </a:rPr>
                        <a:t>Observed</a:t>
                      </a:r>
                    </a:p>
                  </a:txBody>
                  <a:tcPr marL="91440" marR="91440" marT="45720" marB="45720" anchor="ctr">
                    <a:solidFill>
                      <a:srgbClr val="12161B"/>
                    </a:solidFill>
                  </a:tcPr>
                </a:tc>
                <a:tc>
                  <a:txBody>
                    <a:bodyPr wrap="square"/>
                    <a:lstStyle/>
                    <a:p>
                      <a:pPr algn="l">
                        <a:lnSpc>
                          <a:spcPct val="105000"/>
                        </a:lnSpc>
                        <a:spcAft>
                          <a:spcPts val="0"/>
                        </a:spcAft>
                      </a:pPr>
                      <a:r>
                        <a:rPr sz="1250" b="0" i="0">
                          <a:solidFill>
                            <a:srgbClr val="E8ECF2"/>
                          </a:solidFill>
                          <a:latin typeface="Calibri"/>
                        </a:rPr>
                        <a:t>Every evaluation</a:t>
                      </a:r>
                    </a:p>
                  </a:txBody>
                  <a:tcPr marL="91440" marR="91440" marT="45720" marB="45720" anchor="ctr">
                    <a:solidFill>
                      <a:srgbClr val="12161B"/>
                    </a:solidFill>
                  </a:tcPr>
                </a:tc>
                <a:tc>
                  <a:txBody>
                    <a:bodyPr wrap="square"/>
                    <a:lstStyle/>
                    <a:p>
                      <a:pPr algn="l">
                        <a:lnSpc>
                          <a:spcPct val="105000"/>
                        </a:lnSpc>
                        <a:spcAft>
                          <a:spcPts val="0"/>
                        </a:spcAft>
                      </a:pPr>
                      <a:r>
                        <a:rPr sz="1250" b="0" i="0">
                          <a:solidFill>
                            <a:srgbClr val="E8ECF2"/>
                          </a:solidFill>
                          <a:latin typeface="Calibri"/>
                        </a:rPr>
                        <a:t>The identity presented against what the binding expects.</a:t>
                      </a:r>
                    </a:p>
                  </a:txBody>
                  <a:tcPr marL="91440" marR="91440" marT="45720" marB="45720" anchor="ctr">
                    <a:solidFill>
                      <a:srgbClr val="12161B"/>
                    </a:solidFill>
                  </a:tcPr>
                </a:tc>
                <a:tc>
                  <a:txBody>
                    <a:bodyPr wrap="square"/>
                    <a:lstStyle/>
                    <a:p>
                      <a:pPr algn="l">
                        <a:lnSpc>
                          <a:spcPct val="105000"/>
                        </a:lnSpc>
                        <a:spcAft>
                          <a:spcPts val="0"/>
                        </a:spcAft>
                      </a:pPr>
                      <a:r>
                        <a:rPr sz="1250" b="0" i="0">
                          <a:solidFill>
                            <a:srgbClr val="E0B341"/>
                          </a:solidFill>
                          <a:latin typeface="Calibri"/>
                        </a:rPr>
                        <a:t>Major mismatch refuses. Drift proceeds, and is reported.</a:t>
                      </a:r>
                    </a:p>
                  </a:txBody>
                  <a:tcPr marL="91440" marR="91440" marT="45720" marB="45720" anchor="ctr">
                    <a:solidFill>
                      <a:srgbClr val="12161B"/>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Runtimes advertise capabilities, never implementations</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An unsatisfiable runtime refuses to start. An unsatisfiable binding is refused.</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AI Guardrails · design intent and delivery plan — nothing built or piloted today</a:t>
            </a:r>
          </a:p>
        </p:txBody>
      </p:sp>
      <p:sp>
        <p:nvSpPr>
          <p:cNvPr id="6" name="Rounded Rectangle 5"/>
          <p:cNvSpPr/>
          <p:nvPr/>
        </p:nvSpPr>
        <p:spPr>
          <a:xfrm>
            <a:off x="685800" y="2057400"/>
            <a:ext cx="10820095" cy="100584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276856"/>
            <a:ext cx="822960" cy="731520"/>
          </a:xfrm>
          <a:prstGeom prst="rect">
            <a:avLst/>
          </a:prstGeom>
          <a:noFill/>
        </p:spPr>
        <p:txBody>
          <a:bodyPr wrap="square" lIns="0" rIns="0" tIns="0" bIns="0" anchor="t">
            <a:spAutoFit/>
          </a:bodyPr>
          <a:lstStyle/>
          <a:p>
            <a:pPr algn="l">
              <a:lnSpc>
                <a:spcPct val="115000"/>
              </a:lnSpc>
              <a:spcAft>
                <a:spcPts val="0"/>
              </a:spcAft>
            </a:pPr>
            <a:r>
              <a:rPr sz="2600" b="1" i="0">
                <a:solidFill>
                  <a:srgbClr val="2B4A69"/>
                </a:solidFill>
                <a:latin typeface="Calibri"/>
              </a:rPr>
              <a:t>01</a:t>
            </a:r>
          </a:p>
        </p:txBody>
      </p:sp>
      <p:sp>
        <p:nvSpPr>
          <p:cNvPr id="8" name="TextBox 7"/>
          <p:cNvSpPr txBox="1"/>
          <p:nvPr/>
        </p:nvSpPr>
        <p:spPr>
          <a:xfrm>
            <a:off x="1737360" y="2240280"/>
            <a:ext cx="9402775" cy="868680"/>
          </a:xfrm>
          <a:prstGeom prst="rect">
            <a:avLst/>
          </a:prstGeom>
          <a:noFill/>
        </p:spPr>
        <p:txBody>
          <a:bodyPr wrap="square" lIns="0" rIns="0" tIns="0" bIns="0" anchor="t">
            <a:spAutoFit/>
          </a:bodyPr>
          <a:lstStyle/>
          <a:p>
            <a:pPr algn="l">
              <a:lnSpc>
                <a:spcPct val="115000"/>
              </a:lnSpc>
              <a:spcAft>
                <a:spcPts val="500"/>
              </a:spcAft>
            </a:pPr>
            <a:r>
              <a:rPr sz="1550" b="1" i="0">
                <a:solidFill>
                  <a:srgbClr val="E8ECF2"/>
                </a:solidFill>
                <a:latin typeface="Calibri"/>
              </a:rPr>
              <a:t>A manifest states capabilities, not engines</a:t>
            </a:r>
          </a:p>
          <a:p>
            <a:pPr algn="l">
              <a:lnSpc>
                <a:spcPct val="115000"/>
              </a:lnSpc>
              <a:spcAft>
                <a:spcPts val="0"/>
              </a:spcAft>
            </a:pPr>
            <a:r>
              <a:rPr sz="1200" b="0" i="0">
                <a:solidFill>
                  <a:srgbClr val="98A4B3"/>
                </a:solidFill>
                <a:latin typeface="Calibri"/>
              </a:rPr>
              <a:t>Derived from the runtime's real configuration, never hand-maintained.</a:t>
            </a:r>
          </a:p>
        </p:txBody>
      </p:sp>
      <p:sp>
        <p:nvSpPr>
          <p:cNvPr id="9" name="Rounded Rectangle 8"/>
          <p:cNvSpPr/>
          <p:nvPr/>
        </p:nvSpPr>
        <p:spPr>
          <a:xfrm>
            <a:off x="685800" y="3291840"/>
            <a:ext cx="10820095" cy="100584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3511296"/>
            <a:ext cx="822960" cy="731520"/>
          </a:xfrm>
          <a:prstGeom prst="rect">
            <a:avLst/>
          </a:prstGeom>
          <a:noFill/>
        </p:spPr>
        <p:txBody>
          <a:bodyPr wrap="square" lIns="0" rIns="0" tIns="0" bIns="0" anchor="t">
            <a:spAutoFit/>
          </a:bodyPr>
          <a:lstStyle/>
          <a:p>
            <a:pPr algn="l">
              <a:lnSpc>
                <a:spcPct val="115000"/>
              </a:lnSpc>
              <a:spcAft>
                <a:spcPts val="0"/>
              </a:spcAft>
            </a:pPr>
            <a:r>
              <a:rPr sz="2600" b="1" i="0">
                <a:solidFill>
                  <a:srgbClr val="2B4A69"/>
                </a:solidFill>
                <a:latin typeface="Calibri"/>
              </a:rPr>
              <a:t>02</a:t>
            </a:r>
          </a:p>
        </p:txBody>
      </p:sp>
      <p:sp>
        <p:nvSpPr>
          <p:cNvPr id="11" name="TextBox 10"/>
          <p:cNvSpPr txBox="1"/>
          <p:nvPr/>
        </p:nvSpPr>
        <p:spPr>
          <a:xfrm>
            <a:off x="1737360" y="3474720"/>
            <a:ext cx="9402775" cy="868680"/>
          </a:xfrm>
          <a:prstGeom prst="rect">
            <a:avLst/>
          </a:prstGeom>
          <a:noFill/>
        </p:spPr>
        <p:txBody>
          <a:bodyPr wrap="square" lIns="0" rIns="0" tIns="0" bIns="0" anchor="t">
            <a:spAutoFit/>
          </a:bodyPr>
          <a:lstStyle/>
          <a:p>
            <a:pPr algn="l">
              <a:lnSpc>
                <a:spcPct val="115000"/>
              </a:lnSpc>
              <a:spcAft>
                <a:spcPts val="500"/>
              </a:spcAft>
            </a:pPr>
            <a:r>
              <a:rPr sz="1550" b="1" i="0">
                <a:solidFill>
                  <a:srgbClr val="E8ECF2"/>
                </a:solidFill>
                <a:latin typeface="Calibri"/>
              </a:rPr>
              <a:t>Unsatisfiable configuration fails at startup</a:t>
            </a:r>
          </a:p>
          <a:p>
            <a:pPr algn="l">
              <a:lnSpc>
                <a:spcPct val="115000"/>
              </a:lnSpc>
              <a:spcAft>
                <a:spcPts val="0"/>
              </a:spcAft>
            </a:pPr>
            <a:r>
              <a:rPr sz="1200" b="0" i="0">
                <a:solidFill>
                  <a:srgbClr val="98A4B3"/>
                </a:solidFill>
                <a:latin typeface="Calibri"/>
              </a:rPr>
              <a:t>Not in production, and never by booting with a silently reduced manifest.</a:t>
            </a:r>
          </a:p>
        </p:txBody>
      </p:sp>
      <p:sp>
        <p:nvSpPr>
          <p:cNvPr id="12" name="Rounded Rectangle 11"/>
          <p:cNvSpPr/>
          <p:nvPr/>
        </p:nvSpPr>
        <p:spPr>
          <a:xfrm>
            <a:off x="685800" y="4526280"/>
            <a:ext cx="10820095" cy="100584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4745736"/>
            <a:ext cx="822960" cy="731520"/>
          </a:xfrm>
          <a:prstGeom prst="rect">
            <a:avLst/>
          </a:prstGeom>
          <a:noFill/>
        </p:spPr>
        <p:txBody>
          <a:bodyPr wrap="square" lIns="0" rIns="0" tIns="0" bIns="0" anchor="t">
            <a:spAutoFit/>
          </a:bodyPr>
          <a:lstStyle/>
          <a:p>
            <a:pPr algn="l">
              <a:lnSpc>
                <a:spcPct val="115000"/>
              </a:lnSpc>
              <a:spcAft>
                <a:spcPts val="0"/>
              </a:spcAft>
            </a:pPr>
            <a:r>
              <a:rPr sz="2600" b="1" i="0">
                <a:solidFill>
                  <a:srgbClr val="2B4A69"/>
                </a:solidFill>
                <a:latin typeface="Calibri"/>
              </a:rPr>
              <a:t>03</a:t>
            </a:r>
          </a:p>
        </p:txBody>
      </p:sp>
      <p:sp>
        <p:nvSpPr>
          <p:cNvPr id="14" name="TextBox 13"/>
          <p:cNvSpPr txBox="1"/>
          <p:nvPr/>
        </p:nvSpPr>
        <p:spPr>
          <a:xfrm>
            <a:off x="1737360" y="4709160"/>
            <a:ext cx="9402775" cy="868680"/>
          </a:xfrm>
          <a:prstGeom prst="rect">
            <a:avLst/>
          </a:prstGeom>
          <a:noFill/>
        </p:spPr>
        <p:txBody>
          <a:bodyPr wrap="square" lIns="0" rIns="0" tIns="0" bIns="0" anchor="t">
            <a:spAutoFit/>
          </a:bodyPr>
          <a:lstStyle/>
          <a:p>
            <a:pPr algn="l">
              <a:lnSpc>
                <a:spcPct val="115000"/>
              </a:lnSpc>
              <a:spcAft>
                <a:spcPts val="500"/>
              </a:spcAft>
            </a:pPr>
            <a:r>
              <a:rPr sz="1550" b="1" i="0">
                <a:solidFill>
                  <a:srgbClr val="E8ECF2"/>
                </a:solidFill>
                <a:latin typeface="Calibri"/>
              </a:rPr>
              <a:t>Binding creation validates the policy against the target runtime</a:t>
            </a:r>
          </a:p>
          <a:p>
            <a:pPr algn="l">
              <a:lnSpc>
                <a:spcPct val="115000"/>
              </a:lnSpc>
              <a:spcAft>
                <a:spcPts val="0"/>
              </a:spcAft>
            </a:pPr>
            <a:r>
              <a:rPr sz="1200" b="0" i="0">
                <a:solidFill>
                  <a:srgbClr val="98A4B3"/>
                </a:solidFill>
                <a:latin typeface="Calibri"/>
              </a:rPr>
              <a:t>An unsatisfiable binding is refused, naming the missing capabilities.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Three deployment modes, one contract</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Only the network destination of the Evaluation API changes.</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AI Guardrails · design intent and delivery plan — nothing built or piloted today</a:t>
            </a:r>
          </a:p>
        </p:txBody>
      </p:sp>
      <p:sp>
        <p:nvSpPr>
          <p:cNvPr id="6" name="Rounded Rectangle 5"/>
          <p:cNvSpPr/>
          <p:nvPr/>
        </p:nvSpPr>
        <p:spPr>
          <a:xfrm>
            <a:off x="685800" y="1828800"/>
            <a:ext cx="3465576" cy="370332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828800"/>
            <a:ext cx="3465576" cy="475488"/>
          </a:xfrm>
          <a:prstGeom prst="roundRect">
            <a:avLst>
              <a:gd name="adj" fmla="val 8000"/>
            </a:avLst>
          </a:prstGeom>
          <a:solidFill>
            <a:srgbClr val="2B4A69"/>
          </a:solidFill>
          <a:ln w="12700">
            <a:solidFill>
              <a:srgbClr val="5AA0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300" b="1" i="0">
                <a:solidFill>
                  <a:srgbClr val="E8ECF2"/>
                </a:solidFill>
                <a:latin typeface="Calibri"/>
              </a:rPr>
              <a:t>Mode A — Remote Evaluation</a:t>
            </a:r>
          </a:p>
        </p:txBody>
      </p:sp>
      <p:sp>
        <p:nvSpPr>
          <p:cNvPr id="8" name="TextBox 7"/>
          <p:cNvSpPr txBox="1"/>
          <p:nvPr/>
        </p:nvSpPr>
        <p:spPr>
          <a:xfrm>
            <a:off x="886968" y="2441448"/>
            <a:ext cx="3063240" cy="2926080"/>
          </a:xfrm>
          <a:prstGeom prst="rect">
            <a:avLst/>
          </a:prstGeom>
          <a:noFill/>
        </p:spPr>
        <p:txBody>
          <a:bodyPr wrap="square" lIns="0" rIns="0" tIns="0" bIns="0" anchor="t">
            <a:spAutoFit/>
          </a:bodyPr>
          <a:lstStyle/>
          <a:p>
            <a:pPr algn="l">
              <a:lnSpc>
                <a:spcPct val="120000"/>
              </a:lnSpc>
              <a:spcAft>
                <a:spcPts val="1000"/>
              </a:spcAft>
            </a:pPr>
            <a:r>
              <a:rPr sz="1400" b="1" i="0">
                <a:solidFill>
                  <a:srgbClr val="E8ECF2"/>
                </a:solidFill>
                <a:latin typeface="Calibri"/>
              </a:rPr>
              <a:t>You run the gateway.
We run the guardrail runtime.</a:t>
            </a:r>
          </a:p>
          <a:p>
            <a:pPr algn="l">
              <a:lnSpc>
                <a:spcPct val="115000"/>
              </a:lnSpc>
              <a:spcAft>
                <a:spcPts val="1000"/>
              </a:spcAft>
            </a:pPr>
            <a:r>
              <a:rPr sz="1150" b="0" i="0">
                <a:solidFill>
                  <a:srgbClr val="98A4B3"/>
                </a:solidFill>
                <a:latin typeface="Calibri"/>
              </a:rPr>
              <a:t>Team-owned LiteLLM calls our hosted Evaluation API before and after each model invocation.</a:t>
            </a:r>
          </a:p>
          <a:p>
            <a:pPr algn="l">
              <a:lnSpc>
                <a:spcPct val="115000"/>
              </a:lnSpc>
              <a:spcAft>
                <a:spcPts val="300"/>
              </a:spcAft>
            </a:pPr>
            <a:r>
              <a:rPr sz="1000" b="1" i="0">
                <a:solidFill>
                  <a:srgbClr val="5AA0E0"/>
                </a:solidFill>
                <a:latin typeface="Calibri"/>
              </a:rPr>
              <a:t>Best fit</a:t>
            </a:r>
          </a:p>
          <a:p>
            <a:pPr algn="l">
              <a:lnSpc>
                <a:spcPct val="115000"/>
              </a:lnSpc>
              <a:spcAft>
                <a:spcPts val="0"/>
              </a:spcAft>
            </a:pPr>
            <a:r>
              <a:rPr sz="1150" b="0" i="0">
                <a:solidFill>
                  <a:srgbClr val="98A4B3"/>
                </a:solidFill>
                <a:latin typeface="Calibri"/>
              </a:rPr>
              <a:t>Already operate a gateway; want to offload guardrail operations.</a:t>
            </a:r>
          </a:p>
        </p:txBody>
      </p:sp>
      <p:sp>
        <p:nvSpPr>
          <p:cNvPr id="9" name="Rounded Rectangle 8"/>
          <p:cNvSpPr/>
          <p:nvPr/>
        </p:nvSpPr>
        <p:spPr>
          <a:xfrm>
            <a:off x="4352544" y="1828800"/>
            <a:ext cx="3465576" cy="370332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52544" y="1828800"/>
            <a:ext cx="3465576" cy="475488"/>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300" b="1" i="0">
                <a:solidFill>
                  <a:srgbClr val="E8ECF2"/>
                </a:solidFill>
                <a:latin typeface="Calibri"/>
              </a:rPr>
              <a:t>Mode B — Guarded Gateway</a:t>
            </a:r>
          </a:p>
        </p:txBody>
      </p:sp>
      <p:sp>
        <p:nvSpPr>
          <p:cNvPr id="11" name="TextBox 10"/>
          <p:cNvSpPr txBox="1"/>
          <p:nvPr/>
        </p:nvSpPr>
        <p:spPr>
          <a:xfrm>
            <a:off x="4553712" y="2441448"/>
            <a:ext cx="3063240" cy="2926080"/>
          </a:xfrm>
          <a:prstGeom prst="rect">
            <a:avLst/>
          </a:prstGeom>
          <a:noFill/>
        </p:spPr>
        <p:txBody>
          <a:bodyPr wrap="square" lIns="0" rIns="0" tIns="0" bIns="0" anchor="t">
            <a:spAutoFit/>
          </a:bodyPr>
          <a:lstStyle/>
          <a:p>
            <a:pPr algn="l">
              <a:lnSpc>
                <a:spcPct val="120000"/>
              </a:lnSpc>
              <a:spcAft>
                <a:spcPts val="1000"/>
              </a:spcAft>
            </a:pPr>
            <a:r>
              <a:rPr sz="1400" b="1" i="0">
                <a:solidFill>
                  <a:srgbClr val="E8ECF2"/>
                </a:solidFill>
                <a:latin typeface="Calibri"/>
              </a:rPr>
              <a:t>We run the gateway
and the guardrail runtime.</a:t>
            </a:r>
          </a:p>
          <a:p>
            <a:pPr algn="l">
              <a:lnSpc>
                <a:spcPct val="115000"/>
              </a:lnSpc>
              <a:spcAft>
                <a:spcPts val="1000"/>
              </a:spcAft>
            </a:pPr>
            <a:r>
              <a:rPr sz="1150" b="0" i="0">
                <a:solidFill>
                  <a:srgbClr val="98A4B3"/>
                </a:solidFill>
                <a:latin typeface="Calibri"/>
              </a:rPr>
              <a:t>One provider-operated endpoint: guardrails, routing, invocation, and audit inside our boundary.</a:t>
            </a:r>
          </a:p>
          <a:p>
            <a:pPr algn="l">
              <a:lnSpc>
                <a:spcPct val="115000"/>
              </a:lnSpc>
              <a:spcAft>
                <a:spcPts val="300"/>
              </a:spcAft>
            </a:pPr>
            <a:r>
              <a:rPr sz="1000" b="1" i="0">
                <a:solidFill>
                  <a:srgbClr val="5AA0E0"/>
                </a:solidFill>
                <a:latin typeface="Calibri"/>
              </a:rPr>
              <a:t>Best fit</a:t>
            </a:r>
          </a:p>
          <a:p>
            <a:pPr algn="l">
              <a:lnSpc>
                <a:spcPct val="115000"/>
              </a:lnSpc>
              <a:spcAft>
                <a:spcPts val="0"/>
              </a:spcAft>
            </a:pPr>
            <a:r>
              <a:rPr sz="1150" b="0" i="0">
                <a:solidFill>
                  <a:srgbClr val="98A4B3"/>
                </a:solidFill>
                <a:latin typeface="Calibri"/>
              </a:rPr>
              <a:t>No gateway of your own; want a managed, OpenAI-compatible path.</a:t>
            </a:r>
          </a:p>
        </p:txBody>
      </p:sp>
      <p:sp>
        <p:nvSpPr>
          <p:cNvPr id="12" name="Rounded Rectangle 11"/>
          <p:cNvSpPr/>
          <p:nvPr/>
        </p:nvSpPr>
        <p:spPr>
          <a:xfrm>
            <a:off x="8019288" y="1828800"/>
            <a:ext cx="3465576" cy="370332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019288" y="1828800"/>
            <a:ext cx="3465576" cy="475488"/>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300" b="1" i="0">
                <a:solidFill>
                  <a:srgbClr val="E8ECF2"/>
                </a:solidFill>
                <a:latin typeface="Calibri"/>
              </a:rPr>
              <a:t>Mode C — Customer-Managed Runtime</a:t>
            </a:r>
          </a:p>
        </p:txBody>
      </p:sp>
      <p:sp>
        <p:nvSpPr>
          <p:cNvPr id="14" name="TextBox 13"/>
          <p:cNvSpPr txBox="1"/>
          <p:nvPr/>
        </p:nvSpPr>
        <p:spPr>
          <a:xfrm>
            <a:off x="8220456" y="2441448"/>
            <a:ext cx="3063240" cy="2926080"/>
          </a:xfrm>
          <a:prstGeom prst="rect">
            <a:avLst/>
          </a:prstGeom>
          <a:noFill/>
        </p:spPr>
        <p:txBody>
          <a:bodyPr wrap="square" lIns="0" rIns="0" tIns="0" bIns="0" anchor="t">
            <a:spAutoFit/>
          </a:bodyPr>
          <a:lstStyle/>
          <a:p>
            <a:pPr algn="l">
              <a:lnSpc>
                <a:spcPct val="120000"/>
              </a:lnSpc>
              <a:spcAft>
                <a:spcPts val="1000"/>
              </a:spcAft>
            </a:pPr>
            <a:r>
              <a:rPr sz="1400" b="1" i="0">
                <a:solidFill>
                  <a:srgbClr val="E8ECF2"/>
                </a:solidFill>
                <a:latin typeface="Calibri"/>
              </a:rPr>
              <a:t>You run both, in your
own AWS account.</a:t>
            </a:r>
          </a:p>
          <a:p>
            <a:pPr algn="l">
              <a:lnSpc>
                <a:spcPct val="115000"/>
              </a:lnSpc>
              <a:spcAft>
                <a:spcPts val="1000"/>
              </a:spcAft>
            </a:pPr>
            <a:r>
              <a:rPr sz="1150" b="0" i="0">
                <a:solidFill>
                  <a:srgbClr val="98A4B3"/>
                </a:solidFill>
                <a:latin typeface="Calibri"/>
              </a:rPr>
              <a:t>The same runtime — policy cache, adapters, local audit — deployed inside your account.</a:t>
            </a:r>
          </a:p>
          <a:p>
            <a:pPr algn="l">
              <a:lnSpc>
                <a:spcPct val="115000"/>
              </a:lnSpc>
              <a:spcAft>
                <a:spcPts val="300"/>
              </a:spcAft>
            </a:pPr>
            <a:r>
              <a:rPr sz="1000" b="1" i="0">
                <a:solidFill>
                  <a:srgbClr val="5AA0E0"/>
                </a:solidFill>
                <a:latin typeface="Calibri"/>
              </a:rPr>
              <a:t>Best fit</a:t>
            </a:r>
          </a:p>
          <a:p>
            <a:pPr algn="l">
              <a:lnSpc>
                <a:spcPct val="115000"/>
              </a:lnSpc>
              <a:spcAft>
                <a:spcPts val="0"/>
              </a:spcAft>
            </a:pPr>
            <a:r>
              <a:rPr sz="1150" b="0" i="0">
                <a:solidFill>
                  <a:srgbClr val="98A4B3"/>
                </a:solidFill>
                <a:latin typeface="Calibri"/>
              </a:rPr>
              <a:t>Regulated, residency-bound, high-volume, or air-gapped workloads.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Mode A — Remote Evaluation</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Team-owned gateway, hosted runtime. The model call never transits the platform.</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AI Guardrails · design intent and delivery plan — nothing built or piloted today</a:t>
            </a:r>
          </a:p>
        </p:txBody>
      </p:sp>
      <p:sp>
        <p:nvSpPr>
          <p:cNvPr id="6" name="Rounded Rectangle 5"/>
          <p:cNvSpPr/>
          <p:nvPr/>
        </p:nvSpPr>
        <p:spPr>
          <a:xfrm>
            <a:off x="685800" y="1874519"/>
            <a:ext cx="6263640" cy="278892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3657600" cy="457200"/>
          </a:xfrm>
          <a:prstGeom prst="rect">
            <a:avLst/>
          </a:prstGeom>
          <a:noFill/>
        </p:spPr>
        <p:txBody>
          <a:bodyPr wrap="square" lIns="0" rIns="0" tIns="0" bIns="0" anchor="t">
            <a:spAutoFit/>
          </a:bodyPr>
          <a:lstStyle/>
          <a:p>
            <a:pPr algn="l">
              <a:lnSpc>
                <a:spcPct val="115000"/>
              </a:lnSpc>
              <a:spcAft>
                <a:spcPts val="0"/>
              </a:spcAft>
            </a:pPr>
            <a:r>
              <a:rPr sz="1000" b="0" i="0">
                <a:solidFill>
                  <a:srgbClr val="98A4B3"/>
                </a:solidFill>
                <a:latin typeface="Calibri"/>
              </a:rPr>
              <a:t>TEAM'S OWN ENVIRONMENT</a:t>
            </a:r>
          </a:p>
        </p:txBody>
      </p:sp>
      <p:sp>
        <p:nvSpPr>
          <p:cNvPr id="8" name="Rounded Rectangle 7"/>
          <p:cNvSpPr/>
          <p:nvPr/>
        </p:nvSpPr>
        <p:spPr>
          <a:xfrm>
            <a:off x="8138160" y="1874519"/>
            <a:ext cx="3364992" cy="278892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39327" y="2011680"/>
            <a:ext cx="3017520" cy="457200"/>
          </a:xfrm>
          <a:prstGeom prst="rect">
            <a:avLst/>
          </a:prstGeom>
          <a:noFill/>
        </p:spPr>
        <p:txBody>
          <a:bodyPr wrap="square" lIns="0" rIns="0" tIns="0" bIns="0" anchor="t">
            <a:spAutoFit/>
          </a:bodyPr>
          <a:lstStyle/>
          <a:p>
            <a:pPr algn="l">
              <a:lnSpc>
                <a:spcPct val="115000"/>
              </a:lnSpc>
              <a:spcAft>
                <a:spcPts val="0"/>
              </a:spcAft>
            </a:pPr>
            <a:r>
              <a:rPr sz="1000" b="0" i="0">
                <a:solidFill>
                  <a:srgbClr val="98A4B3"/>
                </a:solidFill>
                <a:latin typeface="Calibri"/>
              </a:rPr>
              <a:t>AI GUARDRAILS HOSTED ACCOUNT</a:t>
            </a:r>
          </a:p>
        </p:txBody>
      </p:sp>
      <p:sp>
        <p:nvSpPr>
          <p:cNvPr id="10" name="Rounded Rectangle 9"/>
          <p:cNvSpPr/>
          <p:nvPr/>
        </p:nvSpPr>
        <p:spPr>
          <a:xfrm>
            <a:off x="1097280" y="2441448"/>
            <a:ext cx="1737360" cy="530352"/>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200" b="0" i="0">
                <a:solidFill>
                  <a:srgbClr val="E8ECF2"/>
                </a:solidFill>
                <a:latin typeface="Calibri"/>
              </a:rPr>
              <a:t>Application</a:t>
            </a:r>
          </a:p>
        </p:txBody>
      </p:sp>
      <p:cxnSp>
        <p:nvCxnSpPr>
          <p:cNvPr id="11" name="Connector 10"/>
          <p:cNvCxnSpPr/>
          <p:nvPr/>
        </p:nvCxnSpPr>
        <p:spPr>
          <a:xfrm>
            <a:off x="2852928" y="2706624"/>
            <a:ext cx="420624" cy="0"/>
          </a:xfrm>
          <a:prstGeom prst="line">
            <a:avLst/>
          </a:prstGeom>
          <a:ln w="15875">
            <a:solidFill>
              <a:srgbClr val="5AA0E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291840" y="2350008"/>
            <a:ext cx="3246120" cy="1874519"/>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300" b="1" i="0">
                <a:solidFill>
                  <a:srgbClr val="E8ECF2"/>
                </a:solidFill>
                <a:latin typeface="Calibri"/>
              </a:rPr>
              <a:t>Team-owned LiteLLM</a:t>
            </a:r>
          </a:p>
          <a:p>
            <a:pPr algn="ctr">
              <a:lnSpc>
                <a:spcPct val="115000"/>
              </a:lnSpc>
              <a:spcAft>
                <a:spcPts val="200"/>
              </a:spcAft>
            </a:pPr>
            <a:r>
              <a:rPr sz="1150" b="0" i="0">
                <a:solidFill>
                  <a:srgbClr val="98A4B3"/>
                </a:solidFill>
                <a:latin typeface="Calibri"/>
              </a:rPr>
              <a:t>(or equivalent gateway)</a:t>
            </a:r>
          </a:p>
          <a:p>
            <a:pPr algn="ctr">
              <a:lnSpc>
                <a:spcPct val="115000"/>
              </a:lnSpc>
              <a:spcAft>
                <a:spcPts val="200"/>
              </a:spcAft>
            </a:pPr>
            <a:r>
              <a:rPr sz="1150" b="0" i="0">
                <a:solidFill>
                  <a:srgbClr val="98A4B3"/>
                </a:solidFill>
                <a:latin typeface="Calibri"/>
              </a:rPr>
              <a:t/>
            </a:r>
          </a:p>
          <a:p>
            <a:pPr algn="ctr">
              <a:lnSpc>
                <a:spcPct val="115000"/>
              </a:lnSpc>
              <a:spcAft>
                <a:spcPts val="200"/>
              </a:spcAft>
            </a:pPr>
            <a:r>
              <a:rPr sz="1150" b="0" i="0">
                <a:solidFill>
                  <a:srgbClr val="98A4B3"/>
                </a:solidFill>
                <a:latin typeface="Calibri"/>
              </a:rPr>
              <a:t>Holds the team's own model-provider credentials</a:t>
            </a:r>
          </a:p>
        </p:txBody>
      </p:sp>
      <p:sp>
        <p:nvSpPr>
          <p:cNvPr id="13" name="Rounded Rectangle 12"/>
          <p:cNvSpPr/>
          <p:nvPr/>
        </p:nvSpPr>
        <p:spPr>
          <a:xfrm>
            <a:off x="1097280" y="3593591"/>
            <a:ext cx="1737360" cy="530352"/>
          </a:xfrm>
          <a:prstGeom prst="roundRect">
            <a:avLst>
              <a:gd name="adj" fmla="val 8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200" b="0" i="0">
                <a:solidFill>
                  <a:srgbClr val="E8ECF2"/>
                </a:solidFill>
                <a:latin typeface="Calibri"/>
              </a:rPr>
              <a:t>Model provider</a:t>
            </a:r>
          </a:p>
        </p:txBody>
      </p:sp>
      <p:cxnSp>
        <p:nvCxnSpPr>
          <p:cNvPr id="14" name="Connector 13"/>
          <p:cNvCxnSpPr/>
          <p:nvPr/>
        </p:nvCxnSpPr>
        <p:spPr>
          <a:xfrm flipH="1">
            <a:off x="2852928" y="3858768"/>
            <a:ext cx="420624" cy="0"/>
          </a:xfrm>
          <a:prstGeom prst="line">
            <a:avLst/>
          </a:prstGeom>
          <a:ln w="15875">
            <a:solidFill>
              <a:srgbClr val="2E394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503920" y="2587752"/>
            <a:ext cx="2788920" cy="1371600"/>
          </a:xfrm>
          <a:prstGeom prst="roundRect">
            <a:avLst>
              <a:gd name="adj" fmla="val 8000"/>
            </a:avLst>
          </a:prstGeom>
          <a:solidFill>
            <a:srgbClr val="1D242C"/>
          </a:solidFill>
          <a:ln w="12700">
            <a:solidFill>
              <a:srgbClr val="5AA0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300" b="1" i="0">
                <a:solidFill>
                  <a:srgbClr val="E8ECF2"/>
                </a:solidFill>
                <a:latin typeface="Calibri"/>
              </a:rPr>
              <a:t>Hosted Guardrails Runtime</a:t>
            </a:r>
          </a:p>
          <a:p>
            <a:pPr algn="ctr">
              <a:lnSpc>
                <a:spcPct val="115000"/>
              </a:lnSpc>
              <a:spcAft>
                <a:spcPts val="200"/>
              </a:spcAft>
            </a:pPr>
            <a:r>
              <a:rPr sz="1150" b="0" i="0">
                <a:solidFill>
                  <a:srgbClr val="98A4B3"/>
                </a:solidFill>
                <a:latin typeface="Calibri"/>
              </a:rPr>
              <a:t>Evaluation API · policy execution · detection engines</a:t>
            </a:r>
          </a:p>
        </p:txBody>
      </p:sp>
      <p:cxnSp>
        <p:nvCxnSpPr>
          <p:cNvPr id="16" name="Connector 15"/>
          <p:cNvCxnSpPr/>
          <p:nvPr/>
        </p:nvCxnSpPr>
        <p:spPr>
          <a:xfrm>
            <a:off x="6556248" y="2743200"/>
            <a:ext cx="1929384" cy="246888"/>
          </a:xfrm>
          <a:prstGeom prst="line">
            <a:avLst/>
          </a:prstGeom>
          <a:ln w="15875">
            <a:solidFill>
              <a:srgbClr val="5AA0E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903720" y="2313432"/>
            <a:ext cx="1188720" cy="512064"/>
          </a:xfrm>
          <a:prstGeom prst="rect">
            <a:avLst/>
          </a:prstGeom>
          <a:noFill/>
        </p:spPr>
        <p:txBody>
          <a:bodyPr wrap="square" lIns="0" rIns="0" tIns="0" bIns="0" anchor="t">
            <a:spAutoFit/>
          </a:bodyPr>
          <a:lstStyle/>
          <a:p>
            <a:pPr algn="ctr">
              <a:lnSpc>
                <a:spcPct val="110000"/>
              </a:lnSpc>
              <a:spcAft>
                <a:spcPts val="0"/>
              </a:spcAft>
            </a:pPr>
            <a:r>
              <a:rPr sz="950" b="0" i="0">
                <a:solidFill>
                  <a:srgbClr val="98A4B3"/>
                </a:solidFill>
                <a:latin typeface="Calibri"/>
              </a:rPr>
              <a:t>input</a:t>
            </a:r>
          </a:p>
          <a:p>
            <a:pPr algn="ctr">
              <a:lnSpc>
                <a:spcPct val="110000"/>
              </a:lnSpc>
              <a:spcAft>
                <a:spcPts val="0"/>
              </a:spcAft>
            </a:pPr>
            <a:r>
              <a:rPr sz="950" b="0" i="0">
                <a:solidFill>
                  <a:srgbClr val="98A4B3"/>
                </a:solidFill>
                <a:latin typeface="Calibri"/>
              </a:rPr>
              <a:t>evaluation</a:t>
            </a:r>
          </a:p>
        </p:txBody>
      </p:sp>
      <p:cxnSp>
        <p:nvCxnSpPr>
          <p:cNvPr id="18" name="Connector 17"/>
          <p:cNvCxnSpPr/>
          <p:nvPr/>
        </p:nvCxnSpPr>
        <p:spPr>
          <a:xfrm flipV="1">
            <a:off x="6556248" y="3557015"/>
            <a:ext cx="1929384" cy="192024"/>
          </a:xfrm>
          <a:prstGeom prst="line">
            <a:avLst/>
          </a:prstGeom>
          <a:ln w="15875">
            <a:solidFill>
              <a:srgbClr val="5AA0E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903720" y="3849624"/>
            <a:ext cx="1188720" cy="512064"/>
          </a:xfrm>
          <a:prstGeom prst="rect">
            <a:avLst/>
          </a:prstGeom>
          <a:noFill/>
        </p:spPr>
        <p:txBody>
          <a:bodyPr wrap="square" lIns="0" rIns="0" tIns="0" bIns="0" anchor="t">
            <a:spAutoFit/>
          </a:bodyPr>
          <a:lstStyle/>
          <a:p>
            <a:pPr algn="ctr">
              <a:lnSpc>
                <a:spcPct val="110000"/>
              </a:lnSpc>
              <a:spcAft>
                <a:spcPts val="0"/>
              </a:spcAft>
            </a:pPr>
            <a:r>
              <a:rPr sz="950" b="0" i="0">
                <a:solidFill>
                  <a:srgbClr val="98A4B3"/>
                </a:solidFill>
                <a:latin typeface="Calibri"/>
              </a:rPr>
              <a:t>output</a:t>
            </a:r>
          </a:p>
          <a:p>
            <a:pPr algn="ctr">
              <a:lnSpc>
                <a:spcPct val="110000"/>
              </a:lnSpc>
              <a:spcAft>
                <a:spcPts val="0"/>
              </a:spcAft>
            </a:pPr>
            <a:r>
              <a:rPr sz="950" b="0" i="0">
                <a:solidFill>
                  <a:srgbClr val="98A4B3"/>
                </a:solidFill>
                <a:latin typeface="Calibri"/>
              </a:rPr>
              <a:t>evaluation</a:t>
            </a:r>
          </a:p>
        </p:txBody>
      </p:sp>
      <p:sp>
        <p:nvSpPr>
          <p:cNvPr id="20" name="Rounded Rectangle 19"/>
          <p:cNvSpPr/>
          <p:nvPr/>
        </p:nvSpPr>
        <p:spPr>
          <a:xfrm>
            <a:off x="685800" y="4937760"/>
            <a:ext cx="10820095" cy="1024128"/>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0120" y="5084064"/>
            <a:ext cx="10271455" cy="822960"/>
          </a:xfrm>
          <a:prstGeom prst="rect">
            <a:avLst/>
          </a:prstGeom>
          <a:noFill/>
        </p:spPr>
        <p:txBody>
          <a:bodyPr wrap="square" lIns="0" rIns="0" tIns="0" bIns="0" anchor="t">
            <a:spAutoFit/>
          </a:bodyPr>
          <a:lstStyle/>
          <a:p>
            <a:pPr algn="l">
              <a:lnSpc>
                <a:spcPct val="115000"/>
              </a:lnSpc>
              <a:spcAft>
                <a:spcPts val="400"/>
              </a:spcAft>
            </a:pPr>
            <a:r>
              <a:rPr sz="1050" b="1" i="0">
                <a:solidFill>
                  <a:srgbClr val="5AA0E0"/>
                </a:solidFill>
                <a:latin typeface="Calibri"/>
              </a:rPr>
              <a:t>Content exposure</a:t>
            </a:r>
          </a:p>
          <a:p>
            <a:pPr algn="l">
              <a:lnSpc>
                <a:spcPct val="115000"/>
              </a:lnSpc>
              <a:spcAft>
                <a:spcPts val="0"/>
              </a:spcAft>
            </a:pPr>
            <a:r>
              <a:rPr sz="1250" b="0" i="0">
                <a:solidFill>
                  <a:srgbClr val="E06C5F"/>
                </a:solidFill>
                <a:latin typeface="Calibri"/>
              </a:rPr>
              <a:t>Prompts and responses are transmitted to the hosted Evaluation API on every evaluated call. This is not a private-data or data-local model.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Mode B — Guarded Gateway</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One provider-operated endpoint carrying guardrails, routing, invocation and audit. Phase 3.</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AI Guardrails · design intent and delivery plan — nothing built or piloted today</a:t>
            </a:r>
          </a:p>
        </p:txBody>
      </p:sp>
      <p:sp>
        <p:nvSpPr>
          <p:cNvPr id="6" name="Rounded Rectangle 5"/>
          <p:cNvSpPr/>
          <p:nvPr/>
        </p:nvSpPr>
        <p:spPr>
          <a:xfrm>
            <a:off x="685800" y="1874519"/>
            <a:ext cx="3063240" cy="278892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2743200" cy="457200"/>
          </a:xfrm>
          <a:prstGeom prst="rect">
            <a:avLst/>
          </a:prstGeom>
          <a:noFill/>
        </p:spPr>
        <p:txBody>
          <a:bodyPr wrap="square" lIns="0" rIns="0" tIns="0" bIns="0" anchor="t">
            <a:spAutoFit/>
          </a:bodyPr>
          <a:lstStyle/>
          <a:p>
            <a:pPr algn="l">
              <a:lnSpc>
                <a:spcPct val="115000"/>
              </a:lnSpc>
              <a:spcAft>
                <a:spcPts val="0"/>
              </a:spcAft>
            </a:pPr>
            <a:r>
              <a:rPr sz="1000" b="0" i="0">
                <a:solidFill>
                  <a:srgbClr val="98A4B3"/>
                </a:solidFill>
                <a:latin typeface="Calibri"/>
              </a:rPr>
              <a:t>CONSUMING TEAM</a:t>
            </a:r>
          </a:p>
        </p:txBody>
      </p:sp>
      <p:sp>
        <p:nvSpPr>
          <p:cNvPr id="8" name="Rounded Rectangle 7"/>
          <p:cNvSpPr/>
          <p:nvPr/>
        </p:nvSpPr>
        <p:spPr>
          <a:xfrm>
            <a:off x="4160520" y="1874519"/>
            <a:ext cx="7342631" cy="278892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0" y="2011680"/>
            <a:ext cx="4572000" cy="457200"/>
          </a:xfrm>
          <a:prstGeom prst="rect">
            <a:avLst/>
          </a:prstGeom>
          <a:noFill/>
        </p:spPr>
        <p:txBody>
          <a:bodyPr wrap="square" lIns="0" rIns="0" tIns="0" bIns="0" anchor="t">
            <a:spAutoFit/>
          </a:bodyPr>
          <a:lstStyle/>
          <a:p>
            <a:pPr algn="l">
              <a:lnSpc>
                <a:spcPct val="115000"/>
              </a:lnSpc>
              <a:spcAft>
                <a:spcPts val="0"/>
              </a:spcAft>
            </a:pPr>
            <a:r>
              <a:rPr sz="1000" b="0" i="0">
                <a:solidFill>
                  <a:srgbClr val="98A4B3"/>
                </a:solidFill>
                <a:latin typeface="Calibri"/>
              </a:rPr>
              <a:t>PROVIDER-OPERATED BOUNDARY</a:t>
            </a:r>
          </a:p>
        </p:txBody>
      </p:sp>
      <p:sp>
        <p:nvSpPr>
          <p:cNvPr id="10" name="Rounded Rectangle 9"/>
          <p:cNvSpPr/>
          <p:nvPr/>
        </p:nvSpPr>
        <p:spPr>
          <a:xfrm>
            <a:off x="1097280" y="2880360"/>
            <a:ext cx="2240280" cy="685800"/>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300" b="1" i="0">
                <a:solidFill>
                  <a:srgbClr val="E8ECF2"/>
                </a:solidFill>
                <a:latin typeface="Calibri"/>
              </a:rPr>
              <a:t>Application</a:t>
            </a:r>
          </a:p>
        </p:txBody>
      </p:sp>
      <p:cxnSp>
        <p:nvCxnSpPr>
          <p:cNvPr id="11" name="Connector 10"/>
          <p:cNvCxnSpPr/>
          <p:nvPr/>
        </p:nvCxnSpPr>
        <p:spPr>
          <a:xfrm>
            <a:off x="3355848" y="3218688"/>
            <a:ext cx="1170432" cy="0"/>
          </a:xfrm>
          <a:prstGeom prst="line">
            <a:avLst/>
          </a:prstGeom>
          <a:ln w="15875">
            <a:solidFill>
              <a:srgbClr val="5AA0E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401568" y="2843784"/>
            <a:ext cx="1097280" cy="347472"/>
          </a:xfrm>
          <a:prstGeom prst="rect">
            <a:avLst/>
          </a:prstGeom>
          <a:noFill/>
        </p:spPr>
        <p:txBody>
          <a:bodyPr wrap="square" lIns="0" rIns="0" tIns="0" bIns="0" anchor="t">
            <a:spAutoFit/>
          </a:bodyPr>
          <a:lstStyle/>
          <a:p>
            <a:pPr algn="ctr">
              <a:lnSpc>
                <a:spcPct val="110000"/>
              </a:lnSpc>
              <a:spcAft>
                <a:spcPts val="0"/>
              </a:spcAft>
            </a:pPr>
            <a:r>
              <a:rPr sz="900" b="0" i="0">
                <a:solidFill>
                  <a:srgbClr val="98A4B3"/>
                </a:solidFill>
                <a:latin typeface="Calibri"/>
              </a:rPr>
              <a:t>single call</a:t>
            </a:r>
          </a:p>
        </p:txBody>
      </p:sp>
      <p:sp>
        <p:nvSpPr>
          <p:cNvPr id="13" name="Rounded Rectangle 12"/>
          <p:cNvSpPr/>
          <p:nvPr/>
        </p:nvSpPr>
        <p:spPr>
          <a:xfrm>
            <a:off x="4544568" y="2350008"/>
            <a:ext cx="3840480" cy="2011680"/>
          </a:xfrm>
          <a:prstGeom prst="roundRect">
            <a:avLst>
              <a:gd name="adj" fmla="val 8000"/>
            </a:avLst>
          </a:prstGeom>
          <a:solidFill>
            <a:srgbClr val="1D242C"/>
          </a:solidFill>
          <a:ln w="12700">
            <a:solidFill>
              <a:srgbClr val="5AA0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400" b="1" i="0">
                <a:solidFill>
                  <a:srgbClr val="E8ECF2"/>
                </a:solidFill>
                <a:latin typeface="Calibri"/>
              </a:rPr>
              <a:t>Provider-managed</a:t>
            </a:r>
          </a:p>
          <a:p>
            <a:pPr algn="ctr">
              <a:lnSpc>
                <a:spcPct val="115000"/>
              </a:lnSpc>
              <a:spcAft>
                <a:spcPts val="200"/>
              </a:spcAft>
            </a:pPr>
            <a:r>
              <a:rPr sz="1250" b="0" i="0">
                <a:solidFill>
                  <a:srgbClr val="98A4B3"/>
                </a:solidFill>
                <a:latin typeface="Calibri"/>
              </a:rPr>
              <a:t>Guarded Gateway</a:t>
            </a:r>
          </a:p>
          <a:p>
            <a:pPr algn="ctr">
              <a:lnSpc>
                <a:spcPct val="115000"/>
              </a:lnSpc>
              <a:spcAft>
                <a:spcPts val="200"/>
              </a:spcAft>
            </a:pPr>
            <a:r>
              <a:rPr sz="1250" b="0" i="0">
                <a:solidFill>
                  <a:srgbClr val="98A4B3"/>
                </a:solidFill>
                <a:latin typeface="Calibri"/>
              </a:rPr>
              <a:t/>
            </a:r>
          </a:p>
          <a:p>
            <a:pPr algn="ctr">
              <a:lnSpc>
                <a:spcPct val="115000"/>
              </a:lnSpc>
              <a:spcAft>
                <a:spcPts val="200"/>
              </a:spcAft>
            </a:pPr>
            <a:r>
              <a:rPr sz="1250" b="0" i="0">
                <a:solidFill>
                  <a:srgbClr val="98A4B3"/>
                </a:solidFill>
                <a:latin typeface="Calibri"/>
              </a:rPr>
              <a:t>Input guardrails · model routing · model invocation · output guardrails · audit and usage reporting</a:t>
            </a:r>
          </a:p>
        </p:txBody>
      </p:sp>
      <p:cxnSp>
        <p:nvCxnSpPr>
          <p:cNvPr id="14" name="Connector 13"/>
          <p:cNvCxnSpPr/>
          <p:nvPr/>
        </p:nvCxnSpPr>
        <p:spPr>
          <a:xfrm>
            <a:off x="8403336" y="3355848"/>
            <a:ext cx="877824" cy="0"/>
          </a:xfrm>
          <a:prstGeom prst="line">
            <a:avLst/>
          </a:prstGeom>
          <a:ln w="15875">
            <a:solidFill>
              <a:srgbClr val="5AA0E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9299448" y="3017520"/>
            <a:ext cx="2011680" cy="685800"/>
          </a:xfrm>
          <a:prstGeom prst="roundRect">
            <a:avLst>
              <a:gd name="adj" fmla="val 8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250" b="0" i="0">
                <a:solidFill>
                  <a:srgbClr val="E8ECF2"/>
                </a:solidFill>
                <a:latin typeface="Calibri"/>
              </a:rPr>
              <a:t>Model provider</a:t>
            </a:r>
          </a:p>
        </p:txBody>
      </p:sp>
      <p:sp>
        <p:nvSpPr>
          <p:cNvPr id="16" name="Rounded Rectangle 15"/>
          <p:cNvSpPr/>
          <p:nvPr/>
        </p:nvSpPr>
        <p:spPr>
          <a:xfrm>
            <a:off x="685800" y="4937760"/>
            <a:ext cx="10820095" cy="1024128"/>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5084064"/>
            <a:ext cx="10271455" cy="822960"/>
          </a:xfrm>
          <a:prstGeom prst="rect">
            <a:avLst/>
          </a:prstGeom>
          <a:noFill/>
        </p:spPr>
        <p:txBody>
          <a:bodyPr wrap="square" lIns="0" rIns="0" tIns="0" bIns="0" anchor="t">
            <a:spAutoFit/>
          </a:bodyPr>
          <a:lstStyle/>
          <a:p>
            <a:pPr algn="l">
              <a:lnSpc>
                <a:spcPct val="115000"/>
              </a:lnSpc>
              <a:spcAft>
                <a:spcPts val="400"/>
              </a:spcAft>
            </a:pPr>
            <a:r>
              <a:rPr sz="1050" b="1" i="0">
                <a:solidFill>
                  <a:srgbClr val="5AA0E0"/>
                </a:solidFill>
                <a:latin typeface="Calibri"/>
              </a:rPr>
              <a:t>Content exposure</a:t>
            </a:r>
          </a:p>
          <a:p>
            <a:pPr algn="l">
              <a:lnSpc>
                <a:spcPct val="115000"/>
              </a:lnSpc>
              <a:spcAft>
                <a:spcPts val="0"/>
              </a:spcAft>
            </a:pPr>
            <a:r>
              <a:rPr sz="1250" b="0" i="0">
                <a:solidFill>
                  <a:srgbClr val="E06C5F"/>
                </a:solidFill>
                <a:latin typeface="Calibri"/>
              </a:rPr>
              <a:t>Prompts and responses are processed entirely within the provider-managed gateway, which holds or brokers model-provider credentials.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Mode C — Customer-Managed Runtime</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The same container image inside the customer's account, with no synchronous control-plane dependency. Phase 4.</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AI Guardrails · design intent and delivery plan — nothing built or piloted today</a:t>
            </a:r>
          </a:p>
        </p:txBody>
      </p:sp>
      <p:sp>
        <p:nvSpPr>
          <p:cNvPr id="6" name="Rounded Rectangle 5"/>
          <p:cNvSpPr/>
          <p:nvPr/>
        </p:nvSpPr>
        <p:spPr>
          <a:xfrm>
            <a:off x="685800" y="1874519"/>
            <a:ext cx="7818120" cy="278892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4572000" cy="457200"/>
          </a:xfrm>
          <a:prstGeom prst="rect">
            <a:avLst/>
          </a:prstGeom>
          <a:noFill/>
        </p:spPr>
        <p:txBody>
          <a:bodyPr wrap="square" lIns="0" rIns="0" tIns="0" bIns="0" anchor="t">
            <a:spAutoFit/>
          </a:bodyPr>
          <a:lstStyle/>
          <a:p>
            <a:pPr algn="l">
              <a:lnSpc>
                <a:spcPct val="115000"/>
              </a:lnSpc>
              <a:spcAft>
                <a:spcPts val="0"/>
              </a:spcAft>
            </a:pPr>
            <a:r>
              <a:rPr sz="1000" b="0" i="0">
                <a:solidFill>
                  <a:srgbClr val="98A4B3"/>
                </a:solidFill>
                <a:latin typeface="Calibri"/>
              </a:rPr>
              <a:t>CUSTOMER'S OWN AWS ACCOUNT</a:t>
            </a:r>
          </a:p>
        </p:txBody>
      </p:sp>
      <p:sp>
        <p:nvSpPr>
          <p:cNvPr id="8" name="Rounded Rectangle 7"/>
          <p:cNvSpPr/>
          <p:nvPr/>
        </p:nvSpPr>
        <p:spPr>
          <a:xfrm>
            <a:off x="8915400" y="1874519"/>
            <a:ext cx="2587752" cy="278892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98280" y="2011680"/>
            <a:ext cx="2286000" cy="457200"/>
          </a:xfrm>
          <a:prstGeom prst="rect">
            <a:avLst/>
          </a:prstGeom>
          <a:noFill/>
        </p:spPr>
        <p:txBody>
          <a:bodyPr wrap="square" lIns="0" rIns="0" tIns="0" bIns="0" anchor="t">
            <a:spAutoFit/>
          </a:bodyPr>
          <a:lstStyle/>
          <a:p>
            <a:pPr algn="l">
              <a:lnSpc>
                <a:spcPct val="115000"/>
              </a:lnSpc>
              <a:spcAft>
                <a:spcPts val="0"/>
              </a:spcAft>
            </a:pPr>
            <a:r>
              <a:rPr sz="1000" b="0" i="0">
                <a:solidFill>
                  <a:srgbClr val="98A4B3"/>
                </a:solidFill>
                <a:latin typeface="Calibri"/>
              </a:rPr>
              <a:t>HOSTED (PROVIDER)</a:t>
            </a:r>
          </a:p>
        </p:txBody>
      </p:sp>
      <p:sp>
        <p:nvSpPr>
          <p:cNvPr id="10" name="Rounded Rectangle 9"/>
          <p:cNvSpPr/>
          <p:nvPr/>
        </p:nvSpPr>
        <p:spPr>
          <a:xfrm>
            <a:off x="1005840" y="2971800"/>
            <a:ext cx="1691640" cy="566928"/>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200" b="0" i="0">
                <a:solidFill>
                  <a:srgbClr val="E8ECF2"/>
                </a:solidFill>
                <a:latin typeface="Calibri"/>
              </a:rPr>
              <a:t>Application</a:t>
            </a:r>
          </a:p>
        </p:txBody>
      </p:sp>
      <p:cxnSp>
        <p:nvCxnSpPr>
          <p:cNvPr id="11" name="Connector 10"/>
          <p:cNvCxnSpPr/>
          <p:nvPr/>
        </p:nvCxnSpPr>
        <p:spPr>
          <a:xfrm>
            <a:off x="2715768" y="3255264"/>
            <a:ext cx="530352" cy="0"/>
          </a:xfrm>
          <a:prstGeom prst="line">
            <a:avLst/>
          </a:prstGeom>
          <a:ln w="15875">
            <a:solidFill>
              <a:srgbClr val="5AA0E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264408" y="2971800"/>
            <a:ext cx="1874519" cy="566928"/>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200" b="0" i="0">
                <a:solidFill>
                  <a:srgbClr val="E8ECF2"/>
                </a:solidFill>
                <a:latin typeface="Calibri"/>
              </a:rPr>
              <a:t>Customer LiteLLM</a:t>
            </a:r>
          </a:p>
          <a:p>
            <a:pPr algn="ctr">
              <a:lnSpc>
                <a:spcPct val="115000"/>
              </a:lnSpc>
              <a:spcAft>
                <a:spcPts val="200"/>
              </a:spcAft>
            </a:pPr>
            <a:r>
              <a:rPr sz="1050" b="0" i="0">
                <a:solidFill>
                  <a:srgbClr val="98A4B3"/>
                </a:solidFill>
                <a:latin typeface="Calibri"/>
              </a:rPr>
              <a:t>or application</a:t>
            </a:r>
          </a:p>
        </p:txBody>
      </p:sp>
      <p:cxnSp>
        <p:nvCxnSpPr>
          <p:cNvPr id="13" name="Connector 12"/>
          <p:cNvCxnSpPr/>
          <p:nvPr/>
        </p:nvCxnSpPr>
        <p:spPr>
          <a:xfrm>
            <a:off x="5157216" y="3255264"/>
            <a:ext cx="512064" cy="0"/>
          </a:xfrm>
          <a:prstGeom prst="line">
            <a:avLst/>
          </a:prstGeom>
          <a:ln w="15875">
            <a:solidFill>
              <a:srgbClr val="5AA0E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687568" y="2350008"/>
            <a:ext cx="2514600" cy="2011680"/>
          </a:xfrm>
          <a:prstGeom prst="roundRect">
            <a:avLst>
              <a:gd name="adj" fmla="val 8000"/>
            </a:avLst>
          </a:prstGeom>
          <a:solidFill>
            <a:srgbClr val="1D242C"/>
          </a:solidFill>
          <a:ln w="12700">
            <a:solidFill>
              <a:srgbClr val="5AA0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300" b="1" i="0">
                <a:solidFill>
                  <a:srgbClr val="E8ECF2"/>
                </a:solidFill>
                <a:latin typeface="Calibri"/>
              </a:rPr>
              <a:t>Customer-hosted</a:t>
            </a:r>
          </a:p>
          <a:p>
            <a:pPr algn="ctr">
              <a:lnSpc>
                <a:spcPct val="115000"/>
              </a:lnSpc>
              <a:spcAft>
                <a:spcPts val="200"/>
              </a:spcAft>
            </a:pPr>
            <a:r>
              <a:rPr sz="1150" b="0" i="0">
                <a:solidFill>
                  <a:srgbClr val="98A4B3"/>
                </a:solidFill>
                <a:latin typeface="Calibri"/>
              </a:rPr>
              <a:t>Guardrails Runtime</a:t>
            </a:r>
          </a:p>
          <a:p>
            <a:pPr algn="ctr">
              <a:lnSpc>
                <a:spcPct val="115000"/>
              </a:lnSpc>
              <a:spcAft>
                <a:spcPts val="200"/>
              </a:spcAft>
            </a:pPr>
            <a:r>
              <a:rPr sz="1150" b="0" i="0">
                <a:solidFill>
                  <a:srgbClr val="98A4B3"/>
                </a:solidFill>
                <a:latin typeface="Calibri"/>
              </a:rPr>
              <a:t/>
            </a:r>
          </a:p>
          <a:p>
            <a:pPr algn="ctr">
              <a:lnSpc>
                <a:spcPct val="115000"/>
              </a:lnSpc>
              <a:spcAft>
                <a:spcPts val="200"/>
              </a:spcAft>
            </a:pPr>
            <a:r>
              <a:rPr sz="1150" b="0" i="0">
                <a:solidFill>
                  <a:srgbClr val="98A4B3"/>
                </a:solidFill>
                <a:latin typeface="Calibri"/>
              </a:rPr>
              <a:t>Policy cache · Bedrock Guardrails adapter · custom evaluators · local audit integration</a:t>
            </a:r>
          </a:p>
        </p:txBody>
      </p:sp>
      <p:sp>
        <p:nvSpPr>
          <p:cNvPr id="15" name="Rounded Rectangle 14"/>
          <p:cNvSpPr/>
          <p:nvPr/>
        </p:nvSpPr>
        <p:spPr>
          <a:xfrm>
            <a:off x="3264408" y="3886200"/>
            <a:ext cx="1874519" cy="502920"/>
          </a:xfrm>
          <a:prstGeom prst="roundRect">
            <a:avLst>
              <a:gd name="adj" fmla="val 8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150" b="0" i="0">
                <a:solidFill>
                  <a:srgbClr val="E8ECF2"/>
                </a:solidFill>
                <a:latin typeface="Calibri"/>
              </a:rPr>
              <a:t>Model provider</a:t>
            </a:r>
          </a:p>
        </p:txBody>
      </p:sp>
      <p:cxnSp>
        <p:nvCxnSpPr>
          <p:cNvPr id="16" name="Connector 15"/>
          <p:cNvCxnSpPr/>
          <p:nvPr/>
        </p:nvCxnSpPr>
        <p:spPr>
          <a:xfrm>
            <a:off x="4206240" y="3557015"/>
            <a:ext cx="0" cy="310896"/>
          </a:xfrm>
          <a:prstGeom prst="line">
            <a:avLst/>
          </a:prstGeom>
          <a:ln w="15875">
            <a:solidFill>
              <a:srgbClr val="2E394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9098280" y="2834639"/>
            <a:ext cx="2221992" cy="960120"/>
          </a:xfrm>
          <a:prstGeom prst="roundRect">
            <a:avLst>
              <a:gd name="adj" fmla="val 8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200" b="0" i="0">
                <a:solidFill>
                  <a:srgbClr val="E8ECF2"/>
                </a:solidFill>
                <a:latin typeface="Calibri"/>
              </a:rPr>
              <a:t>Hosted control plane</a:t>
            </a:r>
          </a:p>
          <a:p>
            <a:pPr algn="ctr">
              <a:lnSpc>
                <a:spcPct val="115000"/>
              </a:lnSpc>
              <a:spcAft>
                <a:spcPts val="200"/>
              </a:spcAft>
            </a:pPr>
            <a:r>
              <a:rPr sz="1050" b="0" i="0">
                <a:solidFill>
                  <a:srgbClr val="98A4B3"/>
                </a:solidFill>
                <a:latin typeface="Calibri"/>
              </a:rPr>
              <a:t>policy sync only</a:t>
            </a:r>
          </a:p>
        </p:txBody>
      </p:sp>
      <p:cxnSp>
        <p:nvCxnSpPr>
          <p:cNvPr id="18" name="Connector 17"/>
          <p:cNvCxnSpPr/>
          <p:nvPr/>
        </p:nvCxnSpPr>
        <p:spPr>
          <a:xfrm>
            <a:off x="8220456" y="3319272"/>
            <a:ext cx="859536" cy="0"/>
          </a:xfrm>
          <a:prstGeom prst="line">
            <a:avLst/>
          </a:prstGeom>
          <a:ln w="15875">
            <a:solidFill>
              <a:srgbClr val="98A4B3"/>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863840" y="3904487"/>
            <a:ext cx="3108960" cy="512064"/>
          </a:xfrm>
          <a:prstGeom prst="rect">
            <a:avLst/>
          </a:prstGeom>
          <a:noFill/>
        </p:spPr>
        <p:txBody>
          <a:bodyPr wrap="square" lIns="0" rIns="0" tIns="0" bIns="0" anchor="t">
            <a:spAutoFit/>
          </a:bodyPr>
          <a:lstStyle/>
          <a:p>
            <a:pPr algn="ctr">
              <a:lnSpc>
                <a:spcPct val="110000"/>
              </a:lnSpc>
              <a:spcAft>
                <a:spcPts val="0"/>
              </a:spcAft>
            </a:pPr>
            <a:r>
              <a:rPr sz="900" b="0" i="0">
                <a:solidFill>
                  <a:srgbClr val="98A4B3"/>
                </a:solidFill>
                <a:latin typeface="Calibri"/>
              </a:rPr>
              <a:t>optional, customer-selected</a:t>
            </a:r>
          </a:p>
          <a:p>
            <a:pPr algn="ctr">
              <a:lnSpc>
                <a:spcPct val="110000"/>
              </a:lnSpc>
              <a:spcAft>
                <a:spcPts val="0"/>
              </a:spcAft>
            </a:pPr>
            <a:r>
              <a:rPr sz="900" b="0" i="0">
                <a:solidFill>
                  <a:srgbClr val="98A4B3"/>
                </a:solidFill>
                <a:latin typeface="Calibri"/>
              </a:rPr>
              <a:t>telemetry only — down to none</a:t>
            </a:r>
          </a:p>
        </p:txBody>
      </p:sp>
      <p:sp>
        <p:nvSpPr>
          <p:cNvPr id="20" name="Rounded Rectangle 19"/>
          <p:cNvSpPr/>
          <p:nvPr/>
        </p:nvSpPr>
        <p:spPr>
          <a:xfrm>
            <a:off x="685800" y="4937760"/>
            <a:ext cx="10820095" cy="1024128"/>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0120" y="5084064"/>
            <a:ext cx="10271455" cy="822960"/>
          </a:xfrm>
          <a:prstGeom prst="rect">
            <a:avLst/>
          </a:prstGeom>
          <a:noFill/>
        </p:spPr>
        <p:txBody>
          <a:bodyPr wrap="square" lIns="0" rIns="0" tIns="0" bIns="0" anchor="t">
            <a:spAutoFit/>
          </a:bodyPr>
          <a:lstStyle/>
          <a:p>
            <a:pPr algn="l">
              <a:lnSpc>
                <a:spcPct val="115000"/>
              </a:lnSpc>
              <a:spcAft>
                <a:spcPts val="400"/>
              </a:spcAft>
            </a:pPr>
            <a:r>
              <a:rPr sz="1050" b="1" i="0">
                <a:solidFill>
                  <a:srgbClr val="5AA0E0"/>
                </a:solidFill>
                <a:latin typeface="Calibri"/>
              </a:rPr>
              <a:t>Content exposure</a:t>
            </a:r>
          </a:p>
          <a:p>
            <a:pPr algn="l">
              <a:lnSpc>
                <a:spcPct val="115000"/>
              </a:lnSpc>
              <a:spcAft>
                <a:spcPts val="0"/>
              </a:spcAft>
            </a:pPr>
            <a:r>
              <a:rPr sz="1250" b="0" i="0">
                <a:solidFill>
                  <a:srgbClr val="4FB477"/>
                </a:solidFill>
                <a:latin typeface="Calibri"/>
              </a:rPr>
              <a:t>Prompts and responses are evaluated entirely inside the customer's own AWS account. Telemetry to the control plane is customer-selected, down to none.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Four seams, and everything grows through one of them</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Adding coverage is a change at a named seam with a governance gate — never an ad-hoc extension.</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AI Guardrails · design intent and delivery plan — nothing built or piloted today</a:t>
            </a:r>
          </a:p>
        </p:txBody>
      </p:sp>
      <p:sp>
        <p:nvSpPr>
          <p:cNvPr id="6" name="Rounded Rectangle 5"/>
          <p:cNvSpPr/>
          <p:nvPr/>
        </p:nvSpPr>
        <p:spPr>
          <a:xfrm>
            <a:off x="685800" y="2423160"/>
            <a:ext cx="2574721" cy="219456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2423160"/>
            <a:ext cx="2574721" cy="786384"/>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300" b="1" i="0">
                <a:solidFill>
                  <a:srgbClr val="E8ECF2"/>
                </a:solidFill>
                <a:latin typeface="Calibri"/>
              </a:rPr>
              <a:t>New evaluation</a:t>
            </a:r>
          </a:p>
          <a:p>
            <a:pPr algn="ctr">
              <a:lnSpc>
                <a:spcPct val="115000"/>
              </a:lnSpc>
              <a:spcAft>
                <a:spcPts val="200"/>
              </a:spcAft>
            </a:pPr>
            <a:r>
              <a:rPr sz="1150" b="0" i="0">
                <a:solidFill>
                  <a:srgbClr val="98A4B3"/>
                </a:solidFill>
                <a:latin typeface="Calibri"/>
              </a:rPr>
              <a:t>stage</a:t>
            </a:r>
          </a:p>
        </p:txBody>
      </p:sp>
      <p:sp>
        <p:nvSpPr>
          <p:cNvPr id="8" name="TextBox 7"/>
          <p:cNvSpPr txBox="1"/>
          <p:nvPr/>
        </p:nvSpPr>
        <p:spPr>
          <a:xfrm>
            <a:off x="868680" y="3319272"/>
            <a:ext cx="2208961" cy="1234439"/>
          </a:xfrm>
          <a:prstGeom prst="rect">
            <a:avLst/>
          </a:prstGeom>
          <a:noFill/>
        </p:spPr>
        <p:txBody>
          <a:bodyPr wrap="square" lIns="0" rIns="0" tIns="0" bIns="0" anchor="t">
            <a:spAutoFit/>
          </a:bodyPr>
          <a:lstStyle/>
          <a:p>
            <a:pPr algn="l">
              <a:lnSpc>
                <a:spcPct val="120000"/>
              </a:lnSpc>
              <a:spcAft>
                <a:spcPts val="0"/>
              </a:spcAft>
            </a:pPr>
            <a:r>
              <a:rPr sz="1100" b="0" i="0">
                <a:solidFill>
                  <a:srgbClr val="98A4B3"/>
                </a:solidFill>
                <a:latin typeface="Calibri"/>
              </a:rPr>
              <a:t>Widens the contract. Adding a value is a major version.</a:t>
            </a:r>
          </a:p>
        </p:txBody>
      </p:sp>
      <p:sp>
        <p:nvSpPr>
          <p:cNvPr id="9" name="Rounded Rectangle 8"/>
          <p:cNvSpPr/>
          <p:nvPr/>
        </p:nvSpPr>
        <p:spPr>
          <a:xfrm>
            <a:off x="3434257" y="2423160"/>
            <a:ext cx="2574721" cy="219456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434257" y="2423160"/>
            <a:ext cx="2574721" cy="786384"/>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300" b="1" i="0">
                <a:solidFill>
                  <a:srgbClr val="E8ECF2"/>
                </a:solidFill>
                <a:latin typeface="Calibri"/>
              </a:rPr>
              <a:t>New evaluation</a:t>
            </a:r>
          </a:p>
          <a:p>
            <a:pPr algn="ctr">
              <a:lnSpc>
                <a:spcPct val="115000"/>
              </a:lnSpc>
              <a:spcAft>
                <a:spcPts val="200"/>
              </a:spcAft>
            </a:pPr>
            <a:r>
              <a:rPr sz="1150" b="0" i="0">
                <a:solidFill>
                  <a:srgbClr val="98A4B3"/>
                </a:solidFill>
                <a:latin typeface="Calibri"/>
              </a:rPr>
              <a:t>engine</a:t>
            </a:r>
          </a:p>
        </p:txBody>
      </p:sp>
      <p:sp>
        <p:nvSpPr>
          <p:cNvPr id="11" name="TextBox 10"/>
          <p:cNvSpPr txBox="1"/>
          <p:nvPr/>
        </p:nvSpPr>
        <p:spPr>
          <a:xfrm>
            <a:off x="3617137" y="3319272"/>
            <a:ext cx="2208961" cy="1234439"/>
          </a:xfrm>
          <a:prstGeom prst="rect">
            <a:avLst/>
          </a:prstGeom>
          <a:noFill/>
        </p:spPr>
        <p:txBody>
          <a:bodyPr wrap="square" lIns="0" rIns="0" tIns="0" bIns="0" anchor="t">
            <a:spAutoFit/>
          </a:bodyPr>
          <a:lstStyle/>
          <a:p>
            <a:pPr algn="l">
              <a:lnSpc>
                <a:spcPct val="120000"/>
              </a:lnSpc>
              <a:spcAft>
                <a:spcPts val="0"/>
              </a:spcAft>
            </a:pPr>
            <a:r>
              <a:rPr sz="1100" b="0" i="0">
                <a:solidFill>
                  <a:srgbClr val="98A4B3"/>
                </a:solidFill>
                <a:latin typeface="Calibri"/>
              </a:rPr>
              <a:t>Behind an adapter. Normalises into the existing decision structure.</a:t>
            </a:r>
          </a:p>
        </p:txBody>
      </p:sp>
      <p:sp>
        <p:nvSpPr>
          <p:cNvPr id="12" name="Rounded Rectangle 11"/>
          <p:cNvSpPr/>
          <p:nvPr/>
        </p:nvSpPr>
        <p:spPr>
          <a:xfrm>
            <a:off x="6182715" y="2423160"/>
            <a:ext cx="2574721" cy="219456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82715" y="2423160"/>
            <a:ext cx="2574721" cy="786384"/>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300" b="1" i="0">
                <a:solidFill>
                  <a:srgbClr val="E8ECF2"/>
                </a:solidFill>
                <a:latin typeface="Calibri"/>
              </a:rPr>
              <a:t>New decision</a:t>
            </a:r>
          </a:p>
          <a:p>
            <a:pPr algn="ctr">
              <a:lnSpc>
                <a:spcPct val="115000"/>
              </a:lnSpc>
              <a:spcAft>
                <a:spcPts val="200"/>
              </a:spcAft>
            </a:pPr>
            <a:r>
              <a:rPr sz="1150" b="0" i="0">
                <a:solidFill>
                  <a:srgbClr val="98A4B3"/>
                </a:solidFill>
                <a:latin typeface="Calibri"/>
              </a:rPr>
              <a:t>action</a:t>
            </a:r>
          </a:p>
        </p:txBody>
      </p:sp>
      <p:sp>
        <p:nvSpPr>
          <p:cNvPr id="14" name="TextBox 13"/>
          <p:cNvSpPr txBox="1"/>
          <p:nvPr/>
        </p:nvSpPr>
        <p:spPr>
          <a:xfrm>
            <a:off x="6365595" y="3319272"/>
            <a:ext cx="2208961" cy="1234439"/>
          </a:xfrm>
          <a:prstGeom prst="rect">
            <a:avLst/>
          </a:prstGeom>
          <a:noFill/>
        </p:spPr>
        <p:txBody>
          <a:bodyPr wrap="square" lIns="0" rIns="0" tIns="0" bIns="0" anchor="t">
            <a:spAutoFit/>
          </a:bodyPr>
          <a:lstStyle/>
          <a:p>
            <a:pPr algn="l">
              <a:lnSpc>
                <a:spcPct val="120000"/>
              </a:lnSpc>
              <a:spcAft>
                <a:spcPts val="0"/>
              </a:spcAft>
            </a:pPr>
            <a:r>
              <a:rPr sz="1100" b="0" i="0">
                <a:solidFill>
                  <a:srgbClr val="98A4B3"/>
                </a:solidFill>
                <a:latin typeface="Calibri"/>
              </a:rPr>
              <a:t>Widens the action set every client must handle. The most expensive seam.</a:t>
            </a:r>
          </a:p>
        </p:txBody>
      </p:sp>
      <p:sp>
        <p:nvSpPr>
          <p:cNvPr id="15" name="Rounded Rectangle 14"/>
          <p:cNvSpPr/>
          <p:nvPr/>
        </p:nvSpPr>
        <p:spPr>
          <a:xfrm>
            <a:off x="8931173" y="2423160"/>
            <a:ext cx="2574721" cy="219456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931173" y="2423160"/>
            <a:ext cx="2574721" cy="786384"/>
          </a:xfrm>
          <a:prstGeom prst="roundRect">
            <a:avLst>
              <a:gd name="adj" fmla="val 8000"/>
            </a:avLst>
          </a:prstGeom>
          <a:solidFill>
            <a:srgbClr val="2B4A69"/>
          </a:solidFill>
          <a:ln w="12700">
            <a:solidFill>
              <a:srgbClr val="5AA0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300" b="1" i="0">
                <a:solidFill>
                  <a:srgbClr val="E8ECF2"/>
                </a:solidFill>
                <a:latin typeface="Calibri"/>
              </a:rPr>
              <a:t>New</a:t>
            </a:r>
          </a:p>
          <a:p>
            <a:pPr algn="ctr">
              <a:lnSpc>
                <a:spcPct val="115000"/>
              </a:lnSpc>
              <a:spcAft>
                <a:spcPts val="200"/>
              </a:spcAft>
            </a:pPr>
            <a:r>
              <a:rPr sz="1150" b="0" i="0">
                <a:solidFill>
                  <a:srgbClr val="98A4B3"/>
                </a:solidFill>
                <a:latin typeface="Calibri"/>
              </a:rPr>
              <a:t>connector</a:t>
            </a:r>
          </a:p>
        </p:txBody>
      </p:sp>
      <p:sp>
        <p:nvSpPr>
          <p:cNvPr id="17" name="TextBox 16"/>
          <p:cNvSpPr txBox="1"/>
          <p:nvPr/>
        </p:nvSpPr>
        <p:spPr>
          <a:xfrm>
            <a:off x="9114053" y="3319272"/>
            <a:ext cx="2208961" cy="1234439"/>
          </a:xfrm>
          <a:prstGeom prst="rect">
            <a:avLst/>
          </a:prstGeom>
          <a:noFill/>
        </p:spPr>
        <p:txBody>
          <a:bodyPr wrap="square" lIns="0" rIns="0" tIns="0" bIns="0" anchor="t">
            <a:spAutoFit/>
          </a:bodyPr>
          <a:lstStyle/>
          <a:p>
            <a:pPr algn="l">
              <a:lnSpc>
                <a:spcPct val="120000"/>
              </a:lnSpc>
              <a:spcAft>
                <a:spcPts val="0"/>
              </a:spcAft>
            </a:pPr>
            <a:r>
              <a:rPr sz="1100" b="0" i="0">
                <a:solidFill>
                  <a:srgbClr val="98A4B3"/>
                </a:solidFill>
                <a:latin typeface="Calibri"/>
              </a:rPr>
              <a:t>Implements the invocation contract only. Never touches policy semantics.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What is specified, and what is deliberately not</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Mechanisms are specified. Numbers are not.</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AI Guardrails · design intent and delivery plan — nothing built or piloted today</a:t>
            </a:r>
          </a:p>
        </p:txBody>
      </p:sp>
      <p:graphicFrame>
        <p:nvGraphicFramePr>
          <p:cNvPr id="6" name="Table 5"/>
          <p:cNvGraphicFramePr>
            <a:graphicFrameLocks noGrp="1"/>
          </p:cNvGraphicFramePr>
          <p:nvPr/>
        </p:nvGraphicFramePr>
        <p:xfrm>
          <a:off x="685800" y="2148840"/>
          <a:ext cx="10820094" cy="2633472"/>
        </p:xfrm>
        <a:graphic>
          <a:graphicData uri="http://schemas.openxmlformats.org/drawingml/2006/table">
            <a:tbl>
              <a:tblPr firstRow="1">
                <a:tableStyleId>{5C22544A-7EE6-4342-B048-85BDC9FD1C3A}</a:tableStyleId>
              </a:tblPr>
              <a:tblGrid>
                <a:gridCol w="1623014"/>
                <a:gridCol w="5734650"/>
                <a:gridCol w="3462430"/>
              </a:tblGrid>
              <a:tr h="365760">
                <a:tc>
                  <a:txBody>
                    <a:bodyPr wrap="square"/>
                    <a:lstStyle/>
                    <a:p>
                      <a:pPr algn="l">
                        <a:lnSpc>
                          <a:spcPct val="105000"/>
                        </a:lnSpc>
                        <a:spcAft>
                          <a:spcPts val="0"/>
                        </a:spcAft>
                      </a:pPr>
                      <a:r>
                        <a:rPr sz="1200" b="1" i="0">
                          <a:solidFill>
                            <a:srgbClr val="5AA0E0"/>
                          </a:solidFill>
                          <a:latin typeface="Calibri"/>
                        </a:rPr>
                        <a:t>Area</a:t>
                      </a:r>
                    </a:p>
                  </a:txBody>
                  <a:tcPr marL="91440" marR="91440" marT="45720" marB="45720" anchor="ctr">
                    <a:solidFill>
                      <a:srgbClr val="1D242C"/>
                    </a:solidFill>
                  </a:tcPr>
                </a:tc>
                <a:tc>
                  <a:txBody>
                    <a:bodyPr wrap="square"/>
                    <a:lstStyle/>
                    <a:p>
                      <a:pPr algn="l">
                        <a:lnSpc>
                          <a:spcPct val="105000"/>
                        </a:lnSpc>
                        <a:spcAft>
                          <a:spcPts val="0"/>
                        </a:spcAft>
                      </a:pPr>
                      <a:r>
                        <a:rPr sz="1200" b="1" i="0">
                          <a:solidFill>
                            <a:srgbClr val="5AA0E0"/>
                          </a:solidFill>
                          <a:latin typeface="Calibri"/>
                        </a:rPr>
                        <a:t>Specified</a:t>
                      </a:r>
                    </a:p>
                  </a:txBody>
                  <a:tcPr marL="91440" marR="91440" marT="45720" marB="45720" anchor="ctr">
                    <a:solidFill>
                      <a:srgbClr val="1D242C"/>
                    </a:solidFill>
                  </a:tcPr>
                </a:tc>
                <a:tc>
                  <a:txBody>
                    <a:bodyPr wrap="square"/>
                    <a:lstStyle/>
                    <a:p>
                      <a:pPr algn="l">
                        <a:lnSpc>
                          <a:spcPct val="105000"/>
                        </a:lnSpc>
                        <a:spcAft>
                          <a:spcPts val="0"/>
                        </a:spcAft>
                      </a:pPr>
                      <a:r>
                        <a:rPr sz="1200" b="1" i="0">
                          <a:solidFill>
                            <a:srgbClr val="5AA0E0"/>
                          </a:solidFill>
                          <a:latin typeface="Calibri"/>
                        </a:rPr>
                        <a:t>Not set</a:t>
                      </a:r>
                    </a:p>
                  </a:txBody>
                  <a:tcPr marL="91440" marR="91440" marT="45720" marB="45720" anchor="ctr">
                    <a:solidFill>
                      <a:srgbClr val="1D242C"/>
                    </a:solidFill>
                  </a:tcPr>
                </a:tc>
              </a:tr>
              <a:tr h="566928">
                <a:tc>
                  <a:txBody>
                    <a:bodyPr wrap="square"/>
                    <a:lstStyle/>
                    <a:p>
                      <a:pPr algn="l">
                        <a:lnSpc>
                          <a:spcPct val="105000"/>
                        </a:lnSpc>
                        <a:spcAft>
                          <a:spcPts val="0"/>
                        </a:spcAft>
                      </a:pPr>
                      <a:r>
                        <a:rPr sz="1250" b="1" i="0">
                          <a:solidFill>
                            <a:srgbClr val="E8ECF2"/>
                          </a:solidFill>
                          <a:latin typeface="Calibri"/>
                        </a:rPr>
                        <a:t>Latency</a:t>
                      </a:r>
                    </a:p>
                  </a:txBody>
                  <a:tcPr marL="91440" marR="91440" marT="45720" marB="45720" anchor="ctr">
                    <a:solidFill>
                      <a:srgbClr val="161C23"/>
                    </a:solidFill>
                  </a:tcPr>
                </a:tc>
                <a:tc>
                  <a:txBody>
                    <a:bodyPr wrap="square"/>
                    <a:lstStyle/>
                    <a:p>
                      <a:pPr algn="l">
                        <a:lnSpc>
                          <a:spcPct val="105000"/>
                        </a:lnSpc>
                        <a:spcAft>
                          <a:spcPts val="0"/>
                        </a:spcAft>
                      </a:pPr>
                      <a:r>
                        <a:rPr sz="1250" b="0" i="0">
                          <a:solidFill>
                            <a:srgbClr val="E8ECF2"/>
                          </a:solidFill>
                          <a:latin typeface="Calibri"/>
                        </a:rPr>
                        <a:t>Measured per stage, mode and detector. Timeouts mandatory.</a:t>
                      </a:r>
                    </a:p>
                  </a:txBody>
                  <a:tcPr marL="91440" marR="91440" marT="45720" marB="45720" anchor="ctr">
                    <a:solidFill>
                      <a:srgbClr val="161C23"/>
                    </a:solidFill>
                  </a:tcPr>
                </a:tc>
                <a:tc>
                  <a:txBody>
                    <a:bodyPr wrap="square"/>
                    <a:lstStyle/>
                    <a:p>
                      <a:pPr algn="l">
                        <a:lnSpc>
                          <a:spcPct val="105000"/>
                        </a:lnSpc>
                        <a:spcAft>
                          <a:spcPts val="0"/>
                        </a:spcAft>
                      </a:pPr>
                      <a:r>
                        <a:rPr sz="1250" b="0" i="0">
                          <a:solidFill>
                            <a:srgbClr val="E0B341"/>
                          </a:solidFill>
                          <a:latin typeface="Calibri"/>
                        </a:rPr>
                        <a:t>Every percentile target and timeout value.</a:t>
                      </a:r>
                    </a:p>
                  </a:txBody>
                  <a:tcPr marL="91440" marR="91440" marT="45720" marB="45720" anchor="ctr">
                    <a:solidFill>
                      <a:srgbClr val="161C23"/>
                    </a:solidFill>
                  </a:tcPr>
                </a:tc>
              </a:tr>
              <a:tr h="566928">
                <a:tc>
                  <a:txBody>
                    <a:bodyPr wrap="square"/>
                    <a:lstStyle/>
                    <a:p>
                      <a:pPr algn="l">
                        <a:lnSpc>
                          <a:spcPct val="105000"/>
                        </a:lnSpc>
                        <a:spcAft>
                          <a:spcPts val="0"/>
                        </a:spcAft>
                      </a:pPr>
                      <a:r>
                        <a:rPr sz="1250" b="1" i="0">
                          <a:solidFill>
                            <a:srgbClr val="E8ECF2"/>
                          </a:solidFill>
                          <a:latin typeface="Calibri"/>
                        </a:rPr>
                        <a:t>Availability</a:t>
                      </a:r>
                    </a:p>
                  </a:txBody>
                  <a:tcPr marL="91440" marR="91440" marT="45720" marB="45720" anchor="ctr">
                    <a:solidFill>
                      <a:srgbClr val="12161B"/>
                    </a:solidFill>
                  </a:tcPr>
                </a:tc>
                <a:tc>
                  <a:txBody>
                    <a:bodyPr wrap="square"/>
                    <a:lstStyle/>
                    <a:p>
                      <a:pPr algn="l">
                        <a:lnSpc>
                          <a:spcPct val="105000"/>
                        </a:lnSpc>
                        <a:spcAft>
                          <a:spcPts val="0"/>
                        </a:spcAft>
                      </a:pPr>
                      <a:r>
                        <a:rPr sz="1250" b="0" i="0">
                          <a:solidFill>
                            <a:srgbClr val="E8ECF2"/>
                          </a:solidFill>
                          <a:latin typeface="Calibri"/>
                        </a:rPr>
                        <a:t>A monitored objective required before general availability.</a:t>
                      </a:r>
                    </a:p>
                  </a:txBody>
                  <a:tcPr marL="91440" marR="91440" marT="45720" marB="45720" anchor="ctr">
                    <a:solidFill>
                      <a:srgbClr val="12161B"/>
                    </a:solidFill>
                  </a:tcPr>
                </a:tc>
                <a:tc>
                  <a:txBody>
                    <a:bodyPr wrap="square"/>
                    <a:lstStyle/>
                    <a:p>
                      <a:pPr algn="l">
                        <a:lnSpc>
                          <a:spcPct val="105000"/>
                        </a:lnSpc>
                        <a:spcAft>
                          <a:spcPts val="0"/>
                        </a:spcAft>
                      </a:pPr>
                      <a:r>
                        <a:rPr sz="1250" b="0" i="0">
                          <a:solidFill>
                            <a:srgbClr val="E0B341"/>
                          </a:solidFill>
                          <a:latin typeface="Calibri"/>
                        </a:rPr>
                        <a:t>The objective and the measurement window.</a:t>
                      </a:r>
                    </a:p>
                  </a:txBody>
                  <a:tcPr marL="91440" marR="91440" marT="45720" marB="45720" anchor="ctr">
                    <a:solidFill>
                      <a:srgbClr val="12161B"/>
                    </a:solidFill>
                  </a:tcPr>
                </a:tc>
              </a:tr>
              <a:tr h="566928">
                <a:tc>
                  <a:txBody>
                    <a:bodyPr wrap="square"/>
                    <a:lstStyle/>
                    <a:p>
                      <a:pPr algn="l">
                        <a:lnSpc>
                          <a:spcPct val="105000"/>
                        </a:lnSpc>
                        <a:spcAft>
                          <a:spcPts val="0"/>
                        </a:spcAft>
                      </a:pPr>
                      <a:r>
                        <a:rPr sz="1250" b="1" i="0">
                          <a:solidFill>
                            <a:srgbClr val="E8ECF2"/>
                          </a:solidFill>
                          <a:latin typeface="Calibri"/>
                        </a:rPr>
                        <a:t>Resilience</a:t>
                      </a:r>
                    </a:p>
                  </a:txBody>
                  <a:tcPr marL="91440" marR="91440" marT="45720" marB="45720" anchor="ctr">
                    <a:solidFill>
                      <a:srgbClr val="161C23"/>
                    </a:solidFill>
                  </a:tcPr>
                </a:tc>
                <a:tc>
                  <a:txBody>
                    <a:bodyPr wrap="square"/>
                    <a:lstStyle/>
                    <a:p>
                      <a:pPr algn="l">
                        <a:lnSpc>
                          <a:spcPct val="105000"/>
                        </a:lnSpc>
                        <a:spcAft>
                          <a:spcPts val="0"/>
                        </a:spcAft>
                      </a:pPr>
                      <a:r>
                        <a:rPr sz="1250" b="0" i="0">
                          <a:solidFill>
                            <a:srgbClr val="E8ECF2"/>
                          </a:solidFill>
                          <a:latin typeface="Calibri"/>
                        </a:rPr>
                        <a:t>Bounded retries, idempotent calls, per-dependency breaker.</a:t>
                      </a:r>
                    </a:p>
                  </a:txBody>
                  <a:tcPr marL="91440" marR="91440" marT="45720" marB="45720" anchor="ctr">
                    <a:solidFill>
                      <a:srgbClr val="161C23"/>
                    </a:solidFill>
                  </a:tcPr>
                </a:tc>
                <a:tc>
                  <a:txBody>
                    <a:bodyPr wrap="square"/>
                    <a:lstStyle/>
                    <a:p>
                      <a:pPr algn="l">
                        <a:lnSpc>
                          <a:spcPct val="105000"/>
                        </a:lnSpc>
                        <a:spcAft>
                          <a:spcPts val="0"/>
                        </a:spcAft>
                      </a:pPr>
                      <a:r>
                        <a:rPr sz="1250" b="0" i="0">
                          <a:solidFill>
                            <a:srgbClr val="E0B341"/>
                          </a:solidFill>
                          <a:latin typeface="Calibri"/>
                        </a:rPr>
                        <a:t>Thresholds and cool-down durations.</a:t>
                      </a:r>
                    </a:p>
                  </a:txBody>
                  <a:tcPr marL="91440" marR="91440" marT="45720" marB="45720" anchor="ctr">
                    <a:solidFill>
                      <a:srgbClr val="161C23"/>
                    </a:solidFill>
                  </a:tcPr>
                </a:tc>
              </a:tr>
              <a:tr h="566928">
                <a:tc>
                  <a:txBody>
                    <a:bodyPr wrap="square"/>
                    <a:lstStyle/>
                    <a:p>
                      <a:pPr algn="l">
                        <a:lnSpc>
                          <a:spcPct val="105000"/>
                        </a:lnSpc>
                        <a:spcAft>
                          <a:spcPts val="0"/>
                        </a:spcAft>
                      </a:pPr>
                      <a:r>
                        <a:rPr sz="1250" b="1" i="0">
                          <a:solidFill>
                            <a:srgbClr val="E8ECF2"/>
                          </a:solidFill>
                          <a:latin typeface="Calibri"/>
                        </a:rPr>
                        <a:t>Cache</a:t>
                      </a:r>
                    </a:p>
                  </a:txBody>
                  <a:tcPr marL="91440" marR="91440" marT="45720" marB="45720" anchor="ctr">
                    <a:solidFill>
                      <a:srgbClr val="12161B"/>
                    </a:solidFill>
                  </a:tcPr>
                </a:tc>
                <a:tc>
                  <a:txBody>
                    <a:bodyPr wrap="square"/>
                    <a:lstStyle/>
                    <a:p>
                      <a:pPr algn="l">
                        <a:lnSpc>
                          <a:spcPct val="105000"/>
                        </a:lnSpc>
                        <a:spcAft>
                          <a:spcPts val="0"/>
                        </a:spcAft>
                      </a:pPr>
                      <a:r>
                        <a:rPr sz="1250" b="0" i="0">
                          <a:solidFill>
                            <a:srgbClr val="E8ECF2"/>
                          </a:solidFill>
                          <a:latin typeface="Calibri"/>
                        </a:rPr>
                        <a:t>Hit rate required. Staleness measured and bounded.</a:t>
                      </a:r>
                    </a:p>
                  </a:txBody>
                  <a:tcPr marL="91440" marR="91440" marT="45720" marB="45720" anchor="ctr">
                    <a:solidFill>
                      <a:srgbClr val="12161B"/>
                    </a:solidFill>
                  </a:tcPr>
                </a:tc>
                <a:tc>
                  <a:txBody>
                    <a:bodyPr wrap="square"/>
                    <a:lstStyle/>
                    <a:p>
                      <a:pPr algn="l">
                        <a:lnSpc>
                          <a:spcPct val="105000"/>
                        </a:lnSpc>
                        <a:spcAft>
                          <a:spcPts val="0"/>
                        </a:spcAft>
                      </a:pPr>
                      <a:r>
                        <a:rPr sz="1250" b="0" i="0">
                          <a:solidFill>
                            <a:srgbClr val="E0B341"/>
                          </a:solidFill>
                          <a:latin typeface="Calibri"/>
                        </a:rPr>
                        <a:t>Tolerable staleness.</a:t>
                      </a:r>
                    </a:p>
                  </a:txBody>
                  <a:tcPr marL="91440" marR="91440" marT="45720" marB="45720" anchor="ctr">
                    <a:solidFill>
                      <a:srgbClr val="12161B"/>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Trade-offs already accepted</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Each was decided against a named alternative, with the cost recorded.</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AI Guardrails · design intent and delivery plan — nothing built or piloted today</a:t>
            </a:r>
          </a:p>
        </p:txBody>
      </p:sp>
      <p:graphicFrame>
        <p:nvGraphicFramePr>
          <p:cNvPr id="6" name="Table 5"/>
          <p:cNvGraphicFramePr>
            <a:graphicFrameLocks noGrp="1"/>
          </p:cNvGraphicFramePr>
          <p:nvPr/>
        </p:nvGraphicFramePr>
        <p:xfrm>
          <a:off x="685800" y="2148840"/>
          <a:ext cx="10820094" cy="2788920"/>
        </p:xfrm>
        <a:graphic>
          <a:graphicData uri="http://schemas.openxmlformats.org/drawingml/2006/table">
            <a:tbl>
              <a:tblPr firstRow="1">
                <a:tableStyleId>{5C22544A-7EE6-4342-B048-85BDC9FD1C3A}</a:tableStyleId>
              </a:tblPr>
              <a:tblGrid>
                <a:gridCol w="3246028"/>
                <a:gridCol w="3462430"/>
                <a:gridCol w="4111636"/>
              </a:tblGrid>
              <a:tr h="365760">
                <a:tc>
                  <a:txBody>
                    <a:bodyPr wrap="square"/>
                    <a:lstStyle/>
                    <a:p>
                      <a:pPr algn="l">
                        <a:lnSpc>
                          <a:spcPct val="105000"/>
                        </a:lnSpc>
                        <a:spcAft>
                          <a:spcPts val="0"/>
                        </a:spcAft>
                      </a:pPr>
                      <a:r>
                        <a:rPr sz="1200" b="1" i="0">
                          <a:solidFill>
                            <a:srgbClr val="5AA0E0"/>
                          </a:solidFill>
                          <a:latin typeface="Calibri"/>
                        </a:rPr>
                        <a:t>Decision</a:t>
                      </a:r>
                    </a:p>
                  </a:txBody>
                  <a:tcPr marL="91440" marR="91440" marT="45720" marB="45720" anchor="ctr">
                    <a:solidFill>
                      <a:srgbClr val="1D242C"/>
                    </a:solidFill>
                  </a:tcPr>
                </a:tc>
                <a:tc>
                  <a:txBody>
                    <a:bodyPr wrap="square"/>
                    <a:lstStyle/>
                    <a:p>
                      <a:pPr algn="l">
                        <a:lnSpc>
                          <a:spcPct val="105000"/>
                        </a:lnSpc>
                        <a:spcAft>
                          <a:spcPts val="0"/>
                        </a:spcAft>
                      </a:pPr>
                      <a:r>
                        <a:rPr sz="1200" b="1" i="0">
                          <a:solidFill>
                            <a:srgbClr val="5AA0E0"/>
                          </a:solidFill>
                          <a:latin typeface="Calibri"/>
                        </a:rPr>
                        <a:t>Rejected alternative</a:t>
                      </a:r>
                    </a:p>
                  </a:txBody>
                  <a:tcPr marL="91440" marR="91440" marT="45720" marB="45720" anchor="ctr">
                    <a:solidFill>
                      <a:srgbClr val="1D242C"/>
                    </a:solidFill>
                  </a:tcPr>
                </a:tc>
                <a:tc>
                  <a:txBody>
                    <a:bodyPr wrap="square"/>
                    <a:lstStyle/>
                    <a:p>
                      <a:pPr algn="l">
                        <a:lnSpc>
                          <a:spcPct val="105000"/>
                        </a:lnSpc>
                        <a:spcAft>
                          <a:spcPts val="0"/>
                        </a:spcAft>
                      </a:pPr>
                      <a:r>
                        <a:rPr sz="1200" b="1" i="0">
                          <a:solidFill>
                            <a:srgbClr val="5AA0E0"/>
                          </a:solidFill>
                          <a:latin typeface="Calibri"/>
                        </a:rPr>
                        <a:t>Accepted cost</a:t>
                      </a:r>
                    </a:p>
                  </a:txBody>
                  <a:tcPr marL="91440" marR="91440" marT="45720" marB="45720" anchor="ctr">
                    <a:solidFill>
                      <a:srgbClr val="1D242C"/>
                    </a:solidFill>
                  </a:tcPr>
                </a:tc>
              </a:tr>
              <a:tr h="484632">
                <a:tc>
                  <a:txBody>
                    <a:bodyPr wrap="square"/>
                    <a:lstStyle/>
                    <a:p>
                      <a:pPr algn="l">
                        <a:lnSpc>
                          <a:spcPct val="105000"/>
                        </a:lnSpc>
                        <a:spcAft>
                          <a:spcPts val="0"/>
                        </a:spcAft>
                      </a:pPr>
                      <a:r>
                        <a:rPr sz="1250" b="1" i="0">
                          <a:solidFill>
                            <a:srgbClr val="E8ECF2"/>
                          </a:solidFill>
                          <a:latin typeface="Calibri"/>
                        </a:rPr>
                        <a:t>No default failure behaviour</a:t>
                      </a:r>
                    </a:p>
                  </a:txBody>
                  <a:tcPr marL="91440" marR="91440" marT="45720" marB="45720" anchor="ctr">
                    <a:solidFill>
                      <a:srgbClr val="161C23"/>
                    </a:solidFill>
                  </a:tcPr>
                </a:tc>
                <a:tc>
                  <a:txBody>
                    <a:bodyPr wrap="square"/>
                    <a:lstStyle/>
                    <a:p>
                      <a:pPr algn="l">
                        <a:lnSpc>
                          <a:spcPct val="105000"/>
                        </a:lnSpc>
                        <a:spcAft>
                          <a:spcPts val="0"/>
                        </a:spcAft>
                      </a:pPr>
                      <a:r>
                        <a:rPr sz="1250" b="0" i="0">
                          <a:solidFill>
                            <a:srgbClr val="E8ECF2"/>
                          </a:solidFill>
                          <a:latin typeface="Calibri"/>
                        </a:rPr>
                        <a:t>Conservative built-in defaults</a:t>
                      </a:r>
                    </a:p>
                  </a:txBody>
                  <a:tcPr marL="91440" marR="91440" marT="45720" marB="45720" anchor="ctr">
                    <a:solidFill>
                      <a:srgbClr val="161C23"/>
                    </a:solidFill>
                  </a:tcPr>
                </a:tc>
                <a:tc>
                  <a:txBody>
                    <a:bodyPr wrap="square"/>
                    <a:lstStyle/>
                    <a:p>
                      <a:pPr algn="l">
                        <a:lnSpc>
                          <a:spcPct val="105000"/>
                        </a:lnSpc>
                        <a:spcAft>
                          <a:spcPts val="0"/>
                        </a:spcAft>
                      </a:pPr>
                      <a:r>
                        <a:rPr sz="1250" b="0" i="0">
                          <a:solidFill>
                            <a:srgbClr val="E8ECF2"/>
                          </a:solidFill>
                          <a:latin typeface="Calibri"/>
                        </a:rPr>
                        <a:t>Every policy author writes every failure key.</a:t>
                      </a:r>
                    </a:p>
                  </a:txBody>
                  <a:tcPr marL="91440" marR="91440" marT="45720" marB="45720" anchor="ctr">
                    <a:solidFill>
                      <a:srgbClr val="161C23"/>
                    </a:solidFill>
                  </a:tcPr>
                </a:tc>
              </a:tr>
              <a:tr h="484632">
                <a:tc>
                  <a:txBody>
                    <a:bodyPr wrap="square"/>
                    <a:lstStyle/>
                    <a:p>
                      <a:pPr algn="l">
                        <a:lnSpc>
                          <a:spcPct val="105000"/>
                        </a:lnSpc>
                        <a:spcAft>
                          <a:spcPts val="0"/>
                        </a:spcAft>
                      </a:pPr>
                      <a:r>
                        <a:rPr sz="1250" b="1" i="0">
                          <a:solidFill>
                            <a:srgbClr val="E8ECF2"/>
                          </a:solidFill>
                          <a:latin typeface="Calibri"/>
                        </a:rPr>
                        <a:t>Pull, local-only resolution</a:t>
                      </a:r>
                    </a:p>
                  </a:txBody>
                  <a:tcPr marL="91440" marR="91440" marT="45720" marB="45720" anchor="ctr">
                    <a:solidFill>
                      <a:srgbClr val="12161B"/>
                    </a:solidFill>
                  </a:tcPr>
                </a:tc>
                <a:tc>
                  <a:txBody>
                    <a:bodyPr wrap="square"/>
                    <a:lstStyle/>
                    <a:p>
                      <a:pPr algn="l">
                        <a:lnSpc>
                          <a:spcPct val="105000"/>
                        </a:lnSpc>
                        <a:spcAft>
                          <a:spcPts val="0"/>
                        </a:spcAft>
                      </a:pPr>
                      <a:r>
                        <a:rPr sz="1250" b="0" i="0">
                          <a:solidFill>
                            <a:srgbClr val="E8ECF2"/>
                          </a:solidFill>
                          <a:latin typeface="Calibri"/>
                        </a:rPr>
                        <a:t>Control-plane resolution per evaluation</a:t>
                      </a:r>
                    </a:p>
                  </a:txBody>
                  <a:tcPr marL="91440" marR="91440" marT="45720" marB="45720" anchor="ctr">
                    <a:solidFill>
                      <a:srgbClr val="12161B"/>
                    </a:solidFill>
                  </a:tcPr>
                </a:tc>
                <a:tc>
                  <a:txBody>
                    <a:bodyPr wrap="square"/>
                    <a:lstStyle/>
                    <a:p>
                      <a:pPr algn="l">
                        <a:lnSpc>
                          <a:spcPct val="105000"/>
                        </a:lnSpc>
                        <a:spcAft>
                          <a:spcPts val="0"/>
                        </a:spcAft>
                      </a:pPr>
                      <a:r>
                        <a:rPr sz="1250" b="0" i="0">
                          <a:solidFill>
                            <a:srgbClr val="E8ECF2"/>
                          </a:solidFill>
                          <a:latin typeface="Calibri"/>
                        </a:rPr>
                        <a:t>Rollback converges within the refresh interval.</a:t>
                      </a:r>
                    </a:p>
                  </a:txBody>
                  <a:tcPr marL="91440" marR="91440" marT="45720" marB="45720" anchor="ctr">
                    <a:solidFill>
                      <a:srgbClr val="12161B"/>
                    </a:solidFill>
                  </a:tcPr>
                </a:tc>
              </a:tr>
              <a:tr h="484632">
                <a:tc>
                  <a:txBody>
                    <a:bodyPr wrap="square"/>
                    <a:lstStyle/>
                    <a:p>
                      <a:pPr algn="l">
                        <a:lnSpc>
                          <a:spcPct val="105000"/>
                        </a:lnSpc>
                        <a:spcAft>
                          <a:spcPts val="0"/>
                        </a:spcAft>
                      </a:pPr>
                      <a:r>
                        <a:rPr sz="1250" b="1" i="0">
                          <a:solidFill>
                            <a:srgbClr val="E8ECF2"/>
                          </a:solidFill>
                          <a:latin typeface="Calibri"/>
                        </a:rPr>
                        <a:t>Containers, not functions</a:t>
                      </a:r>
                    </a:p>
                  </a:txBody>
                  <a:tcPr marL="91440" marR="91440" marT="45720" marB="45720" anchor="ctr">
                    <a:solidFill>
                      <a:srgbClr val="161C23"/>
                    </a:solidFill>
                  </a:tcPr>
                </a:tc>
                <a:tc>
                  <a:txBody>
                    <a:bodyPr wrap="square"/>
                    <a:lstStyle/>
                    <a:p>
                      <a:pPr algn="l">
                        <a:lnSpc>
                          <a:spcPct val="105000"/>
                        </a:lnSpc>
                        <a:spcAft>
                          <a:spcPts val="0"/>
                        </a:spcAft>
                      </a:pPr>
                      <a:r>
                        <a:rPr sz="1250" b="0" i="0">
                          <a:solidFill>
                            <a:srgbClr val="E8ECF2"/>
                          </a:solidFill>
                          <a:latin typeface="Calibri"/>
                        </a:rPr>
                        <a:t>Serverless request/response target</a:t>
                      </a:r>
                    </a:p>
                  </a:txBody>
                  <a:tcPr marL="91440" marR="91440" marT="45720" marB="45720" anchor="ctr">
                    <a:solidFill>
                      <a:srgbClr val="161C23"/>
                    </a:solidFill>
                  </a:tcPr>
                </a:tc>
                <a:tc>
                  <a:txBody>
                    <a:bodyPr wrap="square"/>
                    <a:lstStyle/>
                    <a:p>
                      <a:pPr algn="l">
                        <a:lnSpc>
                          <a:spcPct val="105000"/>
                        </a:lnSpc>
                        <a:spcAft>
                          <a:spcPts val="0"/>
                        </a:spcAft>
                      </a:pPr>
                      <a:r>
                        <a:rPr sz="1250" b="0" i="0">
                          <a:solidFill>
                            <a:srgbClr val="E8ECF2"/>
                          </a:solidFill>
                          <a:latin typeface="Calibri"/>
                        </a:rPr>
                        <a:t>Higher idle cost, for one packaging path.</a:t>
                      </a:r>
                    </a:p>
                  </a:txBody>
                  <a:tcPr marL="91440" marR="91440" marT="45720" marB="45720" anchor="ctr">
                    <a:solidFill>
                      <a:srgbClr val="161C23"/>
                    </a:solidFill>
                  </a:tcPr>
                </a:tc>
              </a:tr>
              <a:tr h="484632">
                <a:tc>
                  <a:txBody>
                    <a:bodyPr wrap="square"/>
                    <a:lstStyle/>
                    <a:p>
                      <a:pPr algn="l">
                        <a:lnSpc>
                          <a:spcPct val="105000"/>
                        </a:lnSpc>
                        <a:spcAft>
                          <a:spcPts val="0"/>
                        </a:spcAft>
                      </a:pPr>
                      <a:r>
                        <a:rPr sz="1250" b="1" i="0">
                          <a:solidFill>
                            <a:srgbClr val="E8ECF2"/>
                          </a:solidFill>
                          <a:latin typeface="Calibri"/>
                        </a:rPr>
                        <a:t>A managed engine first</a:t>
                      </a:r>
                    </a:p>
                  </a:txBody>
                  <a:tcPr marL="91440" marR="91440" marT="45720" marB="45720" anchor="ctr">
                    <a:solidFill>
                      <a:srgbClr val="12161B"/>
                    </a:solidFill>
                  </a:tcPr>
                </a:tc>
                <a:tc>
                  <a:txBody>
                    <a:bodyPr wrap="square"/>
                    <a:lstStyle/>
                    <a:p>
                      <a:pPr algn="l">
                        <a:lnSpc>
                          <a:spcPct val="105000"/>
                        </a:lnSpc>
                        <a:spcAft>
                          <a:spcPts val="0"/>
                        </a:spcAft>
                      </a:pPr>
                      <a:r>
                        <a:rPr sz="1250" b="0" i="0">
                          <a:solidFill>
                            <a:srgbClr val="E8ECF2"/>
                          </a:solidFill>
                          <a:latin typeface="Calibri"/>
                        </a:rPr>
                        <a:t>Custom evaluators from the start</a:t>
                      </a:r>
                    </a:p>
                  </a:txBody>
                  <a:tcPr marL="91440" marR="91440" marT="45720" marB="45720" anchor="ctr">
                    <a:solidFill>
                      <a:srgbClr val="12161B"/>
                    </a:solidFill>
                  </a:tcPr>
                </a:tc>
                <a:tc>
                  <a:txBody>
                    <a:bodyPr wrap="square"/>
                    <a:lstStyle/>
                    <a:p>
                      <a:pPr algn="l">
                        <a:lnSpc>
                          <a:spcPct val="105000"/>
                        </a:lnSpc>
                        <a:spcAft>
                          <a:spcPts val="0"/>
                        </a:spcAft>
                      </a:pPr>
                      <a:r>
                        <a:rPr sz="1250" b="0" i="0">
                          <a:solidFill>
                            <a:srgbClr val="E8ECF2"/>
                          </a:solidFill>
                          <a:latin typeface="Calibri"/>
                        </a:rPr>
                        <a:t>Detection quality bounded by someone else's service.</a:t>
                      </a:r>
                    </a:p>
                  </a:txBody>
                  <a:tcPr marL="91440" marR="91440" marT="45720" marB="45720" anchor="ctr">
                    <a:solidFill>
                      <a:srgbClr val="12161B"/>
                    </a:solidFill>
                  </a:tcPr>
                </a:tc>
              </a:tr>
              <a:tr h="484632">
                <a:tc>
                  <a:txBody>
                    <a:bodyPr wrap="square"/>
                    <a:lstStyle/>
                    <a:p>
                      <a:pPr algn="l">
                        <a:lnSpc>
                          <a:spcPct val="105000"/>
                        </a:lnSpc>
                        <a:spcAft>
                          <a:spcPts val="0"/>
                        </a:spcAft>
                      </a:pPr>
                      <a:r>
                        <a:rPr sz="1250" b="1" i="0">
                          <a:solidFill>
                            <a:srgbClr val="E8ECF2"/>
                          </a:solidFill>
                          <a:latin typeface="Calibri"/>
                        </a:rPr>
                        <a:t>Cooperative connector</a:t>
                      </a:r>
                    </a:p>
                  </a:txBody>
                  <a:tcPr marL="91440" marR="91440" marT="45720" marB="45720" anchor="ctr">
                    <a:solidFill>
                      <a:srgbClr val="161C23"/>
                    </a:solidFill>
                  </a:tcPr>
                </a:tc>
                <a:tc>
                  <a:txBody>
                    <a:bodyPr wrap="square"/>
                    <a:lstStyle/>
                    <a:p>
                      <a:pPr algn="l">
                        <a:lnSpc>
                          <a:spcPct val="105000"/>
                        </a:lnSpc>
                        <a:spcAft>
                          <a:spcPts val="0"/>
                        </a:spcAft>
                      </a:pPr>
                      <a:r>
                        <a:rPr sz="1250" b="0" i="0">
                          <a:solidFill>
                            <a:srgbClr val="E8ECF2"/>
                          </a:solidFill>
                          <a:latin typeface="Calibri"/>
                        </a:rPr>
                        <a:t>Enforced gateway from day one</a:t>
                      </a:r>
                    </a:p>
                  </a:txBody>
                  <a:tcPr marL="91440" marR="91440" marT="45720" marB="45720" anchor="ctr">
                    <a:solidFill>
                      <a:srgbClr val="161C23"/>
                    </a:solidFill>
                  </a:tcPr>
                </a:tc>
                <a:tc>
                  <a:txBody>
                    <a:bodyPr wrap="square"/>
                    <a:lstStyle/>
                    <a:p>
                      <a:pPr algn="l">
                        <a:lnSpc>
                          <a:spcPct val="105000"/>
                        </a:lnSpc>
                        <a:spcAft>
                          <a:spcPts val="0"/>
                        </a:spcAft>
                      </a:pPr>
                      <a:r>
                        <a:rPr sz="1250" b="0" i="0">
                          <a:solidFill>
                            <a:srgbClr val="E8ECF2"/>
                          </a:solidFill>
                          <a:latin typeface="Calibri"/>
                        </a:rPr>
                        <a:t>Bypass is possible by the installing team.</a:t>
                      </a:r>
                    </a:p>
                  </a:txBody>
                  <a:tcPr marL="91440" marR="91440" marT="45720" marB="45720" anchor="ctr">
                    <a:solidFill>
                      <a:srgbClr val="161C23"/>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What the board is asked to rule on</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No recorded decision on any of these. Each needs an answer, or an owner and a date.</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AI Guardrails · design intent and delivery plan — nothing built or piloted today</a:t>
            </a:r>
          </a:p>
        </p:txBody>
      </p:sp>
      <p:sp>
        <p:nvSpPr>
          <p:cNvPr id="6" name="Rectangle 5"/>
          <p:cNvSpPr/>
          <p:nvPr/>
        </p:nvSpPr>
        <p:spPr>
          <a:xfrm>
            <a:off x="685800" y="2318004"/>
            <a:ext cx="77724" cy="77724"/>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240280"/>
            <a:ext cx="10545775" cy="365760"/>
          </a:xfrm>
          <a:prstGeom prst="rect">
            <a:avLst/>
          </a:prstGeom>
          <a:noFill/>
        </p:spPr>
        <p:txBody>
          <a:bodyPr wrap="square" lIns="0" rIns="0" tIns="0" bIns="0" anchor="t">
            <a:spAutoFit/>
          </a:bodyPr>
          <a:lstStyle/>
          <a:p>
            <a:pPr algn="l">
              <a:lnSpc>
                <a:spcPct val="115000"/>
              </a:lnSpc>
              <a:spcAft>
                <a:spcPts val="100"/>
              </a:spcAft>
            </a:pPr>
            <a:r>
              <a:rPr sz="1600" b="0" i="0">
                <a:solidFill>
                  <a:srgbClr val="E8ECF2"/>
                </a:solidFill>
                <a:latin typeface="Calibri"/>
              </a:rPr>
              <a:t>Which enforcement posture do the first external customers require?</a:t>
            </a:r>
          </a:p>
        </p:txBody>
      </p:sp>
      <p:sp>
        <p:nvSpPr>
          <p:cNvPr id="8" name="Rectangle 7"/>
          <p:cNvSpPr/>
          <p:nvPr/>
        </p:nvSpPr>
        <p:spPr>
          <a:xfrm>
            <a:off x="685800" y="2921508"/>
            <a:ext cx="77724" cy="77724"/>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843784"/>
            <a:ext cx="10545775" cy="365760"/>
          </a:xfrm>
          <a:prstGeom prst="rect">
            <a:avLst/>
          </a:prstGeom>
          <a:noFill/>
        </p:spPr>
        <p:txBody>
          <a:bodyPr wrap="square" lIns="0" rIns="0" tIns="0" bIns="0" anchor="t">
            <a:spAutoFit/>
          </a:bodyPr>
          <a:lstStyle/>
          <a:p>
            <a:pPr algn="l">
              <a:lnSpc>
                <a:spcPct val="115000"/>
              </a:lnSpc>
              <a:spcAft>
                <a:spcPts val="100"/>
              </a:spcAft>
            </a:pPr>
            <a:r>
              <a:rPr sz="1600" b="0" i="0">
                <a:solidFill>
                  <a:srgbClr val="E8ECF2"/>
                </a:solidFill>
                <a:latin typeface="Calibri"/>
              </a:rPr>
              <a:t>What are the go/no-go criteria for promoting a workload out of observe?</a:t>
            </a:r>
          </a:p>
        </p:txBody>
      </p:sp>
      <p:sp>
        <p:nvSpPr>
          <p:cNvPr id="10" name="Rectangle 9"/>
          <p:cNvSpPr/>
          <p:nvPr/>
        </p:nvSpPr>
        <p:spPr>
          <a:xfrm>
            <a:off x="685800" y="3525012"/>
            <a:ext cx="77724" cy="77724"/>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447288"/>
            <a:ext cx="10545775" cy="365760"/>
          </a:xfrm>
          <a:prstGeom prst="rect">
            <a:avLst/>
          </a:prstGeom>
          <a:noFill/>
        </p:spPr>
        <p:txBody>
          <a:bodyPr wrap="square" lIns="0" rIns="0" tIns="0" bIns="0" anchor="t">
            <a:spAutoFit/>
          </a:bodyPr>
          <a:lstStyle/>
          <a:p>
            <a:pPr algn="l">
              <a:lnSpc>
                <a:spcPct val="115000"/>
              </a:lnSpc>
              <a:spcAft>
                <a:spcPts val="100"/>
              </a:spcAft>
            </a:pPr>
            <a:r>
              <a:rPr sz="1600" b="0" i="0">
                <a:solidFill>
                  <a:srgbClr val="E8ECF2"/>
                </a:solidFill>
                <a:latin typeface="Calibri"/>
              </a:rPr>
              <a:t>Does the evaluation-stage vocabulary expand beyond the reserved set?</a:t>
            </a:r>
          </a:p>
        </p:txBody>
      </p:sp>
      <p:sp>
        <p:nvSpPr>
          <p:cNvPr id="12" name="Rectangle 11"/>
          <p:cNvSpPr/>
          <p:nvPr/>
        </p:nvSpPr>
        <p:spPr>
          <a:xfrm>
            <a:off x="685800" y="4128516"/>
            <a:ext cx="77724" cy="77724"/>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4050792"/>
            <a:ext cx="10545775" cy="365760"/>
          </a:xfrm>
          <a:prstGeom prst="rect">
            <a:avLst/>
          </a:prstGeom>
          <a:noFill/>
        </p:spPr>
        <p:txBody>
          <a:bodyPr wrap="square" lIns="0" rIns="0" tIns="0" bIns="0" anchor="t">
            <a:spAutoFit/>
          </a:bodyPr>
          <a:lstStyle/>
          <a:p>
            <a:pPr algn="l">
              <a:lnSpc>
                <a:spcPct val="115000"/>
              </a:lnSpc>
              <a:spcAft>
                <a:spcPts val="100"/>
              </a:spcAft>
            </a:pPr>
            <a:r>
              <a:rPr sz="1600" b="0" i="0">
                <a:solidFill>
                  <a:srgbClr val="E8ECF2"/>
                </a:solidFill>
                <a:latin typeface="Calibri"/>
              </a:rPr>
              <a:t>What is the connector version support window, and the deprecation policy?</a:t>
            </a:r>
          </a:p>
        </p:txBody>
      </p:sp>
      <p:sp>
        <p:nvSpPr>
          <p:cNvPr id="14" name="Rectangle 13"/>
          <p:cNvSpPr/>
          <p:nvPr/>
        </p:nvSpPr>
        <p:spPr>
          <a:xfrm>
            <a:off x="685800" y="4732020"/>
            <a:ext cx="77724" cy="77724"/>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654296"/>
            <a:ext cx="10545775" cy="365760"/>
          </a:xfrm>
          <a:prstGeom prst="rect">
            <a:avLst/>
          </a:prstGeom>
          <a:noFill/>
        </p:spPr>
        <p:txBody>
          <a:bodyPr wrap="square" lIns="0" rIns="0" tIns="0" bIns="0" anchor="t">
            <a:spAutoFit/>
          </a:bodyPr>
          <a:lstStyle/>
          <a:p>
            <a:pPr algn="l">
              <a:lnSpc>
                <a:spcPct val="115000"/>
              </a:lnSpc>
              <a:spcAft>
                <a:spcPts val="100"/>
              </a:spcAft>
            </a:pPr>
            <a:r>
              <a:rPr sz="1600" b="0" i="0">
                <a:solidFill>
                  <a:srgbClr val="E8ECF2"/>
                </a:solidFill>
                <a:latin typeface="Calibri"/>
              </a:rPr>
              <a:t>Are signed policy artifacts required before the customer-managed runtime ships?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The decision requested</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AI Guardrails · design intent and delivery plan — nothing built or piloted today</a:t>
            </a:r>
          </a:p>
        </p:txBody>
      </p:sp>
      <p:sp>
        <p:nvSpPr>
          <p:cNvPr id="5" name="Rounded Rectangle 4"/>
          <p:cNvSpPr/>
          <p:nvPr/>
        </p:nvSpPr>
        <p:spPr>
          <a:xfrm>
            <a:off x="685800" y="1737360"/>
            <a:ext cx="10820095" cy="1417320"/>
          </a:xfrm>
          <a:prstGeom prst="roundRect">
            <a:avLst>
              <a:gd name="adj" fmla="val 4000"/>
            </a:avLst>
          </a:prstGeom>
          <a:solidFill>
            <a:srgbClr val="1D242C"/>
          </a:solidFill>
          <a:ln w="12700">
            <a:solidFill>
              <a:srgbClr val="5AA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1965960"/>
            <a:ext cx="10088575" cy="960120"/>
          </a:xfrm>
          <a:prstGeom prst="rect">
            <a:avLst/>
          </a:prstGeom>
          <a:noFill/>
        </p:spPr>
        <p:txBody>
          <a:bodyPr wrap="square" lIns="0" rIns="0" tIns="0" bIns="0" anchor="t">
            <a:spAutoFit/>
          </a:bodyPr>
          <a:lstStyle/>
          <a:p>
            <a:pPr algn="l">
              <a:lnSpc>
                <a:spcPct val="120000"/>
              </a:lnSpc>
              <a:spcAft>
                <a:spcPts val="600"/>
              </a:spcAft>
            </a:pPr>
            <a:r>
              <a:rPr sz="1800" b="1" i="0">
                <a:solidFill>
                  <a:srgbClr val="E8ECF2"/>
                </a:solidFill>
                <a:latin typeface="Calibri"/>
              </a:rPr>
              <a:t>Sign off the contract set: wire format and versioning, policy schema and its mandatory failure behavior, enforcement-state semantics, reason-code namespacing, and the two-phase compatibility model.</a:t>
            </a:r>
          </a:p>
          <a:p>
            <a:pPr algn="l">
              <a:lnSpc>
                <a:spcPct val="115000"/>
              </a:lnSpc>
              <a:spcAft>
                <a:spcPts val="0"/>
              </a:spcAft>
            </a:pPr>
            <a:r>
              <a:rPr sz="1250" b="0" i="0">
                <a:solidFill>
                  <a:srgbClr val="98A4B3"/>
                </a:solidFill>
                <a:latin typeface="Calibri"/>
              </a:rPr>
              <a:t>Not a funding decision, and not a review of the delivery plan.</a:t>
            </a:r>
          </a:p>
        </p:txBody>
      </p:sp>
      <p:sp>
        <p:nvSpPr>
          <p:cNvPr id="7" name="TextBox 6"/>
          <p:cNvSpPr txBox="1"/>
          <p:nvPr/>
        </p:nvSpPr>
        <p:spPr>
          <a:xfrm>
            <a:off x="685800" y="3264408"/>
            <a:ext cx="5532120" cy="365760"/>
          </a:xfrm>
          <a:prstGeom prst="rect">
            <a:avLst/>
          </a:prstGeom>
          <a:noFill/>
        </p:spPr>
        <p:txBody>
          <a:bodyPr wrap="square" lIns="0" rIns="0" tIns="0" bIns="0" anchor="t">
            <a:spAutoFit/>
          </a:bodyPr>
          <a:lstStyle/>
          <a:p>
            <a:pPr algn="l">
              <a:lnSpc>
                <a:spcPct val="115000"/>
              </a:lnSpc>
              <a:spcAft>
                <a:spcPts val="0"/>
              </a:spcAft>
            </a:pPr>
            <a:r>
              <a:rPr sz="1300" b="1" i="0">
                <a:solidFill>
                  <a:srgbClr val="5AA0E0"/>
                </a:solidFill>
                <a:latin typeface="Calibri"/>
              </a:rPr>
              <a:t>And, before this session closes</a:t>
            </a:r>
          </a:p>
        </p:txBody>
      </p:sp>
      <p:sp>
        <p:nvSpPr>
          <p:cNvPr id="8" name="Rectangle 7"/>
          <p:cNvSpPr/>
          <p:nvPr/>
        </p:nvSpPr>
        <p:spPr>
          <a:xfrm>
            <a:off x="685800" y="3735324"/>
            <a:ext cx="77724" cy="77724"/>
          </a:xfrm>
          <a:prstGeom prst="rect">
            <a:avLst/>
          </a:prstGeom>
          <a:solidFill>
            <a:srgbClr val="4FB4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3657600"/>
            <a:ext cx="5257800" cy="365760"/>
          </a:xfrm>
          <a:prstGeom prst="rect">
            <a:avLst/>
          </a:prstGeom>
          <a:noFill/>
        </p:spPr>
        <p:txBody>
          <a:bodyPr wrap="square" lIns="0" rIns="0" tIns="0" bIns="0" anchor="t">
            <a:spAutoFit/>
          </a:bodyPr>
          <a:lstStyle/>
          <a:p>
            <a:pPr algn="l">
              <a:lnSpc>
                <a:spcPct val="115000"/>
              </a:lnSpc>
              <a:spcAft>
                <a:spcPts val="100"/>
              </a:spcAft>
            </a:pPr>
            <a:r>
              <a:rPr sz="1250" b="0" i="0">
                <a:solidFill>
                  <a:srgbClr val="E8ECF2"/>
                </a:solidFill>
                <a:latin typeface="Calibri"/>
              </a:rPr>
              <a:t>A ruling, or an owner and a date, on each open question</a:t>
            </a:r>
          </a:p>
        </p:txBody>
      </p:sp>
      <p:sp>
        <p:nvSpPr>
          <p:cNvPr id="10" name="Rectangle 9"/>
          <p:cNvSpPr/>
          <p:nvPr/>
        </p:nvSpPr>
        <p:spPr>
          <a:xfrm>
            <a:off x="685800" y="4302252"/>
            <a:ext cx="77724" cy="77724"/>
          </a:xfrm>
          <a:prstGeom prst="rect">
            <a:avLst/>
          </a:prstGeom>
          <a:solidFill>
            <a:srgbClr val="4FB4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4224528"/>
            <a:ext cx="5257800" cy="365760"/>
          </a:xfrm>
          <a:prstGeom prst="rect">
            <a:avLst/>
          </a:prstGeom>
          <a:noFill/>
        </p:spPr>
        <p:txBody>
          <a:bodyPr wrap="square" lIns="0" rIns="0" tIns="0" bIns="0" anchor="t">
            <a:spAutoFit/>
          </a:bodyPr>
          <a:lstStyle/>
          <a:p>
            <a:pPr algn="l">
              <a:lnSpc>
                <a:spcPct val="115000"/>
              </a:lnSpc>
              <a:spcAft>
                <a:spcPts val="100"/>
              </a:spcAft>
            </a:pPr>
            <a:r>
              <a:rPr sz="1250" b="0" i="0">
                <a:solidFill>
                  <a:srgbClr val="E8ECF2"/>
                </a:solidFill>
                <a:latin typeface="Calibri"/>
              </a:rPr>
              <a:t>Named reviewers for the contract document and the policy schema</a:t>
            </a:r>
          </a:p>
        </p:txBody>
      </p:sp>
      <p:sp>
        <p:nvSpPr>
          <p:cNvPr id="12" name="Rectangle 11"/>
          <p:cNvSpPr/>
          <p:nvPr/>
        </p:nvSpPr>
        <p:spPr>
          <a:xfrm>
            <a:off x="685800" y="4869180"/>
            <a:ext cx="77724" cy="77724"/>
          </a:xfrm>
          <a:prstGeom prst="rect">
            <a:avLst/>
          </a:prstGeom>
          <a:solidFill>
            <a:srgbClr val="4FB4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4791456"/>
            <a:ext cx="5257800" cy="365760"/>
          </a:xfrm>
          <a:prstGeom prst="rect">
            <a:avLst/>
          </a:prstGeom>
          <a:noFill/>
        </p:spPr>
        <p:txBody>
          <a:bodyPr wrap="square" lIns="0" rIns="0" tIns="0" bIns="0" anchor="t">
            <a:spAutoFit/>
          </a:bodyPr>
          <a:lstStyle/>
          <a:p>
            <a:pPr algn="l">
              <a:lnSpc>
                <a:spcPct val="115000"/>
              </a:lnSpc>
              <a:spcAft>
                <a:spcPts val="100"/>
              </a:spcAft>
            </a:pPr>
            <a:r>
              <a:rPr sz="1250" b="0" i="0">
                <a:solidFill>
                  <a:srgbClr val="E8ECF2"/>
                </a:solidFill>
                <a:latin typeface="Calibri"/>
              </a:rPr>
              <a:t>Agreement that an unversioned contract change is a build failure</a:t>
            </a:r>
          </a:p>
        </p:txBody>
      </p:sp>
      <p:sp>
        <p:nvSpPr>
          <p:cNvPr id="14" name="TextBox 13"/>
          <p:cNvSpPr txBox="1"/>
          <p:nvPr/>
        </p:nvSpPr>
        <p:spPr>
          <a:xfrm>
            <a:off x="6428232" y="3264408"/>
            <a:ext cx="5074920" cy="365760"/>
          </a:xfrm>
          <a:prstGeom prst="rect">
            <a:avLst/>
          </a:prstGeom>
          <a:noFill/>
        </p:spPr>
        <p:txBody>
          <a:bodyPr wrap="square" lIns="0" rIns="0" tIns="0" bIns="0" anchor="t">
            <a:spAutoFit/>
          </a:bodyPr>
          <a:lstStyle/>
          <a:p>
            <a:pPr algn="l">
              <a:lnSpc>
                <a:spcPct val="115000"/>
              </a:lnSpc>
              <a:spcAft>
                <a:spcPts val="0"/>
              </a:spcAft>
            </a:pPr>
            <a:r>
              <a:rPr sz="1300" b="1" i="0">
                <a:solidFill>
                  <a:srgbClr val="98A4B3"/>
                </a:solidFill>
                <a:latin typeface="Calibri"/>
              </a:rPr>
              <a:t>Not in scope for this session</a:t>
            </a:r>
          </a:p>
        </p:txBody>
      </p:sp>
      <p:sp>
        <p:nvSpPr>
          <p:cNvPr id="15" name="Rectangle 14"/>
          <p:cNvSpPr/>
          <p:nvPr/>
        </p:nvSpPr>
        <p:spPr>
          <a:xfrm>
            <a:off x="6428232" y="3735324"/>
            <a:ext cx="77724" cy="77724"/>
          </a:xfrm>
          <a:prstGeom prst="rect">
            <a:avLst/>
          </a:prstGeom>
          <a:solidFill>
            <a:srgbClr val="98A4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02552" y="3657600"/>
            <a:ext cx="4800600" cy="365760"/>
          </a:xfrm>
          <a:prstGeom prst="rect">
            <a:avLst/>
          </a:prstGeom>
          <a:noFill/>
        </p:spPr>
        <p:txBody>
          <a:bodyPr wrap="square" lIns="0" rIns="0" tIns="0" bIns="0" anchor="t">
            <a:spAutoFit/>
          </a:bodyPr>
          <a:lstStyle/>
          <a:p>
            <a:pPr algn="l">
              <a:lnSpc>
                <a:spcPct val="115000"/>
              </a:lnSpc>
              <a:spcAft>
                <a:spcPts val="100"/>
              </a:spcAft>
            </a:pPr>
            <a:r>
              <a:rPr sz="1250" b="0" i="0">
                <a:solidFill>
                  <a:srgbClr val="E8ECF2"/>
                </a:solidFill>
                <a:latin typeface="Calibri"/>
              </a:rPr>
              <a:t>Latency, availability or throughput targets</a:t>
            </a:r>
          </a:p>
        </p:txBody>
      </p:sp>
      <p:sp>
        <p:nvSpPr>
          <p:cNvPr id="17" name="Rectangle 16"/>
          <p:cNvSpPr/>
          <p:nvPr/>
        </p:nvSpPr>
        <p:spPr>
          <a:xfrm>
            <a:off x="6428232" y="4302252"/>
            <a:ext cx="77724" cy="77724"/>
          </a:xfrm>
          <a:prstGeom prst="rect">
            <a:avLst/>
          </a:prstGeom>
          <a:solidFill>
            <a:srgbClr val="98A4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02552" y="4224528"/>
            <a:ext cx="4800600" cy="365760"/>
          </a:xfrm>
          <a:prstGeom prst="rect">
            <a:avLst/>
          </a:prstGeom>
          <a:noFill/>
        </p:spPr>
        <p:txBody>
          <a:bodyPr wrap="square" lIns="0" rIns="0" tIns="0" bIns="0" anchor="t">
            <a:spAutoFit/>
          </a:bodyPr>
          <a:lstStyle/>
          <a:p>
            <a:pPr algn="l">
              <a:lnSpc>
                <a:spcPct val="115000"/>
              </a:lnSpc>
              <a:spcAft>
                <a:spcPts val="100"/>
              </a:spcAft>
            </a:pPr>
            <a:r>
              <a:rPr sz="1250" b="0" i="0">
                <a:solidFill>
                  <a:srgbClr val="E8ECF2"/>
                </a:solidFill>
                <a:latin typeface="Calibri"/>
              </a:rPr>
              <a:t>A decision on any capability outside the committed feature set</a:t>
            </a:r>
          </a:p>
        </p:txBody>
      </p:sp>
      <p:sp>
        <p:nvSpPr>
          <p:cNvPr id="19" name="Rectangle 18"/>
          <p:cNvSpPr/>
          <p:nvPr/>
        </p:nvSpPr>
        <p:spPr>
          <a:xfrm>
            <a:off x="6428232" y="4869180"/>
            <a:ext cx="77724" cy="77724"/>
          </a:xfrm>
          <a:prstGeom prst="rect">
            <a:avLst/>
          </a:prstGeom>
          <a:solidFill>
            <a:srgbClr val="98A4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02552" y="4791456"/>
            <a:ext cx="4800600" cy="365760"/>
          </a:xfrm>
          <a:prstGeom prst="rect">
            <a:avLst/>
          </a:prstGeom>
          <a:noFill/>
        </p:spPr>
        <p:txBody>
          <a:bodyPr wrap="square" lIns="0" rIns="0" tIns="0" bIns="0" anchor="t">
            <a:spAutoFit/>
          </a:bodyPr>
          <a:lstStyle/>
          <a:p>
            <a:pPr algn="l">
              <a:lnSpc>
                <a:spcPct val="115000"/>
              </a:lnSpc>
              <a:spcAft>
                <a:spcPts val="100"/>
              </a:spcAft>
            </a:pPr>
            <a:r>
              <a:rPr sz="1250" b="0" i="0">
                <a:solidFill>
                  <a:srgbClr val="E8ECF2"/>
                </a:solidFill>
                <a:latin typeface="Calibri"/>
              </a:rPr>
              <a:t>Approval to start building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2788920"/>
            <a:ext cx="10820095" cy="1463040"/>
          </a:xfrm>
          <a:prstGeom prst="rect">
            <a:avLst/>
          </a:prstGeom>
          <a:noFill/>
        </p:spPr>
        <p:txBody>
          <a:bodyPr wrap="square" lIns="0" rIns="0" tIns="0" bIns="0" anchor="t">
            <a:spAutoFit/>
          </a:bodyPr>
          <a:lstStyle/>
          <a:p>
            <a:pPr algn="l">
              <a:lnSpc>
                <a:spcPct val="115000"/>
              </a:lnSpc>
              <a:spcAft>
                <a:spcPts val="1000"/>
              </a:spcAft>
            </a:pPr>
            <a:r>
              <a:rPr sz="4400" b="1" i="0">
                <a:solidFill>
                  <a:srgbClr val="E8ECF2"/>
                </a:solidFill>
                <a:latin typeface="Calibri"/>
              </a:rPr>
              <a:t>Appendix</a:t>
            </a:r>
          </a:p>
          <a:p>
            <a:pPr algn="l">
              <a:lnSpc>
                <a:spcPct val="115000"/>
              </a:lnSpc>
              <a:spcAft>
                <a:spcPts val="0"/>
              </a:spcAft>
            </a:pPr>
            <a:r>
              <a:rPr sz="1500" b="0" i="0">
                <a:solidFill>
                  <a:srgbClr val="98A4B3"/>
                </a:solidFill>
                <a:latin typeface="Calibri"/>
              </a:rPr>
              <a:t>Reference material. Use only if raised.</a:t>
            </a:r>
          </a:p>
        </p:txBody>
      </p:sp>
      <p:sp>
        <p:nvSpPr>
          <p:cNvPr id="3" name="Rectangle 2"/>
          <p:cNvSpPr/>
          <p:nvPr/>
        </p:nvSpPr>
        <p:spPr>
          <a:xfrm>
            <a:off x="685800" y="260604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Appendix — Core domain model</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Six entities. Every contract field above resolves to one of them.</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AI Guardrails · design intent and delivery plan — nothing built or piloted today</a:t>
            </a:r>
          </a:p>
        </p:txBody>
      </p:sp>
      <p:sp>
        <p:nvSpPr>
          <p:cNvPr id="6" name="Rounded Rectangle 5"/>
          <p:cNvSpPr/>
          <p:nvPr/>
        </p:nvSpPr>
        <p:spPr>
          <a:xfrm>
            <a:off x="685800" y="1874519"/>
            <a:ext cx="5318607" cy="114300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 y="2039112"/>
            <a:ext cx="4806543" cy="914400"/>
          </a:xfrm>
          <a:prstGeom prst="rect">
            <a:avLst/>
          </a:prstGeom>
          <a:noFill/>
        </p:spPr>
        <p:txBody>
          <a:bodyPr wrap="square" lIns="0" rIns="0" tIns="0" bIns="0" anchor="t">
            <a:spAutoFit/>
          </a:bodyPr>
          <a:lstStyle/>
          <a:p>
            <a:pPr algn="l">
              <a:lnSpc>
                <a:spcPct val="115000"/>
              </a:lnSpc>
              <a:spcAft>
                <a:spcPts val="500"/>
              </a:spcAft>
            </a:pPr>
            <a:r>
              <a:rPr sz="1400" b="1" i="0">
                <a:solidFill>
                  <a:srgbClr val="5AA0E0"/>
                </a:solidFill>
                <a:latin typeface="Calibri"/>
              </a:rPr>
              <a:t>Tenant</a:t>
            </a:r>
          </a:p>
          <a:p>
            <a:pPr algn="l">
              <a:lnSpc>
                <a:spcPct val="120000"/>
              </a:lnSpc>
              <a:spcAft>
                <a:spcPts val="0"/>
              </a:spcAft>
            </a:pPr>
            <a:r>
              <a:rPr sz="1150" b="0" i="0">
                <a:solidFill>
                  <a:srgbClr val="98A4B3"/>
                </a:solidFill>
                <a:latin typeface="Calibri"/>
              </a:rPr>
              <a:t>An organization, business unit, or consuming team. Carries ownership, AWS account, data classification, allowed Regions, retention configuration, and deployment mode.</a:t>
            </a:r>
          </a:p>
        </p:txBody>
      </p:sp>
      <p:sp>
        <p:nvSpPr>
          <p:cNvPr id="8" name="Rounded Rectangle 7"/>
          <p:cNvSpPr/>
          <p:nvPr/>
        </p:nvSpPr>
        <p:spPr>
          <a:xfrm>
            <a:off x="6187287" y="1874519"/>
            <a:ext cx="5318607" cy="114300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3319" y="2039112"/>
            <a:ext cx="4806543" cy="914400"/>
          </a:xfrm>
          <a:prstGeom prst="rect">
            <a:avLst/>
          </a:prstGeom>
          <a:noFill/>
        </p:spPr>
        <p:txBody>
          <a:bodyPr wrap="square" lIns="0" rIns="0" tIns="0" bIns="0" anchor="t">
            <a:spAutoFit/>
          </a:bodyPr>
          <a:lstStyle/>
          <a:p>
            <a:pPr algn="l">
              <a:lnSpc>
                <a:spcPct val="115000"/>
              </a:lnSpc>
              <a:spcAft>
                <a:spcPts val="500"/>
              </a:spcAft>
            </a:pPr>
            <a:r>
              <a:rPr sz="1400" b="1" i="0">
                <a:solidFill>
                  <a:srgbClr val="5AA0E0"/>
                </a:solidFill>
                <a:latin typeface="Calibri"/>
              </a:rPr>
              <a:t>Workload</a:t>
            </a:r>
          </a:p>
          <a:p>
            <a:pPr algn="l">
              <a:lnSpc>
                <a:spcPct val="120000"/>
              </a:lnSpc>
              <a:spcAft>
                <a:spcPts val="0"/>
              </a:spcAft>
            </a:pPr>
            <a:r>
              <a:rPr sz="1150" b="0" i="0">
                <a:solidFill>
                  <a:srgbClr val="98A4B3"/>
                </a:solidFill>
                <a:latin typeface="Calibri"/>
              </a:rPr>
              <a:t>An application, assistant, agent, gateway, or inference service using guardrails. Carries owner, environment, risk classification, gateway type, assigned policy, and enforcement mode.</a:t>
            </a:r>
          </a:p>
        </p:txBody>
      </p:sp>
      <p:sp>
        <p:nvSpPr>
          <p:cNvPr id="10" name="Rounded Rectangle 9"/>
          <p:cNvSpPr/>
          <p:nvPr/>
        </p:nvSpPr>
        <p:spPr>
          <a:xfrm>
            <a:off x="685800" y="3172968"/>
            <a:ext cx="5318607" cy="114300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1832" y="3337560"/>
            <a:ext cx="4806543" cy="914400"/>
          </a:xfrm>
          <a:prstGeom prst="rect">
            <a:avLst/>
          </a:prstGeom>
          <a:noFill/>
        </p:spPr>
        <p:txBody>
          <a:bodyPr wrap="square" lIns="0" rIns="0" tIns="0" bIns="0" anchor="t">
            <a:spAutoFit/>
          </a:bodyPr>
          <a:lstStyle/>
          <a:p>
            <a:pPr algn="l">
              <a:lnSpc>
                <a:spcPct val="115000"/>
              </a:lnSpc>
              <a:spcAft>
                <a:spcPts val="500"/>
              </a:spcAft>
            </a:pPr>
            <a:r>
              <a:rPr sz="1400" b="1" i="0">
                <a:solidFill>
                  <a:srgbClr val="5AA0E0"/>
                </a:solidFill>
                <a:latin typeface="Calibri"/>
              </a:rPr>
              <a:t>Policy</a:t>
            </a:r>
          </a:p>
          <a:p>
            <a:pPr algn="l">
              <a:lnSpc>
                <a:spcPct val="120000"/>
              </a:lnSpc>
              <a:spcAft>
                <a:spcPts val="0"/>
              </a:spcAft>
            </a:pPr>
            <a:r>
              <a:rPr sz="1150" b="0" i="0">
                <a:solidFill>
                  <a:srgbClr val="98A4B3"/>
                </a:solidFill>
                <a:latin typeface="Calibri"/>
              </a:rPr>
              <a:t>What must be evaluated and how violations are handled — versioned and immutable, independent of any gateway or provider.</a:t>
            </a:r>
          </a:p>
        </p:txBody>
      </p:sp>
      <p:sp>
        <p:nvSpPr>
          <p:cNvPr id="12" name="Rounded Rectangle 11"/>
          <p:cNvSpPr/>
          <p:nvPr/>
        </p:nvSpPr>
        <p:spPr>
          <a:xfrm>
            <a:off x="6187287" y="3172968"/>
            <a:ext cx="5318607" cy="114300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3319" y="3337560"/>
            <a:ext cx="4806543" cy="914400"/>
          </a:xfrm>
          <a:prstGeom prst="rect">
            <a:avLst/>
          </a:prstGeom>
          <a:noFill/>
        </p:spPr>
        <p:txBody>
          <a:bodyPr wrap="square" lIns="0" rIns="0" tIns="0" bIns="0" anchor="t">
            <a:spAutoFit/>
          </a:bodyPr>
          <a:lstStyle/>
          <a:p>
            <a:pPr algn="l">
              <a:lnSpc>
                <a:spcPct val="115000"/>
              </a:lnSpc>
              <a:spcAft>
                <a:spcPts val="500"/>
              </a:spcAft>
            </a:pPr>
            <a:r>
              <a:rPr sz="1400" b="1" i="0">
                <a:solidFill>
                  <a:srgbClr val="5AA0E0"/>
                </a:solidFill>
                <a:latin typeface="Calibri"/>
              </a:rPr>
              <a:t>Policy binding</a:t>
            </a:r>
          </a:p>
          <a:p>
            <a:pPr algn="l">
              <a:lnSpc>
                <a:spcPct val="120000"/>
              </a:lnSpc>
              <a:spcAft>
                <a:spcPts val="0"/>
              </a:spcAft>
            </a:pPr>
            <a:r>
              <a:rPr sz="1150" b="0" i="0">
                <a:solidFill>
                  <a:srgbClr val="98A4B3"/>
                </a:solidFill>
                <a:latin typeface="Calibri"/>
              </a:rPr>
              <a:t>The association between a workload and a specific policy version: observe or enforce mode, allowed overrides, effective date, rollback version.</a:t>
            </a:r>
          </a:p>
        </p:txBody>
      </p:sp>
      <p:sp>
        <p:nvSpPr>
          <p:cNvPr id="14" name="Rounded Rectangle 13"/>
          <p:cNvSpPr/>
          <p:nvPr/>
        </p:nvSpPr>
        <p:spPr>
          <a:xfrm>
            <a:off x="685800" y="4471416"/>
            <a:ext cx="5318607" cy="114300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41832" y="4636007"/>
            <a:ext cx="4806543" cy="914400"/>
          </a:xfrm>
          <a:prstGeom prst="rect">
            <a:avLst/>
          </a:prstGeom>
          <a:noFill/>
        </p:spPr>
        <p:txBody>
          <a:bodyPr wrap="square" lIns="0" rIns="0" tIns="0" bIns="0" anchor="t">
            <a:spAutoFit/>
          </a:bodyPr>
          <a:lstStyle/>
          <a:p>
            <a:pPr algn="l">
              <a:lnSpc>
                <a:spcPct val="115000"/>
              </a:lnSpc>
              <a:spcAft>
                <a:spcPts val="500"/>
              </a:spcAft>
            </a:pPr>
            <a:r>
              <a:rPr sz="1400" b="1" i="0">
                <a:solidFill>
                  <a:srgbClr val="5AA0E0"/>
                </a:solidFill>
                <a:latin typeface="Calibri"/>
              </a:rPr>
              <a:t>Evaluation</a:t>
            </a:r>
          </a:p>
          <a:p>
            <a:pPr algn="l">
              <a:lnSpc>
                <a:spcPct val="120000"/>
              </a:lnSpc>
              <a:spcAft>
                <a:spcPts val="0"/>
              </a:spcAft>
            </a:pPr>
            <a:r>
              <a:rPr sz="1150" b="0" i="0">
                <a:solidFill>
                  <a:srgbClr val="98A4B3"/>
                </a:solidFill>
                <a:latin typeface="Calibri"/>
              </a:rPr>
              <a:t>A request to inspect content at a particular stage of an interaction.</a:t>
            </a:r>
          </a:p>
        </p:txBody>
      </p:sp>
      <p:sp>
        <p:nvSpPr>
          <p:cNvPr id="16" name="Rounded Rectangle 15"/>
          <p:cNvSpPr/>
          <p:nvPr/>
        </p:nvSpPr>
        <p:spPr>
          <a:xfrm>
            <a:off x="6187287" y="4471416"/>
            <a:ext cx="5318607" cy="114300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3319" y="4636007"/>
            <a:ext cx="4806543" cy="914400"/>
          </a:xfrm>
          <a:prstGeom prst="rect">
            <a:avLst/>
          </a:prstGeom>
          <a:noFill/>
        </p:spPr>
        <p:txBody>
          <a:bodyPr wrap="square" lIns="0" rIns="0" tIns="0" bIns="0" anchor="t">
            <a:spAutoFit/>
          </a:bodyPr>
          <a:lstStyle/>
          <a:p>
            <a:pPr algn="l">
              <a:lnSpc>
                <a:spcPct val="115000"/>
              </a:lnSpc>
              <a:spcAft>
                <a:spcPts val="500"/>
              </a:spcAft>
            </a:pPr>
            <a:r>
              <a:rPr sz="1400" b="1" i="0">
                <a:solidFill>
                  <a:srgbClr val="5AA0E0"/>
                </a:solidFill>
                <a:latin typeface="Calibri"/>
              </a:rPr>
              <a:t>Decision</a:t>
            </a:r>
          </a:p>
          <a:p>
            <a:pPr algn="l">
              <a:lnSpc>
                <a:spcPct val="120000"/>
              </a:lnSpc>
              <a:spcAft>
                <a:spcPts val="0"/>
              </a:spcAft>
            </a:pPr>
            <a:r>
              <a:rPr sz="1150" b="0" i="0">
                <a:solidFill>
                  <a:srgbClr val="98A4B3"/>
                </a:solidFill>
                <a:latin typeface="Calibri"/>
              </a:rPr>
              <a:t>The normalized result: action (allow / block / redact / log_only), allowed status, reason codes, policy name and version, evaluator metadata, correlation and audit identifiers, latency.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Appendix — Integration manifest and client bootstrap</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The manifest seeds a client at install time. Neither carries policy.</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AI Guardrails · design intent and delivery plan — nothing built or piloted today</a:t>
            </a:r>
          </a:p>
        </p:txBody>
      </p:sp>
      <p:sp>
        <p:nvSpPr>
          <p:cNvPr id="6" name="Rounded Rectangle 5"/>
          <p:cNvSpPr/>
          <p:nvPr/>
        </p:nvSpPr>
        <p:spPr>
          <a:xfrm>
            <a:off x="685800" y="2011680"/>
            <a:ext cx="5440680" cy="315468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2011680"/>
            <a:ext cx="5440680" cy="420624"/>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150" b="1" i="0">
                <a:solidFill>
                  <a:srgbClr val="E8ECF2"/>
                </a:solidFill>
                <a:latin typeface="Calibri"/>
              </a:rPr>
              <a:t>INTEGRATION MANIFEST</a:t>
            </a:r>
          </a:p>
        </p:txBody>
      </p:sp>
      <p:sp>
        <p:nvSpPr>
          <p:cNvPr id="8" name="TextBox 7"/>
          <p:cNvSpPr txBox="1"/>
          <p:nvPr/>
        </p:nvSpPr>
        <p:spPr>
          <a:xfrm>
            <a:off x="923544" y="2578608"/>
            <a:ext cx="4965192" cy="2423160"/>
          </a:xfrm>
          <a:prstGeom prst="rect">
            <a:avLst/>
          </a:prstGeom>
          <a:noFill/>
        </p:spPr>
        <p:txBody>
          <a:bodyPr wrap="square" lIns="0" rIns="0" tIns="0" bIns="0" anchor="t">
            <a:spAutoFit/>
          </a:bodyPr>
          <a:lstStyle/>
          <a:p>
            <a:pPr algn="l">
              <a:lnSpc>
                <a:spcPct val="115000"/>
              </a:lnSpc>
              <a:spcAft>
                <a:spcPts val="100"/>
              </a:spcAft>
            </a:pPr>
            <a:r>
              <a:rPr sz="1150" b="0" i="0">
                <a:solidFill>
                  <a:srgbClr val="E8ECF2"/>
                </a:solidFill>
                <a:latin typeface="Calibri"/>
              </a:rPr>
              <a:t>A file, not a screen</a:t>
            </a:r>
          </a:p>
          <a:p>
            <a:pPr algn="l">
              <a:lnSpc>
                <a:spcPct val="110000"/>
              </a:lnSpc>
              <a:spcAft>
                <a:spcPts val="500"/>
              </a:spcAft>
            </a:pPr>
            <a:r>
              <a:rPr sz="1000" b="0" i="0">
                <a:solidFill>
                  <a:srgbClr val="98A4B3"/>
                </a:solidFill>
                <a:latin typeface="Calibri"/>
              </a:rPr>
              <a:t>Schema-validated YAML, committed and reviewed in a pull request. Drift is visible as a diff.</a:t>
            </a:r>
          </a:p>
          <a:p>
            <a:pPr algn="l">
              <a:lnSpc>
                <a:spcPct val="115000"/>
              </a:lnSpc>
              <a:spcAft>
                <a:spcPts val="100"/>
              </a:spcAft>
            </a:pPr>
            <a:r>
              <a:rPr sz="1150" b="0" i="0">
                <a:solidFill>
                  <a:srgbClr val="E8ECF2"/>
                </a:solidFill>
                <a:latin typeface="Calibri"/>
              </a:rPr>
              <a:t>Derived, never authoritative</a:t>
            </a:r>
          </a:p>
          <a:p>
            <a:pPr algn="l">
              <a:lnSpc>
                <a:spcPct val="110000"/>
              </a:lnSpc>
              <a:spcAft>
                <a:spcPts val="500"/>
              </a:spcAft>
            </a:pPr>
            <a:r>
              <a:rPr sz="1000" b="0" i="0">
                <a:solidFill>
                  <a:srgbClr val="98A4B3"/>
                </a:solidFill>
                <a:latin typeface="Calibri"/>
              </a:rPr>
              <a:t>Generated from an existing binding. A team cannot obtain weaker enforcement by editing it.</a:t>
            </a:r>
          </a:p>
          <a:p>
            <a:pPr algn="l">
              <a:lnSpc>
                <a:spcPct val="115000"/>
              </a:lnSpc>
              <a:spcAft>
                <a:spcPts val="100"/>
              </a:spcAft>
            </a:pPr>
            <a:r>
              <a:rPr sz="1150" b="0" i="0">
                <a:solidFill>
                  <a:srgbClr val="E8ECF2"/>
                </a:solidFill>
                <a:latin typeface="Calibri"/>
              </a:rPr>
              <a:t>Carries</a:t>
            </a:r>
          </a:p>
          <a:p>
            <a:pPr algn="l">
              <a:lnSpc>
                <a:spcPct val="110000"/>
              </a:lnSpc>
              <a:spcAft>
                <a:spcPts val="500"/>
              </a:spcAft>
            </a:pPr>
            <a:r>
              <a:rPr sz="1000" b="0" i="0">
                <a:solidFill>
                  <a:srgbClr val="98A4B3"/>
                </a:solidFill>
                <a:latin typeface="Calibri"/>
              </a:rPr>
              <a:t>Identity · policy name and version · enforcement mode · endpoint · contract major · connector range · timeouts · failure behavior · required capabilities.</a:t>
            </a:r>
          </a:p>
        </p:txBody>
      </p:sp>
      <p:sp>
        <p:nvSpPr>
          <p:cNvPr id="9" name="Rounded Rectangle 8"/>
          <p:cNvSpPr/>
          <p:nvPr/>
        </p:nvSpPr>
        <p:spPr>
          <a:xfrm>
            <a:off x="6519672" y="2011680"/>
            <a:ext cx="4983480" cy="315468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519672" y="2011680"/>
            <a:ext cx="4983480" cy="420624"/>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150" b="1" i="0">
                <a:solidFill>
                  <a:srgbClr val="E8ECF2"/>
                </a:solidFill>
                <a:latin typeface="Calibri"/>
              </a:rPr>
              <a:t>CLIENT BOOTSTRAP</a:t>
            </a:r>
          </a:p>
        </p:txBody>
      </p:sp>
      <p:sp>
        <p:nvSpPr>
          <p:cNvPr id="11" name="TextBox 10"/>
          <p:cNvSpPr txBox="1"/>
          <p:nvPr/>
        </p:nvSpPr>
        <p:spPr>
          <a:xfrm>
            <a:off x="6757416" y="2578608"/>
            <a:ext cx="4507992" cy="2423160"/>
          </a:xfrm>
          <a:prstGeom prst="rect">
            <a:avLst/>
          </a:prstGeom>
          <a:noFill/>
        </p:spPr>
        <p:txBody>
          <a:bodyPr wrap="square" lIns="0" rIns="0" tIns="0" bIns="0" anchor="t">
            <a:spAutoFit/>
          </a:bodyPr>
          <a:lstStyle/>
          <a:p>
            <a:pPr algn="l">
              <a:lnSpc>
                <a:spcPct val="115000"/>
              </a:lnSpc>
              <a:spcAft>
                <a:spcPts val="100"/>
              </a:spcAft>
            </a:pPr>
            <a:r>
              <a:rPr sz="1150" b="0" i="0">
                <a:solidFill>
                  <a:srgbClr val="E8ECF2"/>
                </a:solidFill>
                <a:latin typeface="Calibri"/>
              </a:rPr>
              <a:t>Served on its own path</a:t>
            </a:r>
          </a:p>
          <a:p>
            <a:pPr algn="l">
              <a:lnSpc>
                <a:spcPct val="110000"/>
              </a:lnSpc>
              <a:spcAft>
                <a:spcPts val="500"/>
              </a:spcAft>
            </a:pPr>
            <a:r>
              <a:rPr sz="1000" b="0" i="0">
                <a:solidFill>
                  <a:srgbClr val="98A4B3"/>
                </a:solidFill>
                <a:latin typeface="Calibri"/>
              </a:rPr>
              <a:t>Retrieved once, cached, refreshed in the background.</a:t>
            </a:r>
          </a:p>
          <a:p>
            <a:pPr algn="l">
              <a:lnSpc>
                <a:spcPct val="115000"/>
              </a:lnSpc>
              <a:spcAft>
                <a:spcPts val="100"/>
              </a:spcAft>
            </a:pPr>
            <a:r>
              <a:rPr sz="1150" b="0" i="0">
                <a:solidFill>
                  <a:srgbClr val="E8ECF2"/>
                </a:solidFill>
                <a:latin typeface="Calibri"/>
              </a:rPr>
              <a:t>No configuration means refuse to evaluate</a:t>
            </a:r>
          </a:p>
          <a:p>
            <a:pPr algn="l">
              <a:lnSpc>
                <a:spcPct val="110000"/>
              </a:lnSpc>
              <a:spcAft>
                <a:spcPts val="500"/>
              </a:spcAft>
            </a:pPr>
            <a:r>
              <a:rPr sz="1000" b="0" i="0">
                <a:solidFill>
                  <a:srgbClr val="98A4B3"/>
                </a:solidFill>
                <a:latin typeface="Calibri"/>
              </a:rPr>
              <a:t>It does not fall back to a default and it does not allow.</a:t>
            </a:r>
          </a:p>
          <a:p>
            <a:pPr algn="l">
              <a:lnSpc>
                <a:spcPct val="115000"/>
              </a:lnSpc>
              <a:spcAft>
                <a:spcPts val="100"/>
              </a:spcAft>
            </a:pPr>
            <a:r>
              <a:rPr sz="1150" b="0" i="0">
                <a:solidFill>
                  <a:srgbClr val="E8ECF2"/>
                </a:solidFill>
                <a:latin typeface="Calibri"/>
              </a:rPr>
              <a:t>Losing contact never un-configures a client</a:t>
            </a:r>
          </a:p>
          <a:p>
            <a:pPr algn="l">
              <a:lnSpc>
                <a:spcPct val="110000"/>
              </a:lnSpc>
              <a:spcAft>
                <a:spcPts val="500"/>
              </a:spcAft>
            </a:pPr>
            <a:r>
              <a:rPr sz="1000" b="0" i="0">
                <a:solidFill>
                  <a:srgbClr val="98A4B3"/>
                </a:solidFill>
                <a:latin typeface="Calibri"/>
              </a:rPr>
              <a:t>It keeps applying what it last retrieved.</a:t>
            </a:r>
          </a:p>
          <a:p>
            <a:pPr algn="l">
              <a:lnSpc>
                <a:spcPct val="115000"/>
              </a:lnSpc>
              <a:spcAft>
                <a:spcPts val="100"/>
              </a:spcAft>
            </a:pPr>
            <a:r>
              <a:rPr sz="1150" b="0" i="0">
                <a:solidFill>
                  <a:srgbClr val="E8ECF2"/>
                </a:solidFill>
                <a:latin typeface="Calibri"/>
              </a:rPr>
              <a:t>Timeouts and failure behavior only</a:t>
            </a:r>
          </a:p>
          <a:p>
            <a:pPr algn="l">
              <a:lnSpc>
                <a:spcPct val="110000"/>
              </a:lnSpc>
              <a:spcAft>
                <a:spcPts val="500"/>
              </a:spcAft>
            </a:pPr>
            <a:r>
              <a:rPr sz="1000" b="0" i="0">
                <a:solidFill>
                  <a:srgbClr val="98A4B3"/>
                </a:solidFill>
                <a:latin typeface="Calibri"/>
              </a:rPr>
              <a:t>No detection rules, thresholds or evaluator selection.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Appendix — Audit coverage</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Four classes of event produce a record. Origin and outcome are explicit dimensions on it.</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AI Guardrails · design intent and delivery plan — nothing built or piloted today</a:t>
            </a:r>
          </a:p>
        </p:txBody>
      </p:sp>
      <p:graphicFrame>
        <p:nvGraphicFramePr>
          <p:cNvPr id="6" name="Table 5"/>
          <p:cNvGraphicFramePr>
            <a:graphicFrameLocks noGrp="1"/>
          </p:cNvGraphicFramePr>
          <p:nvPr/>
        </p:nvGraphicFramePr>
        <p:xfrm>
          <a:off x="685800" y="2148840"/>
          <a:ext cx="10820094" cy="2377440"/>
        </p:xfrm>
        <a:graphic>
          <a:graphicData uri="http://schemas.openxmlformats.org/drawingml/2006/table">
            <a:tbl>
              <a:tblPr firstRow="1">
                <a:tableStyleId>{5C22544A-7EE6-4342-B048-85BDC9FD1C3A}</a:tableStyleId>
              </a:tblPr>
              <a:tblGrid>
                <a:gridCol w="3137827"/>
                <a:gridCol w="1406612"/>
                <a:gridCol w="6275655"/>
              </a:tblGrid>
              <a:tr h="365760">
                <a:tc>
                  <a:txBody>
                    <a:bodyPr wrap="square"/>
                    <a:lstStyle/>
                    <a:p>
                      <a:pPr algn="l">
                        <a:lnSpc>
                          <a:spcPct val="105000"/>
                        </a:lnSpc>
                        <a:spcAft>
                          <a:spcPts val="0"/>
                        </a:spcAft>
                      </a:pPr>
                      <a:r>
                        <a:rPr sz="1200" b="1" i="0">
                          <a:solidFill>
                            <a:srgbClr val="5AA0E0"/>
                          </a:solidFill>
                          <a:latin typeface="Calibri"/>
                        </a:rPr>
                        <a:t>Event</a:t>
                      </a:r>
                    </a:p>
                  </a:txBody>
                  <a:tcPr marL="91440" marR="91440" marT="45720" marB="45720" anchor="ctr">
                    <a:solidFill>
                      <a:srgbClr val="1D242C"/>
                    </a:solidFill>
                  </a:tcPr>
                </a:tc>
                <a:tc>
                  <a:txBody>
                    <a:bodyPr wrap="square"/>
                    <a:lstStyle/>
                    <a:p>
                      <a:pPr algn="l">
                        <a:lnSpc>
                          <a:spcPct val="105000"/>
                        </a:lnSpc>
                        <a:spcAft>
                          <a:spcPts val="0"/>
                        </a:spcAft>
                      </a:pPr>
                      <a:r>
                        <a:rPr sz="1200" b="1" i="0">
                          <a:solidFill>
                            <a:srgbClr val="5AA0E0"/>
                          </a:solidFill>
                          <a:latin typeface="Calibri"/>
                        </a:rPr>
                        <a:t>Produced by</a:t>
                      </a:r>
                    </a:p>
                  </a:txBody>
                  <a:tcPr marL="91440" marR="91440" marT="45720" marB="45720" anchor="ctr">
                    <a:solidFill>
                      <a:srgbClr val="1D242C"/>
                    </a:solidFill>
                  </a:tcPr>
                </a:tc>
                <a:tc>
                  <a:txBody>
                    <a:bodyPr wrap="square"/>
                    <a:lstStyle/>
                    <a:p>
                      <a:pPr algn="l">
                        <a:lnSpc>
                          <a:spcPct val="105000"/>
                        </a:lnSpc>
                        <a:spcAft>
                          <a:spcPts val="0"/>
                        </a:spcAft>
                      </a:pPr>
                      <a:r>
                        <a:rPr sz="1200" b="1" i="0">
                          <a:solidFill>
                            <a:srgbClr val="5AA0E0"/>
                          </a:solidFill>
                          <a:latin typeface="Calibri"/>
                        </a:rPr>
                        <a:t>Record</a:t>
                      </a:r>
                    </a:p>
                  </a:txBody>
                  <a:tcPr marL="91440" marR="91440" marT="45720" marB="45720" anchor="ctr">
                    <a:solidFill>
                      <a:srgbClr val="1D242C"/>
                    </a:solidFill>
                  </a:tcPr>
                </a:tc>
              </a:tr>
              <a:tr h="502920">
                <a:tc>
                  <a:txBody>
                    <a:bodyPr wrap="square"/>
                    <a:lstStyle/>
                    <a:p>
                      <a:pPr algn="l">
                        <a:lnSpc>
                          <a:spcPct val="105000"/>
                        </a:lnSpc>
                        <a:spcAft>
                          <a:spcPts val="0"/>
                        </a:spcAft>
                      </a:pPr>
                      <a:r>
                        <a:rPr sz="1200" b="1" i="0">
                          <a:solidFill>
                            <a:srgbClr val="E8ECF2"/>
                          </a:solidFill>
                          <a:latin typeface="Calibri"/>
                        </a:rPr>
                        <a:t>Completed evaluation, any action</a:t>
                      </a:r>
                    </a:p>
                  </a:txBody>
                  <a:tcPr marL="91440" marR="91440" marT="45720" marB="45720" anchor="ctr">
                    <a:solidFill>
                      <a:srgbClr val="161C23"/>
                    </a:solidFill>
                  </a:tcPr>
                </a:tc>
                <a:tc>
                  <a:txBody>
                    <a:bodyPr wrap="square"/>
                    <a:lstStyle/>
                    <a:p>
                      <a:pPr algn="l">
                        <a:lnSpc>
                          <a:spcPct val="105000"/>
                        </a:lnSpc>
                        <a:spcAft>
                          <a:spcPts val="0"/>
                        </a:spcAft>
                      </a:pPr>
                      <a:r>
                        <a:rPr sz="1200" b="0" i="0">
                          <a:solidFill>
                            <a:srgbClr val="E8ECF2"/>
                          </a:solidFill>
                          <a:latin typeface="Calibri"/>
                        </a:rPr>
                        <a:t>Runtime</a:t>
                      </a:r>
                    </a:p>
                  </a:txBody>
                  <a:tcPr marL="91440" marR="91440" marT="45720" marB="45720" anchor="ctr">
                    <a:solidFill>
                      <a:srgbClr val="161C23"/>
                    </a:solidFill>
                  </a:tcPr>
                </a:tc>
                <a:tc>
                  <a:txBody>
                    <a:bodyPr wrap="square"/>
                    <a:lstStyle/>
                    <a:p>
                      <a:pPr algn="l">
                        <a:lnSpc>
                          <a:spcPct val="105000"/>
                        </a:lnSpc>
                        <a:spcAft>
                          <a:spcPts val="0"/>
                        </a:spcAft>
                      </a:pPr>
                      <a:r>
                        <a:rPr sz="1200" b="0" i="0">
                          <a:solidFill>
                            <a:srgbClr val="E8ECF2"/>
                          </a:solidFill>
                          <a:latin typeface="Calibri"/>
                        </a:rPr>
                        <a:t>Policy version, action, reason codes, category, evaluator versions, correlation, latency.</a:t>
                      </a:r>
                    </a:p>
                  </a:txBody>
                  <a:tcPr marL="91440" marR="91440" marT="45720" marB="45720" anchor="ctr">
                    <a:solidFill>
                      <a:srgbClr val="161C23"/>
                    </a:solidFill>
                  </a:tcPr>
                </a:tc>
              </a:tr>
              <a:tr h="502920">
                <a:tc>
                  <a:txBody>
                    <a:bodyPr wrap="square"/>
                    <a:lstStyle/>
                    <a:p>
                      <a:pPr algn="l">
                        <a:lnSpc>
                          <a:spcPct val="105000"/>
                        </a:lnSpc>
                        <a:spcAft>
                          <a:spcPts val="0"/>
                        </a:spcAft>
                      </a:pPr>
                      <a:r>
                        <a:rPr sz="1200" b="1" i="0">
                          <a:solidFill>
                            <a:srgbClr val="E8ECF2"/>
                          </a:solidFill>
                          <a:latin typeface="Calibri"/>
                        </a:rPr>
                        <a:t>Failure-path substitute decision</a:t>
                      </a:r>
                    </a:p>
                  </a:txBody>
                  <a:tcPr marL="91440" marR="91440" marT="45720" marB="45720" anchor="ctr">
                    <a:solidFill>
                      <a:srgbClr val="12161B"/>
                    </a:solidFill>
                  </a:tcPr>
                </a:tc>
                <a:tc>
                  <a:txBody>
                    <a:bodyPr wrap="square"/>
                    <a:lstStyle/>
                    <a:p>
                      <a:pPr algn="l">
                        <a:lnSpc>
                          <a:spcPct val="105000"/>
                        </a:lnSpc>
                        <a:spcAft>
                          <a:spcPts val="0"/>
                        </a:spcAft>
                      </a:pPr>
                      <a:r>
                        <a:rPr sz="1200" b="0" i="0">
                          <a:solidFill>
                            <a:srgbClr val="E8ECF2"/>
                          </a:solidFill>
                          <a:latin typeface="Calibri"/>
                        </a:rPr>
                        <a:t>Runtime</a:t>
                      </a:r>
                    </a:p>
                  </a:txBody>
                  <a:tcPr marL="91440" marR="91440" marT="45720" marB="45720" anchor="ctr">
                    <a:solidFill>
                      <a:srgbClr val="12161B"/>
                    </a:solidFill>
                  </a:tcPr>
                </a:tc>
                <a:tc>
                  <a:txBody>
                    <a:bodyPr wrap="square"/>
                    <a:lstStyle/>
                    <a:p>
                      <a:pPr algn="l">
                        <a:lnSpc>
                          <a:spcPct val="105000"/>
                        </a:lnSpc>
                        <a:spcAft>
                          <a:spcPts val="0"/>
                        </a:spcAft>
                      </a:pPr>
                      <a:r>
                        <a:rPr sz="1200" b="0" i="0">
                          <a:solidFill>
                            <a:srgbClr val="E8ECF2"/>
                          </a:solidFill>
                          <a:latin typeface="Calibri"/>
                        </a:rPr>
                        <a:t>The same, plus which failure mode fired and which path was taken.</a:t>
                      </a:r>
                    </a:p>
                  </a:txBody>
                  <a:tcPr marL="91440" marR="91440" marT="45720" marB="45720" anchor="ctr">
                    <a:solidFill>
                      <a:srgbClr val="12161B"/>
                    </a:solidFill>
                  </a:tcPr>
                </a:tc>
              </a:tr>
              <a:tr h="502920">
                <a:tc>
                  <a:txBody>
                    <a:bodyPr wrap="square"/>
                    <a:lstStyle/>
                    <a:p>
                      <a:pPr algn="l">
                        <a:lnSpc>
                          <a:spcPct val="105000"/>
                        </a:lnSpc>
                        <a:spcAft>
                          <a:spcPts val="0"/>
                        </a:spcAft>
                      </a:pPr>
                      <a:r>
                        <a:rPr sz="1200" b="1" i="0">
                          <a:solidFill>
                            <a:srgbClr val="E8ECF2"/>
                          </a:solidFill>
                          <a:latin typeface="Calibri"/>
                        </a:rPr>
                        <a:t>Request rejected before evaluation</a:t>
                      </a:r>
                    </a:p>
                  </a:txBody>
                  <a:tcPr marL="91440" marR="91440" marT="45720" marB="45720" anchor="ctr">
                    <a:solidFill>
                      <a:srgbClr val="161C23"/>
                    </a:solidFill>
                  </a:tcPr>
                </a:tc>
                <a:tc>
                  <a:txBody>
                    <a:bodyPr wrap="square"/>
                    <a:lstStyle/>
                    <a:p>
                      <a:pPr algn="l">
                        <a:lnSpc>
                          <a:spcPct val="105000"/>
                        </a:lnSpc>
                        <a:spcAft>
                          <a:spcPts val="0"/>
                        </a:spcAft>
                      </a:pPr>
                      <a:r>
                        <a:rPr sz="1200" b="0" i="0">
                          <a:solidFill>
                            <a:srgbClr val="E8ECF2"/>
                          </a:solidFill>
                          <a:latin typeface="Calibri"/>
                        </a:rPr>
                        <a:t>Runtime</a:t>
                      </a:r>
                    </a:p>
                  </a:txBody>
                  <a:tcPr marL="91440" marR="91440" marT="45720" marB="45720" anchor="ctr">
                    <a:solidFill>
                      <a:srgbClr val="161C23"/>
                    </a:solidFill>
                  </a:tcPr>
                </a:tc>
                <a:tc>
                  <a:txBody>
                    <a:bodyPr wrap="square"/>
                    <a:lstStyle/>
                    <a:p>
                      <a:pPr algn="l">
                        <a:lnSpc>
                          <a:spcPct val="105000"/>
                        </a:lnSpc>
                        <a:spcAft>
                          <a:spcPts val="0"/>
                        </a:spcAft>
                      </a:pPr>
                      <a:r>
                        <a:rPr sz="1200" b="0" i="0">
                          <a:solidFill>
                            <a:srgbClr val="E8ECF2"/>
                          </a:solidFill>
                          <a:latin typeface="Calibri"/>
                        </a:rPr>
                        <a:t>Reason and correlation only. Never the content that failed validation.</a:t>
                      </a:r>
                    </a:p>
                  </a:txBody>
                  <a:tcPr marL="91440" marR="91440" marT="45720" marB="45720" anchor="ctr">
                    <a:solidFill>
                      <a:srgbClr val="161C23"/>
                    </a:solidFill>
                  </a:tcPr>
                </a:tc>
              </a:tr>
              <a:tr h="502920">
                <a:tc>
                  <a:txBody>
                    <a:bodyPr wrap="square"/>
                    <a:lstStyle/>
                    <a:p>
                      <a:pPr algn="l">
                        <a:lnSpc>
                          <a:spcPct val="105000"/>
                        </a:lnSpc>
                        <a:spcAft>
                          <a:spcPts val="0"/>
                        </a:spcAft>
                      </a:pPr>
                      <a:r>
                        <a:rPr sz="1200" b="1" i="0">
                          <a:solidFill>
                            <a:srgbClr val="E8ECF2"/>
                          </a:solidFill>
                          <a:latin typeface="Calibri"/>
                        </a:rPr>
                        <a:t>Client-synthesized decision</a:t>
                      </a:r>
                    </a:p>
                  </a:txBody>
                  <a:tcPr marL="91440" marR="91440" marT="45720" marB="45720" anchor="ctr">
                    <a:solidFill>
                      <a:srgbClr val="12161B"/>
                    </a:solidFill>
                  </a:tcPr>
                </a:tc>
                <a:tc>
                  <a:txBody>
                    <a:bodyPr wrap="square"/>
                    <a:lstStyle/>
                    <a:p>
                      <a:pPr algn="l">
                        <a:lnSpc>
                          <a:spcPct val="105000"/>
                        </a:lnSpc>
                        <a:spcAft>
                          <a:spcPts val="0"/>
                        </a:spcAft>
                      </a:pPr>
                      <a:r>
                        <a:rPr sz="1200" b="0" i="0">
                          <a:solidFill>
                            <a:srgbClr val="E0B341"/>
                          </a:solidFill>
                          <a:latin typeface="Calibri"/>
                        </a:rPr>
                        <a:t>Client</a:t>
                      </a:r>
                    </a:p>
                  </a:txBody>
                  <a:tcPr marL="91440" marR="91440" marT="45720" marB="45720" anchor="ctr">
                    <a:solidFill>
                      <a:srgbClr val="12161B"/>
                    </a:solidFill>
                  </a:tcPr>
                </a:tc>
                <a:tc>
                  <a:txBody>
                    <a:bodyPr wrap="square"/>
                    <a:lstStyle/>
                    <a:p>
                      <a:pPr algn="l">
                        <a:lnSpc>
                          <a:spcPct val="105000"/>
                        </a:lnSpc>
                        <a:spcAft>
                          <a:spcPts val="0"/>
                        </a:spcAft>
                      </a:pPr>
                      <a:r>
                        <a:rPr sz="1200" b="0" i="0">
                          <a:solidFill>
                            <a:srgbClr val="E8ECF2"/>
                          </a:solidFill>
                          <a:latin typeface="Calibri"/>
                        </a:rPr>
                        <a:t>Marked client-origin. Delivered when the runtime is reachable again.</a:t>
                      </a:r>
                    </a:p>
                  </a:txBody>
                  <a:tcPr marL="91440" marR="91440" marT="45720" marB="45720" anchor="ctr">
                    <a:solidFill>
                      <a:srgbClr val="12161B"/>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Appendix — Trust and enforcement postures</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Orthogonal to deployment mode. A posture describes how bypass-resistant an integration actually is.</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AI Guardrails · design intent and delivery plan — nothing built or piloted today</a:t>
            </a:r>
          </a:p>
        </p:txBody>
      </p:sp>
      <p:sp>
        <p:nvSpPr>
          <p:cNvPr id="6" name="Rounded Rectangle 5"/>
          <p:cNvSpPr/>
          <p:nvPr/>
        </p:nvSpPr>
        <p:spPr>
          <a:xfrm>
            <a:off x="685800" y="1920240"/>
            <a:ext cx="10820095" cy="114300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1920240"/>
            <a:ext cx="64008" cy="1143000"/>
          </a:xfrm>
          <a:prstGeom prst="rect">
            <a:avLst/>
          </a:prstGeom>
          <a:solidFill>
            <a:srgbClr val="E06C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8408" y="2066544"/>
            <a:ext cx="3246120" cy="914400"/>
          </a:xfrm>
          <a:prstGeom prst="rect">
            <a:avLst/>
          </a:prstGeom>
          <a:noFill/>
        </p:spPr>
        <p:txBody>
          <a:bodyPr wrap="square" lIns="0" rIns="0" tIns="0" bIns="0" anchor="t">
            <a:spAutoFit/>
          </a:bodyPr>
          <a:lstStyle/>
          <a:p>
            <a:pPr algn="l">
              <a:lnSpc>
                <a:spcPct val="115000"/>
              </a:lnSpc>
              <a:spcAft>
                <a:spcPts val="400"/>
              </a:spcAft>
            </a:pPr>
            <a:r>
              <a:rPr sz="1450" b="1" i="0">
                <a:solidFill>
                  <a:srgbClr val="E8ECF2"/>
                </a:solidFill>
                <a:latin typeface="Calibri"/>
              </a:rPr>
              <a:t>Cooperative integration</a:t>
            </a:r>
          </a:p>
          <a:p>
            <a:pPr algn="l">
              <a:lnSpc>
                <a:spcPct val="115000"/>
              </a:lnSpc>
              <a:spcAft>
                <a:spcPts val="0"/>
              </a:spcAft>
            </a:pPr>
            <a:r>
              <a:rPr sz="1050" b="0" i="0">
                <a:solidFill>
                  <a:srgbClr val="98A4B3"/>
                </a:solidFill>
                <a:latin typeface="Calibri"/>
              </a:rPr>
              <a:t>Application → team LiteLLM with connector → model</a:t>
            </a:r>
          </a:p>
        </p:txBody>
      </p:sp>
      <p:sp>
        <p:nvSpPr>
          <p:cNvPr id="9" name="Rounded Rectangle 8"/>
          <p:cNvSpPr/>
          <p:nvPr/>
        </p:nvSpPr>
        <p:spPr>
          <a:xfrm>
            <a:off x="978408" y="2761488"/>
            <a:ext cx="1691640" cy="237744"/>
          </a:xfrm>
          <a:prstGeom prst="roundRect">
            <a:avLst>
              <a:gd name="adj" fmla="val 8000"/>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850" b="1" i="0">
                <a:solidFill>
                  <a:srgbClr val="12161B"/>
                </a:solidFill>
                <a:latin typeface="Calibri"/>
              </a:rPr>
              <a:t>PHASES 1–2 START HERE</a:t>
            </a:r>
          </a:p>
        </p:txBody>
      </p:sp>
      <p:sp>
        <p:nvSpPr>
          <p:cNvPr id="10" name="TextBox 9"/>
          <p:cNvSpPr txBox="1"/>
          <p:nvPr/>
        </p:nvSpPr>
        <p:spPr>
          <a:xfrm>
            <a:off x="4480560" y="2066544"/>
            <a:ext cx="3246120" cy="914400"/>
          </a:xfrm>
          <a:prstGeom prst="rect">
            <a:avLst/>
          </a:prstGeom>
          <a:noFill/>
        </p:spPr>
        <p:txBody>
          <a:bodyPr wrap="square" lIns="0" rIns="0" tIns="0" bIns="0" anchor="t">
            <a:spAutoFit/>
          </a:bodyPr>
          <a:lstStyle/>
          <a:p>
            <a:pPr algn="l">
              <a:lnSpc>
                <a:spcPct val="115000"/>
              </a:lnSpc>
              <a:spcAft>
                <a:spcPts val="300"/>
              </a:spcAft>
            </a:pPr>
            <a:r>
              <a:rPr sz="950" b="1" i="0">
                <a:solidFill>
                  <a:srgbClr val="5AA0E0"/>
                </a:solidFill>
                <a:latin typeface="Calibri"/>
              </a:rPr>
              <a:t>Who can bypass it</a:t>
            </a:r>
          </a:p>
          <a:p>
            <a:pPr algn="l">
              <a:lnSpc>
                <a:spcPct val="120000"/>
              </a:lnSpc>
              <a:spcAft>
                <a:spcPts val="0"/>
              </a:spcAft>
            </a:pPr>
            <a:r>
              <a:rPr sz="1150" b="0" i="0">
                <a:solidFill>
                  <a:srgbClr val="E8ECF2"/>
                </a:solidFill>
                <a:latin typeface="Calibri"/>
              </a:rPr>
              <a:t>The consuming team can bypass it — by disabling, removing, or misconfiguring the connector.</a:t>
            </a:r>
          </a:p>
        </p:txBody>
      </p:sp>
      <p:sp>
        <p:nvSpPr>
          <p:cNvPr id="11" name="TextBox 10"/>
          <p:cNvSpPr txBox="1"/>
          <p:nvPr/>
        </p:nvSpPr>
        <p:spPr>
          <a:xfrm>
            <a:off x="8001000" y="2066544"/>
            <a:ext cx="3474720" cy="914400"/>
          </a:xfrm>
          <a:prstGeom prst="rect">
            <a:avLst/>
          </a:prstGeom>
          <a:noFill/>
        </p:spPr>
        <p:txBody>
          <a:bodyPr wrap="square" lIns="0" rIns="0" tIns="0" bIns="0" anchor="t">
            <a:spAutoFit/>
          </a:bodyPr>
          <a:lstStyle/>
          <a:p>
            <a:pPr algn="l">
              <a:lnSpc>
                <a:spcPct val="115000"/>
              </a:lnSpc>
              <a:spcAft>
                <a:spcPts val="300"/>
              </a:spcAft>
            </a:pPr>
            <a:r>
              <a:rPr sz="950" b="1" i="0">
                <a:solidFill>
                  <a:srgbClr val="5AA0E0"/>
                </a:solidFill>
                <a:latin typeface="Calibri"/>
              </a:rPr>
              <a:t>Appropriate when</a:t>
            </a:r>
          </a:p>
          <a:p>
            <a:pPr algn="l">
              <a:lnSpc>
                <a:spcPct val="120000"/>
              </a:lnSpc>
              <a:spcAft>
                <a:spcPts val="0"/>
              </a:spcAft>
            </a:pPr>
            <a:r>
              <a:rPr sz="1150" b="0" i="0">
                <a:solidFill>
                  <a:srgbClr val="98A4B3"/>
                </a:solidFill>
                <a:latin typeface="Calibri"/>
              </a:rPr>
              <a:t>Teams are trusted; guardrails are an engineering standard, not a compliance mandate; the objective is adoption and evaluation.</a:t>
            </a:r>
          </a:p>
        </p:txBody>
      </p:sp>
      <p:sp>
        <p:nvSpPr>
          <p:cNvPr id="12" name="Rounded Rectangle 11"/>
          <p:cNvSpPr/>
          <p:nvPr/>
        </p:nvSpPr>
        <p:spPr>
          <a:xfrm>
            <a:off x="685800" y="3218688"/>
            <a:ext cx="10820095" cy="114300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85800" y="3218688"/>
            <a:ext cx="64008" cy="1143000"/>
          </a:xfrm>
          <a:prstGeom prst="rect">
            <a:avLst/>
          </a:prstGeom>
          <a:solidFill>
            <a:srgbClr val="E0B3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3364992"/>
            <a:ext cx="3246120" cy="914400"/>
          </a:xfrm>
          <a:prstGeom prst="rect">
            <a:avLst/>
          </a:prstGeom>
          <a:noFill/>
        </p:spPr>
        <p:txBody>
          <a:bodyPr wrap="square" lIns="0" rIns="0" tIns="0" bIns="0" anchor="t">
            <a:spAutoFit/>
          </a:bodyPr>
          <a:lstStyle/>
          <a:p>
            <a:pPr algn="l">
              <a:lnSpc>
                <a:spcPct val="115000"/>
              </a:lnSpc>
              <a:spcAft>
                <a:spcPts val="400"/>
              </a:spcAft>
            </a:pPr>
            <a:r>
              <a:rPr sz="1450" b="1" i="0">
                <a:solidFill>
                  <a:srgbClr val="E8ECF2"/>
                </a:solidFill>
                <a:latin typeface="Calibri"/>
              </a:rPr>
              <a:t>Platform-managed enforcement</a:t>
            </a:r>
          </a:p>
          <a:p>
            <a:pPr algn="l">
              <a:lnSpc>
                <a:spcPct val="115000"/>
              </a:lnSpc>
              <a:spcAft>
                <a:spcPts val="0"/>
              </a:spcAft>
            </a:pPr>
            <a:r>
              <a:rPr sz="1050" b="0" i="0">
                <a:solidFill>
                  <a:srgbClr val="98A4B3"/>
                </a:solidFill>
                <a:latin typeface="Calibri"/>
              </a:rPr>
              <a:t>Application → platform-managed gateway → guardrails → model</a:t>
            </a:r>
          </a:p>
        </p:txBody>
      </p:sp>
      <p:sp>
        <p:nvSpPr>
          <p:cNvPr id="15" name="TextBox 14"/>
          <p:cNvSpPr txBox="1"/>
          <p:nvPr/>
        </p:nvSpPr>
        <p:spPr>
          <a:xfrm>
            <a:off x="4480560" y="3364992"/>
            <a:ext cx="3246120" cy="914400"/>
          </a:xfrm>
          <a:prstGeom prst="rect">
            <a:avLst/>
          </a:prstGeom>
          <a:noFill/>
        </p:spPr>
        <p:txBody>
          <a:bodyPr wrap="square" lIns="0" rIns="0" tIns="0" bIns="0" anchor="t">
            <a:spAutoFit/>
          </a:bodyPr>
          <a:lstStyle/>
          <a:p>
            <a:pPr algn="l">
              <a:lnSpc>
                <a:spcPct val="115000"/>
              </a:lnSpc>
              <a:spcAft>
                <a:spcPts val="300"/>
              </a:spcAft>
            </a:pPr>
            <a:r>
              <a:rPr sz="950" b="1" i="0">
                <a:solidFill>
                  <a:srgbClr val="5AA0E0"/>
                </a:solidFill>
                <a:latin typeface="Calibri"/>
              </a:rPr>
              <a:t>Who can bypass it</a:t>
            </a:r>
          </a:p>
          <a:p>
            <a:pPr algn="l">
              <a:lnSpc>
                <a:spcPct val="120000"/>
              </a:lnSpc>
              <a:spcAft>
                <a:spcPts val="0"/>
              </a:spcAft>
            </a:pPr>
            <a:r>
              <a:rPr sz="1150" b="0" i="0">
                <a:solidFill>
                  <a:srgbClr val="E8ECF2"/>
                </a:solidFill>
                <a:latin typeface="Calibri"/>
              </a:rPr>
              <a:t>Only someone with access to platform-owned gateway infrastructure or its GitOps pipeline — not the application team.</a:t>
            </a:r>
          </a:p>
        </p:txBody>
      </p:sp>
      <p:sp>
        <p:nvSpPr>
          <p:cNvPr id="16" name="TextBox 15"/>
          <p:cNvSpPr txBox="1"/>
          <p:nvPr/>
        </p:nvSpPr>
        <p:spPr>
          <a:xfrm>
            <a:off x="8001000" y="3364992"/>
            <a:ext cx="3474720" cy="914400"/>
          </a:xfrm>
          <a:prstGeom prst="rect">
            <a:avLst/>
          </a:prstGeom>
          <a:noFill/>
        </p:spPr>
        <p:txBody>
          <a:bodyPr wrap="square" lIns="0" rIns="0" tIns="0" bIns="0" anchor="t">
            <a:spAutoFit/>
          </a:bodyPr>
          <a:lstStyle/>
          <a:p>
            <a:pPr algn="l">
              <a:lnSpc>
                <a:spcPct val="115000"/>
              </a:lnSpc>
              <a:spcAft>
                <a:spcPts val="300"/>
              </a:spcAft>
            </a:pPr>
            <a:r>
              <a:rPr sz="950" b="1" i="0">
                <a:solidFill>
                  <a:srgbClr val="5AA0E0"/>
                </a:solidFill>
                <a:latin typeface="Calibri"/>
              </a:rPr>
              <a:t>Appropriate when</a:t>
            </a:r>
          </a:p>
          <a:p>
            <a:pPr algn="l">
              <a:lnSpc>
                <a:spcPct val="120000"/>
              </a:lnSpc>
              <a:spcAft>
                <a:spcPts val="0"/>
              </a:spcAft>
            </a:pPr>
            <a:r>
              <a:rPr sz="1150" b="0" i="0">
                <a:solidFill>
                  <a:srgbClr val="98A4B3"/>
                </a:solidFill>
                <a:latin typeface="Calibri"/>
              </a:rPr>
              <a:t>The platform owns gateway infrastructure; application teams must not be able to change mandatory guardrail settings.</a:t>
            </a:r>
          </a:p>
        </p:txBody>
      </p:sp>
      <p:sp>
        <p:nvSpPr>
          <p:cNvPr id="17" name="Rounded Rectangle 16"/>
          <p:cNvSpPr/>
          <p:nvPr/>
        </p:nvSpPr>
        <p:spPr>
          <a:xfrm>
            <a:off x="685800" y="4517136"/>
            <a:ext cx="10820095" cy="114300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85800" y="4517136"/>
            <a:ext cx="64008" cy="1143000"/>
          </a:xfrm>
          <a:prstGeom prst="rect">
            <a:avLst/>
          </a:prstGeom>
          <a:solidFill>
            <a:srgbClr val="4FB4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78408" y="4663440"/>
            <a:ext cx="3246120" cy="914400"/>
          </a:xfrm>
          <a:prstGeom prst="rect">
            <a:avLst/>
          </a:prstGeom>
          <a:noFill/>
        </p:spPr>
        <p:txBody>
          <a:bodyPr wrap="square" lIns="0" rIns="0" tIns="0" bIns="0" anchor="t">
            <a:spAutoFit/>
          </a:bodyPr>
          <a:lstStyle/>
          <a:p>
            <a:pPr algn="l">
              <a:lnSpc>
                <a:spcPct val="115000"/>
              </a:lnSpc>
              <a:spcAft>
                <a:spcPts val="400"/>
              </a:spcAft>
            </a:pPr>
            <a:r>
              <a:rPr sz="1450" b="1" i="0">
                <a:solidFill>
                  <a:srgbClr val="E8ECF2"/>
                </a:solidFill>
                <a:latin typeface="Calibri"/>
              </a:rPr>
              <a:t>Network/IAM-enforced gateway</a:t>
            </a:r>
          </a:p>
          <a:p>
            <a:pPr algn="l">
              <a:lnSpc>
                <a:spcPct val="115000"/>
              </a:lnSpc>
              <a:spcAft>
                <a:spcPts val="0"/>
              </a:spcAft>
            </a:pPr>
            <a:r>
              <a:rPr sz="1050" b="0" i="0">
                <a:solidFill>
                  <a:srgbClr val="98A4B3"/>
                </a:solidFill>
                <a:latin typeface="Calibri"/>
              </a:rPr>
              <a:t>All model traffic forced through a controlled gateway; applications hold no direct provider credentials or connectivity</a:t>
            </a:r>
          </a:p>
        </p:txBody>
      </p:sp>
      <p:sp>
        <p:nvSpPr>
          <p:cNvPr id="20" name="TextBox 19"/>
          <p:cNvSpPr txBox="1"/>
          <p:nvPr/>
        </p:nvSpPr>
        <p:spPr>
          <a:xfrm>
            <a:off x="4480560" y="4663440"/>
            <a:ext cx="3246120" cy="914400"/>
          </a:xfrm>
          <a:prstGeom prst="rect">
            <a:avLst/>
          </a:prstGeom>
          <a:noFill/>
        </p:spPr>
        <p:txBody>
          <a:bodyPr wrap="square" lIns="0" rIns="0" tIns="0" bIns="0" anchor="t">
            <a:spAutoFit/>
          </a:bodyPr>
          <a:lstStyle/>
          <a:p>
            <a:pPr algn="l">
              <a:lnSpc>
                <a:spcPct val="115000"/>
              </a:lnSpc>
              <a:spcAft>
                <a:spcPts val="300"/>
              </a:spcAft>
            </a:pPr>
            <a:r>
              <a:rPr sz="950" b="1" i="0">
                <a:solidFill>
                  <a:srgbClr val="5AA0E0"/>
                </a:solidFill>
                <a:latin typeface="Calibri"/>
              </a:rPr>
              <a:t>Who can bypass it</a:t>
            </a:r>
          </a:p>
          <a:p>
            <a:pPr algn="l">
              <a:lnSpc>
                <a:spcPct val="120000"/>
              </a:lnSpc>
              <a:spcAft>
                <a:spcPts val="0"/>
              </a:spcAft>
            </a:pPr>
            <a:r>
              <a:rPr sz="1150" b="0" i="0">
                <a:solidFill>
                  <a:srgbClr val="E8ECF2"/>
                </a:solidFill>
                <a:latin typeface="Calibri"/>
              </a:rPr>
              <a:t>No application-side actor, absent a platform-layer network or IAM misconfiguration.</a:t>
            </a:r>
          </a:p>
        </p:txBody>
      </p:sp>
      <p:sp>
        <p:nvSpPr>
          <p:cNvPr id="21" name="TextBox 20"/>
          <p:cNvSpPr txBox="1"/>
          <p:nvPr/>
        </p:nvSpPr>
        <p:spPr>
          <a:xfrm>
            <a:off x="8001000" y="4663440"/>
            <a:ext cx="3474720" cy="914400"/>
          </a:xfrm>
          <a:prstGeom prst="rect">
            <a:avLst/>
          </a:prstGeom>
          <a:noFill/>
        </p:spPr>
        <p:txBody>
          <a:bodyPr wrap="square" lIns="0" rIns="0" tIns="0" bIns="0" anchor="t">
            <a:spAutoFit/>
          </a:bodyPr>
          <a:lstStyle/>
          <a:p>
            <a:pPr algn="l">
              <a:lnSpc>
                <a:spcPct val="115000"/>
              </a:lnSpc>
              <a:spcAft>
                <a:spcPts val="300"/>
              </a:spcAft>
            </a:pPr>
            <a:r>
              <a:rPr sz="950" b="1" i="0">
                <a:solidFill>
                  <a:srgbClr val="5AA0E0"/>
                </a:solidFill>
                <a:latin typeface="Calibri"/>
              </a:rPr>
              <a:t>Appropriate when</a:t>
            </a:r>
          </a:p>
          <a:p>
            <a:pPr algn="l">
              <a:lnSpc>
                <a:spcPct val="120000"/>
              </a:lnSpc>
              <a:spcAft>
                <a:spcPts val="0"/>
              </a:spcAft>
            </a:pPr>
            <a:r>
              <a:rPr sz="1150" b="0" i="0">
                <a:solidFill>
                  <a:srgbClr val="98A4B3"/>
                </a:solidFill>
                <a:latin typeface="Calibri"/>
              </a:rPr>
              <a:t>Bypass prevention is a formal requirement; compliance evidence is needed; direct provider access must be prohibited.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Appendix — The onboarding sequence</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Register, bind, generate, install, observe, review, enforce.</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AI Guardrails · design intent and delivery plan — nothing built or piloted today</a:t>
            </a:r>
          </a:p>
        </p:txBody>
      </p:sp>
      <p:sp>
        <p:nvSpPr>
          <p:cNvPr id="6" name="Rounded Rectangle 5"/>
          <p:cNvSpPr/>
          <p:nvPr/>
        </p:nvSpPr>
        <p:spPr>
          <a:xfrm>
            <a:off x="685800" y="2788920"/>
            <a:ext cx="1417320" cy="1234440"/>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200" b="1" i="0">
                <a:solidFill>
                  <a:srgbClr val="E8ECF2"/>
                </a:solidFill>
                <a:latin typeface="Calibri"/>
              </a:rPr>
              <a:t>Register</a:t>
            </a:r>
          </a:p>
          <a:p>
            <a:pPr algn="ctr">
              <a:lnSpc>
                <a:spcPct val="115000"/>
              </a:lnSpc>
              <a:spcAft>
                <a:spcPts val="200"/>
              </a:spcAft>
            </a:pPr>
            <a:r>
              <a:rPr sz="1050" b="0" i="0">
                <a:solidFill>
                  <a:srgbClr val="98A4B3"/>
                </a:solidFill>
                <a:latin typeface="Calibri"/>
              </a:rPr>
              <a:t>workload</a:t>
            </a:r>
          </a:p>
        </p:txBody>
      </p:sp>
      <p:sp>
        <p:nvSpPr>
          <p:cNvPr id="7" name="TextBox 6"/>
          <p:cNvSpPr txBox="1"/>
          <p:nvPr/>
        </p:nvSpPr>
        <p:spPr>
          <a:xfrm>
            <a:off x="685800" y="2560320"/>
            <a:ext cx="1417320" cy="228600"/>
          </a:xfrm>
          <a:prstGeom prst="rect">
            <a:avLst/>
          </a:prstGeom>
          <a:noFill/>
        </p:spPr>
        <p:txBody>
          <a:bodyPr wrap="square" lIns="0" rIns="0" tIns="0" bIns="0" anchor="t">
            <a:spAutoFit/>
          </a:bodyPr>
          <a:lstStyle/>
          <a:p>
            <a:pPr algn="ctr">
              <a:lnSpc>
                <a:spcPct val="115000"/>
              </a:lnSpc>
              <a:spcAft>
                <a:spcPts val="0"/>
              </a:spcAft>
            </a:pPr>
            <a:r>
              <a:rPr sz="1050" b="1" i="0">
                <a:solidFill>
                  <a:srgbClr val="98A4B3"/>
                </a:solidFill>
                <a:latin typeface="Calibri"/>
              </a:rPr>
              <a:t>1</a:t>
            </a:r>
          </a:p>
        </p:txBody>
      </p:sp>
      <p:cxnSp>
        <p:nvCxnSpPr>
          <p:cNvPr id="8" name="Connector 7"/>
          <p:cNvCxnSpPr/>
          <p:nvPr/>
        </p:nvCxnSpPr>
        <p:spPr>
          <a:xfrm>
            <a:off x="2112263" y="3401568"/>
            <a:ext cx="109729" cy="0"/>
          </a:xfrm>
          <a:prstGeom prst="line">
            <a:avLst/>
          </a:prstGeom>
          <a:ln w="19050">
            <a:solidFill>
              <a:srgbClr val="2E3945"/>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231136" y="2788920"/>
            <a:ext cx="1417320" cy="1234440"/>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200" b="1" i="0">
                <a:solidFill>
                  <a:srgbClr val="E8ECF2"/>
                </a:solidFill>
                <a:latin typeface="Calibri"/>
              </a:rPr>
              <a:t>Select</a:t>
            </a:r>
          </a:p>
          <a:p>
            <a:pPr algn="ctr">
              <a:lnSpc>
                <a:spcPct val="115000"/>
              </a:lnSpc>
              <a:spcAft>
                <a:spcPts val="200"/>
              </a:spcAft>
            </a:pPr>
            <a:r>
              <a:rPr sz="1050" b="0" i="0">
                <a:solidFill>
                  <a:srgbClr val="98A4B3"/>
                </a:solidFill>
                <a:latin typeface="Calibri"/>
              </a:rPr>
              <a:t>policy</a:t>
            </a:r>
          </a:p>
        </p:txBody>
      </p:sp>
      <p:sp>
        <p:nvSpPr>
          <p:cNvPr id="10" name="TextBox 9"/>
          <p:cNvSpPr txBox="1"/>
          <p:nvPr/>
        </p:nvSpPr>
        <p:spPr>
          <a:xfrm>
            <a:off x="2231136" y="2560320"/>
            <a:ext cx="1417320" cy="228600"/>
          </a:xfrm>
          <a:prstGeom prst="rect">
            <a:avLst/>
          </a:prstGeom>
          <a:noFill/>
        </p:spPr>
        <p:txBody>
          <a:bodyPr wrap="square" lIns="0" rIns="0" tIns="0" bIns="0" anchor="t">
            <a:spAutoFit/>
          </a:bodyPr>
          <a:lstStyle/>
          <a:p>
            <a:pPr algn="ctr">
              <a:lnSpc>
                <a:spcPct val="115000"/>
              </a:lnSpc>
              <a:spcAft>
                <a:spcPts val="0"/>
              </a:spcAft>
            </a:pPr>
            <a:r>
              <a:rPr sz="1050" b="1" i="0">
                <a:solidFill>
                  <a:srgbClr val="98A4B3"/>
                </a:solidFill>
                <a:latin typeface="Calibri"/>
              </a:rPr>
              <a:t>2</a:t>
            </a:r>
          </a:p>
        </p:txBody>
      </p:sp>
      <p:cxnSp>
        <p:nvCxnSpPr>
          <p:cNvPr id="11" name="Connector 10"/>
          <p:cNvCxnSpPr/>
          <p:nvPr/>
        </p:nvCxnSpPr>
        <p:spPr>
          <a:xfrm>
            <a:off x="3657600" y="3401568"/>
            <a:ext cx="109728" cy="0"/>
          </a:xfrm>
          <a:prstGeom prst="line">
            <a:avLst/>
          </a:prstGeom>
          <a:ln w="19050">
            <a:solidFill>
              <a:srgbClr val="2E394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776472" y="2788920"/>
            <a:ext cx="1417320" cy="1234440"/>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200" b="1" i="0">
                <a:solidFill>
                  <a:srgbClr val="E8ECF2"/>
                </a:solidFill>
                <a:latin typeface="Calibri"/>
              </a:rPr>
              <a:t>Generate</a:t>
            </a:r>
          </a:p>
          <a:p>
            <a:pPr algn="ctr">
              <a:lnSpc>
                <a:spcPct val="115000"/>
              </a:lnSpc>
              <a:spcAft>
                <a:spcPts val="200"/>
              </a:spcAft>
            </a:pPr>
            <a:r>
              <a:rPr sz="1050" b="0" i="0">
                <a:solidFill>
                  <a:srgbClr val="98A4B3"/>
                </a:solidFill>
                <a:latin typeface="Calibri"/>
              </a:rPr>
              <a:t>integration</a:t>
            </a:r>
          </a:p>
          <a:p>
            <a:pPr algn="ctr">
              <a:lnSpc>
                <a:spcPct val="115000"/>
              </a:lnSpc>
              <a:spcAft>
                <a:spcPts val="200"/>
              </a:spcAft>
            </a:pPr>
            <a:r>
              <a:rPr sz="1050" b="0" i="0">
                <a:solidFill>
                  <a:srgbClr val="98A4B3"/>
                </a:solidFill>
                <a:latin typeface="Calibri"/>
              </a:rPr>
              <a:t>manifest</a:t>
            </a:r>
          </a:p>
        </p:txBody>
      </p:sp>
      <p:sp>
        <p:nvSpPr>
          <p:cNvPr id="13" name="TextBox 12"/>
          <p:cNvSpPr txBox="1"/>
          <p:nvPr/>
        </p:nvSpPr>
        <p:spPr>
          <a:xfrm>
            <a:off x="3776472" y="2560320"/>
            <a:ext cx="1417320" cy="228600"/>
          </a:xfrm>
          <a:prstGeom prst="rect">
            <a:avLst/>
          </a:prstGeom>
          <a:noFill/>
        </p:spPr>
        <p:txBody>
          <a:bodyPr wrap="square" lIns="0" rIns="0" tIns="0" bIns="0" anchor="t">
            <a:spAutoFit/>
          </a:bodyPr>
          <a:lstStyle/>
          <a:p>
            <a:pPr algn="ctr">
              <a:lnSpc>
                <a:spcPct val="115000"/>
              </a:lnSpc>
              <a:spcAft>
                <a:spcPts val="0"/>
              </a:spcAft>
            </a:pPr>
            <a:r>
              <a:rPr sz="1050" b="1" i="0">
                <a:solidFill>
                  <a:srgbClr val="98A4B3"/>
                </a:solidFill>
                <a:latin typeface="Calibri"/>
              </a:rPr>
              <a:t>3</a:t>
            </a:r>
          </a:p>
        </p:txBody>
      </p:sp>
      <p:cxnSp>
        <p:nvCxnSpPr>
          <p:cNvPr id="14" name="Connector 13"/>
          <p:cNvCxnSpPr/>
          <p:nvPr/>
        </p:nvCxnSpPr>
        <p:spPr>
          <a:xfrm>
            <a:off x="5202936" y="3401568"/>
            <a:ext cx="109728" cy="0"/>
          </a:xfrm>
          <a:prstGeom prst="line">
            <a:avLst/>
          </a:prstGeom>
          <a:ln w="19050">
            <a:solidFill>
              <a:srgbClr val="2E394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321808" y="2788920"/>
            <a:ext cx="1417320" cy="1234440"/>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200" b="1" i="0">
                <a:solidFill>
                  <a:srgbClr val="E8ECF2"/>
                </a:solidFill>
                <a:latin typeface="Calibri"/>
              </a:rPr>
              <a:t>Install</a:t>
            </a:r>
          </a:p>
          <a:p>
            <a:pPr algn="ctr">
              <a:lnSpc>
                <a:spcPct val="115000"/>
              </a:lnSpc>
              <a:spcAft>
                <a:spcPts val="200"/>
              </a:spcAft>
            </a:pPr>
            <a:r>
              <a:rPr sz="1050" b="0" i="0">
                <a:solidFill>
                  <a:srgbClr val="98A4B3"/>
                </a:solidFill>
                <a:latin typeface="Calibri"/>
              </a:rPr>
              <a:t>connector</a:t>
            </a:r>
          </a:p>
        </p:txBody>
      </p:sp>
      <p:sp>
        <p:nvSpPr>
          <p:cNvPr id="16" name="TextBox 15"/>
          <p:cNvSpPr txBox="1"/>
          <p:nvPr/>
        </p:nvSpPr>
        <p:spPr>
          <a:xfrm>
            <a:off x="5321808" y="2560320"/>
            <a:ext cx="1417320" cy="228600"/>
          </a:xfrm>
          <a:prstGeom prst="rect">
            <a:avLst/>
          </a:prstGeom>
          <a:noFill/>
        </p:spPr>
        <p:txBody>
          <a:bodyPr wrap="square" lIns="0" rIns="0" tIns="0" bIns="0" anchor="t">
            <a:spAutoFit/>
          </a:bodyPr>
          <a:lstStyle/>
          <a:p>
            <a:pPr algn="ctr">
              <a:lnSpc>
                <a:spcPct val="115000"/>
              </a:lnSpc>
              <a:spcAft>
                <a:spcPts val="0"/>
              </a:spcAft>
            </a:pPr>
            <a:r>
              <a:rPr sz="1050" b="1" i="0">
                <a:solidFill>
                  <a:srgbClr val="98A4B3"/>
                </a:solidFill>
                <a:latin typeface="Calibri"/>
              </a:rPr>
              <a:t>4</a:t>
            </a:r>
          </a:p>
        </p:txBody>
      </p:sp>
      <p:cxnSp>
        <p:nvCxnSpPr>
          <p:cNvPr id="17" name="Connector 16"/>
          <p:cNvCxnSpPr/>
          <p:nvPr/>
        </p:nvCxnSpPr>
        <p:spPr>
          <a:xfrm>
            <a:off x="6748272" y="3401568"/>
            <a:ext cx="109728" cy="0"/>
          </a:xfrm>
          <a:prstGeom prst="line">
            <a:avLst/>
          </a:prstGeom>
          <a:ln w="19050">
            <a:solidFill>
              <a:srgbClr val="2E394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867144" y="2788920"/>
            <a:ext cx="1417320" cy="1234440"/>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200" b="1" i="0">
                <a:solidFill>
                  <a:srgbClr val="E8ECF2"/>
                </a:solidFill>
                <a:latin typeface="Calibri"/>
              </a:rPr>
              <a:t>Run in</a:t>
            </a:r>
          </a:p>
          <a:p>
            <a:pPr algn="ctr">
              <a:lnSpc>
                <a:spcPct val="115000"/>
              </a:lnSpc>
              <a:spcAft>
                <a:spcPts val="200"/>
              </a:spcAft>
            </a:pPr>
            <a:r>
              <a:rPr sz="1050" b="0" i="0">
                <a:solidFill>
                  <a:srgbClr val="98A4B3"/>
                </a:solidFill>
                <a:latin typeface="Calibri"/>
              </a:rPr>
              <a:t>observe mode</a:t>
            </a:r>
          </a:p>
        </p:txBody>
      </p:sp>
      <p:sp>
        <p:nvSpPr>
          <p:cNvPr id="19" name="TextBox 18"/>
          <p:cNvSpPr txBox="1"/>
          <p:nvPr/>
        </p:nvSpPr>
        <p:spPr>
          <a:xfrm>
            <a:off x="6867144" y="2560320"/>
            <a:ext cx="1417320" cy="228600"/>
          </a:xfrm>
          <a:prstGeom prst="rect">
            <a:avLst/>
          </a:prstGeom>
          <a:noFill/>
        </p:spPr>
        <p:txBody>
          <a:bodyPr wrap="square" lIns="0" rIns="0" tIns="0" bIns="0" anchor="t">
            <a:spAutoFit/>
          </a:bodyPr>
          <a:lstStyle/>
          <a:p>
            <a:pPr algn="ctr">
              <a:lnSpc>
                <a:spcPct val="115000"/>
              </a:lnSpc>
              <a:spcAft>
                <a:spcPts val="0"/>
              </a:spcAft>
            </a:pPr>
            <a:r>
              <a:rPr sz="1050" b="1" i="0">
                <a:solidFill>
                  <a:srgbClr val="98A4B3"/>
                </a:solidFill>
                <a:latin typeface="Calibri"/>
              </a:rPr>
              <a:t>5</a:t>
            </a:r>
          </a:p>
        </p:txBody>
      </p:sp>
      <p:cxnSp>
        <p:nvCxnSpPr>
          <p:cNvPr id="20" name="Connector 19"/>
          <p:cNvCxnSpPr/>
          <p:nvPr/>
        </p:nvCxnSpPr>
        <p:spPr>
          <a:xfrm>
            <a:off x="8293608" y="3401568"/>
            <a:ext cx="109728" cy="0"/>
          </a:xfrm>
          <a:prstGeom prst="line">
            <a:avLst/>
          </a:prstGeom>
          <a:ln w="19050">
            <a:solidFill>
              <a:srgbClr val="2E394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412480" y="2788920"/>
            <a:ext cx="1417320" cy="1234440"/>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200" b="1" i="0">
                <a:solidFill>
                  <a:srgbClr val="E8ECF2"/>
                </a:solidFill>
                <a:latin typeface="Calibri"/>
              </a:rPr>
              <a:t>Review</a:t>
            </a:r>
          </a:p>
          <a:p>
            <a:pPr algn="ctr">
              <a:lnSpc>
                <a:spcPct val="115000"/>
              </a:lnSpc>
              <a:spcAft>
                <a:spcPts val="200"/>
              </a:spcAft>
            </a:pPr>
            <a:r>
              <a:rPr sz="1050" b="0" i="0">
                <a:solidFill>
                  <a:srgbClr val="98A4B3"/>
                </a:solidFill>
                <a:latin typeface="Calibri"/>
              </a:rPr>
              <a:t>evaluation</a:t>
            </a:r>
          </a:p>
          <a:p>
            <a:pPr algn="ctr">
              <a:lnSpc>
                <a:spcPct val="115000"/>
              </a:lnSpc>
              <a:spcAft>
                <a:spcPts val="200"/>
              </a:spcAft>
            </a:pPr>
            <a:r>
              <a:rPr sz="1050" b="0" i="0">
                <a:solidFill>
                  <a:srgbClr val="98A4B3"/>
                </a:solidFill>
                <a:latin typeface="Calibri"/>
              </a:rPr>
              <a:t>results</a:t>
            </a:r>
          </a:p>
        </p:txBody>
      </p:sp>
      <p:sp>
        <p:nvSpPr>
          <p:cNvPr id="22" name="TextBox 21"/>
          <p:cNvSpPr txBox="1"/>
          <p:nvPr/>
        </p:nvSpPr>
        <p:spPr>
          <a:xfrm>
            <a:off x="8412480" y="2560320"/>
            <a:ext cx="1417320" cy="228600"/>
          </a:xfrm>
          <a:prstGeom prst="rect">
            <a:avLst/>
          </a:prstGeom>
          <a:noFill/>
        </p:spPr>
        <p:txBody>
          <a:bodyPr wrap="square" lIns="0" rIns="0" tIns="0" bIns="0" anchor="t">
            <a:spAutoFit/>
          </a:bodyPr>
          <a:lstStyle/>
          <a:p>
            <a:pPr algn="ctr">
              <a:lnSpc>
                <a:spcPct val="115000"/>
              </a:lnSpc>
              <a:spcAft>
                <a:spcPts val="0"/>
              </a:spcAft>
            </a:pPr>
            <a:r>
              <a:rPr sz="1050" b="1" i="0">
                <a:solidFill>
                  <a:srgbClr val="98A4B3"/>
                </a:solidFill>
                <a:latin typeface="Calibri"/>
              </a:rPr>
              <a:t>6</a:t>
            </a:r>
          </a:p>
        </p:txBody>
      </p:sp>
      <p:cxnSp>
        <p:nvCxnSpPr>
          <p:cNvPr id="23" name="Connector 22"/>
          <p:cNvCxnSpPr/>
          <p:nvPr/>
        </p:nvCxnSpPr>
        <p:spPr>
          <a:xfrm>
            <a:off x="9838944" y="3401568"/>
            <a:ext cx="109728" cy="0"/>
          </a:xfrm>
          <a:prstGeom prst="line">
            <a:avLst/>
          </a:prstGeom>
          <a:ln w="19050">
            <a:solidFill>
              <a:srgbClr val="2E394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957816" y="2788920"/>
            <a:ext cx="1417320" cy="1234440"/>
          </a:xfrm>
          <a:prstGeom prst="roundRect">
            <a:avLst>
              <a:gd name="adj" fmla="val 8000"/>
            </a:avLst>
          </a:prstGeom>
          <a:solidFill>
            <a:srgbClr val="1D242C"/>
          </a:solidFill>
          <a:ln w="12700">
            <a:solidFill>
              <a:srgbClr val="5AA0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200" b="1" i="0">
                <a:solidFill>
                  <a:srgbClr val="E8ECF2"/>
                </a:solidFill>
                <a:latin typeface="Calibri"/>
              </a:rPr>
              <a:t>Enable</a:t>
            </a:r>
          </a:p>
          <a:p>
            <a:pPr algn="ctr">
              <a:lnSpc>
                <a:spcPct val="115000"/>
              </a:lnSpc>
              <a:spcAft>
                <a:spcPts val="200"/>
              </a:spcAft>
            </a:pPr>
            <a:r>
              <a:rPr sz="1050" b="0" i="0">
                <a:solidFill>
                  <a:srgbClr val="98A4B3"/>
                </a:solidFill>
                <a:latin typeface="Calibri"/>
              </a:rPr>
              <a:t>enforcement</a:t>
            </a:r>
          </a:p>
        </p:txBody>
      </p:sp>
      <p:sp>
        <p:nvSpPr>
          <p:cNvPr id="25" name="TextBox 24"/>
          <p:cNvSpPr txBox="1"/>
          <p:nvPr/>
        </p:nvSpPr>
        <p:spPr>
          <a:xfrm>
            <a:off x="9957816" y="2560320"/>
            <a:ext cx="1417320" cy="228600"/>
          </a:xfrm>
          <a:prstGeom prst="rect">
            <a:avLst/>
          </a:prstGeom>
          <a:noFill/>
        </p:spPr>
        <p:txBody>
          <a:bodyPr wrap="square" lIns="0" rIns="0" tIns="0" bIns="0" anchor="t">
            <a:spAutoFit/>
          </a:bodyPr>
          <a:lstStyle/>
          <a:p>
            <a:pPr algn="ctr">
              <a:lnSpc>
                <a:spcPct val="115000"/>
              </a:lnSpc>
              <a:spcAft>
                <a:spcPts val="0"/>
              </a:spcAft>
            </a:pPr>
            <a:r>
              <a:rPr sz="1050" b="1" i="0">
                <a:solidFill>
                  <a:srgbClr val="98A4B3"/>
                </a:solidFill>
                <a:latin typeface="Calibri"/>
              </a:rPr>
              <a:t>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Application>AI Guardrails deck generator</Application>
  <PresentationFormat>Widescreen</PresentationFormat>
  <Company/>
  <Manager/>
  <ScaleCrop>false</ScaleCrop>
  <LinksUpToDate>false</LinksUpToDate>
  <SharedDoc>false</SharedDoc>
  <HyperlinksChanged>false</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Guardrails — Architecture / governance review board</dc:title>
  <dc:subject>Sign off the contracts; rule on the open questions</dc:subject>
  <dc:creator>AI Guardrails — generated from solution-docs</dc:creator>
  <cp:keywords/>
  <dc:description>Generated from the solution-docs set. Rebuild rather than edit — hand edits are overwritten.</dc:description>
  <cp:lastModifiedBy>AI Guardrails — generated from solution-docs</cp:lastModifiedBy>
  <cp:revision>1</cp:revision>
  <dcterms:created xsi:type="dcterms:W3CDTF">1980-01-01T00:00:00Z</dcterms:created>
  <dcterms:modified xsi:type="dcterms:W3CDTF">1980-01-01T00:00:00Z</dcterms:modified>
  <cp:category>Internal</cp:category>
  <cp:contentStatus>Draft — design intent and delivery plan; nothing built or piloted</cp:contentStatus>
  <dc:language>en</dc:language>
</cp:coreProperties>
</file>