
<file path=[Content_Types].xml><?xml version="1.0" encoding="utf-8"?>
<Types xmlns="http://schemas.openxmlformats.org/package/2006/content-types">
  <Default Extension="bin" ContentType="application/vnd.openxmlformats-officedocument.presentationml.printerSetting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SOURCING — DECK-VARIANTS.md §4; the ownership-versus-exposure framing is AGR-008, and the cover claim is its direct restatement.</a:t>
            </a:r>
          </a:p>
          <a:p>
            <a:r>
              <a:t>CAVEAT NOT ON SLIDE — Nothing here is running. Every control described is designed and not yet implemented, so no statement in this deck is evidence of a control operating today.</a:t>
            </a:r>
          </a:p>
          <a:p>
            <a:r>
              <a:t>TALK TRACK — Open on the distinction the whole review turns on, then go straight to what you are asking this room to approve. Do not open with product framing — this audience did not come for it.</a:t>
            </a:r>
          </a:p>
          <a:p>
            <a:r>
              <a:t>IF ASKED — 'Is any of this in production?' — No. This is a design review ahead of a pilot; approval here is approval of an intended posture, not an assessment of an operating system.</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SOURCING — DECK-VARIANTS.md §4 (the decision this deck asks for); the three modes are AGR-002; exposure framing AGR-008/AGR-009; observe-first is AGR-011; certification is explicitly out of scope per NFR-COMPL-002 and SCOPE.md.</a:t>
            </a:r>
          </a:p>
          <a:p>
            <a:r>
              <a:t>CAVEAT NOT ON SLIDE — The two unmitigated risks are connector bypass under cooperative integration and hosted content exposure in the first two modes. Both have dedicated slides — do not pre-empt them here, but do not let the room think they are hidden either.</a:t>
            </a:r>
          </a:p>
          <a:p>
            <a:r>
              <a:t>TALK TRACK — State the ask in one breath, then say what is not being asked. The second half is what stops this becoming a general product debate.</a:t>
            </a:r>
          </a:p>
          <a:p>
            <a:r>
              <a:t>IF ASKED — 'Are you asking us to certify anything?' — No. There is no certification target and claiming one would violate our own claims boundary.</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SOURCING — Product statement quoted in substance from CLAIMS-REGISTER.md; standalone framing AGR-001; decision structure AGR-017 and INTEGRATION-ARCHITECTURE.md §3.3; content-scope limitation per DATA-ARCHITECTURE.md §3.3.</a:t>
            </a:r>
          </a:p>
          <a:p>
            <a:r>
              <a:t>CAVEAT NOT ON SLIDE — The two-stage limitation is a first-phase scope boundary, not a permanent property. Retrieval, tool-call and tool-result stages are reserved in the contract and deferred to a later phase — say so if asked, and do not imply they are covered today.</a:t>
            </a:r>
          </a:p>
          <a:p>
            <a:r>
              <a:t>TALK TRACK — Resist the temptation to sell here. One slide, then move to the exposure material, which is what this room came for.</a:t>
            </a:r>
          </a:p>
          <a:p>
            <a:r>
              <a:t>IF ASKED — 'Does it evaluate our RAG content?' — Not in the first phases. Retrieved content is a permitted category the architecture must allow, but it is not evaluated in the initial scope.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SOURCING — AGR-008 (ownership and exposure are separate concerns), AGR-009 (Mode A is not data-local), AGR-014 (no raw retention by default), AGR-016 (customer-controlled telemetry); per-mode statements in DEPLOYMENT-ARCHITECTURE.md §2.3, §3.3, §4.5.</a:t>
            </a:r>
          </a:p>
          <a:p>
            <a:r>
              <a:t>CAVEAT NOT ON SLIDE — The Mode A row is not negotiable under pressure. If a residency requirement is in the room, the correct answer is the customer-managed runtime — which is Phase 4 work and is not available to anyone today.</a:t>
            </a:r>
          </a:p>
          <a:p>
            <a:r>
              <a:t>TALK TRACK — Read the exposure column as written rather than paraphrasing it. This is the slide the whole review is organised around; everything after it either elaborates or bounds it.</a:t>
            </a:r>
          </a:p>
          <a:p>
            <a:r>
              <a:t>IF ASKED — 'Can Mode A carry regulated content?' — Not on our recommendation. It transmits content to a hosted service on every evaluated call and must never be described as keeping content local.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SOURCING — AGR-002 three modes; per-mode ownership detail DEPLOYMENT-ARCHITECTURE.md §2–§4; phase sequencing AGR-020 and PRODUCT-ROADMAP.md.</a:t>
            </a:r>
          </a:p>
          <a:p>
            <a:r>
              <a:t>CAVEAT NOT ON SLIDE — The highlighted column is the customer-managed runtime because it is the answer for residency-bound workloads — but highlighting it must not imply availability. It is Phase 4 and nothing before it is a substitute.</a:t>
            </a:r>
          </a:p>
          <a:p>
            <a:r>
              <a:t>TALK TRACK — Frame modes as a choice, then land the timing caveat immediately. A security approval granted for a mode that does not exist yet is a source of confusion later, not a win now.</a:t>
            </a:r>
          </a:p>
          <a:p>
            <a:r>
              <a:t>IF ASKED — 'Which mode will the pilot use?' — Remote Evaluation. It is the only one delivered in Phases 1–2, which is precisely why the exposure conversation matters now rather than at Phase 4.</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SOURCING — DEPLOYMENT-ARCHITECTURE.md §2.1 topology, §2.3 content-exposure statement; framing mandated by AGR-009; default handling per DATA-ARCHITECTURE.md §3.1.</a:t>
            </a:r>
          </a:p>
          <a:p>
            <a:r>
              <a:t>CAVEAT NOT ON SLIDE — Decision metadata, evaluation latency and audit records flow to the hosted control plane as part of normal operation. That is not optional telemetry in this mode — it is how the service works, and it should be stated before someone infers otherwise from the customer-managed telemetry slide.</a:t>
            </a:r>
          </a:p>
          <a:p>
            <a:r>
              <a:t>TALK TRACK — Trace the two evaluation hops explicitly. The common misreading is that the platform proxies inference; correct it here, because it changes the exposure assessment materially.</a:t>
            </a:r>
          </a:p>
          <a:p>
            <a:r>
              <a:t>IF ASKED — 'Are retrieved documents or tool arguments transmitted?' — Only if a workload is configured to submit them, and the initial scope limits evaluated content to model input and output.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SOURCING — DEPLOYMENT-ARCHITECTURE.md §3.1 topology, §3.2 ownership split, §3.3 content-exposure statement; retention default AGR-014.</a:t>
            </a:r>
          </a:p>
          <a:p>
            <a:r>
              <a:t>CAVEAT NOT ON SLIDE — This mode carries the largest provider-side scope of the three — full inference path plus credential custody. It sits behind two validation gates for that reason and is not available to approve for use today.</a:t>
            </a:r>
          </a:p>
          <a:p>
            <a:r>
              <a:t>TALK TRACK — Keep this short unless the room wants to pre-approve a Phase 3 posture. The useful outcome here is usually a condition recorded for later, not a decision.</a:t>
            </a:r>
          </a:p>
          <a:p>
            <a:r>
              <a:t>IF ASKED — 'Who holds the model credentials?' — The provider does, or holds delegated access. That is a genuine change in provider scope and is why the mode sits behind gates.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SOURCING — DEPLOYMENT-ARCHITECTURE.md §4.1 topology, §4.4 no synchronous control-plane dependency, §4.5 content exposure; AGR-015, AGR-016, CON-013; telemetry categories in DATA-ARCHITECTURE.md §3.4.</a:t>
            </a:r>
          </a:p>
          <a:p>
            <a:r>
              <a:t>CAVEAT NOT ON SLIDE — Policy artifacts reach this runtime protected by transport security, not as cryptographically signed artifacts. Policy signing is permitted future scope and is not built — a reviewer focused on supply-chain integrity will ask, and the honest answer is that it is an open item.</a:t>
            </a:r>
          </a:p>
          <a:p>
            <a:r>
              <a:t>TALK TRACK — This is the slide for a residency-bound workload. Make the asynchronous policy sync explicit, and be equally explicit that Phase 4 is when it arrives.</a:t>
            </a:r>
          </a:p>
          <a:p>
            <a:r>
              <a:t>IF ASKED — 'What can the customer choose to send us?' — Health status, product and policy version, aggregated counts, reason-code totals, latency, sanitized decision metadata — or nothing.</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SOURCING — DATA-ARCHITECTURE.md §3.1 default behaviour (eight obligations, from the original charter §13), §3.2 content categories, §3.3 the initial content-scope limitation; retention default AGR-014 and CON-014; measurable targets NFR-PRIV-001 through NFR-PRIV-003.</a:t>
            </a:r>
          </a:p>
          <a:p>
            <a:r>
              <a:t>CAVEAT NOT ON SLIDE — Data-architecture and security reviews are required to verify that no incidental raw-content persistence occurs in logs, caches or telemetry pipelines. That verification has not been performed — there is nothing running to verify.</a:t>
            </a:r>
          </a:p>
          <a:p>
            <a:r>
              <a:t>TALK TRACK — Work down the left column, then the right. The final caption is the one that answers the question this room usually asks third: what exactly do you look at.</a:t>
            </a:r>
          </a:p>
          <a:p>
            <a:r>
              <a:t>IF ASKED — 'Is “not persisted by default” a guarantee?' — It is a default and a design obligation, not an absolute. Any retention requires explicit tenant-level configuration, and the audit record states whether raw content was retained for that evaluation.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SOURCING — DATA-ARCHITECTURE.md §4 audit metadata fields and §2.3 the buffered queue-to-archive pipeline; completeness target NFR-AUDIT-001; delivery-failure behaviour NFR-AUDIT-002; category namespacing ADR-0003 and DEC-013; record classes ADR-0014; retention default AGR-014.</a:t>
            </a:r>
          </a:p>
          <a:p>
            <a:r>
              <a:t>CAVEAT NOT ON SLIDE — Records produced by a client rather than the runtime — during an outage — are marked client-origin and are explicitly not evidentiary. They say what a cooperative component reports having done, not what the platform observed. That distinction matters in exactly this room.</a:t>
            </a:r>
          </a:p>
          <a:p>
            <a:r>
              <a:t>TALK TRACK — This is the slide that answers 'what would we actually have in an investigation'. Land the last row hardest: retention is recorded per evaluation, which is what makes the default checkable.</a:t>
            </a:r>
          </a:p>
          <a:p>
            <a:r>
              <a:t>IF ASKED — 'Can we get these records into our own SIEM?' — Not decided. The archive exists; the export path and its format are not specified in the current material and I will not invent one.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SOURCING — AGR-009 (remote evaluation is not a private-data or data-local model), the ownership/exposure split AGR-008, the default-handling rule DATA-ARCHITECTURE.md §3.1, and the approved phrasing in CLAIMS-REGISTER.md §1.</a:t>
            </a:r>
          </a:p>
          <a:p>
            <a:r>
              <a:t>CAVEAT NOT ON SLIDE — There is no partial answer available here — no field-level redaction before transmission, no on-premise pre-filter in the current scope. If someone asks for one, it is a scope-change conversation, not a configuration option.</a:t>
            </a:r>
          </a:p>
          <a:p>
            <a:r>
              <a:t>TALK TRACK — Give this slide time. A room that hears this stated voluntarily tends to trust the rest of the deck; a room that extracts it under questioning does not.</a:t>
            </a:r>
          </a:p>
          <a:p>
            <a:r>
              <a:t>IF ASKED — 'Could we redact before it leaves our environment?' — Not in the current scope. Redaction is an action the platform applies after evaluating content it has received, not a client-side pre-filter.</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SOURCING — AGR-010 (guardrails are not authorization); the responsibility table and the architectural argument are SECURITY-ARCHITECTURE.md §11; catalog classification GR-010 as out-of-boundary; later-phase tool-call evaluation is CAP-021/CAP-022 under AGR-020.</a:t>
            </a:r>
          </a:p>
          <a:p>
            <a:r>
              <a:t>CAVEAT NOT ON SLIDE — The largest named risk in the charter is false confidence — a passing evaluation being read as complete AI security. This slide exists to remove that reading before the room forms it, not to defend a limitation.</a:t>
            </a:r>
          </a:p>
          <a:p>
            <a:r>
              <a:t>TALK TRACK — Present the left column as a list of things that remain the application's problem, and say plainly that we would rather lose the coverage claim than have someone rely on it.</a:t>
            </a:r>
          </a:p>
          <a:p>
            <a:r>
              <a:t>IF ASKED — 'Will it ever do authorization?' — No. It is excluded by agreement, and the catalog marks it out-of-boundary with an external owner. Later phases evaluate the content of a proposed tool call; they never grant permission to execute it.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SOURCING — AGR-018 trust and enforcement model; the three postures are SECURITY-ARCHITECTURE.md §3.1 and the honesty statement §3.3; the telemetry prohibition is §9 item 4 and CON-012(d); the threat is THR-001 in §10.1, whose residual risk is recorded as not eliminated by design; the cooperative start for Phases 1–2 is ASM-005.</a:t>
            </a:r>
          </a:p>
          <a:p>
            <a:r>
              <a:t>CAVEAT NOT ON SLIDE — Which posture external customers will require is an open question with no recorded decision. If this room requires platform-managed or network-enforced enforcement for the pilot, that is a real finding that moves platform work earlier — it is not a request we will refuse.</a:t>
            </a:r>
          </a:p>
          <a:p>
            <a:r>
              <a:t>TALK TRACK — This is the slide most likely to produce a condition on the approval. Present the residual risk first and the mitigations second, not the other way round.</a:t>
            </a:r>
          </a:p>
          <a:p>
            <a:r>
              <a:t>IF ASKED — 'Can you detect a bypass?' — Not reliably under cooperative integration. Connector telemetry stopping is a signal that gets treated as a bypass indicator rather than a runtime outage, but absence of that signal is not evidence of coverage.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SOURCING — SECURITY-ARCHITECTURE.md §10.1 threat catalog THR-001 through THR-004 with residual-risk column as written; the sole-control prohibitions are §9 and CON-012; policy signing is deferred under OQ-012; the logical-isolation position is ARCHITECTURE-REPORT.md §18.</a:t>
            </a:r>
          </a:p>
          <a:p>
            <a:r>
              <a:t>CAVEAT NOT ON SLIDE — None of these mitigations exist yet. They are the designed controls, and a reviewer is entitled to treat design intent as unverified until Phase 1 delivers something testable.</a:t>
            </a:r>
          </a:p>
          <a:p>
            <a:r>
              <a:t>TALK TRACK — Read the residual column, not the mitigation column — the room can read mitigations. What they need from you is the honest edge of each one.</a:t>
            </a:r>
          </a:p>
          <a:p>
            <a:r>
              <a:t>IF ASKED — 'What about a malicious insider at the provider?' — Not modelled in this catalog, which is scoped to the platform's own attack surface. The structural answer for a workload that must assume that threat is the customer-managed runtime.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SOURCING — CON-012 (no exclusive reliance on weak security proxies), restated architecturally in SECURITY-ARCHITECTURE.md §9 with the same four rows; the telemetry row is the concrete application of AGR-018.</a:t>
            </a:r>
          </a:p>
          <a:p>
            <a:r>
              <a:t>CAVEAT NOT ON SLIDE — Each of the four still exists in the architecture for a legitimate reason — a key may gate a low-risk internal tool alongside identity-based auth, connector telemetry is genuinely useful for operational health. The rule is about what may be cited, not what may exist.</a:t>
            </a:r>
          </a:p>
          <a:p>
            <a:r>
              <a:t>TALK TRACK — This slide usually shortens the review. It tells this room we have already removed the arguments they were preparing to attack.</a:t>
            </a:r>
          </a:p>
          <a:p>
            <a:r>
              <a:t>IF ASKED — 'Who enforces this?' — The claims boundary governs every derived artifact, and the deck build itself fails on prohibited phrasing. It is a check, not a convention.</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SOURCING — AGR-011 observe-before-enforce; the clamping semantics and the state-on-the-binding rule are ADR-0004 §1–§2 and §5; PRINCIPLES.md §5.6; the undefined promotion criteria are OQ-014.</a:t>
            </a:r>
          </a:p>
          <a:p>
            <a:r>
              <a:t>CAVEAT NOT ON SLIDE — Security and governance own policy approval; the consuming team reviews observe-mode findings and accepts enforcement. Both transitions are audited. What is missing is the criteria, not the control.</a:t>
            </a:r>
          </a:p>
          <a:p>
            <a:r>
              <a:t>TALK TRACK — Use the caption as an invitation — this room defining the promotion criteria is a better outcome than us proposing them.</a:t>
            </a:r>
          </a:p>
          <a:p>
            <a:r>
              <a:t>IF ASKED — 'Who decides when a policy starts blocking?' — Security and governance approve the policy; the consuming team accepts enforcement for its workload. Neither can do it silently.</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SOURCING — AGR-012 enumerates the failure modes; the no-default schema rule is ADR-0009 §4; the binding rules and the same table are OPERABILITY.md §7; the client-side equivalent — a client with no configuration refuses to evaluate rather than allowing — is ADR-0012 §2.</a:t>
            </a:r>
          </a:p>
          <a:p>
            <a:r>
              <a:t>CAVEAT NOT ON SLIDE — Fail-open versus fail-closed is a policy owner's decision, per workload and per failure mode. That is a governance responsibility landing on this room's side of the boundary, and it is worth naming as such.</a:t>
            </a:r>
          </a:p>
          <a:p>
            <a:r>
              <a:t>TALK TRACK — This is the slide where security realises it owns something. Say plainly that the platform deliberately refuses to make this choice on their behalf.</a:t>
            </a:r>
          </a:p>
          <a:p>
            <a:r>
              <a:t>IF ASKED — 'What is the safest default?' — There is no default, deliberately. A default would be behaviour the policy author never wrote down, which is exactly what the agreement forbids.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SOURCING — AGR-010, AGR-013, AGR-018 and the SCOPE.md product-category exclusions; the security-specific out-of-scope list is SECURITY-ARCHITECTURE.md §12 — private connectivity, additional account separation, policy signing, MCP tool authorization, organization-wide provider enforcement, air-gapped installation, compliance certification, and customer-supplied evaluator plugins.</a:t>
            </a:r>
          </a:p>
          <a:p>
            <a:r>
              <a:t>CAVEAT NOT ON SLIDE — None of those absences is a gap against what was promised — they are scope boundaries. But several of them are things this room may consider preconditions, and pulling one forward requires a recorded scope-change decision rather than a commitment made in this session.</a:t>
            </a:r>
          </a:p>
          <a:p>
            <a:r>
              <a:t>TALK TRACK — Frame the right column as precision: it tells you exactly which risks stay yours. Then close on the ask.</a:t>
            </a:r>
          </a:p>
          <a:p>
            <a:r>
              <a:t>IF ASKED — 'Is there any compliance certification?' — No, and none is targeted. It is explicitly out of scope, and any material implying otherwise is wrong.</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SOURCING — TEAM-AND-OWNERSHIP.md §1 four ownership groups, §4 shifts by deployment mode, §5 ownership under each enforcement posture; the onboarding boundary is AGR-019.</a:t>
            </a:r>
          </a:p>
          <a:p>
            <a:r>
              <a:t>CAVEAT NOT ON SLIDE — The security and governance row is the one this room is accepting: organization-level policy requirements, risk classification, policy approval, exception criteria, and retention and audit rules. Nothing in the platform makes those decisions on their behalf.</a:t>
            </a:r>
          </a:p>
          <a:p>
            <a:r>
              <a:t>TALK TRACK — Read the third row aloud. The rest of the table is context for it.</a:t>
            </a:r>
          </a:p>
          <a:p>
            <a:r>
              <a:t>IF ASKED — 'What does a consuming team actually have to do?' — Register the workload, select the policy, install the connector, run in observe, review findings. No credentials transferred and no gateway administration granted.</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SOURCING — DECK-VARIANTS.md §4 (the decision this deck asks for); modes AGR-002; observe-first AGR-011; retention AGR-014 and CON-014; telemetry AGR-016; the posture and promotion questions are OQ-001 and OQ-014.</a:t>
            </a:r>
          </a:p>
          <a:p>
            <a:r>
              <a:t>CAVEAT NOT ON SLIDE — If this room requires a stronger enforcement posture for the pilot, that changes delivery sequencing and is a genuine finding — not something to negotiate down in the room.</a:t>
            </a:r>
          </a:p>
          <a:p>
            <a:r>
              <a:t>TALK TRACK — State the ask, name the conditions you expect, put the residual risks on the record, and stop talking. Silence here is productive.</a:t>
            </a:r>
          </a:p>
          <a:p>
            <a:r>
              <a:t>IF ASKED — 'Can we approve conditionally?' — That is the expected outcome. Name the conditions and we will carry them as delivery requirements rather than preferences.</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SOURCING — DECK-VARIANTS.md §4 appendix list.</a:t>
            </a:r>
          </a:p>
          <a:p>
            <a:r>
              <a:t>CAVEAT NOT ON SLIDE — Do not present the appendix by default. In this room, volunteering extra material reads as filling silence rather than answering a question.</a:t>
            </a:r>
          </a:p>
          <a:p>
            <a:r>
              <a:t>TALK TRACK — Pause. If the mode approval and its conditions are recorded, stop here.</a:t>
            </a:r>
          </a:p>
          <a:p>
            <a:r>
              <a:t>IF ASKED — n/a — divider slide.</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SOURCING — AGR-017 core domain model; per-entity attributes DATA-ARCHITECTURE.md §1.2–§1.7 and GLOSSARY.md.</a:t>
            </a:r>
          </a:p>
          <a:p>
            <a:r>
              <a:t>CAVEAT NOT ON SLIDE — Retention configuration, data classification, allowed Regions and deployment mode are all tenant attributes — which is why retention is configured per tenant rather than platform-wide.</a:t>
            </a:r>
          </a:p>
          <a:p>
            <a:r>
              <a:t>TALK TRACK — Use this if the vocabulary slips, particularly the distinction between a policy and a binding.</a:t>
            </a:r>
          </a:p>
          <a:p>
            <a:r>
              <a:t>IF ASKED — 'Where does data classification live?' — On the tenant, alongside AWS account, allowed Regions and retention configuration.</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SOURCING — FAQ.md — the pairs most likely to be raised by a security and compliance audience; the first five trace to AGR-009, AGR-014, AGR-018, AGR-010 and AGR-012 respectively, and the findings-visibility pair to the TEAM-AND-OWNERSHIP.md §3.4 responsibility matrix.</a:t>
            </a:r>
          </a:p>
          <a:p>
            <a:r>
              <a:t>CAVEAT NOT ON SLIDE — Answer the specific question and stop. Reading the table aloud signals defensiveness, and this audience reads that accurately.</a:t>
            </a:r>
          </a:p>
          <a:p>
            <a:r>
              <a:t>TALK TRACK — Only surface this if a question lands that the main sequence did not resolve.</a:t>
            </a:r>
          </a:p>
          <a:p>
            <a:r>
              <a:t>IF ASKED — If a question arrives that is not on this list and not in the source material, say it is not decided and take it away. Do not improvise a control.</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SOURCING — AGR-019 meaning of import; sequence in PRODUCT-OVERVIEW.md §8; the manifest's prohibited contents are ADR-0006 §4, which is the enforcement point for AGR-019; approved wording CLAIMS-REGISTER.md §2 and §10.</a:t>
            </a:r>
          </a:p>
          <a:p>
            <a:r>
              <a:t>CAVEAT NOT ON SLIDE — The manifest is derived and not authoritative at evaluation time — a team cannot obtain weaker enforcement by editing its own copy. Worth stating explicitly, because a reviewable file in the team's repository invites exactly that question.</a:t>
            </a:r>
          </a:p>
          <a:p>
            <a:r>
              <a:t>TALK TRACK — Reach for this when someone asks what a consuming team is actually given, or whether the platform gains access to their environment.</a:t>
            </a:r>
          </a:p>
          <a:p>
            <a:r>
              <a:t>IF ASKED — 'Does the platform get administrative access to their gateway?' — No. That is prohibited by agreement and enforced by what the generated configuration may contain.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2161B"/>
        </a:solidFill>
        <a:effectLst/>
      </p:bgPr>
    </p:bg>
    <p:spTree>
      <p:nvGrpSpPr>
        <p:cNvPr id="1" name=""/>
        <p:cNvGrpSpPr/>
        <p:nvPr/>
      </p:nvGrpSpPr>
      <p:grpSpPr/>
      <p:sp>
        <p:nvSpPr>
          <p:cNvPr id="2" name="Rounded Rectangle 1"/>
          <p:cNvSpPr/>
          <p:nvPr/>
        </p:nvSpPr>
        <p:spPr>
          <a:xfrm>
            <a:off x="685800" y="1417320"/>
            <a:ext cx="10820095" cy="3246120"/>
          </a:xfrm>
          <a:prstGeom prst="roundRect">
            <a:avLst>
              <a:gd name="adj" fmla="val 4000"/>
            </a:avLst>
          </a:prstGeom>
          <a:solidFill>
            <a:srgbClr val="161C23"/>
          </a:solidFill>
          <a:ln w="12700">
            <a:solidFill>
              <a:srgbClr val="2E39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777240"/>
            <a:ext cx="10820095" cy="411480"/>
          </a:xfrm>
          <a:prstGeom prst="rect">
            <a:avLst/>
          </a:prstGeom>
          <a:noFill/>
        </p:spPr>
        <p:txBody>
          <a:bodyPr wrap="square" lIns="0" rIns="0" tIns="0" bIns="0" anchor="t">
            <a:spAutoFit/>
          </a:bodyPr>
          <a:lstStyle/>
          <a:p>
            <a:pPr algn="l">
              <a:lnSpc>
                <a:spcPct val="115000"/>
              </a:lnSpc>
              <a:spcAft>
                <a:spcPts val="0"/>
              </a:spcAft>
            </a:pPr>
            <a:r>
              <a:rPr sz="1400" b="1" i="0">
                <a:solidFill>
                  <a:srgbClr val="5AA0E0"/>
                </a:solidFill>
                <a:latin typeface="Calibri"/>
              </a:rPr>
              <a:t>AI GUARDRAILS</a:t>
            </a:r>
          </a:p>
        </p:txBody>
      </p:sp>
      <p:sp>
        <p:nvSpPr>
          <p:cNvPr id="4" name="TextBox 3"/>
          <p:cNvSpPr txBox="1"/>
          <p:nvPr/>
        </p:nvSpPr>
        <p:spPr>
          <a:xfrm>
            <a:off x="1188720" y="1965960"/>
            <a:ext cx="9357055" cy="2377440"/>
          </a:xfrm>
          <a:prstGeom prst="rect">
            <a:avLst/>
          </a:prstGeom>
          <a:noFill/>
        </p:spPr>
        <p:txBody>
          <a:bodyPr wrap="square" lIns="0" rIns="0" tIns="0" bIns="0" anchor="t">
            <a:spAutoFit/>
          </a:bodyPr>
          <a:lstStyle/>
          <a:p>
            <a:pPr algn="l">
              <a:lnSpc>
                <a:spcPct val="105000"/>
              </a:lnSpc>
              <a:spcAft>
                <a:spcPts val="600"/>
              </a:spcAft>
            </a:pPr>
            <a:r>
              <a:rPr sz="3400" b="1" i="0">
                <a:solidFill>
                  <a:srgbClr val="E8ECF2"/>
                </a:solidFill>
                <a:latin typeface="Calibri"/>
              </a:rPr>
              <a:t>Who operates it and</a:t>
            </a:r>
          </a:p>
          <a:p>
            <a:pPr algn="l">
              <a:lnSpc>
                <a:spcPct val="105000"/>
              </a:lnSpc>
              <a:spcAft>
                <a:spcPts val="600"/>
              </a:spcAft>
            </a:pPr>
            <a:r>
              <a:rPr sz="3400" b="1" i="0">
                <a:solidFill>
                  <a:srgbClr val="E8ECF2"/>
                </a:solidFill>
                <a:latin typeface="Calibri"/>
              </a:rPr>
              <a:t>where your content goes</a:t>
            </a:r>
          </a:p>
          <a:p>
            <a:pPr algn="l">
              <a:lnSpc>
                <a:spcPct val="105000"/>
              </a:lnSpc>
              <a:spcAft>
                <a:spcPts val="0"/>
              </a:spcAft>
            </a:pPr>
            <a:r>
              <a:rPr sz="3400" b="1" i="0">
                <a:solidFill>
                  <a:srgbClr val="5AA0E0"/>
                </a:solidFill>
                <a:latin typeface="Calibri"/>
              </a:rPr>
              <a:t>are two different questions.</a:t>
            </a:r>
          </a:p>
        </p:txBody>
      </p:sp>
      <p:sp>
        <p:nvSpPr>
          <p:cNvPr id="5" name="TextBox 4"/>
          <p:cNvSpPr txBox="1"/>
          <p:nvPr/>
        </p:nvSpPr>
        <p:spPr>
          <a:xfrm>
            <a:off x="685800" y="4956048"/>
            <a:ext cx="10820095" cy="822960"/>
          </a:xfrm>
          <a:prstGeom prst="rect">
            <a:avLst/>
          </a:prstGeom>
          <a:noFill/>
        </p:spPr>
        <p:txBody>
          <a:bodyPr wrap="square" lIns="0" rIns="0" tIns="0" bIns="0" anchor="t">
            <a:spAutoFit/>
          </a:bodyPr>
          <a:lstStyle/>
          <a:p>
            <a:pPr algn="l">
              <a:lnSpc>
                <a:spcPct val="115000"/>
              </a:lnSpc>
              <a:spcAft>
                <a:spcPts val="800"/>
              </a:spcAft>
            </a:pPr>
            <a:r>
              <a:rPr sz="1700" b="0" i="0">
                <a:solidFill>
                  <a:srgbClr val="E8ECF2"/>
                </a:solidFill>
                <a:latin typeface="Calibri"/>
              </a:rPr>
              <a:t>Security and compliance review — content exposure, retention, enforcement posture, and the boundary of what a guardrail decision means</a:t>
            </a:r>
          </a:p>
          <a:p>
            <a:pPr algn="l">
              <a:lnSpc>
                <a:spcPct val="115000"/>
              </a:lnSpc>
              <a:spcAft>
                <a:spcPts val="0"/>
              </a:spcAft>
            </a:pPr>
            <a:r>
              <a:rPr sz="1150" b="0" i="0">
                <a:solidFill>
                  <a:srgbClr val="98A4B3"/>
                </a:solidFill>
                <a:latin typeface="Calibri"/>
              </a:rPr>
              <a:t>Approval review  ·  Presenter: TBD  ·  Nothing in this deck is built, piloted, or carrying traffic</a:t>
            </a:r>
          </a:p>
        </p:txBody>
      </p:sp>
      <p:sp>
        <p:nvSpPr>
          <p:cNvPr id="6" name="TextBox 5"/>
          <p:cNvSpPr txBox="1"/>
          <p:nvPr/>
        </p:nvSpPr>
        <p:spPr>
          <a:xfrm>
            <a:off x="685800" y="6327648"/>
            <a:ext cx="10820095" cy="457200"/>
          </a:xfrm>
          <a:prstGeom prst="rect">
            <a:avLst/>
          </a:prstGeom>
          <a:noFill/>
        </p:spPr>
        <p:txBody>
          <a:bodyPr wrap="square" lIns="0" rIns="0" tIns="0" bIns="0" anchor="t">
            <a:spAutoFit/>
          </a:bodyPr>
          <a:lstStyle/>
          <a:p>
            <a:pPr algn="l">
              <a:lnSpc>
                <a:spcPct val="115000"/>
              </a:lnSpc>
              <a:spcAft>
                <a:spcPts val="0"/>
              </a:spcAft>
            </a:pPr>
            <a:r>
              <a:rPr sz="900" b="0" i="0">
                <a:solidFill>
                  <a:srgbClr val="98A4B3"/>
                </a:solidFill>
                <a:latin typeface="Calibri"/>
              </a:rPr>
              <a:t>Placeholder styling — no brand kit exists yet; all colours and type are stand-ins pending brand.</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2161B"/>
        </a:solidFill>
        <a:effectLst/>
      </p:bgPr>
    </p:bg>
    <p:spTree>
      <p:nvGrpSpPr>
        <p:cNvPr id="1" name=""/>
        <p:cNvGrpSpPr/>
        <p:nvPr/>
      </p:nvGrpSpPr>
      <p:grpSpPr/>
      <p:sp>
        <p:nvSpPr>
          <p:cNvPr id="2" name="TextBox 1"/>
          <p:cNvSpPr txBox="1"/>
          <p:nvPr/>
        </p:nvSpPr>
        <p:spPr>
          <a:xfrm>
            <a:off x="685800" y="420624"/>
            <a:ext cx="10820095" cy="658368"/>
          </a:xfrm>
          <a:prstGeom prst="rect">
            <a:avLst/>
          </a:prstGeom>
          <a:noFill/>
        </p:spPr>
        <p:txBody>
          <a:bodyPr wrap="square" lIns="0" rIns="0" tIns="0" bIns="0" anchor="t">
            <a:spAutoFit/>
          </a:bodyPr>
          <a:lstStyle/>
          <a:p>
            <a:pPr algn="l">
              <a:lnSpc>
                <a:spcPct val="115000"/>
              </a:lnSpc>
              <a:spcAft>
                <a:spcPts val="0"/>
              </a:spcAft>
            </a:pPr>
            <a:r>
              <a:rPr sz="3000" b="1" i="0">
                <a:solidFill>
                  <a:srgbClr val="E8ECF2"/>
                </a:solidFill>
                <a:latin typeface="Calibri"/>
              </a:rPr>
              <a:t>What we are asking you to approve</a:t>
            </a:r>
          </a:p>
        </p:txBody>
      </p:sp>
      <p:sp>
        <p:nvSpPr>
          <p:cNvPr id="3" name="Rectangle 2"/>
          <p:cNvSpPr/>
          <p:nvPr/>
        </p:nvSpPr>
        <p:spPr>
          <a:xfrm>
            <a:off x="685800" y="1188720"/>
            <a:ext cx="1234440" cy="41148"/>
          </a:xfrm>
          <a:prstGeom prst="rect">
            <a:avLst/>
          </a:prstGeom>
          <a:solidFill>
            <a:srgbClr val="5AA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298448"/>
            <a:ext cx="10820095" cy="365760"/>
          </a:xfrm>
          <a:prstGeom prst="rect">
            <a:avLst/>
          </a:prstGeom>
          <a:noFill/>
        </p:spPr>
        <p:txBody>
          <a:bodyPr wrap="square" lIns="0" rIns="0" tIns="0" bIns="0" anchor="t">
            <a:spAutoFit/>
          </a:bodyPr>
          <a:lstStyle/>
          <a:p>
            <a:pPr algn="l">
              <a:lnSpc>
                <a:spcPct val="115000"/>
              </a:lnSpc>
              <a:spcAft>
                <a:spcPts val="0"/>
              </a:spcAft>
            </a:pPr>
            <a:r>
              <a:rPr sz="1350" b="0" i="0">
                <a:solidFill>
                  <a:srgbClr val="98A4B3"/>
                </a:solidFill>
                <a:latin typeface="Calibri"/>
              </a:rPr>
              <a:t>A mode-to-data-class mapping, and the conditions attached to it.</a:t>
            </a:r>
          </a:p>
        </p:txBody>
      </p:sp>
      <p:sp>
        <p:nvSpPr>
          <p:cNvPr id="5" name="TextBox 4"/>
          <p:cNvSpPr txBox="1"/>
          <p:nvPr/>
        </p:nvSpPr>
        <p:spPr>
          <a:xfrm>
            <a:off x="685800" y="6217920"/>
            <a:ext cx="10820095" cy="292608"/>
          </a:xfrm>
          <a:prstGeom prst="rect">
            <a:avLst/>
          </a:prstGeom>
          <a:noFill/>
        </p:spPr>
        <p:txBody>
          <a:bodyPr wrap="square" lIns="0" rIns="0" tIns="0" bIns="0" anchor="t">
            <a:spAutoFit/>
          </a:bodyPr>
          <a:lstStyle/>
          <a:p>
            <a:pPr algn="l">
              <a:lnSpc>
                <a:spcPct val="115000"/>
              </a:lnSpc>
              <a:spcAft>
                <a:spcPts val="0"/>
              </a:spcAft>
            </a:pPr>
            <a:r>
              <a:rPr sz="900" b="0" i="0">
                <a:solidFill>
                  <a:srgbClr val="98A4B3"/>
                </a:solidFill>
                <a:latin typeface="Calibri"/>
              </a:rPr>
              <a:t>AI Guardrails · design intent and delivery plan — nothing built or piloted today</a:t>
            </a:r>
          </a:p>
        </p:txBody>
      </p:sp>
      <p:sp>
        <p:nvSpPr>
          <p:cNvPr id="6" name="Rectangle 5"/>
          <p:cNvSpPr/>
          <p:nvPr/>
        </p:nvSpPr>
        <p:spPr>
          <a:xfrm>
            <a:off x="685800" y="1952243"/>
            <a:ext cx="77724" cy="77724"/>
          </a:xfrm>
          <a:prstGeom prst="rect">
            <a:avLst/>
          </a:prstGeom>
          <a:solidFill>
            <a:srgbClr val="5AA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1874519"/>
            <a:ext cx="10545775" cy="365760"/>
          </a:xfrm>
          <a:prstGeom prst="rect">
            <a:avLst/>
          </a:prstGeom>
          <a:noFill/>
        </p:spPr>
        <p:txBody>
          <a:bodyPr wrap="square" lIns="0" rIns="0" tIns="0" bIns="0" anchor="t">
            <a:spAutoFit/>
          </a:bodyPr>
          <a:lstStyle/>
          <a:p>
            <a:pPr algn="l">
              <a:lnSpc>
                <a:spcPct val="115000"/>
              </a:lnSpc>
              <a:spcAft>
                <a:spcPts val="100"/>
              </a:spcAft>
            </a:pPr>
            <a:r>
              <a:rPr sz="1350" b="1" i="0">
                <a:solidFill>
                  <a:srgbClr val="E8ECF2"/>
                </a:solidFill>
                <a:latin typeface="Calibri"/>
              </a:rPr>
              <a:t>Which deployment modes may carry which data classes</a:t>
            </a:r>
          </a:p>
          <a:p>
            <a:pPr algn="l">
              <a:lnSpc>
                <a:spcPct val="115000"/>
              </a:lnSpc>
              <a:spcAft>
                <a:spcPts val="0"/>
              </a:spcAft>
            </a:pPr>
            <a:r>
              <a:rPr sz="1150" b="0" i="0">
                <a:solidFill>
                  <a:srgbClr val="98A4B3"/>
                </a:solidFill>
                <a:latin typeface="Calibri"/>
              </a:rPr>
              <a:t>Three modes exist and they differ on exactly one axis you care about: where evaluated content is processed. We are asking you to say which of your data classifications each mode may carry, and to name the ones that may not use any mode yet.</a:t>
            </a:r>
          </a:p>
        </p:txBody>
      </p:sp>
      <p:sp>
        <p:nvSpPr>
          <p:cNvPr id="8" name="Rectangle 7"/>
          <p:cNvSpPr/>
          <p:nvPr/>
        </p:nvSpPr>
        <p:spPr>
          <a:xfrm>
            <a:off x="685800" y="2884932"/>
            <a:ext cx="77724" cy="77724"/>
          </a:xfrm>
          <a:prstGeom prst="rect">
            <a:avLst/>
          </a:prstGeom>
          <a:solidFill>
            <a:srgbClr val="5AA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2807208"/>
            <a:ext cx="10545775" cy="365760"/>
          </a:xfrm>
          <a:prstGeom prst="rect">
            <a:avLst/>
          </a:prstGeom>
          <a:noFill/>
        </p:spPr>
        <p:txBody>
          <a:bodyPr wrap="square" lIns="0" rIns="0" tIns="0" bIns="0" anchor="t">
            <a:spAutoFit/>
          </a:bodyPr>
          <a:lstStyle/>
          <a:p>
            <a:pPr algn="l">
              <a:lnSpc>
                <a:spcPct val="115000"/>
              </a:lnSpc>
              <a:spcAft>
                <a:spcPts val="100"/>
              </a:spcAft>
            </a:pPr>
            <a:r>
              <a:rPr sz="1350" b="1" i="0">
                <a:solidFill>
                  <a:srgbClr val="E8ECF2"/>
                </a:solidFill>
                <a:latin typeface="Calibri"/>
              </a:rPr>
              <a:t>The conditions that attach to that approval</a:t>
            </a:r>
          </a:p>
          <a:p>
            <a:pPr algn="l">
              <a:lnSpc>
                <a:spcPct val="115000"/>
              </a:lnSpc>
              <a:spcAft>
                <a:spcPts val="0"/>
              </a:spcAft>
            </a:pPr>
            <a:r>
              <a:rPr sz="1150" b="0" i="0">
                <a:solidFill>
                  <a:srgbClr val="98A4B3"/>
                </a:solidFill>
                <a:latin typeface="Calibri"/>
              </a:rPr>
              <a:t>Retention configuration, telemetry settings, which enforcement posture a workload must run under, and what evidence you require before a workload leaves observe mode.</a:t>
            </a:r>
          </a:p>
        </p:txBody>
      </p:sp>
      <p:sp>
        <p:nvSpPr>
          <p:cNvPr id="10" name="Rectangle 9"/>
          <p:cNvSpPr/>
          <p:nvPr/>
        </p:nvSpPr>
        <p:spPr>
          <a:xfrm>
            <a:off x="685800" y="3817620"/>
            <a:ext cx="77724" cy="77724"/>
          </a:xfrm>
          <a:prstGeom prst="rect">
            <a:avLst/>
          </a:prstGeom>
          <a:solidFill>
            <a:srgbClr val="5AA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0120" y="3739896"/>
            <a:ext cx="10545775" cy="365760"/>
          </a:xfrm>
          <a:prstGeom prst="rect">
            <a:avLst/>
          </a:prstGeom>
          <a:noFill/>
        </p:spPr>
        <p:txBody>
          <a:bodyPr wrap="square" lIns="0" rIns="0" tIns="0" bIns="0" anchor="t">
            <a:spAutoFit/>
          </a:bodyPr>
          <a:lstStyle/>
          <a:p>
            <a:pPr algn="l">
              <a:lnSpc>
                <a:spcPct val="115000"/>
              </a:lnSpc>
              <a:spcAft>
                <a:spcPts val="100"/>
              </a:spcAft>
            </a:pPr>
            <a:r>
              <a:rPr sz="1350" b="1" i="0">
                <a:solidFill>
                  <a:srgbClr val="E8ECF2"/>
                </a:solidFill>
                <a:latin typeface="Calibri"/>
              </a:rPr>
              <a:t>Which residual risks you are accepting, explicitly</a:t>
            </a:r>
          </a:p>
          <a:p>
            <a:pPr algn="l">
              <a:lnSpc>
                <a:spcPct val="115000"/>
              </a:lnSpc>
              <a:spcAft>
                <a:spcPts val="0"/>
              </a:spcAft>
            </a:pPr>
            <a:r>
              <a:rPr sz="1150" b="0" i="0">
                <a:solidFill>
                  <a:srgbClr val="98A4B3"/>
                </a:solidFill>
                <a:latin typeface="Calibri"/>
              </a:rPr>
              <a:t>Two are not fully mitigated and are presented as such later in this deck. We would rather have them accepted on the record than discovered later.</a:t>
            </a:r>
          </a:p>
        </p:txBody>
      </p:sp>
      <p:sp>
        <p:nvSpPr>
          <p:cNvPr id="12" name="Rounded Rectangle 11"/>
          <p:cNvSpPr/>
          <p:nvPr/>
        </p:nvSpPr>
        <p:spPr>
          <a:xfrm>
            <a:off x="685800" y="4636008"/>
            <a:ext cx="10820095" cy="1298448"/>
          </a:xfrm>
          <a:prstGeom prst="roundRect">
            <a:avLst>
              <a:gd name="adj" fmla="val 4000"/>
            </a:avLst>
          </a:prstGeom>
          <a:solidFill>
            <a:srgbClr val="161C23"/>
          </a:solidFill>
          <a:ln w="12700">
            <a:solidFill>
              <a:srgbClr val="5AA0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05840" y="4809744"/>
            <a:ext cx="10180015" cy="1005840"/>
          </a:xfrm>
          <a:prstGeom prst="rect">
            <a:avLst/>
          </a:prstGeom>
          <a:noFill/>
        </p:spPr>
        <p:txBody>
          <a:bodyPr wrap="square" lIns="0" rIns="0" tIns="0" bIns="0" anchor="t">
            <a:spAutoFit/>
          </a:bodyPr>
          <a:lstStyle/>
          <a:p>
            <a:pPr algn="l">
              <a:lnSpc>
                <a:spcPct val="115000"/>
              </a:lnSpc>
              <a:spcAft>
                <a:spcPts val="500"/>
              </a:spcAft>
            </a:pPr>
            <a:r>
              <a:rPr sz="1300" b="1" i="0">
                <a:solidFill>
                  <a:srgbClr val="5AA0E0"/>
                </a:solidFill>
                <a:latin typeface="Calibri"/>
              </a:rPr>
              <a:t>What we are not asking for</a:t>
            </a:r>
          </a:p>
          <a:p>
            <a:pPr algn="l">
              <a:lnSpc>
                <a:spcPct val="125000"/>
              </a:lnSpc>
              <a:spcAft>
                <a:spcPts val="0"/>
              </a:spcAft>
            </a:pPr>
            <a:r>
              <a:rPr sz="1250" b="0" i="0">
                <a:solidFill>
                  <a:srgbClr val="98A4B3"/>
                </a:solidFill>
                <a:latin typeface="Calibri"/>
              </a:rPr>
              <a:t>Not funding, not a delivery commitment, and not a judgement on whether the platform should exist — those sit with the investment review. Not a compliance attestation either: no certification target exists, and none is claimed anywhere in this deck.</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2161B"/>
        </a:solidFill>
        <a:effectLst/>
      </p:bgPr>
    </p:bg>
    <p:spTree>
      <p:nvGrpSpPr>
        <p:cNvPr id="1" name=""/>
        <p:cNvGrpSpPr/>
        <p:nvPr/>
      </p:nvGrpSpPr>
      <p:grpSpPr/>
      <p:sp>
        <p:nvSpPr>
          <p:cNvPr id="2" name="TextBox 1"/>
          <p:cNvSpPr txBox="1"/>
          <p:nvPr/>
        </p:nvSpPr>
        <p:spPr>
          <a:xfrm>
            <a:off x="685800" y="420624"/>
            <a:ext cx="10820095" cy="658368"/>
          </a:xfrm>
          <a:prstGeom prst="rect">
            <a:avLst/>
          </a:prstGeom>
          <a:noFill/>
        </p:spPr>
        <p:txBody>
          <a:bodyPr wrap="square" lIns="0" rIns="0" tIns="0" bIns="0" anchor="t">
            <a:spAutoFit/>
          </a:bodyPr>
          <a:lstStyle/>
          <a:p>
            <a:pPr algn="l">
              <a:lnSpc>
                <a:spcPct val="115000"/>
              </a:lnSpc>
              <a:spcAft>
                <a:spcPts val="0"/>
              </a:spcAft>
            </a:pPr>
            <a:r>
              <a:rPr sz="3000" b="1" i="0">
                <a:solidFill>
                  <a:srgbClr val="E8ECF2"/>
                </a:solidFill>
                <a:latin typeface="Calibri"/>
              </a:rPr>
              <a:t>What the platform actually does</a:t>
            </a:r>
          </a:p>
        </p:txBody>
      </p:sp>
      <p:sp>
        <p:nvSpPr>
          <p:cNvPr id="3" name="Rectangle 2"/>
          <p:cNvSpPr/>
          <p:nvPr/>
        </p:nvSpPr>
        <p:spPr>
          <a:xfrm>
            <a:off x="685800" y="1188720"/>
            <a:ext cx="1234440" cy="41148"/>
          </a:xfrm>
          <a:prstGeom prst="rect">
            <a:avLst/>
          </a:prstGeom>
          <a:solidFill>
            <a:srgbClr val="5AA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298448"/>
            <a:ext cx="10820095" cy="365760"/>
          </a:xfrm>
          <a:prstGeom prst="rect">
            <a:avLst/>
          </a:prstGeom>
          <a:noFill/>
        </p:spPr>
        <p:txBody>
          <a:bodyPr wrap="square" lIns="0" rIns="0" tIns="0" bIns="0" anchor="t">
            <a:spAutoFit/>
          </a:bodyPr>
          <a:lstStyle/>
          <a:p>
            <a:pPr algn="l">
              <a:lnSpc>
                <a:spcPct val="115000"/>
              </a:lnSpc>
              <a:spcAft>
                <a:spcPts val="0"/>
              </a:spcAft>
            </a:pPr>
            <a:r>
              <a:rPr sz="1350" b="0" i="0">
                <a:solidFill>
                  <a:srgbClr val="98A4B3"/>
                </a:solidFill>
                <a:latin typeface="Calibri"/>
              </a:rPr>
              <a:t>One slide, so the rest of the review can be about exposure.</a:t>
            </a:r>
          </a:p>
        </p:txBody>
      </p:sp>
      <p:sp>
        <p:nvSpPr>
          <p:cNvPr id="5" name="TextBox 4"/>
          <p:cNvSpPr txBox="1"/>
          <p:nvPr/>
        </p:nvSpPr>
        <p:spPr>
          <a:xfrm>
            <a:off x="685800" y="6217920"/>
            <a:ext cx="10820095" cy="292608"/>
          </a:xfrm>
          <a:prstGeom prst="rect">
            <a:avLst/>
          </a:prstGeom>
          <a:noFill/>
        </p:spPr>
        <p:txBody>
          <a:bodyPr wrap="square" lIns="0" rIns="0" tIns="0" bIns="0" anchor="t">
            <a:spAutoFit/>
          </a:bodyPr>
          <a:lstStyle/>
          <a:p>
            <a:pPr algn="l">
              <a:lnSpc>
                <a:spcPct val="115000"/>
              </a:lnSpc>
              <a:spcAft>
                <a:spcPts val="0"/>
              </a:spcAft>
            </a:pPr>
            <a:r>
              <a:rPr sz="900" b="0" i="0">
                <a:solidFill>
                  <a:srgbClr val="98A4B3"/>
                </a:solidFill>
                <a:latin typeface="Calibri"/>
              </a:rPr>
              <a:t>AI Guardrails · design intent and delivery plan — nothing built or piloted today</a:t>
            </a:r>
          </a:p>
        </p:txBody>
      </p:sp>
      <p:sp>
        <p:nvSpPr>
          <p:cNvPr id="6" name="Rounded Rectangle 5"/>
          <p:cNvSpPr/>
          <p:nvPr/>
        </p:nvSpPr>
        <p:spPr>
          <a:xfrm>
            <a:off x="685800" y="1828800"/>
            <a:ext cx="10820095" cy="1783080"/>
          </a:xfrm>
          <a:prstGeom prst="roundRect">
            <a:avLst>
              <a:gd name="adj" fmla="val 4000"/>
            </a:avLst>
          </a:prstGeom>
          <a:solidFill>
            <a:srgbClr val="161C23"/>
          </a:solidFill>
          <a:ln w="12700">
            <a:solidFill>
              <a:srgbClr val="2E39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85800" y="1828800"/>
            <a:ext cx="68580" cy="1783080"/>
          </a:xfrm>
          <a:prstGeom prst="rect">
            <a:avLst/>
          </a:prstGeom>
          <a:solidFill>
            <a:srgbClr val="5AA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43000" y="2075688"/>
            <a:ext cx="9814255" cy="1371600"/>
          </a:xfrm>
          <a:prstGeom prst="rect">
            <a:avLst/>
          </a:prstGeom>
          <a:noFill/>
        </p:spPr>
        <p:txBody>
          <a:bodyPr wrap="square" lIns="0" rIns="0" tIns="0" bIns="0" anchor="t">
            <a:spAutoFit/>
          </a:bodyPr>
          <a:lstStyle/>
          <a:p>
            <a:pPr algn="l">
              <a:lnSpc>
                <a:spcPct val="128000"/>
              </a:lnSpc>
              <a:spcAft>
                <a:spcPts val="0"/>
              </a:spcAft>
            </a:pPr>
            <a:r>
              <a:rPr sz="1600" b="0" i="0">
                <a:solidFill>
                  <a:srgbClr val="E8ECF2"/>
                </a:solidFill>
                <a:latin typeface="Calibri"/>
              </a:rPr>
              <a:t>A policy and enforcement platform that applies reusable safeguards to LLM applications and gateways. A team may connect its existing gateway to a hosted Evaluation API, consume a fully managed guarded gateway, or deploy the same guardrail runtime inside its own AWS account. Policies remain portable across all three, while operational ownership and content exposure are explicitly defined for each.</a:t>
            </a:r>
          </a:p>
        </p:txBody>
      </p:sp>
      <p:sp>
        <p:nvSpPr>
          <p:cNvPr id="9" name="Rectangle 8"/>
          <p:cNvSpPr/>
          <p:nvPr/>
        </p:nvSpPr>
        <p:spPr>
          <a:xfrm>
            <a:off x="685800" y="3963924"/>
            <a:ext cx="77724" cy="77724"/>
          </a:xfrm>
          <a:prstGeom prst="rect">
            <a:avLst/>
          </a:prstGeom>
          <a:solidFill>
            <a:srgbClr val="5AA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3886200"/>
            <a:ext cx="10545775" cy="365760"/>
          </a:xfrm>
          <a:prstGeom prst="rect">
            <a:avLst/>
          </a:prstGeom>
          <a:noFill/>
        </p:spPr>
        <p:txBody>
          <a:bodyPr wrap="square" lIns="0" rIns="0" tIns="0" bIns="0" anchor="t">
            <a:spAutoFit/>
          </a:bodyPr>
          <a:lstStyle/>
          <a:p>
            <a:pPr algn="l">
              <a:lnSpc>
                <a:spcPct val="115000"/>
              </a:lnSpc>
              <a:spcAft>
                <a:spcPts val="100"/>
              </a:spcAft>
            </a:pPr>
            <a:r>
              <a:rPr sz="1250" b="1" i="0">
                <a:solidFill>
                  <a:srgbClr val="E8ECF2"/>
                </a:solidFill>
                <a:latin typeface="Calibri"/>
              </a:rPr>
              <a:t>It evaluates content at two points</a:t>
            </a:r>
          </a:p>
          <a:p>
            <a:pPr algn="l">
              <a:lnSpc>
                <a:spcPct val="115000"/>
              </a:lnSpc>
              <a:spcAft>
                <a:spcPts val="0"/>
              </a:spcAft>
            </a:pPr>
            <a:r>
              <a:rPr sz="1050" b="0" i="0">
                <a:solidFill>
                  <a:srgbClr val="98A4B3"/>
                </a:solidFill>
                <a:latin typeface="Calibri"/>
              </a:rPr>
              <a:t>The prompt before the model call, and the response after it. Nothing else is evaluated in the first phases — not retrieved documents, not tool arguments, not conversation history.</a:t>
            </a:r>
          </a:p>
        </p:txBody>
      </p:sp>
      <p:sp>
        <p:nvSpPr>
          <p:cNvPr id="11" name="Rectangle 10"/>
          <p:cNvSpPr/>
          <p:nvPr/>
        </p:nvSpPr>
        <p:spPr>
          <a:xfrm>
            <a:off x="685800" y="4713732"/>
            <a:ext cx="77724" cy="77724"/>
          </a:xfrm>
          <a:prstGeom prst="rect">
            <a:avLst/>
          </a:prstGeom>
          <a:solidFill>
            <a:srgbClr val="5AA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0120" y="4636008"/>
            <a:ext cx="10545775" cy="365760"/>
          </a:xfrm>
          <a:prstGeom prst="rect">
            <a:avLst/>
          </a:prstGeom>
          <a:noFill/>
        </p:spPr>
        <p:txBody>
          <a:bodyPr wrap="square" lIns="0" rIns="0" tIns="0" bIns="0" anchor="t">
            <a:spAutoFit/>
          </a:bodyPr>
          <a:lstStyle/>
          <a:p>
            <a:pPr algn="l">
              <a:lnSpc>
                <a:spcPct val="115000"/>
              </a:lnSpc>
              <a:spcAft>
                <a:spcPts val="100"/>
              </a:spcAft>
            </a:pPr>
            <a:r>
              <a:rPr sz="1250" b="1" i="0">
                <a:solidFill>
                  <a:srgbClr val="E8ECF2"/>
                </a:solidFill>
                <a:latin typeface="Calibri"/>
              </a:rPr>
              <a:t>It returns a normalized decision</a:t>
            </a:r>
          </a:p>
          <a:p>
            <a:pPr algn="l">
              <a:lnSpc>
                <a:spcPct val="115000"/>
              </a:lnSpc>
              <a:spcAft>
                <a:spcPts val="0"/>
              </a:spcAft>
            </a:pPr>
            <a:r>
              <a:rPr sz="1050" b="0" i="0">
                <a:solidFill>
                  <a:srgbClr val="98A4B3"/>
                </a:solidFill>
                <a:latin typeface="Calibri"/>
              </a:rPr>
              <a:t>Allow, block, redact, or log only — with reason codes, the policy version that decided, and a correlation identifier that ties the decision to your own request logs.</a:t>
            </a:r>
          </a:p>
        </p:txBody>
      </p:sp>
      <p:sp>
        <p:nvSpPr>
          <p:cNvPr id="13" name="Rectangle 12"/>
          <p:cNvSpPr/>
          <p:nvPr/>
        </p:nvSpPr>
        <p:spPr>
          <a:xfrm>
            <a:off x="685800" y="5463540"/>
            <a:ext cx="77724" cy="77724"/>
          </a:xfrm>
          <a:prstGeom prst="rect">
            <a:avLst/>
          </a:prstGeom>
          <a:solidFill>
            <a:srgbClr val="5AA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60120" y="5385816"/>
            <a:ext cx="10545775" cy="365760"/>
          </a:xfrm>
          <a:prstGeom prst="rect">
            <a:avLst/>
          </a:prstGeom>
          <a:noFill/>
        </p:spPr>
        <p:txBody>
          <a:bodyPr wrap="square" lIns="0" rIns="0" tIns="0" bIns="0" anchor="t">
            <a:spAutoFit/>
          </a:bodyPr>
          <a:lstStyle/>
          <a:p>
            <a:pPr algn="l">
              <a:lnSpc>
                <a:spcPct val="115000"/>
              </a:lnSpc>
              <a:spcAft>
                <a:spcPts val="100"/>
              </a:spcAft>
            </a:pPr>
            <a:r>
              <a:rPr sz="1250" b="1" i="0">
                <a:solidFill>
                  <a:srgbClr val="E8ECF2"/>
                </a:solidFill>
                <a:latin typeface="Calibri"/>
              </a:rPr>
              <a:t>It records what it decided</a:t>
            </a:r>
          </a:p>
          <a:p>
            <a:pPr algn="l">
              <a:lnSpc>
                <a:spcPct val="115000"/>
              </a:lnSpc>
              <a:spcAft>
                <a:spcPts val="0"/>
              </a:spcAft>
            </a:pPr>
            <a:r>
              <a:rPr sz="1050" b="0" i="0">
                <a:solidFill>
                  <a:srgbClr val="98A4B3"/>
                </a:solidFill>
                <a:latin typeface="Calibri"/>
              </a:rPr>
              <a:t>Decision metadata is persisted. Raw prompts and responses are not, by default.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2161B"/>
        </a:solidFill>
        <a:effectLst/>
      </p:bgPr>
    </p:bg>
    <p:spTree>
      <p:nvGrpSpPr>
        <p:cNvPr id="1" name=""/>
        <p:cNvGrpSpPr/>
        <p:nvPr/>
      </p:nvGrpSpPr>
      <p:grpSpPr/>
      <p:sp>
        <p:nvSpPr>
          <p:cNvPr id="2" name="TextBox 1"/>
          <p:cNvSpPr txBox="1"/>
          <p:nvPr/>
        </p:nvSpPr>
        <p:spPr>
          <a:xfrm>
            <a:off x="685800" y="420624"/>
            <a:ext cx="10820095" cy="658368"/>
          </a:xfrm>
          <a:prstGeom prst="rect">
            <a:avLst/>
          </a:prstGeom>
          <a:noFill/>
        </p:spPr>
        <p:txBody>
          <a:bodyPr wrap="square" lIns="0" rIns="0" tIns="0" bIns="0" anchor="t">
            <a:spAutoFit/>
          </a:bodyPr>
          <a:lstStyle/>
          <a:p>
            <a:pPr algn="l">
              <a:lnSpc>
                <a:spcPct val="115000"/>
              </a:lnSpc>
              <a:spcAft>
                <a:spcPts val="0"/>
              </a:spcAft>
            </a:pPr>
            <a:r>
              <a:rPr sz="3000" b="1" i="0">
                <a:solidFill>
                  <a:srgbClr val="E8ECF2"/>
                </a:solidFill>
                <a:latin typeface="Calibri"/>
              </a:rPr>
              <a:t>Ownership vs. exposure, per mode</a:t>
            </a:r>
          </a:p>
        </p:txBody>
      </p:sp>
      <p:sp>
        <p:nvSpPr>
          <p:cNvPr id="3" name="Rectangle 2"/>
          <p:cNvSpPr/>
          <p:nvPr/>
        </p:nvSpPr>
        <p:spPr>
          <a:xfrm>
            <a:off x="685800" y="1188720"/>
            <a:ext cx="1234440" cy="41148"/>
          </a:xfrm>
          <a:prstGeom prst="rect">
            <a:avLst/>
          </a:prstGeom>
          <a:solidFill>
            <a:srgbClr val="5AA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298448"/>
            <a:ext cx="10820095" cy="365760"/>
          </a:xfrm>
          <a:prstGeom prst="rect">
            <a:avLst/>
          </a:prstGeom>
          <a:noFill/>
        </p:spPr>
        <p:txBody>
          <a:bodyPr wrap="square" lIns="0" rIns="0" tIns="0" bIns="0" anchor="t">
            <a:spAutoFit/>
          </a:bodyPr>
          <a:lstStyle/>
          <a:p>
            <a:pPr algn="l">
              <a:lnSpc>
                <a:spcPct val="115000"/>
              </a:lnSpc>
              <a:spcAft>
                <a:spcPts val="0"/>
              </a:spcAft>
            </a:pPr>
            <a:r>
              <a:rPr sz="1350" b="0" i="0">
                <a:solidFill>
                  <a:srgbClr val="98A4B3"/>
                </a:solidFill>
                <a:latin typeface="Calibri"/>
              </a:rPr>
              <a:t>Reduced operational burden never implies reduced data exposure. These are the exact statements the platform is held to.</a:t>
            </a:r>
          </a:p>
        </p:txBody>
      </p:sp>
      <p:sp>
        <p:nvSpPr>
          <p:cNvPr id="5" name="TextBox 4"/>
          <p:cNvSpPr txBox="1"/>
          <p:nvPr/>
        </p:nvSpPr>
        <p:spPr>
          <a:xfrm>
            <a:off x="685800" y="6217920"/>
            <a:ext cx="10820095" cy="292608"/>
          </a:xfrm>
          <a:prstGeom prst="rect">
            <a:avLst/>
          </a:prstGeom>
          <a:noFill/>
        </p:spPr>
        <p:txBody>
          <a:bodyPr wrap="square" lIns="0" rIns="0" tIns="0" bIns="0" anchor="t">
            <a:spAutoFit/>
          </a:bodyPr>
          <a:lstStyle/>
          <a:p>
            <a:pPr algn="l">
              <a:lnSpc>
                <a:spcPct val="115000"/>
              </a:lnSpc>
              <a:spcAft>
                <a:spcPts val="0"/>
              </a:spcAft>
            </a:pPr>
            <a:r>
              <a:rPr sz="900" b="0" i="0">
                <a:solidFill>
                  <a:srgbClr val="98A4B3"/>
                </a:solidFill>
                <a:latin typeface="Calibri"/>
              </a:rPr>
              <a:t>AI Guardrails · design intent and delivery plan — nothing built or piloted today</a:t>
            </a:r>
          </a:p>
        </p:txBody>
      </p:sp>
      <p:graphicFrame>
        <p:nvGraphicFramePr>
          <p:cNvPr id="6" name="Table 5"/>
          <p:cNvGraphicFramePr>
            <a:graphicFrameLocks noGrp="1"/>
          </p:cNvGraphicFramePr>
          <p:nvPr/>
        </p:nvGraphicFramePr>
        <p:xfrm>
          <a:off x="685800" y="1828800"/>
          <a:ext cx="10820094" cy="3246120"/>
        </p:xfrm>
        <a:graphic>
          <a:graphicData uri="http://schemas.openxmlformats.org/drawingml/2006/table">
            <a:tbl>
              <a:tblPr firstRow="1">
                <a:tableStyleId>{5C22544A-7EE6-4342-B048-85BDC9FD1C3A}</a:tableStyleId>
              </a:tblPr>
              <a:tblGrid>
                <a:gridCol w="2055818"/>
                <a:gridCol w="4328038"/>
                <a:gridCol w="4436238"/>
              </a:tblGrid>
              <a:tr h="365760">
                <a:tc>
                  <a:txBody>
                    <a:bodyPr wrap="square"/>
                    <a:lstStyle/>
                    <a:p>
                      <a:pPr algn="l">
                        <a:lnSpc>
                          <a:spcPct val="105000"/>
                        </a:lnSpc>
                        <a:spcAft>
                          <a:spcPts val="0"/>
                        </a:spcAft>
                      </a:pPr>
                      <a:r>
                        <a:rPr sz="1100" b="1" i="0">
                          <a:solidFill>
                            <a:srgbClr val="5AA0E0"/>
                          </a:solidFill>
                          <a:latin typeface="Calibri"/>
                        </a:rPr>
                        <a:t/>
                      </a:r>
                    </a:p>
                  </a:txBody>
                  <a:tcPr marL="91440" marR="91440" marT="45720" marB="45720" anchor="ctr">
                    <a:solidFill>
                      <a:srgbClr val="1D242C"/>
                    </a:solidFill>
                  </a:tcPr>
                </a:tc>
                <a:tc>
                  <a:txBody>
                    <a:bodyPr wrap="square"/>
                    <a:lstStyle/>
                    <a:p>
                      <a:pPr algn="l">
                        <a:lnSpc>
                          <a:spcPct val="105000"/>
                        </a:lnSpc>
                        <a:spcAft>
                          <a:spcPts val="0"/>
                        </a:spcAft>
                      </a:pPr>
                      <a:r>
                        <a:rPr sz="1100" b="1" i="0">
                          <a:solidFill>
                            <a:srgbClr val="5AA0E0"/>
                          </a:solidFill>
                          <a:latin typeface="Calibri"/>
                        </a:rPr>
                        <a:t>Who operates it</a:t>
                      </a:r>
                    </a:p>
                  </a:txBody>
                  <a:tcPr marL="91440" marR="91440" marT="45720" marB="45720" anchor="ctr">
                    <a:solidFill>
                      <a:srgbClr val="1D242C"/>
                    </a:solidFill>
                  </a:tcPr>
                </a:tc>
                <a:tc>
                  <a:txBody>
                    <a:bodyPr wrap="square"/>
                    <a:lstStyle/>
                    <a:p>
                      <a:pPr algn="l">
                        <a:lnSpc>
                          <a:spcPct val="105000"/>
                        </a:lnSpc>
                        <a:spcAft>
                          <a:spcPts val="0"/>
                        </a:spcAft>
                      </a:pPr>
                      <a:r>
                        <a:rPr sz="1100" b="1" i="0">
                          <a:solidFill>
                            <a:srgbClr val="5AA0E0"/>
                          </a:solidFill>
                          <a:latin typeface="Calibri"/>
                        </a:rPr>
                        <a:t>Where evaluated content goes</a:t>
                      </a:r>
                    </a:p>
                  </a:txBody>
                  <a:tcPr marL="91440" marR="91440" marT="45720" marB="45720" anchor="ctr">
                    <a:solidFill>
                      <a:srgbClr val="1D242C"/>
                    </a:solidFill>
                  </a:tcPr>
                </a:tc>
              </a:tr>
              <a:tr h="960120">
                <a:tc>
                  <a:txBody>
                    <a:bodyPr wrap="square"/>
                    <a:lstStyle/>
                    <a:p>
                      <a:pPr algn="l">
                        <a:lnSpc>
                          <a:spcPct val="105000"/>
                        </a:lnSpc>
                        <a:spcAft>
                          <a:spcPts val="0"/>
                        </a:spcAft>
                      </a:pPr>
                      <a:r>
                        <a:rPr sz="1150" b="1" i="0">
                          <a:solidFill>
                            <a:srgbClr val="E8ECF2"/>
                          </a:solidFill>
                          <a:latin typeface="Calibri"/>
                        </a:rPr>
                        <a:t>Mode A
Remote Evaluation</a:t>
                      </a:r>
                    </a:p>
                  </a:txBody>
                  <a:tcPr marL="91440" marR="91440" marT="45720" marB="45720" anchor="ctr">
                    <a:solidFill>
                      <a:srgbClr val="161C23"/>
                    </a:solidFill>
                  </a:tcPr>
                </a:tc>
                <a:tc>
                  <a:txBody>
                    <a:bodyPr wrap="square"/>
                    <a:lstStyle/>
                    <a:p>
                      <a:pPr algn="l">
                        <a:lnSpc>
                          <a:spcPct val="105000"/>
                        </a:lnSpc>
                        <a:spcAft>
                          <a:spcPts val="0"/>
                        </a:spcAft>
                      </a:pPr>
                      <a:r>
                        <a:rPr sz="1150" b="0" i="0">
                          <a:solidFill>
                            <a:srgbClr val="E8ECF2"/>
                          </a:solidFill>
                          <a:latin typeface="Calibri"/>
                        </a:rPr>
                        <a:t>You operate the gateway and hold your own model-provider credentials. We operate the Evaluation API, detection engines, and policy execution.</a:t>
                      </a:r>
                    </a:p>
                  </a:txBody>
                  <a:tcPr marL="91440" marR="91440" marT="45720" marB="45720" anchor="ctr">
                    <a:solidFill>
                      <a:srgbClr val="161C23"/>
                    </a:solidFill>
                  </a:tcPr>
                </a:tc>
                <a:tc>
                  <a:txBody>
                    <a:bodyPr wrap="square"/>
                    <a:lstStyle/>
                    <a:p>
                      <a:pPr algn="l">
                        <a:lnSpc>
                          <a:spcPct val="105000"/>
                        </a:lnSpc>
                        <a:spcAft>
                          <a:spcPts val="0"/>
                        </a:spcAft>
                      </a:pPr>
                      <a:r>
                        <a:rPr sz="1150" b="0" i="0">
                          <a:solidFill>
                            <a:srgbClr val="E06C5F"/>
                          </a:solidFill>
                          <a:latin typeface="Calibri"/>
                        </a:rPr>
                        <a:t>Prompts, responses, and any other evaluated content are transmitted to the hosted Evaluation API on every evaluated call. This is not a private-data or data-local model.</a:t>
                      </a:r>
                    </a:p>
                  </a:txBody>
                  <a:tcPr marL="91440" marR="91440" marT="45720" marB="45720" anchor="ctr">
                    <a:solidFill>
                      <a:srgbClr val="161C23"/>
                    </a:solidFill>
                  </a:tcPr>
                </a:tc>
              </a:tr>
              <a:tr h="960120">
                <a:tc>
                  <a:txBody>
                    <a:bodyPr wrap="square"/>
                    <a:lstStyle/>
                    <a:p>
                      <a:pPr algn="l">
                        <a:lnSpc>
                          <a:spcPct val="105000"/>
                        </a:lnSpc>
                        <a:spcAft>
                          <a:spcPts val="0"/>
                        </a:spcAft>
                      </a:pPr>
                      <a:r>
                        <a:rPr sz="1150" b="1" i="0">
                          <a:solidFill>
                            <a:srgbClr val="E8ECF2"/>
                          </a:solidFill>
                          <a:latin typeface="Calibri"/>
                        </a:rPr>
                        <a:t>Mode B
Guarded Gateway</a:t>
                      </a:r>
                    </a:p>
                  </a:txBody>
                  <a:tcPr marL="91440" marR="91440" marT="45720" marB="45720" anchor="ctr">
                    <a:solidFill>
                      <a:srgbClr val="12161B"/>
                    </a:solidFill>
                  </a:tcPr>
                </a:tc>
                <a:tc>
                  <a:txBody>
                    <a:bodyPr wrap="square"/>
                    <a:lstStyle/>
                    <a:p>
                      <a:pPr algn="l">
                        <a:lnSpc>
                          <a:spcPct val="105000"/>
                        </a:lnSpc>
                        <a:spcAft>
                          <a:spcPts val="0"/>
                        </a:spcAft>
                      </a:pPr>
                      <a:r>
                        <a:rPr sz="1150" b="0" i="0">
                          <a:solidFill>
                            <a:srgbClr val="E8ECF2"/>
                          </a:solidFill>
                          <a:latin typeface="Calibri"/>
                        </a:rPr>
                        <a:t>We operate the gateway and the guardrail runtime, and hold or broker model-provider credentials. You operate the application.</a:t>
                      </a:r>
                    </a:p>
                  </a:txBody>
                  <a:tcPr marL="91440" marR="91440" marT="45720" marB="45720" anchor="ctr">
                    <a:solidFill>
                      <a:srgbClr val="12161B"/>
                    </a:solidFill>
                  </a:tcPr>
                </a:tc>
                <a:tc>
                  <a:txBody>
                    <a:bodyPr wrap="square"/>
                    <a:lstStyle/>
                    <a:p>
                      <a:pPr algn="l">
                        <a:lnSpc>
                          <a:spcPct val="105000"/>
                        </a:lnSpc>
                        <a:spcAft>
                          <a:spcPts val="0"/>
                        </a:spcAft>
                      </a:pPr>
                      <a:r>
                        <a:rPr sz="1150" b="0" i="0">
                          <a:solidFill>
                            <a:srgbClr val="E06C5F"/>
                          </a:solidFill>
                          <a:latin typeface="Calibri"/>
                        </a:rPr>
                        <a:t>Content passes through the provider-operated gateway — guardrails, routing, and model invocation all sit inside our boundary.</a:t>
                      </a:r>
                    </a:p>
                  </a:txBody>
                  <a:tcPr marL="91440" marR="91440" marT="45720" marB="45720" anchor="ctr">
                    <a:solidFill>
                      <a:srgbClr val="12161B"/>
                    </a:solidFill>
                  </a:tcPr>
                </a:tc>
              </a:tr>
              <a:tr h="960120">
                <a:tc>
                  <a:txBody>
                    <a:bodyPr wrap="square"/>
                    <a:lstStyle/>
                    <a:p>
                      <a:pPr algn="l">
                        <a:lnSpc>
                          <a:spcPct val="105000"/>
                        </a:lnSpc>
                        <a:spcAft>
                          <a:spcPts val="0"/>
                        </a:spcAft>
                      </a:pPr>
                      <a:r>
                        <a:rPr sz="1150" b="1" i="0">
                          <a:solidFill>
                            <a:srgbClr val="E8ECF2"/>
                          </a:solidFill>
                          <a:latin typeface="Calibri"/>
                        </a:rPr>
                        <a:t>Mode C
Customer-Managed Runtime</a:t>
                      </a:r>
                    </a:p>
                  </a:txBody>
                  <a:tcPr marL="91440" marR="91440" marT="45720" marB="45720" anchor="ctr">
                    <a:solidFill>
                      <a:srgbClr val="161C23"/>
                    </a:solidFill>
                  </a:tcPr>
                </a:tc>
                <a:tc>
                  <a:txBody>
                    <a:bodyPr wrap="square"/>
                    <a:lstStyle/>
                    <a:p>
                      <a:pPr algn="l">
                        <a:lnSpc>
                          <a:spcPct val="105000"/>
                        </a:lnSpc>
                        <a:spcAft>
                          <a:spcPts val="0"/>
                        </a:spcAft>
                      </a:pPr>
                      <a:r>
                        <a:rPr sz="1150" b="0" i="0">
                          <a:solidFill>
                            <a:srgbClr val="E8ECF2"/>
                          </a:solidFill>
                          <a:latin typeface="Calibri"/>
                        </a:rPr>
                        <a:t>You operate the runtime infrastructure, availability, networking, and local audit storage. We supply the runtime software and policy schemas.</a:t>
                      </a:r>
                    </a:p>
                  </a:txBody>
                  <a:tcPr marL="91440" marR="91440" marT="45720" marB="45720" anchor="ctr">
                    <a:solidFill>
                      <a:srgbClr val="161C23"/>
                    </a:solidFill>
                  </a:tcPr>
                </a:tc>
                <a:tc>
                  <a:txBody>
                    <a:bodyPr wrap="square"/>
                    <a:lstStyle/>
                    <a:p>
                      <a:pPr algn="l">
                        <a:lnSpc>
                          <a:spcPct val="105000"/>
                        </a:lnSpc>
                        <a:spcAft>
                          <a:spcPts val="0"/>
                        </a:spcAft>
                      </a:pPr>
                      <a:r>
                        <a:rPr sz="1150" b="0" i="0">
                          <a:solidFill>
                            <a:srgbClr val="4FB477"/>
                          </a:solidFill>
                          <a:latin typeface="Calibri"/>
                        </a:rPr>
                        <a:t>Raw content stays inside your AWS account by default. Only telemetry you explicitly configure leaves — down to none at all.</a:t>
                      </a:r>
                    </a:p>
                  </a:txBody>
                  <a:tcPr marL="91440" marR="91440" marT="45720" marB="45720" anchor="ctr">
                    <a:solidFill>
                      <a:srgbClr val="161C23"/>
                    </a:solidFill>
                  </a:tcPr>
                </a:tc>
              </a:tr>
            </a:tbl>
          </a:graphicData>
        </a:graphic>
      </p:graphicFrame>
      <p:sp>
        <p:nvSpPr>
          <p:cNvPr id="7" name="TextBox 6"/>
          <p:cNvSpPr txBox="1"/>
          <p:nvPr/>
        </p:nvSpPr>
        <p:spPr>
          <a:xfrm>
            <a:off x="685800" y="5596128"/>
            <a:ext cx="10820095" cy="457200"/>
          </a:xfrm>
          <a:prstGeom prst="rect">
            <a:avLst/>
          </a:prstGeom>
          <a:noFill/>
        </p:spPr>
        <p:txBody>
          <a:bodyPr wrap="square" lIns="0" rIns="0" tIns="0" bIns="0" anchor="t">
            <a:spAutoFit/>
          </a:bodyPr>
          <a:lstStyle/>
          <a:p>
            <a:pPr algn="l">
              <a:lnSpc>
                <a:spcPct val="115000"/>
              </a:lnSpc>
              <a:spcAft>
                <a:spcPts val="0"/>
              </a:spcAft>
            </a:pPr>
            <a:r>
              <a:rPr sz="1150" b="0" i="0">
                <a:solidFill>
                  <a:srgbClr val="98A4B3"/>
                </a:solidFill>
                <a:latin typeface="Calibri"/>
              </a:rPr>
              <a:t>In the hosted runtime, raw prompts and responses are not persisted by default — decision metadata is. Any retention requires explicit tenant-level configuration; it is a default, not an absolute guarantee.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2161B"/>
        </a:solidFill>
        <a:effectLst/>
      </p:bgPr>
    </p:bg>
    <p:spTree>
      <p:nvGrpSpPr>
        <p:cNvPr id="1" name=""/>
        <p:cNvGrpSpPr/>
        <p:nvPr/>
      </p:nvGrpSpPr>
      <p:grpSpPr/>
      <p:sp>
        <p:nvSpPr>
          <p:cNvPr id="2" name="TextBox 1"/>
          <p:cNvSpPr txBox="1"/>
          <p:nvPr/>
        </p:nvSpPr>
        <p:spPr>
          <a:xfrm>
            <a:off x="685800" y="420624"/>
            <a:ext cx="10820095" cy="658368"/>
          </a:xfrm>
          <a:prstGeom prst="rect">
            <a:avLst/>
          </a:prstGeom>
          <a:noFill/>
        </p:spPr>
        <p:txBody>
          <a:bodyPr wrap="square" lIns="0" rIns="0" tIns="0" bIns="0" anchor="t">
            <a:spAutoFit/>
          </a:bodyPr>
          <a:lstStyle/>
          <a:p>
            <a:pPr algn="l">
              <a:lnSpc>
                <a:spcPct val="115000"/>
              </a:lnSpc>
              <a:spcAft>
                <a:spcPts val="0"/>
              </a:spcAft>
            </a:pPr>
            <a:r>
              <a:rPr sz="3000" b="1" i="0">
                <a:solidFill>
                  <a:srgbClr val="E8ECF2"/>
                </a:solidFill>
                <a:latin typeface="Calibri"/>
              </a:rPr>
              <a:t>The three modes, in your terms</a:t>
            </a:r>
          </a:p>
        </p:txBody>
      </p:sp>
      <p:sp>
        <p:nvSpPr>
          <p:cNvPr id="3" name="Rectangle 2"/>
          <p:cNvSpPr/>
          <p:nvPr/>
        </p:nvSpPr>
        <p:spPr>
          <a:xfrm>
            <a:off x="685800" y="1188720"/>
            <a:ext cx="1234440" cy="41148"/>
          </a:xfrm>
          <a:prstGeom prst="rect">
            <a:avLst/>
          </a:prstGeom>
          <a:solidFill>
            <a:srgbClr val="5AA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298448"/>
            <a:ext cx="10820095" cy="365760"/>
          </a:xfrm>
          <a:prstGeom prst="rect">
            <a:avLst/>
          </a:prstGeom>
          <a:noFill/>
        </p:spPr>
        <p:txBody>
          <a:bodyPr wrap="square" lIns="0" rIns="0" tIns="0" bIns="0" anchor="t">
            <a:spAutoFit/>
          </a:bodyPr>
          <a:lstStyle/>
          <a:p>
            <a:pPr algn="l">
              <a:lnSpc>
                <a:spcPct val="115000"/>
              </a:lnSpc>
              <a:spcAft>
                <a:spcPts val="0"/>
              </a:spcAft>
            </a:pPr>
            <a:r>
              <a:rPr sz="1350" b="0" i="0">
                <a:solidFill>
                  <a:srgbClr val="98A4B3"/>
                </a:solidFill>
                <a:latin typeface="Calibri"/>
              </a:rPr>
              <a:t>A choice about ownership and residency — not a maturity ladder, and not equally available today.</a:t>
            </a:r>
          </a:p>
        </p:txBody>
      </p:sp>
      <p:sp>
        <p:nvSpPr>
          <p:cNvPr id="5" name="TextBox 4"/>
          <p:cNvSpPr txBox="1"/>
          <p:nvPr/>
        </p:nvSpPr>
        <p:spPr>
          <a:xfrm>
            <a:off x="685800" y="6217920"/>
            <a:ext cx="10820095" cy="292608"/>
          </a:xfrm>
          <a:prstGeom prst="rect">
            <a:avLst/>
          </a:prstGeom>
          <a:noFill/>
        </p:spPr>
        <p:txBody>
          <a:bodyPr wrap="square" lIns="0" rIns="0" tIns="0" bIns="0" anchor="t">
            <a:spAutoFit/>
          </a:bodyPr>
          <a:lstStyle/>
          <a:p>
            <a:pPr algn="l">
              <a:lnSpc>
                <a:spcPct val="115000"/>
              </a:lnSpc>
              <a:spcAft>
                <a:spcPts val="0"/>
              </a:spcAft>
            </a:pPr>
            <a:r>
              <a:rPr sz="900" b="0" i="0">
                <a:solidFill>
                  <a:srgbClr val="98A4B3"/>
                </a:solidFill>
                <a:latin typeface="Calibri"/>
              </a:rPr>
              <a:t>AI Guardrails · design intent and delivery plan — nothing built or piloted today</a:t>
            </a:r>
          </a:p>
        </p:txBody>
      </p:sp>
      <p:sp>
        <p:nvSpPr>
          <p:cNvPr id="6" name="Rounded Rectangle 5"/>
          <p:cNvSpPr/>
          <p:nvPr/>
        </p:nvSpPr>
        <p:spPr>
          <a:xfrm>
            <a:off x="685800" y="1828800"/>
            <a:ext cx="3465576" cy="3703320"/>
          </a:xfrm>
          <a:prstGeom prst="roundRect">
            <a:avLst>
              <a:gd name="adj" fmla="val 4000"/>
            </a:avLst>
          </a:prstGeom>
          <a:solidFill>
            <a:srgbClr val="161C23"/>
          </a:solidFill>
          <a:ln w="12700">
            <a:solidFill>
              <a:srgbClr val="2E39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85800" y="1828800"/>
            <a:ext cx="3465576" cy="475488"/>
          </a:xfrm>
          <a:prstGeom prst="roundRect">
            <a:avLst>
              <a:gd name="adj" fmla="val 8000"/>
            </a:avLst>
          </a:prstGeom>
          <a:solidFill>
            <a:srgbClr val="1D242C"/>
          </a:solidFill>
          <a:ln w="12700">
            <a:solidFill>
              <a:srgbClr val="2E3945"/>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lnSpc>
                <a:spcPct val="115000"/>
              </a:lnSpc>
              <a:spcAft>
                <a:spcPts val="200"/>
              </a:spcAft>
            </a:pPr>
            <a:r>
              <a:rPr sz="1300" b="1" i="0">
                <a:solidFill>
                  <a:srgbClr val="E8ECF2"/>
                </a:solidFill>
                <a:latin typeface="Calibri"/>
              </a:rPr>
              <a:t>Mode A — Remote Evaluation</a:t>
            </a:r>
          </a:p>
        </p:txBody>
      </p:sp>
      <p:sp>
        <p:nvSpPr>
          <p:cNvPr id="8" name="TextBox 7"/>
          <p:cNvSpPr txBox="1"/>
          <p:nvPr/>
        </p:nvSpPr>
        <p:spPr>
          <a:xfrm>
            <a:off x="886968" y="2441448"/>
            <a:ext cx="3063240" cy="2926080"/>
          </a:xfrm>
          <a:prstGeom prst="rect">
            <a:avLst/>
          </a:prstGeom>
          <a:noFill/>
        </p:spPr>
        <p:txBody>
          <a:bodyPr wrap="square" lIns="0" rIns="0" tIns="0" bIns="0" anchor="t">
            <a:spAutoFit/>
          </a:bodyPr>
          <a:lstStyle/>
          <a:p>
            <a:pPr algn="l">
              <a:lnSpc>
                <a:spcPct val="120000"/>
              </a:lnSpc>
              <a:spcAft>
                <a:spcPts val="1000"/>
              </a:spcAft>
            </a:pPr>
            <a:r>
              <a:rPr sz="1400" b="1" i="0">
                <a:solidFill>
                  <a:srgbClr val="E8ECF2"/>
                </a:solidFill>
                <a:latin typeface="Calibri"/>
              </a:rPr>
              <a:t>You run the gateway.
We run the guardrail runtime.</a:t>
            </a:r>
          </a:p>
          <a:p>
            <a:pPr algn="l">
              <a:lnSpc>
                <a:spcPct val="115000"/>
              </a:lnSpc>
              <a:spcAft>
                <a:spcPts val="1000"/>
              </a:spcAft>
            </a:pPr>
            <a:r>
              <a:rPr sz="1150" b="0" i="0">
                <a:solidFill>
                  <a:srgbClr val="98A4B3"/>
                </a:solidFill>
                <a:latin typeface="Calibri"/>
              </a:rPr>
              <a:t>Team-owned LiteLLM calls our hosted Evaluation API before and after each model invocation.</a:t>
            </a:r>
          </a:p>
          <a:p>
            <a:pPr algn="l">
              <a:lnSpc>
                <a:spcPct val="115000"/>
              </a:lnSpc>
              <a:spcAft>
                <a:spcPts val="300"/>
              </a:spcAft>
            </a:pPr>
            <a:r>
              <a:rPr sz="1000" b="1" i="0">
                <a:solidFill>
                  <a:srgbClr val="5AA0E0"/>
                </a:solidFill>
                <a:latin typeface="Calibri"/>
              </a:rPr>
              <a:t>Best fit</a:t>
            </a:r>
          </a:p>
          <a:p>
            <a:pPr algn="l">
              <a:lnSpc>
                <a:spcPct val="115000"/>
              </a:lnSpc>
              <a:spcAft>
                <a:spcPts val="0"/>
              </a:spcAft>
            </a:pPr>
            <a:r>
              <a:rPr sz="1150" b="0" i="0">
                <a:solidFill>
                  <a:srgbClr val="98A4B3"/>
                </a:solidFill>
                <a:latin typeface="Calibri"/>
              </a:rPr>
              <a:t>Already operate a gateway; want to offload guardrail operations.</a:t>
            </a:r>
          </a:p>
        </p:txBody>
      </p:sp>
      <p:sp>
        <p:nvSpPr>
          <p:cNvPr id="9" name="Rounded Rectangle 8"/>
          <p:cNvSpPr/>
          <p:nvPr/>
        </p:nvSpPr>
        <p:spPr>
          <a:xfrm>
            <a:off x="4352544" y="1828800"/>
            <a:ext cx="3465576" cy="3703320"/>
          </a:xfrm>
          <a:prstGeom prst="roundRect">
            <a:avLst>
              <a:gd name="adj" fmla="val 4000"/>
            </a:avLst>
          </a:prstGeom>
          <a:solidFill>
            <a:srgbClr val="161C23"/>
          </a:solidFill>
          <a:ln w="12700">
            <a:solidFill>
              <a:srgbClr val="2E39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4352544" y="1828800"/>
            <a:ext cx="3465576" cy="475488"/>
          </a:xfrm>
          <a:prstGeom prst="roundRect">
            <a:avLst>
              <a:gd name="adj" fmla="val 8000"/>
            </a:avLst>
          </a:prstGeom>
          <a:solidFill>
            <a:srgbClr val="1D242C"/>
          </a:solidFill>
          <a:ln w="12700">
            <a:solidFill>
              <a:srgbClr val="2E3945"/>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lnSpc>
                <a:spcPct val="115000"/>
              </a:lnSpc>
              <a:spcAft>
                <a:spcPts val="200"/>
              </a:spcAft>
            </a:pPr>
            <a:r>
              <a:rPr sz="1300" b="1" i="0">
                <a:solidFill>
                  <a:srgbClr val="E8ECF2"/>
                </a:solidFill>
                <a:latin typeface="Calibri"/>
              </a:rPr>
              <a:t>Mode B — Guarded Gateway</a:t>
            </a:r>
          </a:p>
        </p:txBody>
      </p:sp>
      <p:sp>
        <p:nvSpPr>
          <p:cNvPr id="11" name="TextBox 10"/>
          <p:cNvSpPr txBox="1"/>
          <p:nvPr/>
        </p:nvSpPr>
        <p:spPr>
          <a:xfrm>
            <a:off x="4553712" y="2441448"/>
            <a:ext cx="3063240" cy="2926080"/>
          </a:xfrm>
          <a:prstGeom prst="rect">
            <a:avLst/>
          </a:prstGeom>
          <a:noFill/>
        </p:spPr>
        <p:txBody>
          <a:bodyPr wrap="square" lIns="0" rIns="0" tIns="0" bIns="0" anchor="t">
            <a:spAutoFit/>
          </a:bodyPr>
          <a:lstStyle/>
          <a:p>
            <a:pPr algn="l">
              <a:lnSpc>
                <a:spcPct val="120000"/>
              </a:lnSpc>
              <a:spcAft>
                <a:spcPts val="1000"/>
              </a:spcAft>
            </a:pPr>
            <a:r>
              <a:rPr sz="1400" b="1" i="0">
                <a:solidFill>
                  <a:srgbClr val="E8ECF2"/>
                </a:solidFill>
                <a:latin typeface="Calibri"/>
              </a:rPr>
              <a:t>We run the gateway
and the guardrail runtime.</a:t>
            </a:r>
          </a:p>
          <a:p>
            <a:pPr algn="l">
              <a:lnSpc>
                <a:spcPct val="115000"/>
              </a:lnSpc>
              <a:spcAft>
                <a:spcPts val="1000"/>
              </a:spcAft>
            </a:pPr>
            <a:r>
              <a:rPr sz="1150" b="0" i="0">
                <a:solidFill>
                  <a:srgbClr val="98A4B3"/>
                </a:solidFill>
                <a:latin typeface="Calibri"/>
              </a:rPr>
              <a:t>One provider-operated endpoint: guardrails, routing, invocation, and audit inside our boundary.</a:t>
            </a:r>
          </a:p>
          <a:p>
            <a:pPr algn="l">
              <a:lnSpc>
                <a:spcPct val="115000"/>
              </a:lnSpc>
              <a:spcAft>
                <a:spcPts val="300"/>
              </a:spcAft>
            </a:pPr>
            <a:r>
              <a:rPr sz="1000" b="1" i="0">
                <a:solidFill>
                  <a:srgbClr val="5AA0E0"/>
                </a:solidFill>
                <a:latin typeface="Calibri"/>
              </a:rPr>
              <a:t>Best fit</a:t>
            </a:r>
          </a:p>
          <a:p>
            <a:pPr algn="l">
              <a:lnSpc>
                <a:spcPct val="115000"/>
              </a:lnSpc>
              <a:spcAft>
                <a:spcPts val="0"/>
              </a:spcAft>
            </a:pPr>
            <a:r>
              <a:rPr sz="1150" b="0" i="0">
                <a:solidFill>
                  <a:srgbClr val="98A4B3"/>
                </a:solidFill>
                <a:latin typeface="Calibri"/>
              </a:rPr>
              <a:t>No gateway of your own; want a managed, OpenAI-compatible path.</a:t>
            </a:r>
          </a:p>
        </p:txBody>
      </p:sp>
      <p:sp>
        <p:nvSpPr>
          <p:cNvPr id="12" name="Rounded Rectangle 11"/>
          <p:cNvSpPr/>
          <p:nvPr/>
        </p:nvSpPr>
        <p:spPr>
          <a:xfrm>
            <a:off x="8019288" y="1828800"/>
            <a:ext cx="3465576" cy="3703320"/>
          </a:xfrm>
          <a:prstGeom prst="roundRect">
            <a:avLst>
              <a:gd name="adj" fmla="val 4000"/>
            </a:avLst>
          </a:prstGeom>
          <a:solidFill>
            <a:srgbClr val="161C23"/>
          </a:solidFill>
          <a:ln w="12700">
            <a:solidFill>
              <a:srgbClr val="2E39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8019288" y="1828800"/>
            <a:ext cx="3465576" cy="475488"/>
          </a:xfrm>
          <a:prstGeom prst="roundRect">
            <a:avLst>
              <a:gd name="adj" fmla="val 8000"/>
            </a:avLst>
          </a:prstGeom>
          <a:solidFill>
            <a:srgbClr val="2B4A69"/>
          </a:solidFill>
          <a:ln w="12700">
            <a:solidFill>
              <a:srgbClr val="5AA0E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lnSpc>
                <a:spcPct val="115000"/>
              </a:lnSpc>
              <a:spcAft>
                <a:spcPts val="200"/>
              </a:spcAft>
            </a:pPr>
            <a:r>
              <a:rPr sz="1300" b="1" i="0">
                <a:solidFill>
                  <a:srgbClr val="E8ECF2"/>
                </a:solidFill>
                <a:latin typeface="Calibri"/>
              </a:rPr>
              <a:t>Mode C — Customer-Managed Runtime</a:t>
            </a:r>
          </a:p>
        </p:txBody>
      </p:sp>
      <p:sp>
        <p:nvSpPr>
          <p:cNvPr id="14" name="TextBox 13"/>
          <p:cNvSpPr txBox="1"/>
          <p:nvPr/>
        </p:nvSpPr>
        <p:spPr>
          <a:xfrm>
            <a:off x="8220456" y="2441448"/>
            <a:ext cx="3063240" cy="2926080"/>
          </a:xfrm>
          <a:prstGeom prst="rect">
            <a:avLst/>
          </a:prstGeom>
          <a:noFill/>
        </p:spPr>
        <p:txBody>
          <a:bodyPr wrap="square" lIns="0" rIns="0" tIns="0" bIns="0" anchor="t">
            <a:spAutoFit/>
          </a:bodyPr>
          <a:lstStyle/>
          <a:p>
            <a:pPr algn="l">
              <a:lnSpc>
                <a:spcPct val="120000"/>
              </a:lnSpc>
              <a:spcAft>
                <a:spcPts val="1000"/>
              </a:spcAft>
            </a:pPr>
            <a:r>
              <a:rPr sz="1400" b="1" i="0">
                <a:solidFill>
                  <a:srgbClr val="E8ECF2"/>
                </a:solidFill>
                <a:latin typeface="Calibri"/>
              </a:rPr>
              <a:t>You run both, in your
own AWS account.</a:t>
            </a:r>
          </a:p>
          <a:p>
            <a:pPr algn="l">
              <a:lnSpc>
                <a:spcPct val="115000"/>
              </a:lnSpc>
              <a:spcAft>
                <a:spcPts val="1000"/>
              </a:spcAft>
            </a:pPr>
            <a:r>
              <a:rPr sz="1150" b="0" i="0">
                <a:solidFill>
                  <a:srgbClr val="98A4B3"/>
                </a:solidFill>
                <a:latin typeface="Calibri"/>
              </a:rPr>
              <a:t>The same runtime — policy cache, adapters, local audit — deployed inside your account.</a:t>
            </a:r>
          </a:p>
          <a:p>
            <a:pPr algn="l">
              <a:lnSpc>
                <a:spcPct val="115000"/>
              </a:lnSpc>
              <a:spcAft>
                <a:spcPts val="300"/>
              </a:spcAft>
            </a:pPr>
            <a:r>
              <a:rPr sz="1000" b="1" i="0">
                <a:solidFill>
                  <a:srgbClr val="5AA0E0"/>
                </a:solidFill>
                <a:latin typeface="Calibri"/>
              </a:rPr>
              <a:t>Best fit</a:t>
            </a:r>
          </a:p>
          <a:p>
            <a:pPr algn="l">
              <a:lnSpc>
                <a:spcPct val="115000"/>
              </a:lnSpc>
              <a:spcAft>
                <a:spcPts val="0"/>
              </a:spcAft>
            </a:pPr>
            <a:r>
              <a:rPr sz="1150" b="0" i="0">
                <a:solidFill>
                  <a:srgbClr val="98A4B3"/>
                </a:solidFill>
                <a:latin typeface="Calibri"/>
              </a:rPr>
              <a:t>Regulated, residency-bound, high-volume, or air-gapped workloads.</a:t>
            </a:r>
          </a:p>
        </p:txBody>
      </p:sp>
      <p:sp>
        <p:nvSpPr>
          <p:cNvPr id="15" name="TextBox 14"/>
          <p:cNvSpPr txBox="1"/>
          <p:nvPr/>
        </p:nvSpPr>
        <p:spPr>
          <a:xfrm>
            <a:off x="685800" y="5742432"/>
            <a:ext cx="10820095" cy="457200"/>
          </a:xfrm>
          <a:prstGeom prst="rect">
            <a:avLst/>
          </a:prstGeom>
          <a:noFill/>
        </p:spPr>
        <p:txBody>
          <a:bodyPr wrap="square" lIns="0" rIns="0" tIns="0" bIns="0" anchor="t">
            <a:spAutoFit/>
          </a:bodyPr>
          <a:lstStyle/>
          <a:p>
            <a:pPr algn="l">
              <a:lnSpc>
                <a:spcPct val="115000"/>
              </a:lnSpc>
              <a:spcAft>
                <a:spcPts val="0"/>
              </a:spcAft>
            </a:pPr>
            <a:r>
              <a:rPr sz="1150" b="0" i="0">
                <a:solidFill>
                  <a:srgbClr val="98A4B3"/>
                </a:solidFill>
                <a:latin typeface="Calibri"/>
              </a:rPr>
              <a:t>Availability matters to this decision: Remote Evaluation is the only mode delivered in the first two phases. The guarded gateway is Phase 3 and the customer-managed runtime is Phase 4 — so a workload that needs in-account evaluation cannot start now, whatever this review approves.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12161B"/>
        </a:solidFill>
        <a:effectLst/>
      </p:bgPr>
    </p:bg>
    <p:spTree>
      <p:nvGrpSpPr>
        <p:cNvPr id="1" name=""/>
        <p:cNvGrpSpPr/>
        <p:nvPr/>
      </p:nvGrpSpPr>
      <p:grpSpPr/>
      <p:sp>
        <p:nvSpPr>
          <p:cNvPr id="2" name="TextBox 1"/>
          <p:cNvSpPr txBox="1"/>
          <p:nvPr/>
        </p:nvSpPr>
        <p:spPr>
          <a:xfrm>
            <a:off x="685800" y="420624"/>
            <a:ext cx="10820095" cy="658368"/>
          </a:xfrm>
          <a:prstGeom prst="rect">
            <a:avLst/>
          </a:prstGeom>
          <a:noFill/>
        </p:spPr>
        <p:txBody>
          <a:bodyPr wrap="square" lIns="0" rIns="0" tIns="0" bIns="0" anchor="t">
            <a:spAutoFit/>
          </a:bodyPr>
          <a:lstStyle/>
          <a:p>
            <a:pPr algn="l">
              <a:lnSpc>
                <a:spcPct val="115000"/>
              </a:lnSpc>
              <a:spcAft>
                <a:spcPts val="0"/>
              </a:spcAft>
            </a:pPr>
            <a:r>
              <a:rPr sz="3000" b="1" i="0">
                <a:solidFill>
                  <a:srgbClr val="E8ECF2"/>
                </a:solidFill>
                <a:latin typeface="Calibri"/>
              </a:rPr>
              <a:t>Mode A — where content actually goes</a:t>
            </a:r>
          </a:p>
        </p:txBody>
      </p:sp>
      <p:sp>
        <p:nvSpPr>
          <p:cNvPr id="3" name="Rectangle 2"/>
          <p:cNvSpPr/>
          <p:nvPr/>
        </p:nvSpPr>
        <p:spPr>
          <a:xfrm>
            <a:off x="685800" y="1188720"/>
            <a:ext cx="1234440" cy="41148"/>
          </a:xfrm>
          <a:prstGeom prst="rect">
            <a:avLst/>
          </a:prstGeom>
          <a:solidFill>
            <a:srgbClr val="5AA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298448"/>
            <a:ext cx="10820095" cy="365760"/>
          </a:xfrm>
          <a:prstGeom prst="rect">
            <a:avLst/>
          </a:prstGeom>
          <a:noFill/>
        </p:spPr>
        <p:txBody>
          <a:bodyPr wrap="square" lIns="0" rIns="0" tIns="0" bIns="0" anchor="t">
            <a:spAutoFit/>
          </a:bodyPr>
          <a:lstStyle/>
          <a:p>
            <a:pPr algn="l">
              <a:lnSpc>
                <a:spcPct val="115000"/>
              </a:lnSpc>
              <a:spcAft>
                <a:spcPts val="0"/>
              </a:spcAft>
            </a:pPr>
            <a:r>
              <a:rPr sz="1350" b="0" i="0">
                <a:solidFill>
                  <a:srgbClr val="98A4B3"/>
                </a:solidFill>
                <a:latin typeface="Calibri"/>
              </a:rPr>
              <a:t>The team keeps its gateway and its model credentials. The evaluation calls leave; the model call does not.</a:t>
            </a:r>
          </a:p>
        </p:txBody>
      </p:sp>
      <p:sp>
        <p:nvSpPr>
          <p:cNvPr id="5" name="TextBox 4"/>
          <p:cNvSpPr txBox="1"/>
          <p:nvPr/>
        </p:nvSpPr>
        <p:spPr>
          <a:xfrm>
            <a:off x="685800" y="6217920"/>
            <a:ext cx="10820095" cy="292608"/>
          </a:xfrm>
          <a:prstGeom prst="rect">
            <a:avLst/>
          </a:prstGeom>
          <a:noFill/>
        </p:spPr>
        <p:txBody>
          <a:bodyPr wrap="square" lIns="0" rIns="0" tIns="0" bIns="0" anchor="t">
            <a:spAutoFit/>
          </a:bodyPr>
          <a:lstStyle/>
          <a:p>
            <a:pPr algn="l">
              <a:lnSpc>
                <a:spcPct val="115000"/>
              </a:lnSpc>
              <a:spcAft>
                <a:spcPts val="0"/>
              </a:spcAft>
            </a:pPr>
            <a:r>
              <a:rPr sz="900" b="0" i="0">
                <a:solidFill>
                  <a:srgbClr val="98A4B3"/>
                </a:solidFill>
                <a:latin typeface="Calibri"/>
              </a:rPr>
              <a:t>AI Guardrails · design intent and delivery plan — nothing built or piloted today</a:t>
            </a:r>
          </a:p>
        </p:txBody>
      </p:sp>
      <p:sp>
        <p:nvSpPr>
          <p:cNvPr id="6" name="Rounded Rectangle 5"/>
          <p:cNvSpPr/>
          <p:nvPr/>
        </p:nvSpPr>
        <p:spPr>
          <a:xfrm>
            <a:off x="685800" y="1874519"/>
            <a:ext cx="6263640" cy="2788920"/>
          </a:xfrm>
          <a:prstGeom prst="roundRect">
            <a:avLst>
              <a:gd name="adj" fmla="val 4000"/>
            </a:avLst>
          </a:prstGeom>
          <a:solidFill>
            <a:srgbClr val="161C23"/>
          </a:solidFill>
          <a:ln w="12700">
            <a:solidFill>
              <a:srgbClr val="2E39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011680"/>
            <a:ext cx="3657600" cy="457200"/>
          </a:xfrm>
          <a:prstGeom prst="rect">
            <a:avLst/>
          </a:prstGeom>
          <a:noFill/>
        </p:spPr>
        <p:txBody>
          <a:bodyPr wrap="square" lIns="0" rIns="0" tIns="0" bIns="0" anchor="t">
            <a:spAutoFit/>
          </a:bodyPr>
          <a:lstStyle/>
          <a:p>
            <a:pPr algn="l">
              <a:lnSpc>
                <a:spcPct val="115000"/>
              </a:lnSpc>
              <a:spcAft>
                <a:spcPts val="0"/>
              </a:spcAft>
            </a:pPr>
            <a:r>
              <a:rPr sz="1000" b="0" i="0">
                <a:solidFill>
                  <a:srgbClr val="98A4B3"/>
                </a:solidFill>
                <a:latin typeface="Calibri"/>
              </a:rPr>
              <a:t>TEAM'S OWN ENVIRONMENT</a:t>
            </a:r>
          </a:p>
        </p:txBody>
      </p:sp>
      <p:sp>
        <p:nvSpPr>
          <p:cNvPr id="8" name="Rounded Rectangle 7"/>
          <p:cNvSpPr/>
          <p:nvPr/>
        </p:nvSpPr>
        <p:spPr>
          <a:xfrm>
            <a:off x="8138160" y="1874519"/>
            <a:ext cx="3364992" cy="2788920"/>
          </a:xfrm>
          <a:prstGeom prst="roundRect">
            <a:avLst>
              <a:gd name="adj" fmla="val 4000"/>
            </a:avLst>
          </a:prstGeom>
          <a:solidFill>
            <a:srgbClr val="161C23"/>
          </a:solidFill>
          <a:ln w="12700">
            <a:solidFill>
              <a:srgbClr val="2E39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39327" y="2011680"/>
            <a:ext cx="3017520" cy="457200"/>
          </a:xfrm>
          <a:prstGeom prst="rect">
            <a:avLst/>
          </a:prstGeom>
          <a:noFill/>
        </p:spPr>
        <p:txBody>
          <a:bodyPr wrap="square" lIns="0" rIns="0" tIns="0" bIns="0" anchor="t">
            <a:spAutoFit/>
          </a:bodyPr>
          <a:lstStyle/>
          <a:p>
            <a:pPr algn="l">
              <a:lnSpc>
                <a:spcPct val="115000"/>
              </a:lnSpc>
              <a:spcAft>
                <a:spcPts val="0"/>
              </a:spcAft>
            </a:pPr>
            <a:r>
              <a:rPr sz="1000" b="0" i="0">
                <a:solidFill>
                  <a:srgbClr val="98A4B3"/>
                </a:solidFill>
                <a:latin typeface="Calibri"/>
              </a:rPr>
              <a:t>AI GUARDRAILS HOSTED ACCOUNT</a:t>
            </a:r>
          </a:p>
        </p:txBody>
      </p:sp>
      <p:sp>
        <p:nvSpPr>
          <p:cNvPr id="10" name="Rounded Rectangle 9"/>
          <p:cNvSpPr/>
          <p:nvPr/>
        </p:nvSpPr>
        <p:spPr>
          <a:xfrm>
            <a:off x="1097280" y="2441448"/>
            <a:ext cx="1737360" cy="530352"/>
          </a:xfrm>
          <a:prstGeom prst="roundRect">
            <a:avLst>
              <a:gd name="adj" fmla="val 8000"/>
            </a:avLst>
          </a:prstGeom>
          <a:solidFill>
            <a:srgbClr val="1D242C"/>
          </a:solidFill>
          <a:ln w="12700">
            <a:solidFill>
              <a:srgbClr val="2E3945"/>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lnSpc>
                <a:spcPct val="115000"/>
              </a:lnSpc>
              <a:spcAft>
                <a:spcPts val="200"/>
              </a:spcAft>
            </a:pPr>
            <a:r>
              <a:rPr sz="1200" b="0" i="0">
                <a:solidFill>
                  <a:srgbClr val="E8ECF2"/>
                </a:solidFill>
                <a:latin typeface="Calibri"/>
              </a:rPr>
              <a:t>Application</a:t>
            </a:r>
          </a:p>
        </p:txBody>
      </p:sp>
      <p:cxnSp>
        <p:nvCxnSpPr>
          <p:cNvPr id="11" name="Connector 10"/>
          <p:cNvCxnSpPr/>
          <p:nvPr/>
        </p:nvCxnSpPr>
        <p:spPr>
          <a:xfrm>
            <a:off x="2852928" y="2706624"/>
            <a:ext cx="420624" cy="0"/>
          </a:xfrm>
          <a:prstGeom prst="line">
            <a:avLst/>
          </a:prstGeom>
          <a:ln w="15875">
            <a:solidFill>
              <a:srgbClr val="5AA0E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3291840" y="2350008"/>
            <a:ext cx="3246120" cy="1874519"/>
          </a:xfrm>
          <a:prstGeom prst="roundRect">
            <a:avLst>
              <a:gd name="adj" fmla="val 8000"/>
            </a:avLst>
          </a:prstGeom>
          <a:solidFill>
            <a:srgbClr val="1D242C"/>
          </a:solidFill>
          <a:ln w="12700">
            <a:solidFill>
              <a:srgbClr val="2E3945"/>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lnSpc>
                <a:spcPct val="115000"/>
              </a:lnSpc>
              <a:spcAft>
                <a:spcPts val="200"/>
              </a:spcAft>
            </a:pPr>
            <a:r>
              <a:rPr sz="1300" b="1" i="0">
                <a:solidFill>
                  <a:srgbClr val="E8ECF2"/>
                </a:solidFill>
                <a:latin typeface="Calibri"/>
              </a:rPr>
              <a:t>Team-owned LiteLLM</a:t>
            </a:r>
          </a:p>
          <a:p>
            <a:pPr algn="ctr">
              <a:lnSpc>
                <a:spcPct val="115000"/>
              </a:lnSpc>
              <a:spcAft>
                <a:spcPts val="200"/>
              </a:spcAft>
            </a:pPr>
            <a:r>
              <a:rPr sz="1150" b="0" i="0">
                <a:solidFill>
                  <a:srgbClr val="98A4B3"/>
                </a:solidFill>
                <a:latin typeface="Calibri"/>
              </a:rPr>
              <a:t>(or equivalent gateway)</a:t>
            </a:r>
          </a:p>
          <a:p>
            <a:pPr algn="ctr">
              <a:lnSpc>
                <a:spcPct val="115000"/>
              </a:lnSpc>
              <a:spcAft>
                <a:spcPts val="200"/>
              </a:spcAft>
            </a:pPr>
            <a:r>
              <a:rPr sz="1150" b="0" i="0">
                <a:solidFill>
                  <a:srgbClr val="98A4B3"/>
                </a:solidFill>
                <a:latin typeface="Calibri"/>
              </a:rPr>
              <a:t/>
            </a:r>
          </a:p>
          <a:p>
            <a:pPr algn="ctr">
              <a:lnSpc>
                <a:spcPct val="115000"/>
              </a:lnSpc>
              <a:spcAft>
                <a:spcPts val="200"/>
              </a:spcAft>
            </a:pPr>
            <a:r>
              <a:rPr sz="1150" b="0" i="0">
                <a:solidFill>
                  <a:srgbClr val="98A4B3"/>
                </a:solidFill>
                <a:latin typeface="Calibri"/>
              </a:rPr>
              <a:t>Holds the team's own model-provider credentials</a:t>
            </a:r>
          </a:p>
        </p:txBody>
      </p:sp>
      <p:sp>
        <p:nvSpPr>
          <p:cNvPr id="13" name="Rounded Rectangle 12"/>
          <p:cNvSpPr/>
          <p:nvPr/>
        </p:nvSpPr>
        <p:spPr>
          <a:xfrm>
            <a:off x="1097280" y="3593591"/>
            <a:ext cx="1737360" cy="530352"/>
          </a:xfrm>
          <a:prstGeom prst="roundRect">
            <a:avLst>
              <a:gd name="adj" fmla="val 8000"/>
            </a:avLst>
          </a:prstGeom>
          <a:solidFill>
            <a:srgbClr val="161C23"/>
          </a:solidFill>
          <a:ln w="12700">
            <a:solidFill>
              <a:srgbClr val="2E3945"/>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lnSpc>
                <a:spcPct val="115000"/>
              </a:lnSpc>
              <a:spcAft>
                <a:spcPts val="200"/>
              </a:spcAft>
            </a:pPr>
            <a:r>
              <a:rPr sz="1200" b="0" i="0">
                <a:solidFill>
                  <a:srgbClr val="E8ECF2"/>
                </a:solidFill>
                <a:latin typeface="Calibri"/>
              </a:rPr>
              <a:t>Model provider</a:t>
            </a:r>
          </a:p>
        </p:txBody>
      </p:sp>
      <p:cxnSp>
        <p:nvCxnSpPr>
          <p:cNvPr id="14" name="Connector 13"/>
          <p:cNvCxnSpPr/>
          <p:nvPr/>
        </p:nvCxnSpPr>
        <p:spPr>
          <a:xfrm flipH="1">
            <a:off x="2852928" y="3858768"/>
            <a:ext cx="420624" cy="0"/>
          </a:xfrm>
          <a:prstGeom prst="line">
            <a:avLst/>
          </a:prstGeom>
          <a:ln w="15875">
            <a:solidFill>
              <a:srgbClr val="2E3945"/>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8503920" y="2587752"/>
            <a:ext cx="2788920" cy="1371600"/>
          </a:xfrm>
          <a:prstGeom prst="roundRect">
            <a:avLst>
              <a:gd name="adj" fmla="val 8000"/>
            </a:avLst>
          </a:prstGeom>
          <a:solidFill>
            <a:srgbClr val="1D242C"/>
          </a:solidFill>
          <a:ln w="12700">
            <a:solidFill>
              <a:srgbClr val="5AA0E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lnSpc>
                <a:spcPct val="115000"/>
              </a:lnSpc>
              <a:spcAft>
                <a:spcPts val="200"/>
              </a:spcAft>
            </a:pPr>
            <a:r>
              <a:rPr sz="1300" b="1" i="0">
                <a:solidFill>
                  <a:srgbClr val="E8ECF2"/>
                </a:solidFill>
                <a:latin typeface="Calibri"/>
              </a:rPr>
              <a:t>Hosted Guardrails Runtime</a:t>
            </a:r>
          </a:p>
          <a:p>
            <a:pPr algn="ctr">
              <a:lnSpc>
                <a:spcPct val="115000"/>
              </a:lnSpc>
              <a:spcAft>
                <a:spcPts val="200"/>
              </a:spcAft>
            </a:pPr>
            <a:r>
              <a:rPr sz="1150" b="0" i="0">
                <a:solidFill>
                  <a:srgbClr val="98A4B3"/>
                </a:solidFill>
                <a:latin typeface="Calibri"/>
              </a:rPr>
              <a:t>Evaluation API · policy execution · detection engines</a:t>
            </a:r>
          </a:p>
        </p:txBody>
      </p:sp>
      <p:cxnSp>
        <p:nvCxnSpPr>
          <p:cNvPr id="16" name="Connector 15"/>
          <p:cNvCxnSpPr/>
          <p:nvPr/>
        </p:nvCxnSpPr>
        <p:spPr>
          <a:xfrm>
            <a:off x="6556248" y="2743200"/>
            <a:ext cx="1929384" cy="246888"/>
          </a:xfrm>
          <a:prstGeom prst="line">
            <a:avLst/>
          </a:prstGeom>
          <a:ln w="15875">
            <a:solidFill>
              <a:srgbClr val="5AA0E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6903720" y="2313432"/>
            <a:ext cx="1188720" cy="512064"/>
          </a:xfrm>
          <a:prstGeom prst="rect">
            <a:avLst/>
          </a:prstGeom>
          <a:noFill/>
        </p:spPr>
        <p:txBody>
          <a:bodyPr wrap="square" lIns="0" rIns="0" tIns="0" bIns="0" anchor="t">
            <a:spAutoFit/>
          </a:bodyPr>
          <a:lstStyle/>
          <a:p>
            <a:pPr algn="ctr">
              <a:lnSpc>
                <a:spcPct val="110000"/>
              </a:lnSpc>
              <a:spcAft>
                <a:spcPts val="0"/>
              </a:spcAft>
            </a:pPr>
            <a:r>
              <a:rPr sz="950" b="0" i="0">
                <a:solidFill>
                  <a:srgbClr val="98A4B3"/>
                </a:solidFill>
                <a:latin typeface="Calibri"/>
              </a:rPr>
              <a:t>input</a:t>
            </a:r>
          </a:p>
          <a:p>
            <a:pPr algn="ctr">
              <a:lnSpc>
                <a:spcPct val="110000"/>
              </a:lnSpc>
              <a:spcAft>
                <a:spcPts val="0"/>
              </a:spcAft>
            </a:pPr>
            <a:r>
              <a:rPr sz="950" b="0" i="0">
                <a:solidFill>
                  <a:srgbClr val="98A4B3"/>
                </a:solidFill>
                <a:latin typeface="Calibri"/>
              </a:rPr>
              <a:t>evaluation</a:t>
            </a:r>
          </a:p>
        </p:txBody>
      </p:sp>
      <p:cxnSp>
        <p:nvCxnSpPr>
          <p:cNvPr id="18" name="Connector 17"/>
          <p:cNvCxnSpPr/>
          <p:nvPr/>
        </p:nvCxnSpPr>
        <p:spPr>
          <a:xfrm flipV="1">
            <a:off x="6556248" y="3557015"/>
            <a:ext cx="1929384" cy="192024"/>
          </a:xfrm>
          <a:prstGeom prst="line">
            <a:avLst/>
          </a:prstGeom>
          <a:ln w="15875">
            <a:solidFill>
              <a:srgbClr val="5AA0E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6903720" y="3849624"/>
            <a:ext cx="1188720" cy="512064"/>
          </a:xfrm>
          <a:prstGeom prst="rect">
            <a:avLst/>
          </a:prstGeom>
          <a:noFill/>
        </p:spPr>
        <p:txBody>
          <a:bodyPr wrap="square" lIns="0" rIns="0" tIns="0" bIns="0" anchor="t">
            <a:spAutoFit/>
          </a:bodyPr>
          <a:lstStyle/>
          <a:p>
            <a:pPr algn="ctr">
              <a:lnSpc>
                <a:spcPct val="110000"/>
              </a:lnSpc>
              <a:spcAft>
                <a:spcPts val="0"/>
              </a:spcAft>
            </a:pPr>
            <a:r>
              <a:rPr sz="950" b="0" i="0">
                <a:solidFill>
                  <a:srgbClr val="98A4B3"/>
                </a:solidFill>
                <a:latin typeface="Calibri"/>
              </a:rPr>
              <a:t>output</a:t>
            </a:r>
          </a:p>
          <a:p>
            <a:pPr algn="ctr">
              <a:lnSpc>
                <a:spcPct val="110000"/>
              </a:lnSpc>
              <a:spcAft>
                <a:spcPts val="0"/>
              </a:spcAft>
            </a:pPr>
            <a:r>
              <a:rPr sz="950" b="0" i="0">
                <a:solidFill>
                  <a:srgbClr val="98A4B3"/>
                </a:solidFill>
                <a:latin typeface="Calibri"/>
              </a:rPr>
              <a:t>evaluation</a:t>
            </a:r>
          </a:p>
        </p:txBody>
      </p:sp>
      <p:sp>
        <p:nvSpPr>
          <p:cNvPr id="20" name="Rounded Rectangle 19"/>
          <p:cNvSpPr/>
          <p:nvPr/>
        </p:nvSpPr>
        <p:spPr>
          <a:xfrm>
            <a:off x="685800" y="4937760"/>
            <a:ext cx="10820095" cy="1024128"/>
          </a:xfrm>
          <a:prstGeom prst="roundRect">
            <a:avLst>
              <a:gd name="adj" fmla="val 4000"/>
            </a:avLst>
          </a:prstGeom>
          <a:solidFill>
            <a:srgbClr val="161C23"/>
          </a:solidFill>
          <a:ln w="12700">
            <a:solidFill>
              <a:srgbClr val="2E39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60120" y="5084064"/>
            <a:ext cx="10271455" cy="822960"/>
          </a:xfrm>
          <a:prstGeom prst="rect">
            <a:avLst/>
          </a:prstGeom>
          <a:noFill/>
        </p:spPr>
        <p:txBody>
          <a:bodyPr wrap="square" lIns="0" rIns="0" tIns="0" bIns="0" anchor="t">
            <a:spAutoFit/>
          </a:bodyPr>
          <a:lstStyle/>
          <a:p>
            <a:pPr algn="l">
              <a:lnSpc>
                <a:spcPct val="115000"/>
              </a:lnSpc>
              <a:spcAft>
                <a:spcPts val="400"/>
              </a:spcAft>
            </a:pPr>
            <a:r>
              <a:rPr sz="1050" b="1" i="0">
                <a:solidFill>
                  <a:srgbClr val="5AA0E0"/>
                </a:solidFill>
                <a:latin typeface="Calibri"/>
              </a:rPr>
              <a:t>Content exposure</a:t>
            </a:r>
          </a:p>
          <a:p>
            <a:pPr algn="l">
              <a:lnSpc>
                <a:spcPct val="115000"/>
              </a:lnSpc>
              <a:spcAft>
                <a:spcPts val="0"/>
              </a:spcAft>
            </a:pPr>
            <a:r>
              <a:rPr sz="1250" b="0" i="0">
                <a:solidFill>
                  <a:srgbClr val="E06C5F"/>
                </a:solidFill>
                <a:latin typeface="Calibri"/>
              </a:rPr>
              <a:t>Prompts, responses, and any additional evaluated content are transmitted to the hosted Evaluation API on every evaluated call. This is not a private-data or data-local model. The model invocation itself never touches guardrail infrastructure — only the evaluation calls do.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2161B"/>
        </a:solidFill>
        <a:effectLst/>
      </p:bgPr>
    </p:bg>
    <p:spTree>
      <p:nvGrpSpPr>
        <p:cNvPr id="1" name=""/>
        <p:cNvGrpSpPr/>
        <p:nvPr/>
      </p:nvGrpSpPr>
      <p:grpSpPr/>
      <p:sp>
        <p:nvSpPr>
          <p:cNvPr id="2" name="TextBox 1"/>
          <p:cNvSpPr txBox="1"/>
          <p:nvPr/>
        </p:nvSpPr>
        <p:spPr>
          <a:xfrm>
            <a:off x="685800" y="420624"/>
            <a:ext cx="10820095" cy="658368"/>
          </a:xfrm>
          <a:prstGeom prst="rect">
            <a:avLst/>
          </a:prstGeom>
          <a:noFill/>
        </p:spPr>
        <p:txBody>
          <a:bodyPr wrap="square" lIns="0" rIns="0" tIns="0" bIns="0" anchor="t">
            <a:spAutoFit/>
          </a:bodyPr>
          <a:lstStyle/>
          <a:p>
            <a:pPr algn="l">
              <a:lnSpc>
                <a:spcPct val="115000"/>
              </a:lnSpc>
              <a:spcAft>
                <a:spcPts val="0"/>
              </a:spcAft>
            </a:pPr>
            <a:r>
              <a:rPr sz="3000" b="1" i="0">
                <a:solidFill>
                  <a:srgbClr val="E8ECF2"/>
                </a:solidFill>
                <a:latin typeface="Calibri"/>
              </a:rPr>
              <a:t>Mode B — the widest provider boundary</a:t>
            </a:r>
          </a:p>
        </p:txBody>
      </p:sp>
      <p:sp>
        <p:nvSpPr>
          <p:cNvPr id="3" name="Rectangle 2"/>
          <p:cNvSpPr/>
          <p:nvPr/>
        </p:nvSpPr>
        <p:spPr>
          <a:xfrm>
            <a:off x="685800" y="1188720"/>
            <a:ext cx="1234440" cy="41148"/>
          </a:xfrm>
          <a:prstGeom prst="rect">
            <a:avLst/>
          </a:prstGeom>
          <a:solidFill>
            <a:srgbClr val="5AA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298448"/>
            <a:ext cx="10820095" cy="365760"/>
          </a:xfrm>
          <a:prstGeom prst="rect">
            <a:avLst/>
          </a:prstGeom>
          <a:noFill/>
        </p:spPr>
        <p:txBody>
          <a:bodyPr wrap="square" lIns="0" rIns="0" tIns="0" bIns="0" anchor="t">
            <a:spAutoFit/>
          </a:bodyPr>
          <a:lstStyle/>
          <a:p>
            <a:pPr algn="l">
              <a:lnSpc>
                <a:spcPct val="115000"/>
              </a:lnSpc>
              <a:spcAft>
                <a:spcPts val="0"/>
              </a:spcAft>
            </a:pPr>
            <a:r>
              <a:rPr sz="1350" b="0" i="0">
                <a:solidFill>
                  <a:srgbClr val="98A4B3"/>
                </a:solidFill>
                <a:latin typeface="Calibri"/>
              </a:rPr>
              <a:t>One provider-operated endpoint carrying guardrails, routing, model invocation and audit. Phase 3.</a:t>
            </a:r>
          </a:p>
        </p:txBody>
      </p:sp>
      <p:sp>
        <p:nvSpPr>
          <p:cNvPr id="5" name="TextBox 4"/>
          <p:cNvSpPr txBox="1"/>
          <p:nvPr/>
        </p:nvSpPr>
        <p:spPr>
          <a:xfrm>
            <a:off x="685800" y="6217920"/>
            <a:ext cx="10820095" cy="292608"/>
          </a:xfrm>
          <a:prstGeom prst="rect">
            <a:avLst/>
          </a:prstGeom>
          <a:noFill/>
        </p:spPr>
        <p:txBody>
          <a:bodyPr wrap="square" lIns="0" rIns="0" tIns="0" bIns="0" anchor="t">
            <a:spAutoFit/>
          </a:bodyPr>
          <a:lstStyle/>
          <a:p>
            <a:pPr algn="l">
              <a:lnSpc>
                <a:spcPct val="115000"/>
              </a:lnSpc>
              <a:spcAft>
                <a:spcPts val="0"/>
              </a:spcAft>
            </a:pPr>
            <a:r>
              <a:rPr sz="900" b="0" i="0">
                <a:solidFill>
                  <a:srgbClr val="98A4B3"/>
                </a:solidFill>
                <a:latin typeface="Calibri"/>
              </a:rPr>
              <a:t>AI Guardrails · design intent and delivery plan — nothing built or piloted today</a:t>
            </a:r>
          </a:p>
        </p:txBody>
      </p:sp>
      <p:sp>
        <p:nvSpPr>
          <p:cNvPr id="6" name="Rounded Rectangle 5"/>
          <p:cNvSpPr/>
          <p:nvPr/>
        </p:nvSpPr>
        <p:spPr>
          <a:xfrm>
            <a:off x="685800" y="1874519"/>
            <a:ext cx="3063240" cy="2788920"/>
          </a:xfrm>
          <a:prstGeom prst="roundRect">
            <a:avLst>
              <a:gd name="adj" fmla="val 4000"/>
            </a:avLst>
          </a:prstGeom>
          <a:solidFill>
            <a:srgbClr val="161C23"/>
          </a:solidFill>
          <a:ln w="12700">
            <a:solidFill>
              <a:srgbClr val="2E39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011680"/>
            <a:ext cx="2743200" cy="457200"/>
          </a:xfrm>
          <a:prstGeom prst="rect">
            <a:avLst/>
          </a:prstGeom>
          <a:noFill/>
        </p:spPr>
        <p:txBody>
          <a:bodyPr wrap="square" lIns="0" rIns="0" tIns="0" bIns="0" anchor="t">
            <a:spAutoFit/>
          </a:bodyPr>
          <a:lstStyle/>
          <a:p>
            <a:pPr algn="l">
              <a:lnSpc>
                <a:spcPct val="115000"/>
              </a:lnSpc>
              <a:spcAft>
                <a:spcPts val="0"/>
              </a:spcAft>
            </a:pPr>
            <a:r>
              <a:rPr sz="1000" b="0" i="0">
                <a:solidFill>
                  <a:srgbClr val="98A4B3"/>
                </a:solidFill>
                <a:latin typeface="Calibri"/>
              </a:rPr>
              <a:t>CONSUMING TEAM</a:t>
            </a:r>
          </a:p>
        </p:txBody>
      </p:sp>
      <p:sp>
        <p:nvSpPr>
          <p:cNvPr id="8" name="Rounded Rectangle 7"/>
          <p:cNvSpPr/>
          <p:nvPr/>
        </p:nvSpPr>
        <p:spPr>
          <a:xfrm>
            <a:off x="4160520" y="1874519"/>
            <a:ext cx="7342631" cy="2788920"/>
          </a:xfrm>
          <a:prstGeom prst="roundRect">
            <a:avLst>
              <a:gd name="adj" fmla="val 4000"/>
            </a:avLst>
          </a:prstGeom>
          <a:solidFill>
            <a:srgbClr val="161C23"/>
          </a:solidFill>
          <a:ln w="12700">
            <a:solidFill>
              <a:srgbClr val="2E39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389120" y="2011680"/>
            <a:ext cx="4572000" cy="457200"/>
          </a:xfrm>
          <a:prstGeom prst="rect">
            <a:avLst/>
          </a:prstGeom>
          <a:noFill/>
        </p:spPr>
        <p:txBody>
          <a:bodyPr wrap="square" lIns="0" rIns="0" tIns="0" bIns="0" anchor="t">
            <a:spAutoFit/>
          </a:bodyPr>
          <a:lstStyle/>
          <a:p>
            <a:pPr algn="l">
              <a:lnSpc>
                <a:spcPct val="115000"/>
              </a:lnSpc>
              <a:spcAft>
                <a:spcPts val="0"/>
              </a:spcAft>
            </a:pPr>
            <a:r>
              <a:rPr sz="1000" b="0" i="0">
                <a:solidFill>
                  <a:srgbClr val="98A4B3"/>
                </a:solidFill>
                <a:latin typeface="Calibri"/>
              </a:rPr>
              <a:t>PROVIDER-OPERATED BOUNDARY</a:t>
            </a:r>
          </a:p>
        </p:txBody>
      </p:sp>
      <p:sp>
        <p:nvSpPr>
          <p:cNvPr id="10" name="Rounded Rectangle 9"/>
          <p:cNvSpPr/>
          <p:nvPr/>
        </p:nvSpPr>
        <p:spPr>
          <a:xfrm>
            <a:off x="1097280" y="2880360"/>
            <a:ext cx="2240280" cy="685800"/>
          </a:xfrm>
          <a:prstGeom prst="roundRect">
            <a:avLst>
              <a:gd name="adj" fmla="val 8000"/>
            </a:avLst>
          </a:prstGeom>
          <a:solidFill>
            <a:srgbClr val="1D242C"/>
          </a:solidFill>
          <a:ln w="12700">
            <a:solidFill>
              <a:srgbClr val="2E3945"/>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lnSpc>
                <a:spcPct val="115000"/>
              </a:lnSpc>
              <a:spcAft>
                <a:spcPts val="200"/>
              </a:spcAft>
            </a:pPr>
            <a:r>
              <a:rPr sz="1300" b="1" i="0">
                <a:solidFill>
                  <a:srgbClr val="E8ECF2"/>
                </a:solidFill>
                <a:latin typeface="Calibri"/>
              </a:rPr>
              <a:t>Application</a:t>
            </a:r>
          </a:p>
        </p:txBody>
      </p:sp>
      <p:cxnSp>
        <p:nvCxnSpPr>
          <p:cNvPr id="11" name="Connector 10"/>
          <p:cNvCxnSpPr/>
          <p:nvPr/>
        </p:nvCxnSpPr>
        <p:spPr>
          <a:xfrm>
            <a:off x="3355848" y="3218688"/>
            <a:ext cx="1170432" cy="0"/>
          </a:xfrm>
          <a:prstGeom prst="line">
            <a:avLst/>
          </a:prstGeom>
          <a:ln w="15875">
            <a:solidFill>
              <a:srgbClr val="5AA0E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3401568" y="2843784"/>
            <a:ext cx="1097280" cy="347472"/>
          </a:xfrm>
          <a:prstGeom prst="rect">
            <a:avLst/>
          </a:prstGeom>
          <a:noFill/>
        </p:spPr>
        <p:txBody>
          <a:bodyPr wrap="square" lIns="0" rIns="0" tIns="0" bIns="0" anchor="t">
            <a:spAutoFit/>
          </a:bodyPr>
          <a:lstStyle/>
          <a:p>
            <a:pPr algn="ctr">
              <a:lnSpc>
                <a:spcPct val="110000"/>
              </a:lnSpc>
              <a:spcAft>
                <a:spcPts val="0"/>
              </a:spcAft>
            </a:pPr>
            <a:r>
              <a:rPr sz="900" b="0" i="0">
                <a:solidFill>
                  <a:srgbClr val="98A4B3"/>
                </a:solidFill>
                <a:latin typeface="Calibri"/>
              </a:rPr>
              <a:t>single call</a:t>
            </a:r>
          </a:p>
        </p:txBody>
      </p:sp>
      <p:sp>
        <p:nvSpPr>
          <p:cNvPr id="13" name="Rounded Rectangle 12"/>
          <p:cNvSpPr/>
          <p:nvPr/>
        </p:nvSpPr>
        <p:spPr>
          <a:xfrm>
            <a:off x="4544568" y="2350008"/>
            <a:ext cx="3840480" cy="2011680"/>
          </a:xfrm>
          <a:prstGeom prst="roundRect">
            <a:avLst>
              <a:gd name="adj" fmla="val 8000"/>
            </a:avLst>
          </a:prstGeom>
          <a:solidFill>
            <a:srgbClr val="1D242C"/>
          </a:solidFill>
          <a:ln w="12700">
            <a:solidFill>
              <a:srgbClr val="5AA0E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lnSpc>
                <a:spcPct val="115000"/>
              </a:lnSpc>
              <a:spcAft>
                <a:spcPts val="200"/>
              </a:spcAft>
            </a:pPr>
            <a:r>
              <a:rPr sz="1400" b="1" i="0">
                <a:solidFill>
                  <a:srgbClr val="E8ECF2"/>
                </a:solidFill>
                <a:latin typeface="Calibri"/>
              </a:rPr>
              <a:t>Provider-managed</a:t>
            </a:r>
          </a:p>
          <a:p>
            <a:pPr algn="ctr">
              <a:lnSpc>
                <a:spcPct val="115000"/>
              </a:lnSpc>
              <a:spcAft>
                <a:spcPts val="200"/>
              </a:spcAft>
            </a:pPr>
            <a:r>
              <a:rPr sz="1250" b="0" i="0">
                <a:solidFill>
                  <a:srgbClr val="98A4B3"/>
                </a:solidFill>
                <a:latin typeface="Calibri"/>
              </a:rPr>
              <a:t>Guarded Gateway</a:t>
            </a:r>
          </a:p>
          <a:p>
            <a:pPr algn="ctr">
              <a:lnSpc>
                <a:spcPct val="115000"/>
              </a:lnSpc>
              <a:spcAft>
                <a:spcPts val="200"/>
              </a:spcAft>
            </a:pPr>
            <a:r>
              <a:rPr sz="1250" b="0" i="0">
                <a:solidFill>
                  <a:srgbClr val="98A4B3"/>
                </a:solidFill>
                <a:latin typeface="Calibri"/>
              </a:rPr>
              <a:t/>
            </a:r>
          </a:p>
          <a:p>
            <a:pPr algn="ctr">
              <a:lnSpc>
                <a:spcPct val="115000"/>
              </a:lnSpc>
              <a:spcAft>
                <a:spcPts val="200"/>
              </a:spcAft>
            </a:pPr>
            <a:r>
              <a:rPr sz="1250" b="0" i="0">
                <a:solidFill>
                  <a:srgbClr val="98A4B3"/>
                </a:solidFill>
                <a:latin typeface="Calibri"/>
              </a:rPr>
              <a:t>Input guardrails · model routing · model invocation · output guardrails · audit and usage reporting</a:t>
            </a:r>
          </a:p>
        </p:txBody>
      </p:sp>
      <p:cxnSp>
        <p:nvCxnSpPr>
          <p:cNvPr id="14" name="Connector 13"/>
          <p:cNvCxnSpPr/>
          <p:nvPr/>
        </p:nvCxnSpPr>
        <p:spPr>
          <a:xfrm>
            <a:off x="8403336" y="3355848"/>
            <a:ext cx="877824" cy="0"/>
          </a:xfrm>
          <a:prstGeom prst="line">
            <a:avLst/>
          </a:prstGeom>
          <a:ln w="15875">
            <a:solidFill>
              <a:srgbClr val="5AA0E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9299448" y="3017520"/>
            <a:ext cx="2011680" cy="685800"/>
          </a:xfrm>
          <a:prstGeom prst="roundRect">
            <a:avLst>
              <a:gd name="adj" fmla="val 8000"/>
            </a:avLst>
          </a:prstGeom>
          <a:solidFill>
            <a:srgbClr val="161C23"/>
          </a:solidFill>
          <a:ln w="12700">
            <a:solidFill>
              <a:srgbClr val="2E3945"/>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lnSpc>
                <a:spcPct val="115000"/>
              </a:lnSpc>
              <a:spcAft>
                <a:spcPts val="200"/>
              </a:spcAft>
            </a:pPr>
            <a:r>
              <a:rPr sz="1250" b="0" i="0">
                <a:solidFill>
                  <a:srgbClr val="E8ECF2"/>
                </a:solidFill>
                <a:latin typeface="Calibri"/>
              </a:rPr>
              <a:t>Model provider</a:t>
            </a:r>
          </a:p>
        </p:txBody>
      </p:sp>
      <p:sp>
        <p:nvSpPr>
          <p:cNvPr id="16" name="Rounded Rectangle 15"/>
          <p:cNvSpPr/>
          <p:nvPr/>
        </p:nvSpPr>
        <p:spPr>
          <a:xfrm>
            <a:off x="685800" y="4937760"/>
            <a:ext cx="10820095" cy="1024128"/>
          </a:xfrm>
          <a:prstGeom prst="roundRect">
            <a:avLst>
              <a:gd name="adj" fmla="val 4000"/>
            </a:avLst>
          </a:prstGeom>
          <a:solidFill>
            <a:srgbClr val="161C23"/>
          </a:solidFill>
          <a:ln w="12700">
            <a:solidFill>
              <a:srgbClr val="2E39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60120" y="5084064"/>
            <a:ext cx="10271455" cy="822960"/>
          </a:xfrm>
          <a:prstGeom prst="rect">
            <a:avLst/>
          </a:prstGeom>
          <a:noFill/>
        </p:spPr>
        <p:txBody>
          <a:bodyPr wrap="square" lIns="0" rIns="0" tIns="0" bIns="0" anchor="t">
            <a:spAutoFit/>
          </a:bodyPr>
          <a:lstStyle/>
          <a:p>
            <a:pPr algn="l">
              <a:lnSpc>
                <a:spcPct val="115000"/>
              </a:lnSpc>
              <a:spcAft>
                <a:spcPts val="400"/>
              </a:spcAft>
            </a:pPr>
            <a:r>
              <a:rPr sz="1050" b="1" i="0">
                <a:solidFill>
                  <a:srgbClr val="5AA0E0"/>
                </a:solidFill>
                <a:latin typeface="Calibri"/>
              </a:rPr>
              <a:t>Content exposure</a:t>
            </a:r>
          </a:p>
          <a:p>
            <a:pPr algn="l">
              <a:lnSpc>
                <a:spcPct val="115000"/>
              </a:lnSpc>
              <a:spcAft>
                <a:spcPts val="0"/>
              </a:spcAft>
            </a:pPr>
            <a:r>
              <a:rPr sz="1250" b="0" i="0">
                <a:solidFill>
                  <a:srgbClr val="E06C5F"/>
                </a:solidFill>
                <a:latin typeface="Calibri"/>
              </a:rPr>
              <a:t>Prompts and responses are processed entirely within the provider-managed gateway. The provider participates in the complete inference path and holds or brokers model-provider credentials. Raw content is not persisted by default; decision metadata is.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12161B"/>
        </a:solidFill>
        <a:effectLst/>
      </p:bgPr>
    </p:bg>
    <p:spTree>
      <p:nvGrpSpPr>
        <p:cNvPr id="1" name=""/>
        <p:cNvGrpSpPr/>
        <p:nvPr/>
      </p:nvGrpSpPr>
      <p:grpSpPr/>
      <p:sp>
        <p:nvSpPr>
          <p:cNvPr id="2" name="TextBox 1"/>
          <p:cNvSpPr txBox="1"/>
          <p:nvPr/>
        </p:nvSpPr>
        <p:spPr>
          <a:xfrm>
            <a:off x="685800" y="420624"/>
            <a:ext cx="10820095" cy="658368"/>
          </a:xfrm>
          <a:prstGeom prst="rect">
            <a:avLst/>
          </a:prstGeom>
          <a:noFill/>
        </p:spPr>
        <p:txBody>
          <a:bodyPr wrap="square" lIns="0" rIns="0" tIns="0" bIns="0" anchor="t">
            <a:spAutoFit/>
          </a:bodyPr>
          <a:lstStyle/>
          <a:p>
            <a:pPr algn="l">
              <a:lnSpc>
                <a:spcPct val="115000"/>
              </a:lnSpc>
              <a:spcAft>
                <a:spcPts val="0"/>
              </a:spcAft>
            </a:pPr>
            <a:r>
              <a:rPr sz="3000" b="1" i="0">
                <a:solidFill>
                  <a:srgbClr val="E8ECF2"/>
                </a:solidFill>
                <a:latin typeface="Calibri"/>
              </a:rPr>
              <a:t>Mode C — evaluation inside your account</a:t>
            </a:r>
          </a:p>
        </p:txBody>
      </p:sp>
      <p:sp>
        <p:nvSpPr>
          <p:cNvPr id="3" name="Rectangle 2"/>
          <p:cNvSpPr/>
          <p:nvPr/>
        </p:nvSpPr>
        <p:spPr>
          <a:xfrm>
            <a:off x="685800" y="1188720"/>
            <a:ext cx="1234440" cy="41148"/>
          </a:xfrm>
          <a:prstGeom prst="rect">
            <a:avLst/>
          </a:prstGeom>
          <a:solidFill>
            <a:srgbClr val="5AA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298448"/>
            <a:ext cx="10820095" cy="365760"/>
          </a:xfrm>
          <a:prstGeom prst="rect">
            <a:avLst/>
          </a:prstGeom>
          <a:noFill/>
        </p:spPr>
        <p:txBody>
          <a:bodyPr wrap="square" lIns="0" rIns="0" tIns="0" bIns="0" anchor="t">
            <a:spAutoFit/>
          </a:bodyPr>
          <a:lstStyle/>
          <a:p>
            <a:pPr algn="l">
              <a:lnSpc>
                <a:spcPct val="115000"/>
              </a:lnSpc>
              <a:spcAft>
                <a:spcPts val="0"/>
              </a:spcAft>
            </a:pPr>
            <a:r>
              <a:rPr sz="1350" b="0" i="0">
                <a:solidFill>
                  <a:srgbClr val="98A4B3"/>
                </a:solidFill>
                <a:latin typeface="Calibri"/>
              </a:rPr>
              <a:t>The same runtime, deployed in the customer's own AWS account, evaluating against a local policy cache. Phase 4.</a:t>
            </a:r>
          </a:p>
        </p:txBody>
      </p:sp>
      <p:sp>
        <p:nvSpPr>
          <p:cNvPr id="5" name="TextBox 4"/>
          <p:cNvSpPr txBox="1"/>
          <p:nvPr/>
        </p:nvSpPr>
        <p:spPr>
          <a:xfrm>
            <a:off x="685800" y="6217920"/>
            <a:ext cx="10820095" cy="292608"/>
          </a:xfrm>
          <a:prstGeom prst="rect">
            <a:avLst/>
          </a:prstGeom>
          <a:noFill/>
        </p:spPr>
        <p:txBody>
          <a:bodyPr wrap="square" lIns="0" rIns="0" tIns="0" bIns="0" anchor="t">
            <a:spAutoFit/>
          </a:bodyPr>
          <a:lstStyle/>
          <a:p>
            <a:pPr algn="l">
              <a:lnSpc>
                <a:spcPct val="115000"/>
              </a:lnSpc>
              <a:spcAft>
                <a:spcPts val="0"/>
              </a:spcAft>
            </a:pPr>
            <a:r>
              <a:rPr sz="900" b="0" i="0">
                <a:solidFill>
                  <a:srgbClr val="98A4B3"/>
                </a:solidFill>
                <a:latin typeface="Calibri"/>
              </a:rPr>
              <a:t>AI Guardrails · design intent and delivery plan — nothing built or piloted today</a:t>
            </a:r>
          </a:p>
        </p:txBody>
      </p:sp>
      <p:sp>
        <p:nvSpPr>
          <p:cNvPr id="6" name="Rounded Rectangle 5"/>
          <p:cNvSpPr/>
          <p:nvPr/>
        </p:nvSpPr>
        <p:spPr>
          <a:xfrm>
            <a:off x="685800" y="1874519"/>
            <a:ext cx="7818120" cy="2788920"/>
          </a:xfrm>
          <a:prstGeom prst="roundRect">
            <a:avLst>
              <a:gd name="adj" fmla="val 4000"/>
            </a:avLst>
          </a:prstGeom>
          <a:solidFill>
            <a:srgbClr val="161C23"/>
          </a:solidFill>
          <a:ln w="12700">
            <a:solidFill>
              <a:srgbClr val="2E39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011680"/>
            <a:ext cx="4572000" cy="457200"/>
          </a:xfrm>
          <a:prstGeom prst="rect">
            <a:avLst/>
          </a:prstGeom>
          <a:noFill/>
        </p:spPr>
        <p:txBody>
          <a:bodyPr wrap="square" lIns="0" rIns="0" tIns="0" bIns="0" anchor="t">
            <a:spAutoFit/>
          </a:bodyPr>
          <a:lstStyle/>
          <a:p>
            <a:pPr algn="l">
              <a:lnSpc>
                <a:spcPct val="115000"/>
              </a:lnSpc>
              <a:spcAft>
                <a:spcPts val="0"/>
              </a:spcAft>
            </a:pPr>
            <a:r>
              <a:rPr sz="1000" b="0" i="0">
                <a:solidFill>
                  <a:srgbClr val="98A4B3"/>
                </a:solidFill>
                <a:latin typeface="Calibri"/>
              </a:rPr>
              <a:t>CUSTOMER'S OWN AWS ACCOUNT</a:t>
            </a:r>
          </a:p>
        </p:txBody>
      </p:sp>
      <p:sp>
        <p:nvSpPr>
          <p:cNvPr id="8" name="Rounded Rectangle 7"/>
          <p:cNvSpPr/>
          <p:nvPr/>
        </p:nvSpPr>
        <p:spPr>
          <a:xfrm>
            <a:off x="8915400" y="1874519"/>
            <a:ext cx="2587752" cy="2788920"/>
          </a:xfrm>
          <a:prstGeom prst="roundRect">
            <a:avLst>
              <a:gd name="adj" fmla="val 4000"/>
            </a:avLst>
          </a:prstGeom>
          <a:solidFill>
            <a:srgbClr val="161C23"/>
          </a:solidFill>
          <a:ln w="12700">
            <a:solidFill>
              <a:srgbClr val="2E39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098280" y="2011680"/>
            <a:ext cx="2286000" cy="457200"/>
          </a:xfrm>
          <a:prstGeom prst="rect">
            <a:avLst/>
          </a:prstGeom>
          <a:noFill/>
        </p:spPr>
        <p:txBody>
          <a:bodyPr wrap="square" lIns="0" rIns="0" tIns="0" bIns="0" anchor="t">
            <a:spAutoFit/>
          </a:bodyPr>
          <a:lstStyle/>
          <a:p>
            <a:pPr algn="l">
              <a:lnSpc>
                <a:spcPct val="115000"/>
              </a:lnSpc>
              <a:spcAft>
                <a:spcPts val="0"/>
              </a:spcAft>
            </a:pPr>
            <a:r>
              <a:rPr sz="1000" b="0" i="0">
                <a:solidFill>
                  <a:srgbClr val="98A4B3"/>
                </a:solidFill>
                <a:latin typeface="Calibri"/>
              </a:rPr>
              <a:t>HOSTED (PROVIDER)</a:t>
            </a:r>
          </a:p>
        </p:txBody>
      </p:sp>
      <p:sp>
        <p:nvSpPr>
          <p:cNvPr id="10" name="Rounded Rectangle 9"/>
          <p:cNvSpPr/>
          <p:nvPr/>
        </p:nvSpPr>
        <p:spPr>
          <a:xfrm>
            <a:off x="1005840" y="2971800"/>
            <a:ext cx="1691640" cy="566928"/>
          </a:xfrm>
          <a:prstGeom prst="roundRect">
            <a:avLst>
              <a:gd name="adj" fmla="val 8000"/>
            </a:avLst>
          </a:prstGeom>
          <a:solidFill>
            <a:srgbClr val="1D242C"/>
          </a:solidFill>
          <a:ln w="12700">
            <a:solidFill>
              <a:srgbClr val="2E3945"/>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lnSpc>
                <a:spcPct val="115000"/>
              </a:lnSpc>
              <a:spcAft>
                <a:spcPts val="200"/>
              </a:spcAft>
            </a:pPr>
            <a:r>
              <a:rPr sz="1200" b="0" i="0">
                <a:solidFill>
                  <a:srgbClr val="E8ECF2"/>
                </a:solidFill>
                <a:latin typeface="Calibri"/>
              </a:rPr>
              <a:t>Application</a:t>
            </a:r>
          </a:p>
        </p:txBody>
      </p:sp>
      <p:cxnSp>
        <p:nvCxnSpPr>
          <p:cNvPr id="11" name="Connector 10"/>
          <p:cNvCxnSpPr/>
          <p:nvPr/>
        </p:nvCxnSpPr>
        <p:spPr>
          <a:xfrm>
            <a:off x="2715768" y="3255264"/>
            <a:ext cx="530352" cy="0"/>
          </a:xfrm>
          <a:prstGeom prst="line">
            <a:avLst/>
          </a:prstGeom>
          <a:ln w="15875">
            <a:solidFill>
              <a:srgbClr val="5AA0E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3264408" y="2971800"/>
            <a:ext cx="1874519" cy="566928"/>
          </a:xfrm>
          <a:prstGeom prst="roundRect">
            <a:avLst>
              <a:gd name="adj" fmla="val 8000"/>
            </a:avLst>
          </a:prstGeom>
          <a:solidFill>
            <a:srgbClr val="1D242C"/>
          </a:solidFill>
          <a:ln w="12700">
            <a:solidFill>
              <a:srgbClr val="2E3945"/>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lnSpc>
                <a:spcPct val="115000"/>
              </a:lnSpc>
              <a:spcAft>
                <a:spcPts val="200"/>
              </a:spcAft>
            </a:pPr>
            <a:r>
              <a:rPr sz="1200" b="0" i="0">
                <a:solidFill>
                  <a:srgbClr val="E8ECF2"/>
                </a:solidFill>
                <a:latin typeface="Calibri"/>
              </a:rPr>
              <a:t>Customer LiteLLM</a:t>
            </a:r>
          </a:p>
          <a:p>
            <a:pPr algn="ctr">
              <a:lnSpc>
                <a:spcPct val="115000"/>
              </a:lnSpc>
              <a:spcAft>
                <a:spcPts val="200"/>
              </a:spcAft>
            </a:pPr>
            <a:r>
              <a:rPr sz="1050" b="0" i="0">
                <a:solidFill>
                  <a:srgbClr val="98A4B3"/>
                </a:solidFill>
                <a:latin typeface="Calibri"/>
              </a:rPr>
              <a:t>or application</a:t>
            </a:r>
          </a:p>
        </p:txBody>
      </p:sp>
      <p:cxnSp>
        <p:nvCxnSpPr>
          <p:cNvPr id="13" name="Connector 12"/>
          <p:cNvCxnSpPr/>
          <p:nvPr/>
        </p:nvCxnSpPr>
        <p:spPr>
          <a:xfrm>
            <a:off x="5157216" y="3255264"/>
            <a:ext cx="512064" cy="0"/>
          </a:xfrm>
          <a:prstGeom prst="line">
            <a:avLst/>
          </a:prstGeom>
          <a:ln w="15875">
            <a:solidFill>
              <a:srgbClr val="5AA0E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5687568" y="2350008"/>
            <a:ext cx="2514600" cy="2011680"/>
          </a:xfrm>
          <a:prstGeom prst="roundRect">
            <a:avLst>
              <a:gd name="adj" fmla="val 8000"/>
            </a:avLst>
          </a:prstGeom>
          <a:solidFill>
            <a:srgbClr val="1D242C"/>
          </a:solidFill>
          <a:ln w="12700">
            <a:solidFill>
              <a:srgbClr val="5AA0E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lnSpc>
                <a:spcPct val="115000"/>
              </a:lnSpc>
              <a:spcAft>
                <a:spcPts val="200"/>
              </a:spcAft>
            </a:pPr>
            <a:r>
              <a:rPr sz="1300" b="1" i="0">
                <a:solidFill>
                  <a:srgbClr val="E8ECF2"/>
                </a:solidFill>
                <a:latin typeface="Calibri"/>
              </a:rPr>
              <a:t>Customer-hosted</a:t>
            </a:r>
          </a:p>
          <a:p>
            <a:pPr algn="ctr">
              <a:lnSpc>
                <a:spcPct val="115000"/>
              </a:lnSpc>
              <a:spcAft>
                <a:spcPts val="200"/>
              </a:spcAft>
            </a:pPr>
            <a:r>
              <a:rPr sz="1150" b="0" i="0">
                <a:solidFill>
                  <a:srgbClr val="98A4B3"/>
                </a:solidFill>
                <a:latin typeface="Calibri"/>
              </a:rPr>
              <a:t>Guardrails Runtime</a:t>
            </a:r>
          </a:p>
          <a:p>
            <a:pPr algn="ctr">
              <a:lnSpc>
                <a:spcPct val="115000"/>
              </a:lnSpc>
              <a:spcAft>
                <a:spcPts val="200"/>
              </a:spcAft>
            </a:pPr>
            <a:r>
              <a:rPr sz="1150" b="0" i="0">
                <a:solidFill>
                  <a:srgbClr val="98A4B3"/>
                </a:solidFill>
                <a:latin typeface="Calibri"/>
              </a:rPr>
              <a:t/>
            </a:r>
          </a:p>
          <a:p>
            <a:pPr algn="ctr">
              <a:lnSpc>
                <a:spcPct val="115000"/>
              </a:lnSpc>
              <a:spcAft>
                <a:spcPts val="200"/>
              </a:spcAft>
            </a:pPr>
            <a:r>
              <a:rPr sz="1150" b="0" i="0">
                <a:solidFill>
                  <a:srgbClr val="98A4B3"/>
                </a:solidFill>
                <a:latin typeface="Calibri"/>
              </a:rPr>
              <a:t>Policy cache · Bedrock Guardrails adapter · custom evaluators · local audit integration</a:t>
            </a:r>
          </a:p>
        </p:txBody>
      </p:sp>
      <p:sp>
        <p:nvSpPr>
          <p:cNvPr id="15" name="Rounded Rectangle 14"/>
          <p:cNvSpPr/>
          <p:nvPr/>
        </p:nvSpPr>
        <p:spPr>
          <a:xfrm>
            <a:off x="3264408" y="3886200"/>
            <a:ext cx="1874519" cy="502920"/>
          </a:xfrm>
          <a:prstGeom prst="roundRect">
            <a:avLst>
              <a:gd name="adj" fmla="val 8000"/>
            </a:avLst>
          </a:prstGeom>
          <a:solidFill>
            <a:srgbClr val="161C23"/>
          </a:solidFill>
          <a:ln w="12700">
            <a:solidFill>
              <a:srgbClr val="2E3945"/>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lnSpc>
                <a:spcPct val="115000"/>
              </a:lnSpc>
              <a:spcAft>
                <a:spcPts val="200"/>
              </a:spcAft>
            </a:pPr>
            <a:r>
              <a:rPr sz="1150" b="0" i="0">
                <a:solidFill>
                  <a:srgbClr val="E8ECF2"/>
                </a:solidFill>
                <a:latin typeface="Calibri"/>
              </a:rPr>
              <a:t>Model provider</a:t>
            </a:r>
          </a:p>
        </p:txBody>
      </p:sp>
      <p:cxnSp>
        <p:nvCxnSpPr>
          <p:cNvPr id="16" name="Connector 15"/>
          <p:cNvCxnSpPr/>
          <p:nvPr/>
        </p:nvCxnSpPr>
        <p:spPr>
          <a:xfrm>
            <a:off x="4206240" y="3557015"/>
            <a:ext cx="0" cy="310896"/>
          </a:xfrm>
          <a:prstGeom prst="line">
            <a:avLst/>
          </a:prstGeom>
          <a:ln w="15875">
            <a:solidFill>
              <a:srgbClr val="2E3945"/>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9098280" y="2834639"/>
            <a:ext cx="2221992" cy="960120"/>
          </a:xfrm>
          <a:prstGeom prst="roundRect">
            <a:avLst>
              <a:gd name="adj" fmla="val 8000"/>
            </a:avLst>
          </a:prstGeom>
          <a:solidFill>
            <a:srgbClr val="161C23"/>
          </a:solidFill>
          <a:ln w="12700">
            <a:solidFill>
              <a:srgbClr val="2E3945"/>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lnSpc>
                <a:spcPct val="115000"/>
              </a:lnSpc>
              <a:spcAft>
                <a:spcPts val="200"/>
              </a:spcAft>
            </a:pPr>
            <a:r>
              <a:rPr sz="1200" b="0" i="0">
                <a:solidFill>
                  <a:srgbClr val="E8ECF2"/>
                </a:solidFill>
                <a:latin typeface="Calibri"/>
              </a:rPr>
              <a:t>Hosted control plane</a:t>
            </a:r>
          </a:p>
          <a:p>
            <a:pPr algn="ctr">
              <a:lnSpc>
                <a:spcPct val="115000"/>
              </a:lnSpc>
              <a:spcAft>
                <a:spcPts val="200"/>
              </a:spcAft>
            </a:pPr>
            <a:r>
              <a:rPr sz="1050" b="0" i="0">
                <a:solidFill>
                  <a:srgbClr val="98A4B3"/>
                </a:solidFill>
                <a:latin typeface="Calibri"/>
              </a:rPr>
              <a:t>policy sync only</a:t>
            </a:r>
          </a:p>
        </p:txBody>
      </p:sp>
      <p:cxnSp>
        <p:nvCxnSpPr>
          <p:cNvPr id="18" name="Connector 17"/>
          <p:cNvCxnSpPr/>
          <p:nvPr/>
        </p:nvCxnSpPr>
        <p:spPr>
          <a:xfrm>
            <a:off x="8220456" y="3319272"/>
            <a:ext cx="859536" cy="0"/>
          </a:xfrm>
          <a:prstGeom prst="line">
            <a:avLst/>
          </a:prstGeom>
          <a:ln w="15875">
            <a:solidFill>
              <a:srgbClr val="98A4B3"/>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7863840" y="3904487"/>
            <a:ext cx="3108960" cy="512064"/>
          </a:xfrm>
          <a:prstGeom prst="rect">
            <a:avLst/>
          </a:prstGeom>
          <a:noFill/>
        </p:spPr>
        <p:txBody>
          <a:bodyPr wrap="square" lIns="0" rIns="0" tIns="0" bIns="0" anchor="t">
            <a:spAutoFit/>
          </a:bodyPr>
          <a:lstStyle/>
          <a:p>
            <a:pPr algn="ctr">
              <a:lnSpc>
                <a:spcPct val="110000"/>
              </a:lnSpc>
              <a:spcAft>
                <a:spcPts val="0"/>
              </a:spcAft>
            </a:pPr>
            <a:r>
              <a:rPr sz="900" b="0" i="0">
                <a:solidFill>
                  <a:srgbClr val="98A4B3"/>
                </a:solidFill>
                <a:latin typeface="Calibri"/>
              </a:rPr>
              <a:t>optional, customer-selected</a:t>
            </a:r>
          </a:p>
          <a:p>
            <a:pPr algn="ctr">
              <a:lnSpc>
                <a:spcPct val="110000"/>
              </a:lnSpc>
              <a:spcAft>
                <a:spcPts val="0"/>
              </a:spcAft>
            </a:pPr>
            <a:r>
              <a:rPr sz="900" b="0" i="0">
                <a:solidFill>
                  <a:srgbClr val="98A4B3"/>
                </a:solidFill>
                <a:latin typeface="Calibri"/>
              </a:rPr>
              <a:t>telemetry only — down to none</a:t>
            </a:r>
          </a:p>
        </p:txBody>
      </p:sp>
      <p:sp>
        <p:nvSpPr>
          <p:cNvPr id="20" name="Rounded Rectangle 19"/>
          <p:cNvSpPr/>
          <p:nvPr/>
        </p:nvSpPr>
        <p:spPr>
          <a:xfrm>
            <a:off x="685800" y="4937760"/>
            <a:ext cx="10820095" cy="1024128"/>
          </a:xfrm>
          <a:prstGeom prst="roundRect">
            <a:avLst>
              <a:gd name="adj" fmla="val 4000"/>
            </a:avLst>
          </a:prstGeom>
          <a:solidFill>
            <a:srgbClr val="161C23"/>
          </a:solidFill>
          <a:ln w="12700">
            <a:solidFill>
              <a:srgbClr val="2E39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60120" y="5084064"/>
            <a:ext cx="10271455" cy="822960"/>
          </a:xfrm>
          <a:prstGeom prst="rect">
            <a:avLst/>
          </a:prstGeom>
          <a:noFill/>
        </p:spPr>
        <p:txBody>
          <a:bodyPr wrap="square" lIns="0" rIns="0" tIns="0" bIns="0" anchor="t">
            <a:spAutoFit/>
          </a:bodyPr>
          <a:lstStyle/>
          <a:p>
            <a:pPr algn="l">
              <a:lnSpc>
                <a:spcPct val="115000"/>
              </a:lnSpc>
              <a:spcAft>
                <a:spcPts val="400"/>
              </a:spcAft>
            </a:pPr>
            <a:r>
              <a:rPr sz="1050" b="1" i="0">
                <a:solidFill>
                  <a:srgbClr val="5AA0E0"/>
                </a:solidFill>
                <a:latin typeface="Calibri"/>
              </a:rPr>
              <a:t>Content exposure</a:t>
            </a:r>
          </a:p>
          <a:p>
            <a:pPr algn="l">
              <a:lnSpc>
                <a:spcPct val="115000"/>
              </a:lnSpc>
              <a:spcAft>
                <a:spcPts val="0"/>
              </a:spcAft>
            </a:pPr>
            <a:r>
              <a:rPr sz="1250" b="0" i="0">
                <a:solidFill>
                  <a:srgbClr val="4FB477"/>
                </a:solidFill>
                <a:latin typeface="Calibri"/>
              </a:rPr>
              <a:t>Prompts and responses are evaluated entirely inside the customer's own AWS account. Raw content must never leave that runtime unless explicitly configured. Evaluation does not require a synchronous control-plane connection, and telemetry to the control plane is customer-selected — down to none at all, which is a fully supported configuration rather than a degraded one.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2161B"/>
        </a:solidFill>
        <a:effectLst/>
      </p:bgPr>
    </p:bg>
    <p:spTree>
      <p:nvGrpSpPr>
        <p:cNvPr id="1" name=""/>
        <p:cNvGrpSpPr/>
        <p:nvPr/>
      </p:nvGrpSpPr>
      <p:grpSpPr/>
      <p:sp>
        <p:nvSpPr>
          <p:cNvPr id="2" name="TextBox 1"/>
          <p:cNvSpPr txBox="1"/>
          <p:nvPr/>
        </p:nvSpPr>
        <p:spPr>
          <a:xfrm>
            <a:off x="685800" y="420624"/>
            <a:ext cx="10820095" cy="658368"/>
          </a:xfrm>
          <a:prstGeom prst="rect">
            <a:avLst/>
          </a:prstGeom>
          <a:noFill/>
        </p:spPr>
        <p:txBody>
          <a:bodyPr wrap="square" lIns="0" rIns="0" tIns="0" bIns="0" anchor="t">
            <a:spAutoFit/>
          </a:bodyPr>
          <a:lstStyle/>
          <a:p>
            <a:pPr algn="l">
              <a:lnSpc>
                <a:spcPct val="115000"/>
              </a:lnSpc>
              <a:spcAft>
                <a:spcPts val="0"/>
              </a:spcAft>
            </a:pPr>
            <a:r>
              <a:rPr sz="3000" b="1" i="0">
                <a:solidFill>
                  <a:srgbClr val="E8ECF2"/>
                </a:solidFill>
                <a:latin typeface="Calibri"/>
              </a:rPr>
              <a:t>What is transmitted, and what is kept</a:t>
            </a:r>
          </a:p>
        </p:txBody>
      </p:sp>
      <p:sp>
        <p:nvSpPr>
          <p:cNvPr id="3" name="Rectangle 2"/>
          <p:cNvSpPr/>
          <p:nvPr/>
        </p:nvSpPr>
        <p:spPr>
          <a:xfrm>
            <a:off x="685800" y="1188720"/>
            <a:ext cx="1234440" cy="41148"/>
          </a:xfrm>
          <a:prstGeom prst="rect">
            <a:avLst/>
          </a:prstGeom>
          <a:solidFill>
            <a:srgbClr val="5AA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298448"/>
            <a:ext cx="10820095" cy="365760"/>
          </a:xfrm>
          <a:prstGeom prst="rect">
            <a:avLst/>
          </a:prstGeom>
          <a:noFill/>
        </p:spPr>
        <p:txBody>
          <a:bodyPr wrap="square" lIns="0" rIns="0" tIns="0" bIns="0" anchor="t">
            <a:spAutoFit/>
          </a:bodyPr>
          <a:lstStyle/>
          <a:p>
            <a:pPr algn="l">
              <a:lnSpc>
                <a:spcPct val="115000"/>
              </a:lnSpc>
              <a:spcAft>
                <a:spcPts val="0"/>
              </a:spcAft>
            </a:pPr>
            <a:r>
              <a:rPr sz="1350" b="0" i="0">
                <a:solidFill>
                  <a:srgbClr val="98A4B3"/>
                </a:solidFill>
                <a:latin typeface="Calibri"/>
              </a:rPr>
              <a:t>The default posture in the hosted runtime, stated as eight obligations.</a:t>
            </a:r>
          </a:p>
        </p:txBody>
      </p:sp>
      <p:sp>
        <p:nvSpPr>
          <p:cNvPr id="5" name="TextBox 4"/>
          <p:cNvSpPr txBox="1"/>
          <p:nvPr/>
        </p:nvSpPr>
        <p:spPr>
          <a:xfrm>
            <a:off x="685800" y="6217920"/>
            <a:ext cx="10820095" cy="292608"/>
          </a:xfrm>
          <a:prstGeom prst="rect">
            <a:avLst/>
          </a:prstGeom>
          <a:noFill/>
        </p:spPr>
        <p:txBody>
          <a:bodyPr wrap="square" lIns="0" rIns="0" tIns="0" bIns="0" anchor="t">
            <a:spAutoFit/>
          </a:bodyPr>
          <a:lstStyle/>
          <a:p>
            <a:pPr algn="l">
              <a:lnSpc>
                <a:spcPct val="115000"/>
              </a:lnSpc>
              <a:spcAft>
                <a:spcPts val="0"/>
              </a:spcAft>
            </a:pPr>
            <a:r>
              <a:rPr sz="900" b="0" i="0">
                <a:solidFill>
                  <a:srgbClr val="98A4B3"/>
                </a:solidFill>
                <a:latin typeface="Calibri"/>
              </a:rPr>
              <a:t>AI Guardrails · design intent and delivery plan — nothing built or piloted today</a:t>
            </a:r>
          </a:p>
        </p:txBody>
      </p:sp>
      <p:sp>
        <p:nvSpPr>
          <p:cNvPr id="6" name="Rectangle 5"/>
          <p:cNvSpPr/>
          <p:nvPr/>
        </p:nvSpPr>
        <p:spPr>
          <a:xfrm>
            <a:off x="685800" y="1906524"/>
            <a:ext cx="77724" cy="77724"/>
          </a:xfrm>
          <a:prstGeom prst="rect">
            <a:avLst/>
          </a:prstGeom>
          <a:solidFill>
            <a:srgbClr val="5AA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1828800"/>
            <a:ext cx="5486400" cy="365760"/>
          </a:xfrm>
          <a:prstGeom prst="rect">
            <a:avLst/>
          </a:prstGeom>
          <a:noFill/>
        </p:spPr>
        <p:txBody>
          <a:bodyPr wrap="square" lIns="0" rIns="0" tIns="0" bIns="0" anchor="t">
            <a:spAutoFit/>
          </a:bodyPr>
          <a:lstStyle/>
          <a:p>
            <a:pPr algn="l">
              <a:lnSpc>
                <a:spcPct val="115000"/>
              </a:lnSpc>
              <a:spcAft>
                <a:spcPts val="100"/>
              </a:spcAft>
            </a:pPr>
            <a:r>
              <a:rPr sz="1250" b="1" i="0">
                <a:solidFill>
                  <a:srgbClr val="E8ECF2"/>
                </a:solidFill>
                <a:latin typeface="Calibri"/>
              </a:rPr>
              <a:t>Content is processed only for evaluation</a:t>
            </a:r>
          </a:p>
          <a:p>
            <a:pPr algn="l">
              <a:lnSpc>
                <a:spcPct val="115000"/>
              </a:lnSpc>
              <a:spcAft>
                <a:spcPts val="0"/>
              </a:spcAft>
            </a:pPr>
            <a:r>
              <a:rPr sz="1050" b="0" i="0">
                <a:solidFill>
                  <a:srgbClr val="98A4B3"/>
                </a:solidFill>
                <a:latin typeface="Calibri"/>
              </a:rPr>
              <a:t>Read to run evaluators and produce a decision, and for no other purpose by default.</a:t>
            </a:r>
          </a:p>
        </p:txBody>
      </p:sp>
      <p:sp>
        <p:nvSpPr>
          <p:cNvPr id="8" name="Rectangle 7"/>
          <p:cNvSpPr/>
          <p:nvPr/>
        </p:nvSpPr>
        <p:spPr>
          <a:xfrm>
            <a:off x="685800" y="2692908"/>
            <a:ext cx="77724" cy="77724"/>
          </a:xfrm>
          <a:prstGeom prst="rect">
            <a:avLst/>
          </a:prstGeom>
          <a:solidFill>
            <a:srgbClr val="5AA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2615184"/>
            <a:ext cx="5486400" cy="365760"/>
          </a:xfrm>
          <a:prstGeom prst="rect">
            <a:avLst/>
          </a:prstGeom>
          <a:noFill/>
        </p:spPr>
        <p:txBody>
          <a:bodyPr wrap="square" lIns="0" rIns="0" tIns="0" bIns="0" anchor="t">
            <a:spAutoFit/>
          </a:bodyPr>
          <a:lstStyle/>
          <a:p>
            <a:pPr algn="l">
              <a:lnSpc>
                <a:spcPct val="115000"/>
              </a:lnSpc>
              <a:spcAft>
                <a:spcPts val="100"/>
              </a:spcAft>
            </a:pPr>
            <a:r>
              <a:rPr sz="1250" b="1" i="0">
                <a:solidFill>
                  <a:srgbClr val="E8ECF2"/>
                </a:solidFill>
                <a:latin typeface="Calibri"/>
              </a:rPr>
              <a:t>Raw prompts and responses are not persisted</a:t>
            </a:r>
          </a:p>
          <a:p>
            <a:pPr algn="l">
              <a:lnSpc>
                <a:spcPct val="115000"/>
              </a:lnSpc>
              <a:spcAft>
                <a:spcPts val="0"/>
              </a:spcAft>
            </a:pPr>
            <a:r>
              <a:rPr sz="1050" b="0" i="0">
                <a:solidFill>
                  <a:srgbClr val="98A4B3"/>
                </a:solidFill>
                <a:latin typeface="Calibri"/>
              </a:rPr>
              <a:t>No raw-content retention occurs unless a tenant explicitly configures it.</a:t>
            </a:r>
          </a:p>
        </p:txBody>
      </p:sp>
      <p:sp>
        <p:nvSpPr>
          <p:cNvPr id="10" name="Rectangle 9"/>
          <p:cNvSpPr/>
          <p:nvPr/>
        </p:nvSpPr>
        <p:spPr>
          <a:xfrm>
            <a:off x="685800" y="3479291"/>
            <a:ext cx="77724" cy="77724"/>
          </a:xfrm>
          <a:prstGeom prst="rect">
            <a:avLst/>
          </a:prstGeom>
          <a:solidFill>
            <a:srgbClr val="5AA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0120" y="3401568"/>
            <a:ext cx="5486400" cy="365760"/>
          </a:xfrm>
          <a:prstGeom prst="rect">
            <a:avLst/>
          </a:prstGeom>
          <a:noFill/>
        </p:spPr>
        <p:txBody>
          <a:bodyPr wrap="square" lIns="0" rIns="0" tIns="0" bIns="0" anchor="t">
            <a:spAutoFit/>
          </a:bodyPr>
          <a:lstStyle/>
          <a:p>
            <a:pPr algn="l">
              <a:lnSpc>
                <a:spcPct val="115000"/>
              </a:lnSpc>
              <a:spcAft>
                <a:spcPts val="100"/>
              </a:spcAft>
            </a:pPr>
            <a:r>
              <a:rPr sz="1250" b="1" i="0">
                <a:solidFill>
                  <a:srgbClr val="E8ECF2"/>
                </a:solidFill>
                <a:latin typeface="Calibri"/>
              </a:rPr>
              <a:t>Decision metadata is persisted</a:t>
            </a:r>
          </a:p>
          <a:p>
            <a:pPr algn="l">
              <a:lnSpc>
                <a:spcPct val="115000"/>
              </a:lnSpc>
              <a:spcAft>
                <a:spcPts val="0"/>
              </a:spcAft>
            </a:pPr>
            <a:r>
              <a:rPr sz="1050" b="0" i="0">
                <a:solidFill>
                  <a:srgbClr val="98A4B3"/>
                </a:solidFill>
                <a:latin typeface="Calibri"/>
              </a:rPr>
              <a:t>The decision and its audit record are kept regardless of whether raw content is retained.</a:t>
            </a:r>
          </a:p>
        </p:txBody>
      </p:sp>
      <p:sp>
        <p:nvSpPr>
          <p:cNvPr id="12" name="Rectangle 11"/>
          <p:cNvSpPr/>
          <p:nvPr/>
        </p:nvSpPr>
        <p:spPr>
          <a:xfrm>
            <a:off x="685800" y="4265676"/>
            <a:ext cx="77724" cy="77724"/>
          </a:xfrm>
          <a:prstGeom prst="rect">
            <a:avLst/>
          </a:prstGeom>
          <a:solidFill>
            <a:srgbClr val="5AA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60120" y="4187952"/>
            <a:ext cx="5486400" cy="365760"/>
          </a:xfrm>
          <a:prstGeom prst="rect">
            <a:avLst/>
          </a:prstGeom>
          <a:noFill/>
        </p:spPr>
        <p:txBody>
          <a:bodyPr wrap="square" lIns="0" rIns="0" tIns="0" bIns="0" anchor="t">
            <a:spAutoFit/>
          </a:bodyPr>
          <a:lstStyle/>
          <a:p>
            <a:pPr algn="l">
              <a:lnSpc>
                <a:spcPct val="115000"/>
              </a:lnSpc>
              <a:spcAft>
                <a:spcPts val="100"/>
              </a:spcAft>
            </a:pPr>
            <a:r>
              <a:rPr sz="1250" b="1" i="0">
                <a:solidFill>
                  <a:srgbClr val="E8ECF2"/>
                </a:solidFill>
                <a:latin typeface="Calibri"/>
              </a:rPr>
              <a:t>User and conversation identifiers are hashed where possible</a:t>
            </a:r>
          </a:p>
          <a:p>
            <a:pPr algn="l">
              <a:lnSpc>
                <a:spcPct val="115000"/>
              </a:lnSpc>
              <a:spcAft>
                <a:spcPts val="0"/>
              </a:spcAft>
            </a:pPr>
            <a:r>
              <a:rPr sz="1050" b="0" i="0">
                <a:solidFill>
                  <a:srgbClr val="98A4B3"/>
                </a:solidFill>
                <a:latin typeface="Calibri"/>
              </a:rPr>
              <a:t>Before they are carried into audit or telemetry.</a:t>
            </a:r>
          </a:p>
        </p:txBody>
      </p:sp>
      <p:sp>
        <p:nvSpPr>
          <p:cNvPr id="14" name="Rectangle 13"/>
          <p:cNvSpPr/>
          <p:nvPr/>
        </p:nvSpPr>
        <p:spPr>
          <a:xfrm>
            <a:off x="6519672" y="1906524"/>
            <a:ext cx="77724" cy="77724"/>
          </a:xfrm>
          <a:prstGeom prst="rect">
            <a:avLst/>
          </a:prstGeom>
          <a:solidFill>
            <a:srgbClr val="5AA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793992" y="1828800"/>
            <a:ext cx="4709160" cy="365760"/>
          </a:xfrm>
          <a:prstGeom prst="rect">
            <a:avLst/>
          </a:prstGeom>
          <a:noFill/>
        </p:spPr>
        <p:txBody>
          <a:bodyPr wrap="square" lIns="0" rIns="0" tIns="0" bIns="0" anchor="t">
            <a:spAutoFit/>
          </a:bodyPr>
          <a:lstStyle/>
          <a:p>
            <a:pPr algn="l">
              <a:lnSpc>
                <a:spcPct val="115000"/>
              </a:lnSpc>
              <a:spcAft>
                <a:spcPts val="100"/>
              </a:spcAft>
            </a:pPr>
            <a:r>
              <a:rPr sz="1250" b="1" i="0">
                <a:solidFill>
                  <a:srgbClr val="E8ECF2"/>
                </a:solidFill>
                <a:latin typeface="Calibri"/>
              </a:rPr>
              <a:t>Secrets are removed from telemetry</a:t>
            </a:r>
          </a:p>
          <a:p>
            <a:pPr algn="l">
              <a:lnSpc>
                <a:spcPct val="115000"/>
              </a:lnSpc>
              <a:spcAft>
                <a:spcPts val="0"/>
              </a:spcAft>
            </a:pPr>
            <a:r>
              <a:rPr sz="1050" b="0" i="0">
                <a:solidFill>
                  <a:srgbClr val="98A4B3"/>
                </a:solidFill>
                <a:latin typeface="Calibri"/>
              </a:rPr>
              <a:t>Any secret material incidentally present in evaluated content must not reach a telemetry pipeline.</a:t>
            </a:r>
          </a:p>
        </p:txBody>
      </p:sp>
      <p:sp>
        <p:nvSpPr>
          <p:cNvPr id="16" name="Rectangle 15"/>
          <p:cNvSpPr/>
          <p:nvPr/>
        </p:nvSpPr>
        <p:spPr>
          <a:xfrm>
            <a:off x="6519672" y="2692908"/>
            <a:ext cx="77724" cy="77724"/>
          </a:xfrm>
          <a:prstGeom prst="rect">
            <a:avLst/>
          </a:prstGeom>
          <a:solidFill>
            <a:srgbClr val="5AA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793992" y="2615184"/>
            <a:ext cx="4709160" cy="365760"/>
          </a:xfrm>
          <a:prstGeom prst="rect">
            <a:avLst/>
          </a:prstGeom>
          <a:noFill/>
        </p:spPr>
        <p:txBody>
          <a:bodyPr wrap="square" lIns="0" rIns="0" tIns="0" bIns="0" anchor="t">
            <a:spAutoFit/>
          </a:bodyPr>
          <a:lstStyle/>
          <a:p>
            <a:pPr algn="l">
              <a:lnSpc>
                <a:spcPct val="115000"/>
              </a:lnSpc>
              <a:spcAft>
                <a:spcPts val="100"/>
              </a:spcAft>
            </a:pPr>
            <a:r>
              <a:rPr sz="1250" b="1" i="0">
                <a:solidFill>
                  <a:srgbClr val="E8ECF2"/>
                </a:solidFill>
                <a:latin typeface="Calibri"/>
              </a:rPr>
              <a:t>Encrypted in transit and at rest</a:t>
            </a:r>
          </a:p>
          <a:p>
            <a:pPr algn="l">
              <a:lnSpc>
                <a:spcPct val="115000"/>
              </a:lnSpc>
              <a:spcAft>
                <a:spcPts val="0"/>
              </a:spcAft>
            </a:pPr>
            <a:r>
              <a:rPr sz="1050" b="0" i="0">
                <a:solidFill>
                  <a:srgbClr val="98A4B3"/>
                </a:solidFill>
                <a:latin typeface="Calibri"/>
              </a:rPr>
              <a:t>Transport security throughout; managed keys at rest.</a:t>
            </a:r>
          </a:p>
        </p:txBody>
      </p:sp>
      <p:sp>
        <p:nvSpPr>
          <p:cNvPr id="18" name="Rectangle 17"/>
          <p:cNvSpPr/>
          <p:nvPr/>
        </p:nvSpPr>
        <p:spPr>
          <a:xfrm>
            <a:off x="6519672" y="3479291"/>
            <a:ext cx="77724" cy="77724"/>
          </a:xfrm>
          <a:prstGeom prst="rect">
            <a:avLst/>
          </a:prstGeom>
          <a:solidFill>
            <a:srgbClr val="5AA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793992" y="3401568"/>
            <a:ext cx="4709160" cy="365760"/>
          </a:xfrm>
          <a:prstGeom prst="rect">
            <a:avLst/>
          </a:prstGeom>
          <a:noFill/>
        </p:spPr>
        <p:txBody>
          <a:bodyPr wrap="square" lIns="0" rIns="0" tIns="0" bIns="0" anchor="t">
            <a:spAutoFit/>
          </a:bodyPr>
          <a:lstStyle/>
          <a:p>
            <a:pPr algn="l">
              <a:lnSpc>
                <a:spcPct val="115000"/>
              </a:lnSpc>
              <a:spcAft>
                <a:spcPts val="100"/>
              </a:spcAft>
            </a:pPr>
            <a:r>
              <a:rPr sz="1250" b="1" i="0">
                <a:solidFill>
                  <a:srgbClr val="E8ECF2"/>
                </a:solidFill>
                <a:latin typeface="Calibri"/>
              </a:rPr>
              <a:t>Retention is configured per tenant</a:t>
            </a:r>
          </a:p>
          <a:p>
            <a:pPr algn="l">
              <a:lnSpc>
                <a:spcPct val="115000"/>
              </a:lnSpc>
              <a:spcAft>
                <a:spcPts val="0"/>
              </a:spcAft>
            </a:pPr>
            <a:r>
              <a:rPr sz="1050" b="0" i="0">
                <a:solidFill>
                  <a:srgbClr val="98A4B3"/>
                </a:solidFill>
                <a:latin typeface="Calibri"/>
              </a:rPr>
              <a:t>Not fixed platform-wide.</a:t>
            </a:r>
          </a:p>
        </p:txBody>
      </p:sp>
      <p:sp>
        <p:nvSpPr>
          <p:cNvPr id="20" name="Rectangle 19"/>
          <p:cNvSpPr/>
          <p:nvPr/>
        </p:nvSpPr>
        <p:spPr>
          <a:xfrm>
            <a:off x="6519672" y="4265676"/>
            <a:ext cx="77724" cy="77724"/>
          </a:xfrm>
          <a:prstGeom prst="rect">
            <a:avLst/>
          </a:prstGeom>
          <a:solidFill>
            <a:srgbClr val="5AA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793992" y="4187952"/>
            <a:ext cx="4709160" cy="365760"/>
          </a:xfrm>
          <a:prstGeom prst="rect">
            <a:avLst/>
          </a:prstGeom>
          <a:noFill/>
        </p:spPr>
        <p:txBody>
          <a:bodyPr wrap="square" lIns="0" rIns="0" tIns="0" bIns="0" anchor="t">
            <a:spAutoFit/>
          </a:bodyPr>
          <a:lstStyle/>
          <a:p>
            <a:pPr algn="l">
              <a:lnSpc>
                <a:spcPct val="115000"/>
              </a:lnSpc>
              <a:spcAft>
                <a:spcPts val="100"/>
              </a:spcAft>
            </a:pPr>
            <a:r>
              <a:rPr sz="1250" b="1" i="0">
                <a:solidFill>
                  <a:srgbClr val="E8ECF2"/>
                </a:solidFill>
                <a:latin typeface="Calibri"/>
              </a:rPr>
              <a:t>Transmission is documented per deployment</a:t>
            </a:r>
          </a:p>
          <a:p>
            <a:pPr algn="l">
              <a:lnSpc>
                <a:spcPct val="115000"/>
              </a:lnSpc>
              <a:spcAft>
                <a:spcPts val="0"/>
              </a:spcAft>
            </a:pPr>
            <a:r>
              <a:rPr sz="1050" b="0" i="0">
                <a:solidFill>
                  <a:srgbClr val="98A4B3"/>
                </a:solidFill>
                <a:latin typeface="Calibri"/>
              </a:rPr>
              <a:t>Where content is processed, whether it is persisted, which telemetry leaves, and which accounts and Regions handle the request — as a dedicated statement.</a:t>
            </a:r>
          </a:p>
        </p:txBody>
      </p:sp>
      <p:sp>
        <p:nvSpPr>
          <p:cNvPr id="22" name="TextBox 21"/>
          <p:cNvSpPr txBox="1"/>
          <p:nvPr/>
        </p:nvSpPr>
        <p:spPr>
          <a:xfrm>
            <a:off x="685800" y="5577840"/>
            <a:ext cx="10820095" cy="457200"/>
          </a:xfrm>
          <a:prstGeom prst="rect">
            <a:avLst/>
          </a:prstGeom>
          <a:noFill/>
        </p:spPr>
        <p:txBody>
          <a:bodyPr wrap="square" lIns="0" rIns="0" tIns="0" bIns="0" anchor="t">
            <a:spAutoFit/>
          </a:bodyPr>
          <a:lstStyle/>
          <a:p>
            <a:pPr algn="l">
              <a:lnSpc>
                <a:spcPct val="115000"/>
              </a:lnSpc>
              <a:spcAft>
                <a:spcPts val="0"/>
              </a:spcAft>
            </a:pPr>
            <a:r>
              <a:rPr sz="1150" b="0" i="0">
                <a:solidFill>
                  <a:srgbClr val="98A4B3"/>
                </a:solidFill>
                <a:latin typeface="Calibri"/>
              </a:rPr>
              <a:t>Content categories the architecture permits: user prompts, system prompts, conversation history, retrieved documents, model responses, tool arguments, tool responses, structured output. Categories evaluated in the first phases: user prompts at the input stage and model responses at the output stage. The rest are permitted by the design and not evaluated yet.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12161B"/>
        </a:solidFill>
        <a:effectLst/>
      </p:bgPr>
    </p:bg>
    <p:spTree>
      <p:nvGrpSpPr>
        <p:cNvPr id="1" name=""/>
        <p:cNvGrpSpPr/>
        <p:nvPr/>
      </p:nvGrpSpPr>
      <p:grpSpPr/>
      <p:sp>
        <p:nvSpPr>
          <p:cNvPr id="2" name="TextBox 1"/>
          <p:cNvSpPr txBox="1"/>
          <p:nvPr/>
        </p:nvSpPr>
        <p:spPr>
          <a:xfrm>
            <a:off x="685800" y="420624"/>
            <a:ext cx="10820095" cy="658368"/>
          </a:xfrm>
          <a:prstGeom prst="rect">
            <a:avLst/>
          </a:prstGeom>
          <a:noFill/>
        </p:spPr>
        <p:txBody>
          <a:bodyPr wrap="square" lIns="0" rIns="0" tIns="0" bIns="0" anchor="t">
            <a:spAutoFit/>
          </a:bodyPr>
          <a:lstStyle/>
          <a:p>
            <a:pPr algn="l">
              <a:lnSpc>
                <a:spcPct val="115000"/>
              </a:lnSpc>
              <a:spcAft>
                <a:spcPts val="0"/>
              </a:spcAft>
            </a:pPr>
            <a:r>
              <a:rPr sz="3000" b="1" i="0">
                <a:solidFill>
                  <a:srgbClr val="E8ECF2"/>
                </a:solidFill>
                <a:latin typeface="Calibri"/>
              </a:rPr>
              <a:t>The audit record is the evidence</a:t>
            </a:r>
          </a:p>
        </p:txBody>
      </p:sp>
      <p:sp>
        <p:nvSpPr>
          <p:cNvPr id="3" name="Rectangle 2"/>
          <p:cNvSpPr/>
          <p:nvPr/>
        </p:nvSpPr>
        <p:spPr>
          <a:xfrm>
            <a:off x="685800" y="1188720"/>
            <a:ext cx="1234440" cy="41148"/>
          </a:xfrm>
          <a:prstGeom prst="rect">
            <a:avLst/>
          </a:prstGeom>
          <a:solidFill>
            <a:srgbClr val="5AA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298448"/>
            <a:ext cx="10820095" cy="365760"/>
          </a:xfrm>
          <a:prstGeom prst="rect">
            <a:avLst/>
          </a:prstGeom>
          <a:noFill/>
        </p:spPr>
        <p:txBody>
          <a:bodyPr wrap="square" lIns="0" rIns="0" tIns="0" bIns="0" anchor="t">
            <a:spAutoFit/>
          </a:bodyPr>
          <a:lstStyle/>
          <a:p>
            <a:pPr algn="l">
              <a:lnSpc>
                <a:spcPct val="115000"/>
              </a:lnSpc>
              <a:spcAft>
                <a:spcPts val="0"/>
              </a:spcAft>
            </a:pPr>
            <a:r>
              <a:rPr sz="1350" b="0" i="0">
                <a:solidFill>
                  <a:srgbClr val="98A4B3"/>
                </a:solidFill>
                <a:latin typeface="Calibri"/>
              </a:rPr>
              <a:t>Every evaluation produces one. These are the fields you would rely on.</a:t>
            </a:r>
          </a:p>
        </p:txBody>
      </p:sp>
      <p:sp>
        <p:nvSpPr>
          <p:cNvPr id="5" name="TextBox 4"/>
          <p:cNvSpPr txBox="1"/>
          <p:nvPr/>
        </p:nvSpPr>
        <p:spPr>
          <a:xfrm>
            <a:off x="685800" y="6217920"/>
            <a:ext cx="10820095" cy="292608"/>
          </a:xfrm>
          <a:prstGeom prst="rect">
            <a:avLst/>
          </a:prstGeom>
          <a:noFill/>
        </p:spPr>
        <p:txBody>
          <a:bodyPr wrap="square" lIns="0" rIns="0" tIns="0" bIns="0" anchor="t">
            <a:spAutoFit/>
          </a:bodyPr>
          <a:lstStyle/>
          <a:p>
            <a:pPr algn="l">
              <a:lnSpc>
                <a:spcPct val="115000"/>
              </a:lnSpc>
              <a:spcAft>
                <a:spcPts val="0"/>
              </a:spcAft>
            </a:pPr>
            <a:r>
              <a:rPr sz="900" b="0" i="0">
                <a:solidFill>
                  <a:srgbClr val="98A4B3"/>
                </a:solidFill>
                <a:latin typeface="Calibri"/>
              </a:rPr>
              <a:t>AI Guardrails · design intent and delivery plan — nothing built or piloted today</a:t>
            </a:r>
          </a:p>
        </p:txBody>
      </p:sp>
      <p:graphicFrame>
        <p:nvGraphicFramePr>
          <p:cNvPr id="6" name="Table 5"/>
          <p:cNvGraphicFramePr>
            <a:graphicFrameLocks noGrp="1"/>
          </p:cNvGraphicFramePr>
          <p:nvPr/>
        </p:nvGraphicFramePr>
        <p:xfrm>
          <a:off x="685800" y="1828800"/>
          <a:ext cx="10820094" cy="3392424"/>
        </p:xfrm>
        <a:graphic>
          <a:graphicData uri="http://schemas.openxmlformats.org/drawingml/2006/table">
            <a:tbl>
              <a:tblPr firstRow="1">
                <a:tableStyleId>{5C22544A-7EE6-4342-B048-85BDC9FD1C3A}</a:tableStyleId>
              </a:tblPr>
              <a:tblGrid>
                <a:gridCol w="3354229"/>
                <a:gridCol w="7465865"/>
              </a:tblGrid>
              <a:tr h="310896">
                <a:tc>
                  <a:txBody>
                    <a:bodyPr wrap="square"/>
                    <a:lstStyle/>
                    <a:p>
                      <a:pPr algn="l">
                        <a:lnSpc>
                          <a:spcPct val="105000"/>
                        </a:lnSpc>
                        <a:spcAft>
                          <a:spcPts val="0"/>
                        </a:spcAft>
                      </a:pPr>
                      <a:r>
                        <a:rPr sz="1100" b="1" i="0">
                          <a:solidFill>
                            <a:srgbClr val="5AA0E0"/>
                          </a:solidFill>
                          <a:latin typeface="Calibri"/>
                        </a:rPr>
                        <a:t>Field</a:t>
                      </a:r>
                    </a:p>
                  </a:txBody>
                  <a:tcPr marL="91440" marR="91440" marT="45720" marB="45720" anchor="ctr">
                    <a:solidFill>
                      <a:srgbClr val="1D242C"/>
                    </a:solidFill>
                  </a:tcPr>
                </a:tc>
                <a:tc>
                  <a:txBody>
                    <a:bodyPr wrap="square"/>
                    <a:lstStyle/>
                    <a:p>
                      <a:pPr algn="l">
                        <a:lnSpc>
                          <a:spcPct val="105000"/>
                        </a:lnSpc>
                        <a:spcAft>
                          <a:spcPts val="0"/>
                        </a:spcAft>
                      </a:pPr>
                      <a:r>
                        <a:rPr sz="1100" b="1" i="0">
                          <a:solidFill>
                            <a:srgbClr val="5AA0E0"/>
                          </a:solidFill>
                          <a:latin typeface="Calibri"/>
                        </a:rPr>
                        <a:t>What it gives you</a:t>
                      </a:r>
                    </a:p>
                  </a:txBody>
                  <a:tcPr marL="91440" marR="91440" marT="45720" marB="45720" anchor="ctr">
                    <a:solidFill>
                      <a:srgbClr val="1D242C"/>
                    </a:solidFill>
                  </a:tcPr>
                </a:tc>
              </a:tr>
              <a:tr h="310896">
                <a:tc>
                  <a:txBody>
                    <a:bodyPr wrap="square"/>
                    <a:lstStyle/>
                    <a:p>
                      <a:pPr algn="l">
                        <a:lnSpc>
                          <a:spcPct val="105000"/>
                        </a:lnSpc>
                        <a:spcAft>
                          <a:spcPts val="0"/>
                        </a:spcAft>
                      </a:pPr>
                      <a:r>
                        <a:rPr sz="1100" b="1" i="0">
                          <a:solidFill>
                            <a:srgbClr val="E8ECF2"/>
                          </a:solidFill>
                          <a:latin typeface="Calibri"/>
                        </a:rPr>
                        <a:t>Tenant · workload</a:t>
                      </a:r>
                    </a:p>
                  </a:txBody>
                  <a:tcPr marL="91440" marR="91440" marT="45720" marB="45720" anchor="ctr">
                    <a:solidFill>
                      <a:srgbClr val="161C23"/>
                    </a:solidFill>
                  </a:tcPr>
                </a:tc>
                <a:tc>
                  <a:txBody>
                    <a:bodyPr wrap="square"/>
                    <a:lstStyle/>
                    <a:p>
                      <a:pPr algn="l">
                        <a:lnSpc>
                          <a:spcPct val="105000"/>
                        </a:lnSpc>
                        <a:spcAft>
                          <a:spcPts val="0"/>
                        </a:spcAft>
                      </a:pPr>
                      <a:r>
                        <a:rPr sz="1100" b="0" i="0">
                          <a:solidFill>
                            <a:srgbClr val="E8ECF2"/>
                          </a:solidFill>
                          <a:latin typeface="Calibri"/>
                        </a:rPr>
                        <a:t>Whose traffic, and which registered workload.</a:t>
                      </a:r>
                    </a:p>
                  </a:txBody>
                  <a:tcPr marL="91440" marR="91440" marT="45720" marB="45720" anchor="ctr">
                    <a:solidFill>
                      <a:srgbClr val="161C23"/>
                    </a:solidFill>
                  </a:tcPr>
                </a:tc>
              </a:tr>
              <a:tr h="475488">
                <a:tc>
                  <a:txBody>
                    <a:bodyPr wrap="square"/>
                    <a:lstStyle/>
                    <a:p>
                      <a:pPr algn="l">
                        <a:lnSpc>
                          <a:spcPct val="105000"/>
                        </a:lnSpc>
                        <a:spcAft>
                          <a:spcPts val="0"/>
                        </a:spcAft>
                      </a:pPr>
                      <a:r>
                        <a:rPr sz="1100" b="1" i="0">
                          <a:solidFill>
                            <a:srgbClr val="E8ECF2"/>
                          </a:solidFill>
                          <a:latin typeface="Calibri"/>
                        </a:rPr>
                        <a:t>Policy version</a:t>
                      </a:r>
                    </a:p>
                  </a:txBody>
                  <a:tcPr marL="91440" marR="91440" marT="45720" marB="45720" anchor="ctr">
                    <a:solidFill>
                      <a:srgbClr val="12161B"/>
                    </a:solidFill>
                  </a:tcPr>
                </a:tc>
                <a:tc>
                  <a:txBody>
                    <a:bodyPr wrap="square"/>
                    <a:lstStyle/>
                    <a:p>
                      <a:pPr algn="l">
                        <a:lnSpc>
                          <a:spcPct val="105000"/>
                        </a:lnSpc>
                        <a:spcAft>
                          <a:spcPts val="0"/>
                        </a:spcAft>
                      </a:pPr>
                      <a:r>
                        <a:rPr sz="1100" b="0" i="0">
                          <a:solidFill>
                            <a:srgbClr val="E8ECF2"/>
                          </a:solidFill>
                          <a:latin typeface="Calibri"/>
                        </a:rPr>
                        <a:t>The specific immutable version applied — the traceability answer to “which rules were in force at the time”.</a:t>
                      </a:r>
                    </a:p>
                  </a:txBody>
                  <a:tcPr marL="91440" marR="91440" marT="45720" marB="45720" anchor="ctr">
                    <a:solidFill>
                      <a:srgbClr val="12161B"/>
                    </a:solidFill>
                  </a:tcPr>
                </a:tc>
              </a:tr>
              <a:tr h="292608">
                <a:tc>
                  <a:txBody>
                    <a:bodyPr wrap="square"/>
                    <a:lstStyle/>
                    <a:p>
                      <a:pPr algn="l">
                        <a:lnSpc>
                          <a:spcPct val="105000"/>
                        </a:lnSpc>
                        <a:spcAft>
                          <a:spcPts val="0"/>
                        </a:spcAft>
                      </a:pPr>
                      <a:r>
                        <a:rPr sz="1100" b="1" i="0">
                          <a:solidFill>
                            <a:srgbClr val="E8ECF2"/>
                          </a:solidFill>
                          <a:latin typeface="Calibri"/>
                        </a:rPr>
                        <a:t>Evaluation stage</a:t>
                      </a:r>
                    </a:p>
                  </a:txBody>
                  <a:tcPr marL="91440" marR="91440" marT="45720" marB="45720" anchor="ctr">
                    <a:solidFill>
                      <a:srgbClr val="161C23"/>
                    </a:solidFill>
                  </a:tcPr>
                </a:tc>
                <a:tc>
                  <a:txBody>
                    <a:bodyPr wrap="square"/>
                    <a:lstStyle/>
                    <a:p>
                      <a:pPr algn="l">
                        <a:lnSpc>
                          <a:spcPct val="105000"/>
                        </a:lnSpc>
                        <a:spcAft>
                          <a:spcPts val="0"/>
                        </a:spcAft>
                      </a:pPr>
                      <a:r>
                        <a:rPr sz="1100" b="0" i="0">
                          <a:solidFill>
                            <a:srgbClr val="E8ECF2"/>
                          </a:solidFill>
                          <a:latin typeface="Calibri"/>
                        </a:rPr>
                        <a:t>Input or output; future stages when they exist.</a:t>
                      </a:r>
                    </a:p>
                  </a:txBody>
                  <a:tcPr marL="91440" marR="91440" marT="45720" marB="45720" anchor="ctr">
                    <a:solidFill>
                      <a:srgbClr val="161C23"/>
                    </a:solidFill>
                  </a:tcPr>
                </a:tc>
              </a:tr>
              <a:tr h="658368">
                <a:tc>
                  <a:txBody>
                    <a:bodyPr wrap="square"/>
                    <a:lstStyle/>
                    <a:p>
                      <a:pPr algn="l">
                        <a:lnSpc>
                          <a:spcPct val="105000"/>
                        </a:lnSpc>
                        <a:spcAft>
                          <a:spcPts val="0"/>
                        </a:spcAft>
                      </a:pPr>
                      <a:r>
                        <a:rPr sz="1100" b="1" i="0">
                          <a:solidFill>
                            <a:srgbClr val="E8ECF2"/>
                          </a:solidFill>
                          <a:latin typeface="Calibri"/>
                        </a:rPr>
                        <a:t>Decision · reason codes · guardrail category</a:t>
                      </a:r>
                    </a:p>
                  </a:txBody>
                  <a:tcPr marL="91440" marR="91440" marT="45720" marB="45720" anchor="ctr">
                    <a:solidFill>
                      <a:srgbClr val="12161B"/>
                    </a:solidFill>
                  </a:tcPr>
                </a:tc>
                <a:tc>
                  <a:txBody>
                    <a:bodyPr wrap="square"/>
                    <a:lstStyle/>
                    <a:p>
                      <a:pPr algn="l">
                        <a:lnSpc>
                          <a:spcPct val="105000"/>
                        </a:lnSpc>
                        <a:spcAft>
                          <a:spcPts val="0"/>
                        </a:spcAft>
                      </a:pPr>
                      <a:r>
                        <a:rPr sz="1100" b="0" i="0">
                          <a:solidFill>
                            <a:srgbClr val="E8ECF2"/>
                          </a:solidFill>
                          <a:latin typeface="Calibri"/>
                        </a:rPr>
                        <a:t>What was decided and why, in an engine-independent form. Category is a first-class field, so per-category reporting is a filter rather than an external mapping table.</a:t>
                      </a:r>
                    </a:p>
                  </a:txBody>
                  <a:tcPr marL="91440" marR="91440" marT="45720" marB="45720" anchor="ctr">
                    <a:solidFill>
                      <a:srgbClr val="12161B"/>
                    </a:solidFill>
                  </a:tcPr>
                </a:tc>
              </a:tr>
              <a:tr h="292608">
                <a:tc>
                  <a:txBody>
                    <a:bodyPr wrap="square"/>
                    <a:lstStyle/>
                    <a:p>
                      <a:pPr algn="l">
                        <a:lnSpc>
                          <a:spcPct val="105000"/>
                        </a:lnSpc>
                        <a:spcAft>
                          <a:spcPts val="0"/>
                        </a:spcAft>
                      </a:pPr>
                      <a:r>
                        <a:rPr sz="1100" b="1" i="0">
                          <a:solidFill>
                            <a:srgbClr val="E8ECF2"/>
                          </a:solidFill>
                          <a:latin typeface="Calibri"/>
                        </a:rPr>
                        <a:t>Evaluator versions</a:t>
                      </a:r>
                    </a:p>
                  </a:txBody>
                  <a:tcPr marL="91440" marR="91440" marT="45720" marB="45720" anchor="ctr">
                    <a:solidFill>
                      <a:srgbClr val="161C23"/>
                    </a:solidFill>
                  </a:tcPr>
                </a:tc>
                <a:tc>
                  <a:txBody>
                    <a:bodyPr wrap="square"/>
                    <a:lstStyle/>
                    <a:p>
                      <a:pPr algn="l">
                        <a:lnSpc>
                          <a:spcPct val="105000"/>
                        </a:lnSpc>
                        <a:spcAft>
                          <a:spcPts val="0"/>
                        </a:spcAft>
                      </a:pPr>
                      <a:r>
                        <a:rPr sz="1100" b="0" i="0">
                          <a:solidFill>
                            <a:srgbClr val="E8ECF2"/>
                          </a:solidFill>
                          <a:latin typeface="Calibri"/>
                        </a:rPr>
                        <a:t>Which engines and adapters ran.</a:t>
                      </a:r>
                    </a:p>
                  </a:txBody>
                  <a:tcPr marL="91440" marR="91440" marT="45720" marB="45720" anchor="ctr">
                    <a:solidFill>
                      <a:srgbClr val="161C23"/>
                    </a:solidFill>
                  </a:tcPr>
                </a:tc>
              </a:tr>
              <a:tr h="502920">
                <a:tc>
                  <a:txBody>
                    <a:bodyPr wrap="square"/>
                    <a:lstStyle/>
                    <a:p>
                      <a:pPr algn="l">
                        <a:lnSpc>
                          <a:spcPct val="105000"/>
                        </a:lnSpc>
                        <a:spcAft>
                          <a:spcPts val="0"/>
                        </a:spcAft>
                      </a:pPr>
                      <a:r>
                        <a:rPr sz="1100" b="1" i="0">
                          <a:solidFill>
                            <a:srgbClr val="E8ECF2"/>
                          </a:solidFill>
                          <a:latin typeface="Calibri"/>
                        </a:rPr>
                        <a:t>Timestamp · correlation identifier</a:t>
                      </a:r>
                    </a:p>
                  </a:txBody>
                  <a:tcPr marL="91440" marR="91440" marT="45720" marB="45720" anchor="ctr">
                    <a:solidFill>
                      <a:srgbClr val="12161B"/>
                    </a:solidFill>
                  </a:tcPr>
                </a:tc>
                <a:tc>
                  <a:txBody>
                    <a:bodyPr wrap="square"/>
                    <a:lstStyle/>
                    <a:p>
                      <a:pPr algn="l">
                        <a:lnSpc>
                          <a:spcPct val="105000"/>
                        </a:lnSpc>
                        <a:spcAft>
                          <a:spcPts val="0"/>
                        </a:spcAft>
                      </a:pPr>
                      <a:r>
                        <a:rPr sz="1100" b="0" i="0">
                          <a:solidFill>
                            <a:srgbClr val="E8ECF2"/>
                          </a:solidFill>
                          <a:latin typeface="Calibri"/>
                        </a:rPr>
                        <a:t>When, and the identifier that joins the record to your own request logs across connector, runtime and any downstream system.</a:t>
                      </a:r>
                    </a:p>
                  </a:txBody>
                  <a:tcPr marL="91440" marR="91440" marT="45720" marB="45720" anchor="ctr">
                    <a:solidFill>
                      <a:srgbClr val="12161B"/>
                    </a:solidFill>
                  </a:tcPr>
                </a:tc>
              </a:tr>
              <a:tr h="548640">
                <a:tc>
                  <a:txBody>
                    <a:bodyPr wrap="square"/>
                    <a:lstStyle/>
                    <a:p>
                      <a:pPr algn="l">
                        <a:lnSpc>
                          <a:spcPct val="105000"/>
                        </a:lnSpc>
                        <a:spcAft>
                          <a:spcPts val="0"/>
                        </a:spcAft>
                      </a:pPr>
                      <a:r>
                        <a:rPr sz="1100" b="1" i="0">
                          <a:solidFill>
                            <a:srgbClr val="E8ECF2"/>
                          </a:solidFill>
                          <a:latin typeface="Calibri"/>
                        </a:rPr>
                        <a:t>Whether raw content was retained</a:t>
                      </a:r>
                    </a:p>
                  </a:txBody>
                  <a:tcPr marL="91440" marR="91440" marT="45720" marB="45720" anchor="ctr">
                    <a:solidFill>
                      <a:srgbClr val="161C23"/>
                    </a:solidFill>
                  </a:tcPr>
                </a:tc>
                <a:tc>
                  <a:txBody>
                    <a:bodyPr wrap="square"/>
                    <a:lstStyle/>
                    <a:p>
                      <a:pPr algn="l">
                        <a:lnSpc>
                          <a:spcPct val="105000"/>
                        </a:lnSpc>
                        <a:spcAft>
                          <a:spcPts val="0"/>
                        </a:spcAft>
                      </a:pPr>
                      <a:r>
                        <a:rPr sz="1100" b="0" i="0">
                          <a:solidFill>
                            <a:srgbClr val="5AA0E0"/>
                          </a:solidFill>
                          <a:latin typeface="Calibri"/>
                        </a:rPr>
                        <a:t>Recorded per evaluation, defaulting to no. This is the field that makes the retention posture auditable rather than asserted.</a:t>
                      </a:r>
                    </a:p>
                  </a:txBody>
                  <a:tcPr marL="91440" marR="91440" marT="45720" marB="45720" anchor="ctr">
                    <a:solidFill>
                      <a:srgbClr val="161C23"/>
                    </a:solidFill>
                  </a:tcPr>
                </a:tc>
              </a:tr>
            </a:tbl>
          </a:graphicData>
        </a:graphic>
      </p:graphicFrame>
      <p:sp>
        <p:nvSpPr>
          <p:cNvPr id="7" name="TextBox 6"/>
          <p:cNvSpPr txBox="1"/>
          <p:nvPr/>
        </p:nvSpPr>
        <p:spPr>
          <a:xfrm>
            <a:off x="685800" y="5760720"/>
            <a:ext cx="10820095" cy="457200"/>
          </a:xfrm>
          <a:prstGeom prst="rect">
            <a:avLst/>
          </a:prstGeom>
          <a:noFill/>
        </p:spPr>
        <p:txBody>
          <a:bodyPr wrap="square" lIns="0" rIns="0" tIns="0" bIns="0" anchor="t">
            <a:spAutoFit/>
          </a:bodyPr>
          <a:lstStyle/>
          <a:p>
            <a:pPr algn="l">
              <a:lnSpc>
                <a:spcPct val="115000"/>
              </a:lnSpc>
              <a:spcAft>
                <a:spcPts val="0"/>
              </a:spcAft>
            </a:pPr>
            <a:r>
              <a:rPr sz="1150" b="0" i="0">
                <a:solidFill>
                  <a:srgbClr val="98A4B3"/>
                </a:solidFill>
                <a:latin typeface="Calibri"/>
              </a:rPr>
              <a:t>Records are buffered through a queue and archived to object storage. When audit delivery itself fails, what happens is a configured behaviour on the workload's policy — not an implicit choice by the runtime.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12161B"/>
        </a:solidFill>
        <a:effectLst/>
      </p:bgPr>
    </p:bg>
    <p:spTree>
      <p:nvGrpSpPr>
        <p:cNvPr id="1" name=""/>
        <p:cNvGrpSpPr/>
        <p:nvPr/>
      </p:nvGrpSpPr>
      <p:grpSpPr/>
      <p:sp>
        <p:nvSpPr>
          <p:cNvPr id="2" name="TextBox 1"/>
          <p:cNvSpPr txBox="1"/>
          <p:nvPr/>
        </p:nvSpPr>
        <p:spPr>
          <a:xfrm>
            <a:off x="685800" y="420624"/>
            <a:ext cx="10820095" cy="658368"/>
          </a:xfrm>
          <a:prstGeom prst="rect">
            <a:avLst/>
          </a:prstGeom>
          <a:noFill/>
        </p:spPr>
        <p:txBody>
          <a:bodyPr wrap="square" lIns="0" rIns="0" tIns="0" bIns="0" anchor="t">
            <a:spAutoFit/>
          </a:bodyPr>
          <a:lstStyle/>
          <a:p>
            <a:pPr algn="l">
              <a:lnSpc>
                <a:spcPct val="115000"/>
              </a:lnSpc>
              <a:spcAft>
                <a:spcPts val="0"/>
              </a:spcAft>
            </a:pPr>
            <a:r>
              <a:rPr sz="3000" b="1" i="0">
                <a:solidFill>
                  <a:srgbClr val="E8ECF2"/>
                </a:solidFill>
                <a:latin typeface="Calibri"/>
              </a:rPr>
              <a:t>Remote Evaluation is not a data-local model</a:t>
            </a:r>
          </a:p>
        </p:txBody>
      </p:sp>
      <p:sp>
        <p:nvSpPr>
          <p:cNvPr id="3" name="Rectangle 2"/>
          <p:cNvSpPr/>
          <p:nvPr/>
        </p:nvSpPr>
        <p:spPr>
          <a:xfrm>
            <a:off x="685800" y="1188720"/>
            <a:ext cx="1234440" cy="41148"/>
          </a:xfrm>
          <a:prstGeom prst="rect">
            <a:avLst/>
          </a:prstGeom>
          <a:solidFill>
            <a:srgbClr val="5AA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298448"/>
            <a:ext cx="10820095" cy="365760"/>
          </a:xfrm>
          <a:prstGeom prst="rect">
            <a:avLst/>
          </a:prstGeom>
          <a:noFill/>
        </p:spPr>
        <p:txBody>
          <a:bodyPr wrap="square" lIns="0" rIns="0" tIns="0" bIns="0" anchor="t">
            <a:spAutoFit/>
          </a:bodyPr>
          <a:lstStyle/>
          <a:p>
            <a:pPr algn="l">
              <a:lnSpc>
                <a:spcPct val="115000"/>
              </a:lnSpc>
              <a:spcAft>
                <a:spcPts val="0"/>
              </a:spcAft>
            </a:pPr>
            <a:r>
              <a:rPr sz="1350" b="0" i="0">
                <a:solidFill>
                  <a:srgbClr val="98A4B3"/>
                </a:solidFill>
                <a:latin typeface="Calibri"/>
              </a:rPr>
              <a:t>Stated plainly, on the slide, because it is the claim most likely to be misheard.</a:t>
            </a:r>
          </a:p>
        </p:txBody>
      </p:sp>
      <p:sp>
        <p:nvSpPr>
          <p:cNvPr id="5" name="TextBox 4"/>
          <p:cNvSpPr txBox="1"/>
          <p:nvPr/>
        </p:nvSpPr>
        <p:spPr>
          <a:xfrm>
            <a:off x="685800" y="6217920"/>
            <a:ext cx="10820095" cy="292608"/>
          </a:xfrm>
          <a:prstGeom prst="rect">
            <a:avLst/>
          </a:prstGeom>
          <a:noFill/>
        </p:spPr>
        <p:txBody>
          <a:bodyPr wrap="square" lIns="0" rIns="0" tIns="0" bIns="0" anchor="t">
            <a:spAutoFit/>
          </a:bodyPr>
          <a:lstStyle/>
          <a:p>
            <a:pPr algn="l">
              <a:lnSpc>
                <a:spcPct val="115000"/>
              </a:lnSpc>
              <a:spcAft>
                <a:spcPts val="0"/>
              </a:spcAft>
            </a:pPr>
            <a:r>
              <a:rPr sz="900" b="0" i="0">
                <a:solidFill>
                  <a:srgbClr val="98A4B3"/>
                </a:solidFill>
                <a:latin typeface="Calibri"/>
              </a:rPr>
              <a:t>AI Guardrails · design intent and delivery plan — nothing built or piloted today</a:t>
            </a:r>
          </a:p>
        </p:txBody>
      </p:sp>
      <p:sp>
        <p:nvSpPr>
          <p:cNvPr id="6" name="Rounded Rectangle 5"/>
          <p:cNvSpPr/>
          <p:nvPr/>
        </p:nvSpPr>
        <p:spPr>
          <a:xfrm>
            <a:off x="685800" y="1874519"/>
            <a:ext cx="10820095" cy="1554480"/>
          </a:xfrm>
          <a:prstGeom prst="roundRect">
            <a:avLst>
              <a:gd name="adj" fmla="val 4000"/>
            </a:avLst>
          </a:prstGeom>
          <a:solidFill>
            <a:srgbClr val="1D242C"/>
          </a:solidFill>
          <a:ln w="12700">
            <a:solidFill>
              <a:srgbClr val="E06C5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51560" y="2112264"/>
            <a:ext cx="10088575" cy="1143000"/>
          </a:xfrm>
          <a:prstGeom prst="rect">
            <a:avLst/>
          </a:prstGeom>
          <a:noFill/>
        </p:spPr>
        <p:txBody>
          <a:bodyPr wrap="square" lIns="0" rIns="0" tIns="0" bIns="0" anchor="t">
            <a:spAutoFit/>
          </a:bodyPr>
          <a:lstStyle/>
          <a:p>
            <a:pPr algn="l">
              <a:lnSpc>
                <a:spcPct val="120000"/>
              </a:lnSpc>
              <a:spcAft>
                <a:spcPts val="800"/>
              </a:spcAft>
            </a:pPr>
            <a:r>
              <a:rPr sz="1800" b="1" i="0">
                <a:solidFill>
                  <a:srgbClr val="E8ECF2"/>
                </a:solidFill>
                <a:latin typeface="Calibri"/>
              </a:rPr>
              <a:t>In Remote Evaluation, prompts, responses, and any other evaluated content are transmitted to the hosted Evaluation API on every evaluated call — regardless of who operates the gateway in front of it.</a:t>
            </a:r>
          </a:p>
          <a:p>
            <a:pPr algn="l">
              <a:lnSpc>
                <a:spcPct val="115000"/>
              </a:lnSpc>
              <a:spcAft>
                <a:spcPts val="0"/>
              </a:spcAft>
            </a:pPr>
            <a:r>
              <a:rPr sz="1300" b="0" i="0">
                <a:solidFill>
                  <a:srgbClr val="98A4B3"/>
                </a:solidFill>
                <a:latin typeface="Calibri"/>
              </a:rPr>
              <a:t>Operating your own gateway reduces your operational dependency on us. It does not reduce what we see.</a:t>
            </a:r>
          </a:p>
        </p:txBody>
      </p:sp>
      <p:sp>
        <p:nvSpPr>
          <p:cNvPr id="8" name="Rectangle 7"/>
          <p:cNvSpPr/>
          <p:nvPr/>
        </p:nvSpPr>
        <p:spPr>
          <a:xfrm>
            <a:off x="685800" y="3781044"/>
            <a:ext cx="77724" cy="77724"/>
          </a:xfrm>
          <a:prstGeom prst="rect">
            <a:avLst/>
          </a:prstGeom>
          <a:solidFill>
            <a:srgbClr val="5AA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3703320"/>
            <a:ext cx="10545775" cy="365760"/>
          </a:xfrm>
          <a:prstGeom prst="rect">
            <a:avLst/>
          </a:prstGeom>
          <a:noFill/>
        </p:spPr>
        <p:txBody>
          <a:bodyPr wrap="square" lIns="0" rIns="0" tIns="0" bIns="0" anchor="t">
            <a:spAutoFit/>
          </a:bodyPr>
          <a:lstStyle/>
          <a:p>
            <a:pPr algn="l">
              <a:lnSpc>
                <a:spcPct val="115000"/>
              </a:lnSpc>
              <a:spcAft>
                <a:spcPts val="100"/>
              </a:spcAft>
            </a:pPr>
            <a:r>
              <a:rPr sz="1250" b="1" i="0">
                <a:solidFill>
                  <a:srgbClr val="E8ECF2"/>
                </a:solidFill>
                <a:latin typeface="Calibri"/>
              </a:rPr>
              <a:t>The correct destination for a residency-bound workload is the customer-managed runtime</a:t>
            </a:r>
          </a:p>
          <a:p>
            <a:pPr algn="l">
              <a:lnSpc>
                <a:spcPct val="115000"/>
              </a:lnSpc>
              <a:spcAft>
                <a:spcPts val="0"/>
              </a:spcAft>
            </a:pPr>
            <a:r>
              <a:rPr sz="1050" b="0" i="0">
                <a:solidFill>
                  <a:srgbClr val="98A4B3"/>
                </a:solidFill>
                <a:latin typeface="Calibri"/>
              </a:rPr>
              <a:t>Where content is evaluated inside your account and raw content must never leave it unless you explicitly configure that. It is Phase 4.</a:t>
            </a:r>
          </a:p>
        </p:txBody>
      </p:sp>
      <p:sp>
        <p:nvSpPr>
          <p:cNvPr id="10" name="Rectangle 9"/>
          <p:cNvSpPr/>
          <p:nvPr/>
        </p:nvSpPr>
        <p:spPr>
          <a:xfrm>
            <a:off x="685800" y="4604004"/>
            <a:ext cx="77724" cy="77724"/>
          </a:xfrm>
          <a:prstGeom prst="rect">
            <a:avLst/>
          </a:prstGeom>
          <a:solidFill>
            <a:srgbClr val="5AA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0120" y="4526280"/>
            <a:ext cx="10545775" cy="365760"/>
          </a:xfrm>
          <a:prstGeom prst="rect">
            <a:avLst/>
          </a:prstGeom>
          <a:noFill/>
        </p:spPr>
        <p:txBody>
          <a:bodyPr wrap="square" lIns="0" rIns="0" tIns="0" bIns="0" anchor="t">
            <a:spAutoFit/>
          </a:bodyPr>
          <a:lstStyle/>
          <a:p>
            <a:pPr algn="l">
              <a:lnSpc>
                <a:spcPct val="115000"/>
              </a:lnSpc>
              <a:spcAft>
                <a:spcPts val="100"/>
              </a:spcAft>
            </a:pPr>
            <a:r>
              <a:rPr sz="1250" b="1" i="0">
                <a:solidFill>
                  <a:srgbClr val="E8ECF2"/>
                </a:solidFill>
                <a:latin typeface="Calibri"/>
              </a:rPr>
              <a:t>Until then, a residency-bound workload has no mode it can adopt</a:t>
            </a:r>
          </a:p>
          <a:p>
            <a:pPr algn="l">
              <a:lnSpc>
                <a:spcPct val="115000"/>
              </a:lnSpc>
              <a:spcAft>
                <a:spcPts val="0"/>
              </a:spcAft>
            </a:pPr>
            <a:r>
              <a:rPr sz="1050" b="0" i="0">
                <a:solidFill>
                  <a:srgbClr val="98A4B3"/>
                </a:solidFill>
                <a:latin typeface="Calibri"/>
              </a:rPr>
              <a:t>That is the honest position. There is no interim configuration of Remote Evaluation that makes it residency-appropriate, and we will not describe one.</a:t>
            </a:r>
          </a:p>
        </p:txBody>
      </p:sp>
      <p:sp>
        <p:nvSpPr>
          <p:cNvPr id="12" name="Rectangle 11"/>
          <p:cNvSpPr/>
          <p:nvPr/>
        </p:nvSpPr>
        <p:spPr>
          <a:xfrm>
            <a:off x="685800" y="5426964"/>
            <a:ext cx="77724" cy="77724"/>
          </a:xfrm>
          <a:prstGeom prst="rect">
            <a:avLst/>
          </a:prstGeom>
          <a:solidFill>
            <a:srgbClr val="5AA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60120" y="5349240"/>
            <a:ext cx="10545775" cy="365760"/>
          </a:xfrm>
          <a:prstGeom prst="rect">
            <a:avLst/>
          </a:prstGeom>
          <a:noFill/>
        </p:spPr>
        <p:txBody>
          <a:bodyPr wrap="square" lIns="0" rIns="0" tIns="0" bIns="0" anchor="t">
            <a:spAutoFit/>
          </a:bodyPr>
          <a:lstStyle/>
          <a:p>
            <a:pPr algn="l">
              <a:lnSpc>
                <a:spcPct val="115000"/>
              </a:lnSpc>
              <a:spcAft>
                <a:spcPts val="100"/>
              </a:spcAft>
            </a:pPr>
            <a:r>
              <a:rPr sz="1250" b="1" i="0">
                <a:solidFill>
                  <a:srgbClr val="E8ECF2"/>
                </a:solidFill>
                <a:latin typeface="Calibri"/>
              </a:rPr>
              <a:t>This statement is binding on every artifact, not just this deck</a:t>
            </a:r>
          </a:p>
          <a:p>
            <a:pPr algn="l">
              <a:lnSpc>
                <a:spcPct val="115000"/>
              </a:lnSpc>
              <a:spcAft>
                <a:spcPts val="0"/>
              </a:spcAft>
            </a:pPr>
            <a:r>
              <a:rPr sz="1050" b="0" i="0">
                <a:solidFill>
                  <a:srgbClr val="98A4B3"/>
                </a:solidFill>
                <a:latin typeface="Calibri"/>
              </a:rPr>
              <a:t>Product, sales and executive material carry the same wording. It is enforced by the claims boundary rather than left to the author.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12161B"/>
        </a:solidFill>
        <a:effectLst/>
      </p:bgPr>
    </p:bg>
    <p:spTree>
      <p:nvGrpSpPr>
        <p:cNvPr id="1" name=""/>
        <p:cNvGrpSpPr/>
        <p:nvPr/>
      </p:nvGrpSpPr>
      <p:grpSpPr/>
      <p:sp>
        <p:nvSpPr>
          <p:cNvPr id="2" name="TextBox 1"/>
          <p:cNvSpPr txBox="1"/>
          <p:nvPr/>
        </p:nvSpPr>
        <p:spPr>
          <a:xfrm>
            <a:off x="685800" y="420624"/>
            <a:ext cx="10820095" cy="658368"/>
          </a:xfrm>
          <a:prstGeom prst="rect">
            <a:avLst/>
          </a:prstGeom>
          <a:noFill/>
        </p:spPr>
        <p:txBody>
          <a:bodyPr wrap="square" lIns="0" rIns="0" tIns="0" bIns="0" anchor="t">
            <a:spAutoFit/>
          </a:bodyPr>
          <a:lstStyle/>
          <a:p>
            <a:pPr algn="l">
              <a:lnSpc>
                <a:spcPct val="115000"/>
              </a:lnSpc>
              <a:spcAft>
                <a:spcPts val="0"/>
              </a:spcAft>
            </a:pPr>
            <a:r>
              <a:rPr sz="3000" b="1" i="0">
                <a:solidFill>
                  <a:srgbClr val="E8ECF2"/>
                </a:solidFill>
                <a:latin typeface="Calibri"/>
              </a:rPr>
              <a:t>A guardrail decision is not an authorization decision</a:t>
            </a:r>
          </a:p>
        </p:txBody>
      </p:sp>
      <p:sp>
        <p:nvSpPr>
          <p:cNvPr id="3" name="Rectangle 2"/>
          <p:cNvSpPr/>
          <p:nvPr/>
        </p:nvSpPr>
        <p:spPr>
          <a:xfrm>
            <a:off x="685800" y="1188720"/>
            <a:ext cx="1234440" cy="41148"/>
          </a:xfrm>
          <a:prstGeom prst="rect">
            <a:avLst/>
          </a:prstGeom>
          <a:solidFill>
            <a:srgbClr val="5AA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298448"/>
            <a:ext cx="10820095" cy="365760"/>
          </a:xfrm>
          <a:prstGeom prst="rect">
            <a:avLst/>
          </a:prstGeom>
          <a:noFill/>
        </p:spPr>
        <p:txBody>
          <a:bodyPr wrap="square" lIns="0" rIns="0" tIns="0" bIns="0" anchor="t">
            <a:spAutoFit/>
          </a:bodyPr>
          <a:lstStyle/>
          <a:p>
            <a:pPr algn="l">
              <a:lnSpc>
                <a:spcPct val="115000"/>
              </a:lnSpc>
              <a:spcAft>
                <a:spcPts val="0"/>
              </a:spcAft>
            </a:pPr>
            <a:r>
              <a:rPr sz="1350" b="0" i="0">
                <a:solidFill>
                  <a:srgbClr val="98A4B3"/>
                </a:solidFill>
                <a:latin typeface="Calibri"/>
              </a:rPr>
              <a:t>Content appearing safe says nothing about whether this user may take this action.</a:t>
            </a:r>
          </a:p>
        </p:txBody>
      </p:sp>
      <p:sp>
        <p:nvSpPr>
          <p:cNvPr id="5" name="TextBox 4"/>
          <p:cNvSpPr txBox="1"/>
          <p:nvPr/>
        </p:nvSpPr>
        <p:spPr>
          <a:xfrm>
            <a:off x="685800" y="6217920"/>
            <a:ext cx="10820095" cy="292608"/>
          </a:xfrm>
          <a:prstGeom prst="rect">
            <a:avLst/>
          </a:prstGeom>
          <a:noFill/>
        </p:spPr>
        <p:txBody>
          <a:bodyPr wrap="square" lIns="0" rIns="0" tIns="0" bIns="0" anchor="t">
            <a:spAutoFit/>
          </a:bodyPr>
          <a:lstStyle/>
          <a:p>
            <a:pPr algn="l">
              <a:lnSpc>
                <a:spcPct val="115000"/>
              </a:lnSpc>
              <a:spcAft>
                <a:spcPts val="0"/>
              </a:spcAft>
            </a:pPr>
            <a:r>
              <a:rPr sz="900" b="0" i="0">
                <a:solidFill>
                  <a:srgbClr val="98A4B3"/>
                </a:solidFill>
                <a:latin typeface="Calibri"/>
              </a:rPr>
              <a:t>AI Guardrails · design intent and delivery plan — nothing built or piloted today</a:t>
            </a:r>
          </a:p>
        </p:txBody>
      </p:sp>
      <p:sp>
        <p:nvSpPr>
          <p:cNvPr id="6" name="Rounded Rectangle 5"/>
          <p:cNvSpPr/>
          <p:nvPr/>
        </p:nvSpPr>
        <p:spPr>
          <a:xfrm>
            <a:off x="685800" y="1828800"/>
            <a:ext cx="5760720" cy="3520440"/>
          </a:xfrm>
          <a:prstGeom prst="roundRect">
            <a:avLst>
              <a:gd name="adj" fmla="val 4000"/>
            </a:avLst>
          </a:prstGeom>
          <a:solidFill>
            <a:srgbClr val="161C23"/>
          </a:solidFill>
          <a:ln w="12700">
            <a:solidFill>
              <a:srgbClr val="2E39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85800" y="1828800"/>
            <a:ext cx="5760720" cy="502920"/>
          </a:xfrm>
          <a:prstGeom prst="roundRect">
            <a:avLst>
              <a:gd name="adj" fmla="val 8000"/>
            </a:avLst>
          </a:prstGeom>
          <a:solidFill>
            <a:srgbClr val="1D242C"/>
          </a:solidFill>
          <a:ln w="12700">
            <a:solidFill>
              <a:srgbClr val="E06C5F"/>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lnSpc>
                <a:spcPct val="115000"/>
              </a:lnSpc>
              <a:spcAft>
                <a:spcPts val="200"/>
              </a:spcAft>
            </a:pPr>
            <a:r>
              <a:rPr sz="1250" b="1" i="0">
                <a:solidFill>
                  <a:srgbClr val="E8ECF2"/>
                </a:solidFill>
                <a:latin typeface="Calibri"/>
              </a:rPr>
              <a:t>STAYS WITH YOUR APPLICATION</a:t>
            </a:r>
          </a:p>
        </p:txBody>
      </p:sp>
      <p:sp>
        <p:nvSpPr>
          <p:cNvPr id="8" name="Rectangle 7"/>
          <p:cNvSpPr/>
          <p:nvPr/>
        </p:nvSpPr>
        <p:spPr>
          <a:xfrm>
            <a:off x="941832" y="2702052"/>
            <a:ext cx="77724" cy="77724"/>
          </a:xfrm>
          <a:prstGeom prst="rect">
            <a:avLst/>
          </a:prstGeom>
          <a:solidFill>
            <a:srgbClr val="E06C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216152" y="2624328"/>
            <a:ext cx="5029200" cy="365760"/>
          </a:xfrm>
          <a:prstGeom prst="rect">
            <a:avLst/>
          </a:prstGeom>
          <a:noFill/>
        </p:spPr>
        <p:txBody>
          <a:bodyPr wrap="square" lIns="0" rIns="0" tIns="0" bIns="0" anchor="t">
            <a:spAutoFit/>
          </a:bodyPr>
          <a:lstStyle/>
          <a:p>
            <a:pPr algn="l">
              <a:lnSpc>
                <a:spcPct val="115000"/>
              </a:lnSpc>
              <a:spcAft>
                <a:spcPts val="100"/>
              </a:spcAft>
            </a:pPr>
            <a:r>
              <a:rPr sz="1250" b="0" i="0">
                <a:solidFill>
                  <a:srgbClr val="E8ECF2"/>
                </a:solidFill>
                <a:latin typeface="Calibri"/>
              </a:rPr>
              <a:t>End-user authentication</a:t>
            </a:r>
          </a:p>
        </p:txBody>
      </p:sp>
      <p:sp>
        <p:nvSpPr>
          <p:cNvPr id="10" name="Rectangle 9"/>
          <p:cNvSpPr/>
          <p:nvPr/>
        </p:nvSpPr>
        <p:spPr>
          <a:xfrm>
            <a:off x="941832" y="3122676"/>
            <a:ext cx="77724" cy="77724"/>
          </a:xfrm>
          <a:prstGeom prst="rect">
            <a:avLst/>
          </a:prstGeom>
          <a:solidFill>
            <a:srgbClr val="E06C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216152" y="3044952"/>
            <a:ext cx="5029200" cy="365760"/>
          </a:xfrm>
          <a:prstGeom prst="rect">
            <a:avLst/>
          </a:prstGeom>
          <a:noFill/>
        </p:spPr>
        <p:txBody>
          <a:bodyPr wrap="square" lIns="0" rIns="0" tIns="0" bIns="0" anchor="t">
            <a:spAutoFit/>
          </a:bodyPr>
          <a:lstStyle/>
          <a:p>
            <a:pPr algn="l">
              <a:lnSpc>
                <a:spcPct val="115000"/>
              </a:lnSpc>
              <a:spcAft>
                <a:spcPts val="100"/>
              </a:spcAft>
            </a:pPr>
            <a:r>
              <a:rPr sz="1250" b="0" i="0">
                <a:solidFill>
                  <a:srgbClr val="E8ECF2"/>
                </a:solidFill>
                <a:latin typeface="Calibri"/>
              </a:rPr>
              <a:t>Business authorization</a:t>
            </a:r>
          </a:p>
        </p:txBody>
      </p:sp>
      <p:sp>
        <p:nvSpPr>
          <p:cNvPr id="12" name="Rectangle 11"/>
          <p:cNvSpPr/>
          <p:nvPr/>
        </p:nvSpPr>
        <p:spPr>
          <a:xfrm>
            <a:off x="941832" y="3543300"/>
            <a:ext cx="77724" cy="77724"/>
          </a:xfrm>
          <a:prstGeom prst="rect">
            <a:avLst/>
          </a:prstGeom>
          <a:solidFill>
            <a:srgbClr val="E06C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216152" y="3465576"/>
            <a:ext cx="5029200" cy="365760"/>
          </a:xfrm>
          <a:prstGeom prst="rect">
            <a:avLst/>
          </a:prstGeom>
          <a:noFill/>
        </p:spPr>
        <p:txBody>
          <a:bodyPr wrap="square" lIns="0" rIns="0" tIns="0" bIns="0" anchor="t">
            <a:spAutoFit/>
          </a:bodyPr>
          <a:lstStyle/>
          <a:p>
            <a:pPr algn="l">
              <a:lnSpc>
                <a:spcPct val="115000"/>
              </a:lnSpc>
              <a:spcAft>
                <a:spcPts val="100"/>
              </a:spcAft>
            </a:pPr>
            <a:r>
              <a:rPr sz="1250" b="0" i="0">
                <a:solidFill>
                  <a:srgbClr val="E8ECF2"/>
                </a:solidFill>
                <a:latin typeface="Calibri"/>
              </a:rPr>
              <a:t>Tenant isolation at the application and business-data layer</a:t>
            </a:r>
          </a:p>
        </p:txBody>
      </p:sp>
      <p:sp>
        <p:nvSpPr>
          <p:cNvPr id="14" name="Rectangle 13"/>
          <p:cNvSpPr/>
          <p:nvPr/>
        </p:nvSpPr>
        <p:spPr>
          <a:xfrm>
            <a:off x="941832" y="3963924"/>
            <a:ext cx="77724" cy="77724"/>
          </a:xfrm>
          <a:prstGeom prst="rect">
            <a:avLst/>
          </a:prstGeom>
          <a:solidFill>
            <a:srgbClr val="E06C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216152" y="3886200"/>
            <a:ext cx="5029200" cy="365760"/>
          </a:xfrm>
          <a:prstGeom prst="rect">
            <a:avLst/>
          </a:prstGeom>
          <a:noFill/>
        </p:spPr>
        <p:txBody>
          <a:bodyPr wrap="square" lIns="0" rIns="0" tIns="0" bIns="0" anchor="t">
            <a:spAutoFit/>
          </a:bodyPr>
          <a:lstStyle/>
          <a:p>
            <a:pPr algn="l">
              <a:lnSpc>
                <a:spcPct val="115000"/>
              </a:lnSpc>
              <a:spcAft>
                <a:spcPts val="100"/>
              </a:spcAft>
            </a:pPr>
            <a:r>
              <a:rPr sz="1250" b="0" i="0">
                <a:solidFill>
                  <a:srgbClr val="E8ECF2"/>
                </a:solidFill>
                <a:latin typeface="Calibri"/>
              </a:rPr>
              <a:t>Resource-ownership checks</a:t>
            </a:r>
          </a:p>
        </p:txBody>
      </p:sp>
      <p:sp>
        <p:nvSpPr>
          <p:cNvPr id="16" name="Rectangle 15"/>
          <p:cNvSpPr/>
          <p:nvPr/>
        </p:nvSpPr>
        <p:spPr>
          <a:xfrm>
            <a:off x="941832" y="4384548"/>
            <a:ext cx="77724" cy="77724"/>
          </a:xfrm>
          <a:prstGeom prst="rect">
            <a:avLst/>
          </a:prstGeom>
          <a:solidFill>
            <a:srgbClr val="E06C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216152" y="4306824"/>
            <a:ext cx="5029200" cy="365760"/>
          </a:xfrm>
          <a:prstGeom prst="rect">
            <a:avLst/>
          </a:prstGeom>
          <a:noFill/>
        </p:spPr>
        <p:txBody>
          <a:bodyPr wrap="square" lIns="0" rIns="0" tIns="0" bIns="0" anchor="t">
            <a:spAutoFit/>
          </a:bodyPr>
          <a:lstStyle/>
          <a:p>
            <a:pPr algn="l">
              <a:lnSpc>
                <a:spcPct val="115000"/>
              </a:lnSpc>
              <a:spcAft>
                <a:spcPts val="100"/>
              </a:spcAft>
            </a:pPr>
            <a:r>
              <a:rPr sz="1250" b="0" i="0">
                <a:solidFill>
                  <a:srgbClr val="E8ECF2"/>
                </a:solidFill>
                <a:latin typeface="Calibri"/>
              </a:rPr>
              <a:t>Transaction limits</a:t>
            </a:r>
          </a:p>
        </p:txBody>
      </p:sp>
      <p:sp>
        <p:nvSpPr>
          <p:cNvPr id="18" name="Rectangle 17"/>
          <p:cNvSpPr/>
          <p:nvPr/>
        </p:nvSpPr>
        <p:spPr>
          <a:xfrm>
            <a:off x="941832" y="4805172"/>
            <a:ext cx="77724" cy="77724"/>
          </a:xfrm>
          <a:prstGeom prst="rect">
            <a:avLst/>
          </a:prstGeom>
          <a:solidFill>
            <a:srgbClr val="E06C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216152" y="4727448"/>
            <a:ext cx="5029200" cy="365760"/>
          </a:xfrm>
          <a:prstGeom prst="rect">
            <a:avLst/>
          </a:prstGeom>
          <a:noFill/>
        </p:spPr>
        <p:txBody>
          <a:bodyPr wrap="square" lIns="0" rIns="0" tIns="0" bIns="0" anchor="t">
            <a:spAutoFit/>
          </a:bodyPr>
          <a:lstStyle/>
          <a:p>
            <a:pPr algn="l">
              <a:lnSpc>
                <a:spcPct val="115000"/>
              </a:lnSpc>
              <a:spcAft>
                <a:spcPts val="100"/>
              </a:spcAft>
            </a:pPr>
            <a:r>
              <a:rPr sz="1250" b="0" i="0">
                <a:solidFill>
                  <a:srgbClr val="E8ECF2"/>
                </a:solidFill>
                <a:latin typeface="Calibri"/>
              </a:rPr>
              <a:t>Approval workflows</a:t>
            </a:r>
          </a:p>
        </p:txBody>
      </p:sp>
      <p:sp>
        <p:nvSpPr>
          <p:cNvPr id="20" name="Rounded Rectangle 19"/>
          <p:cNvSpPr/>
          <p:nvPr/>
        </p:nvSpPr>
        <p:spPr>
          <a:xfrm>
            <a:off x="6519672" y="1828800"/>
            <a:ext cx="4983480" cy="3520440"/>
          </a:xfrm>
          <a:prstGeom prst="roundRect">
            <a:avLst>
              <a:gd name="adj" fmla="val 4000"/>
            </a:avLst>
          </a:prstGeom>
          <a:solidFill>
            <a:srgbClr val="161C23"/>
          </a:solidFill>
          <a:ln w="12700">
            <a:solidFill>
              <a:srgbClr val="2E39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793992" y="2057400"/>
            <a:ext cx="4434840" cy="3063240"/>
          </a:xfrm>
          <a:prstGeom prst="rect">
            <a:avLst/>
          </a:prstGeom>
          <a:noFill/>
        </p:spPr>
        <p:txBody>
          <a:bodyPr wrap="square" lIns="0" rIns="0" tIns="0" bIns="0" anchor="t">
            <a:spAutoFit/>
          </a:bodyPr>
          <a:lstStyle/>
          <a:p>
            <a:pPr algn="l">
              <a:lnSpc>
                <a:spcPct val="115000"/>
              </a:lnSpc>
              <a:spcAft>
                <a:spcPts val="700"/>
              </a:spcAft>
            </a:pPr>
            <a:r>
              <a:rPr sz="1300" b="1" i="0">
                <a:solidFill>
                  <a:srgbClr val="5AA0E0"/>
                </a:solidFill>
                <a:latin typeface="Calibri"/>
              </a:rPr>
              <a:t>What the platform's own identity controls do</a:t>
            </a:r>
          </a:p>
          <a:p>
            <a:pPr algn="l">
              <a:lnSpc>
                <a:spcPct val="125000"/>
              </a:lnSpc>
              <a:spcAft>
                <a:spcPts val="1200"/>
              </a:spcAft>
            </a:pPr>
            <a:r>
              <a:rPr sz="1250" b="0" i="0">
                <a:solidFill>
                  <a:srgbClr val="E8ECF2"/>
                </a:solidFill>
                <a:latin typeface="Calibri"/>
              </a:rPr>
              <a:t>They authenticate and authorize calls into the guardrail platform itself: who may call the Evaluation API, with what identity, against which policy, and how that call is protected in transit and at rest.</a:t>
            </a:r>
          </a:p>
          <a:p>
            <a:pPr algn="l">
              <a:lnSpc>
                <a:spcPct val="125000"/>
              </a:lnSpc>
              <a:spcAft>
                <a:spcPts val="0"/>
              </a:spcAft>
            </a:pPr>
            <a:r>
              <a:rPr sz="1250" b="0" i="0">
                <a:solidFill>
                  <a:srgbClr val="98A4B3"/>
                </a:solidFill>
                <a:latin typeface="Calibri"/>
              </a:rPr>
              <a:t>They are not, and are not designed to be, a substitute for your application's authorization layer. Tool and agent authorization — deciding that a specific action is permitted for a specific user against a specific resource — is excluded from the first phases entirely and appears no earlier than the final phase, as content and argument evaluation rather than permission to execute.</a:t>
            </a:r>
          </a:p>
        </p:txBody>
      </p:sp>
      <p:sp>
        <p:nvSpPr>
          <p:cNvPr id="22" name="TextBox 21"/>
          <p:cNvSpPr txBox="1"/>
          <p:nvPr/>
        </p:nvSpPr>
        <p:spPr>
          <a:xfrm>
            <a:off x="685800" y="5815584"/>
            <a:ext cx="10820095" cy="457200"/>
          </a:xfrm>
          <a:prstGeom prst="rect">
            <a:avLst/>
          </a:prstGeom>
          <a:noFill/>
        </p:spPr>
        <p:txBody>
          <a:bodyPr wrap="square" lIns="0" rIns="0" tIns="0" bIns="0" anchor="t">
            <a:spAutoFit/>
          </a:bodyPr>
          <a:lstStyle/>
          <a:p>
            <a:pPr algn="l">
              <a:lnSpc>
                <a:spcPct val="115000"/>
              </a:lnSpc>
              <a:spcAft>
                <a:spcPts val="0"/>
              </a:spcAft>
            </a:pPr>
            <a:r>
              <a:rPr sz="1150" b="0" i="0">
                <a:solidFill>
                  <a:srgbClr val="98A4B3"/>
                </a:solidFill>
                <a:latin typeface="Calibri"/>
              </a:rPr>
              <a:t>The category catalog encodes this as classification: identity, authorization and tenant isolation are marked out-of-boundary with a named external owner — listed so coverage conversations get an honest answer, never as a roadmap item.</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12161B"/>
        </a:solidFill>
        <a:effectLst/>
      </p:bgPr>
    </p:bg>
    <p:spTree>
      <p:nvGrpSpPr>
        <p:cNvPr id="1" name=""/>
        <p:cNvGrpSpPr/>
        <p:nvPr/>
      </p:nvGrpSpPr>
      <p:grpSpPr/>
      <p:sp>
        <p:nvSpPr>
          <p:cNvPr id="2" name="TextBox 1"/>
          <p:cNvSpPr txBox="1"/>
          <p:nvPr/>
        </p:nvSpPr>
        <p:spPr>
          <a:xfrm>
            <a:off x="685800" y="420624"/>
            <a:ext cx="10820095" cy="658368"/>
          </a:xfrm>
          <a:prstGeom prst="rect">
            <a:avLst/>
          </a:prstGeom>
          <a:noFill/>
        </p:spPr>
        <p:txBody>
          <a:bodyPr wrap="square" lIns="0" rIns="0" tIns="0" bIns="0" anchor="t">
            <a:spAutoFit/>
          </a:bodyPr>
          <a:lstStyle/>
          <a:p>
            <a:pPr algn="l">
              <a:lnSpc>
                <a:spcPct val="115000"/>
              </a:lnSpc>
              <a:spcAft>
                <a:spcPts val="0"/>
              </a:spcAft>
            </a:pPr>
            <a:r>
              <a:rPr sz="3000" b="1" i="0">
                <a:solidFill>
                  <a:srgbClr val="E8ECF2"/>
                </a:solidFill>
                <a:latin typeface="Calibri"/>
              </a:rPr>
              <a:t>Connector bypass is a residual risk, not a mitigated one</a:t>
            </a:r>
          </a:p>
        </p:txBody>
      </p:sp>
      <p:sp>
        <p:nvSpPr>
          <p:cNvPr id="3" name="Rectangle 2"/>
          <p:cNvSpPr/>
          <p:nvPr/>
        </p:nvSpPr>
        <p:spPr>
          <a:xfrm>
            <a:off x="685800" y="1188720"/>
            <a:ext cx="1234440" cy="41148"/>
          </a:xfrm>
          <a:prstGeom prst="rect">
            <a:avLst/>
          </a:prstGeom>
          <a:solidFill>
            <a:srgbClr val="5AA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298448"/>
            <a:ext cx="10820095" cy="365760"/>
          </a:xfrm>
          <a:prstGeom prst="rect">
            <a:avLst/>
          </a:prstGeom>
          <a:noFill/>
        </p:spPr>
        <p:txBody>
          <a:bodyPr wrap="square" lIns="0" rIns="0" tIns="0" bIns="0" anchor="t">
            <a:spAutoFit/>
          </a:bodyPr>
          <a:lstStyle/>
          <a:p>
            <a:pPr algn="l">
              <a:lnSpc>
                <a:spcPct val="115000"/>
              </a:lnSpc>
              <a:spcAft>
                <a:spcPts val="0"/>
              </a:spcAft>
            </a:pPr>
            <a:r>
              <a:rPr sz="1350" b="0" i="0">
                <a:solidFill>
                  <a:srgbClr val="98A4B3"/>
                </a:solidFill>
                <a:latin typeface="Calibri"/>
              </a:rPr>
              <a:t>A cooperative connector is evidence of an engineering standard being followed. It is not proof that evaluation cannot be bypassed.</a:t>
            </a:r>
          </a:p>
        </p:txBody>
      </p:sp>
      <p:sp>
        <p:nvSpPr>
          <p:cNvPr id="5" name="TextBox 4"/>
          <p:cNvSpPr txBox="1"/>
          <p:nvPr/>
        </p:nvSpPr>
        <p:spPr>
          <a:xfrm>
            <a:off x="685800" y="6217920"/>
            <a:ext cx="10820095" cy="292608"/>
          </a:xfrm>
          <a:prstGeom prst="rect">
            <a:avLst/>
          </a:prstGeom>
          <a:noFill/>
        </p:spPr>
        <p:txBody>
          <a:bodyPr wrap="square" lIns="0" rIns="0" tIns="0" bIns="0" anchor="t">
            <a:spAutoFit/>
          </a:bodyPr>
          <a:lstStyle/>
          <a:p>
            <a:pPr algn="l">
              <a:lnSpc>
                <a:spcPct val="115000"/>
              </a:lnSpc>
              <a:spcAft>
                <a:spcPts val="0"/>
              </a:spcAft>
            </a:pPr>
            <a:r>
              <a:rPr sz="900" b="0" i="0">
                <a:solidFill>
                  <a:srgbClr val="98A4B3"/>
                </a:solidFill>
                <a:latin typeface="Calibri"/>
              </a:rPr>
              <a:t>AI Guardrails · design intent and delivery plan — nothing built or piloted today</a:t>
            </a:r>
          </a:p>
        </p:txBody>
      </p:sp>
      <p:sp>
        <p:nvSpPr>
          <p:cNvPr id="6" name="Rounded Rectangle 5"/>
          <p:cNvSpPr/>
          <p:nvPr/>
        </p:nvSpPr>
        <p:spPr>
          <a:xfrm>
            <a:off x="685800" y="1920240"/>
            <a:ext cx="10820095" cy="1143000"/>
          </a:xfrm>
          <a:prstGeom prst="roundRect">
            <a:avLst>
              <a:gd name="adj" fmla="val 4000"/>
            </a:avLst>
          </a:prstGeom>
          <a:solidFill>
            <a:srgbClr val="161C23"/>
          </a:solidFill>
          <a:ln w="12700">
            <a:solidFill>
              <a:srgbClr val="2E39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85800" y="1920240"/>
            <a:ext cx="64008" cy="1143000"/>
          </a:xfrm>
          <a:prstGeom prst="rect">
            <a:avLst/>
          </a:prstGeom>
          <a:solidFill>
            <a:srgbClr val="E06C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78408" y="2066544"/>
            <a:ext cx="3246120" cy="914400"/>
          </a:xfrm>
          <a:prstGeom prst="rect">
            <a:avLst/>
          </a:prstGeom>
          <a:noFill/>
        </p:spPr>
        <p:txBody>
          <a:bodyPr wrap="square" lIns="0" rIns="0" tIns="0" bIns="0" anchor="t">
            <a:spAutoFit/>
          </a:bodyPr>
          <a:lstStyle/>
          <a:p>
            <a:pPr algn="l">
              <a:lnSpc>
                <a:spcPct val="115000"/>
              </a:lnSpc>
              <a:spcAft>
                <a:spcPts val="400"/>
              </a:spcAft>
            </a:pPr>
            <a:r>
              <a:rPr sz="1450" b="1" i="0">
                <a:solidFill>
                  <a:srgbClr val="E8ECF2"/>
                </a:solidFill>
                <a:latin typeface="Calibri"/>
              </a:rPr>
              <a:t>Cooperative integration</a:t>
            </a:r>
          </a:p>
          <a:p>
            <a:pPr algn="l">
              <a:lnSpc>
                <a:spcPct val="115000"/>
              </a:lnSpc>
              <a:spcAft>
                <a:spcPts val="0"/>
              </a:spcAft>
            </a:pPr>
            <a:r>
              <a:rPr sz="1050" b="0" i="0">
                <a:solidFill>
                  <a:srgbClr val="98A4B3"/>
                </a:solidFill>
                <a:latin typeface="Calibri"/>
              </a:rPr>
              <a:t>Application → team LiteLLM with connector → model</a:t>
            </a:r>
          </a:p>
        </p:txBody>
      </p:sp>
      <p:sp>
        <p:nvSpPr>
          <p:cNvPr id="9" name="Rounded Rectangle 8"/>
          <p:cNvSpPr/>
          <p:nvPr/>
        </p:nvSpPr>
        <p:spPr>
          <a:xfrm>
            <a:off x="978408" y="2761488"/>
            <a:ext cx="1691640" cy="237744"/>
          </a:xfrm>
          <a:prstGeom prst="roundRect">
            <a:avLst>
              <a:gd name="adj" fmla="val 8000"/>
            </a:avLst>
          </a:prstGeom>
          <a:solidFill>
            <a:srgbClr val="5AA0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lnSpc>
                <a:spcPct val="115000"/>
              </a:lnSpc>
              <a:spcAft>
                <a:spcPts val="200"/>
              </a:spcAft>
            </a:pPr>
            <a:r>
              <a:rPr sz="850" b="1" i="0">
                <a:solidFill>
                  <a:srgbClr val="12161B"/>
                </a:solidFill>
                <a:latin typeface="Calibri"/>
              </a:rPr>
              <a:t>THE PILOT STARTS HERE</a:t>
            </a:r>
          </a:p>
        </p:txBody>
      </p:sp>
      <p:sp>
        <p:nvSpPr>
          <p:cNvPr id="10" name="TextBox 9"/>
          <p:cNvSpPr txBox="1"/>
          <p:nvPr/>
        </p:nvSpPr>
        <p:spPr>
          <a:xfrm>
            <a:off x="4480560" y="2066544"/>
            <a:ext cx="3246120" cy="914400"/>
          </a:xfrm>
          <a:prstGeom prst="rect">
            <a:avLst/>
          </a:prstGeom>
          <a:noFill/>
        </p:spPr>
        <p:txBody>
          <a:bodyPr wrap="square" lIns="0" rIns="0" tIns="0" bIns="0" anchor="t">
            <a:spAutoFit/>
          </a:bodyPr>
          <a:lstStyle/>
          <a:p>
            <a:pPr algn="l">
              <a:lnSpc>
                <a:spcPct val="115000"/>
              </a:lnSpc>
              <a:spcAft>
                <a:spcPts val="300"/>
              </a:spcAft>
            </a:pPr>
            <a:r>
              <a:rPr sz="950" b="1" i="0">
                <a:solidFill>
                  <a:srgbClr val="5AA0E0"/>
                </a:solidFill>
                <a:latin typeface="Calibri"/>
              </a:rPr>
              <a:t>Who can bypass it</a:t>
            </a:r>
          </a:p>
          <a:p>
            <a:pPr algn="l">
              <a:lnSpc>
                <a:spcPct val="120000"/>
              </a:lnSpc>
              <a:spcAft>
                <a:spcPts val="0"/>
              </a:spcAft>
            </a:pPr>
            <a:r>
              <a:rPr sz="1150" b="0" i="0">
                <a:solidFill>
                  <a:srgbClr val="E8ECF2"/>
                </a:solidFill>
                <a:latin typeface="Calibri"/>
              </a:rPr>
              <a:t>The consuming team can bypass it — by disabling, removing, or misconfiguring the connector.</a:t>
            </a:r>
          </a:p>
        </p:txBody>
      </p:sp>
      <p:sp>
        <p:nvSpPr>
          <p:cNvPr id="11" name="TextBox 10"/>
          <p:cNvSpPr txBox="1"/>
          <p:nvPr/>
        </p:nvSpPr>
        <p:spPr>
          <a:xfrm>
            <a:off x="8001000" y="2066544"/>
            <a:ext cx="3474720" cy="914400"/>
          </a:xfrm>
          <a:prstGeom prst="rect">
            <a:avLst/>
          </a:prstGeom>
          <a:noFill/>
        </p:spPr>
        <p:txBody>
          <a:bodyPr wrap="square" lIns="0" rIns="0" tIns="0" bIns="0" anchor="t">
            <a:spAutoFit/>
          </a:bodyPr>
          <a:lstStyle/>
          <a:p>
            <a:pPr algn="l">
              <a:lnSpc>
                <a:spcPct val="115000"/>
              </a:lnSpc>
              <a:spcAft>
                <a:spcPts val="300"/>
              </a:spcAft>
            </a:pPr>
            <a:r>
              <a:rPr sz="950" b="1" i="0">
                <a:solidFill>
                  <a:srgbClr val="5AA0E0"/>
                </a:solidFill>
                <a:latin typeface="Calibri"/>
              </a:rPr>
              <a:t>Appropriate when</a:t>
            </a:r>
          </a:p>
          <a:p>
            <a:pPr algn="l">
              <a:lnSpc>
                <a:spcPct val="120000"/>
              </a:lnSpc>
              <a:spcAft>
                <a:spcPts val="0"/>
              </a:spcAft>
            </a:pPr>
            <a:r>
              <a:rPr sz="1150" b="0" i="0">
                <a:solidFill>
                  <a:srgbClr val="98A4B3"/>
                </a:solidFill>
                <a:latin typeface="Calibri"/>
              </a:rPr>
              <a:t>Teams are trusted; guardrails are an engineering standard, not a compliance mandate; the objective is adoption and evaluation.</a:t>
            </a:r>
          </a:p>
        </p:txBody>
      </p:sp>
      <p:sp>
        <p:nvSpPr>
          <p:cNvPr id="12" name="Rounded Rectangle 11"/>
          <p:cNvSpPr/>
          <p:nvPr/>
        </p:nvSpPr>
        <p:spPr>
          <a:xfrm>
            <a:off x="685800" y="3218688"/>
            <a:ext cx="10820095" cy="1143000"/>
          </a:xfrm>
          <a:prstGeom prst="roundRect">
            <a:avLst>
              <a:gd name="adj" fmla="val 4000"/>
            </a:avLst>
          </a:prstGeom>
          <a:solidFill>
            <a:srgbClr val="161C23"/>
          </a:solidFill>
          <a:ln w="12700">
            <a:solidFill>
              <a:srgbClr val="2E39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85800" y="3218688"/>
            <a:ext cx="64008" cy="1143000"/>
          </a:xfrm>
          <a:prstGeom prst="rect">
            <a:avLst/>
          </a:prstGeom>
          <a:solidFill>
            <a:srgbClr val="E0B3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78408" y="3364992"/>
            <a:ext cx="3246120" cy="914400"/>
          </a:xfrm>
          <a:prstGeom prst="rect">
            <a:avLst/>
          </a:prstGeom>
          <a:noFill/>
        </p:spPr>
        <p:txBody>
          <a:bodyPr wrap="square" lIns="0" rIns="0" tIns="0" bIns="0" anchor="t">
            <a:spAutoFit/>
          </a:bodyPr>
          <a:lstStyle/>
          <a:p>
            <a:pPr algn="l">
              <a:lnSpc>
                <a:spcPct val="115000"/>
              </a:lnSpc>
              <a:spcAft>
                <a:spcPts val="400"/>
              </a:spcAft>
            </a:pPr>
            <a:r>
              <a:rPr sz="1450" b="1" i="0">
                <a:solidFill>
                  <a:srgbClr val="E8ECF2"/>
                </a:solidFill>
                <a:latin typeface="Calibri"/>
              </a:rPr>
              <a:t>Platform-managed enforcement</a:t>
            </a:r>
          </a:p>
          <a:p>
            <a:pPr algn="l">
              <a:lnSpc>
                <a:spcPct val="115000"/>
              </a:lnSpc>
              <a:spcAft>
                <a:spcPts val="0"/>
              </a:spcAft>
            </a:pPr>
            <a:r>
              <a:rPr sz="1050" b="0" i="0">
                <a:solidFill>
                  <a:srgbClr val="98A4B3"/>
                </a:solidFill>
                <a:latin typeface="Calibri"/>
              </a:rPr>
              <a:t>Application → platform-managed gateway → guardrails → model</a:t>
            </a:r>
          </a:p>
        </p:txBody>
      </p:sp>
      <p:sp>
        <p:nvSpPr>
          <p:cNvPr id="15" name="TextBox 14"/>
          <p:cNvSpPr txBox="1"/>
          <p:nvPr/>
        </p:nvSpPr>
        <p:spPr>
          <a:xfrm>
            <a:off x="4480560" y="3364992"/>
            <a:ext cx="3246120" cy="914400"/>
          </a:xfrm>
          <a:prstGeom prst="rect">
            <a:avLst/>
          </a:prstGeom>
          <a:noFill/>
        </p:spPr>
        <p:txBody>
          <a:bodyPr wrap="square" lIns="0" rIns="0" tIns="0" bIns="0" anchor="t">
            <a:spAutoFit/>
          </a:bodyPr>
          <a:lstStyle/>
          <a:p>
            <a:pPr algn="l">
              <a:lnSpc>
                <a:spcPct val="115000"/>
              </a:lnSpc>
              <a:spcAft>
                <a:spcPts val="300"/>
              </a:spcAft>
            </a:pPr>
            <a:r>
              <a:rPr sz="950" b="1" i="0">
                <a:solidFill>
                  <a:srgbClr val="5AA0E0"/>
                </a:solidFill>
                <a:latin typeface="Calibri"/>
              </a:rPr>
              <a:t>Who can bypass it</a:t>
            </a:r>
          </a:p>
          <a:p>
            <a:pPr algn="l">
              <a:lnSpc>
                <a:spcPct val="120000"/>
              </a:lnSpc>
              <a:spcAft>
                <a:spcPts val="0"/>
              </a:spcAft>
            </a:pPr>
            <a:r>
              <a:rPr sz="1150" b="0" i="0">
                <a:solidFill>
                  <a:srgbClr val="E8ECF2"/>
                </a:solidFill>
                <a:latin typeface="Calibri"/>
              </a:rPr>
              <a:t>Only someone with access to platform-owned gateway infrastructure or its GitOps pipeline — not the application team.</a:t>
            </a:r>
          </a:p>
        </p:txBody>
      </p:sp>
      <p:sp>
        <p:nvSpPr>
          <p:cNvPr id="16" name="TextBox 15"/>
          <p:cNvSpPr txBox="1"/>
          <p:nvPr/>
        </p:nvSpPr>
        <p:spPr>
          <a:xfrm>
            <a:off x="8001000" y="3364992"/>
            <a:ext cx="3474720" cy="914400"/>
          </a:xfrm>
          <a:prstGeom prst="rect">
            <a:avLst/>
          </a:prstGeom>
          <a:noFill/>
        </p:spPr>
        <p:txBody>
          <a:bodyPr wrap="square" lIns="0" rIns="0" tIns="0" bIns="0" anchor="t">
            <a:spAutoFit/>
          </a:bodyPr>
          <a:lstStyle/>
          <a:p>
            <a:pPr algn="l">
              <a:lnSpc>
                <a:spcPct val="115000"/>
              </a:lnSpc>
              <a:spcAft>
                <a:spcPts val="300"/>
              </a:spcAft>
            </a:pPr>
            <a:r>
              <a:rPr sz="950" b="1" i="0">
                <a:solidFill>
                  <a:srgbClr val="5AA0E0"/>
                </a:solidFill>
                <a:latin typeface="Calibri"/>
              </a:rPr>
              <a:t>Appropriate when</a:t>
            </a:r>
          </a:p>
          <a:p>
            <a:pPr algn="l">
              <a:lnSpc>
                <a:spcPct val="120000"/>
              </a:lnSpc>
              <a:spcAft>
                <a:spcPts val="0"/>
              </a:spcAft>
            </a:pPr>
            <a:r>
              <a:rPr sz="1150" b="0" i="0">
                <a:solidFill>
                  <a:srgbClr val="98A4B3"/>
                </a:solidFill>
                <a:latin typeface="Calibri"/>
              </a:rPr>
              <a:t>The platform owns gateway infrastructure; application teams must not be able to change mandatory guardrail settings.</a:t>
            </a:r>
          </a:p>
        </p:txBody>
      </p:sp>
      <p:sp>
        <p:nvSpPr>
          <p:cNvPr id="17" name="Rounded Rectangle 16"/>
          <p:cNvSpPr/>
          <p:nvPr/>
        </p:nvSpPr>
        <p:spPr>
          <a:xfrm>
            <a:off x="685800" y="4517136"/>
            <a:ext cx="10820095" cy="1143000"/>
          </a:xfrm>
          <a:prstGeom prst="roundRect">
            <a:avLst>
              <a:gd name="adj" fmla="val 4000"/>
            </a:avLst>
          </a:prstGeom>
          <a:solidFill>
            <a:srgbClr val="161C23"/>
          </a:solidFill>
          <a:ln w="12700">
            <a:solidFill>
              <a:srgbClr val="2E39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85800" y="4517136"/>
            <a:ext cx="64008" cy="1143000"/>
          </a:xfrm>
          <a:prstGeom prst="rect">
            <a:avLst/>
          </a:prstGeom>
          <a:solidFill>
            <a:srgbClr val="4FB47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78408" y="4663440"/>
            <a:ext cx="3246120" cy="914400"/>
          </a:xfrm>
          <a:prstGeom prst="rect">
            <a:avLst/>
          </a:prstGeom>
          <a:noFill/>
        </p:spPr>
        <p:txBody>
          <a:bodyPr wrap="square" lIns="0" rIns="0" tIns="0" bIns="0" anchor="t">
            <a:spAutoFit/>
          </a:bodyPr>
          <a:lstStyle/>
          <a:p>
            <a:pPr algn="l">
              <a:lnSpc>
                <a:spcPct val="115000"/>
              </a:lnSpc>
              <a:spcAft>
                <a:spcPts val="400"/>
              </a:spcAft>
            </a:pPr>
            <a:r>
              <a:rPr sz="1450" b="1" i="0">
                <a:solidFill>
                  <a:srgbClr val="E8ECF2"/>
                </a:solidFill>
                <a:latin typeface="Calibri"/>
              </a:rPr>
              <a:t>Network/IAM-enforced gateway</a:t>
            </a:r>
          </a:p>
          <a:p>
            <a:pPr algn="l">
              <a:lnSpc>
                <a:spcPct val="115000"/>
              </a:lnSpc>
              <a:spcAft>
                <a:spcPts val="0"/>
              </a:spcAft>
            </a:pPr>
            <a:r>
              <a:rPr sz="1050" b="0" i="0">
                <a:solidFill>
                  <a:srgbClr val="98A4B3"/>
                </a:solidFill>
                <a:latin typeface="Calibri"/>
              </a:rPr>
              <a:t>All model traffic forced through a controlled gateway; applications hold no direct provider credentials or connectivity</a:t>
            </a:r>
          </a:p>
        </p:txBody>
      </p:sp>
      <p:sp>
        <p:nvSpPr>
          <p:cNvPr id="20" name="TextBox 19"/>
          <p:cNvSpPr txBox="1"/>
          <p:nvPr/>
        </p:nvSpPr>
        <p:spPr>
          <a:xfrm>
            <a:off x="4480560" y="4663440"/>
            <a:ext cx="3246120" cy="914400"/>
          </a:xfrm>
          <a:prstGeom prst="rect">
            <a:avLst/>
          </a:prstGeom>
          <a:noFill/>
        </p:spPr>
        <p:txBody>
          <a:bodyPr wrap="square" lIns="0" rIns="0" tIns="0" bIns="0" anchor="t">
            <a:spAutoFit/>
          </a:bodyPr>
          <a:lstStyle/>
          <a:p>
            <a:pPr algn="l">
              <a:lnSpc>
                <a:spcPct val="115000"/>
              </a:lnSpc>
              <a:spcAft>
                <a:spcPts val="300"/>
              </a:spcAft>
            </a:pPr>
            <a:r>
              <a:rPr sz="950" b="1" i="0">
                <a:solidFill>
                  <a:srgbClr val="5AA0E0"/>
                </a:solidFill>
                <a:latin typeface="Calibri"/>
              </a:rPr>
              <a:t>Who can bypass it</a:t>
            </a:r>
          </a:p>
          <a:p>
            <a:pPr algn="l">
              <a:lnSpc>
                <a:spcPct val="120000"/>
              </a:lnSpc>
              <a:spcAft>
                <a:spcPts val="0"/>
              </a:spcAft>
            </a:pPr>
            <a:r>
              <a:rPr sz="1150" b="0" i="0">
                <a:solidFill>
                  <a:srgbClr val="E8ECF2"/>
                </a:solidFill>
                <a:latin typeface="Calibri"/>
              </a:rPr>
              <a:t>No application-side actor, absent a platform-layer network or IAM misconfiguration.</a:t>
            </a:r>
          </a:p>
        </p:txBody>
      </p:sp>
      <p:sp>
        <p:nvSpPr>
          <p:cNvPr id="21" name="TextBox 20"/>
          <p:cNvSpPr txBox="1"/>
          <p:nvPr/>
        </p:nvSpPr>
        <p:spPr>
          <a:xfrm>
            <a:off x="8001000" y="4663440"/>
            <a:ext cx="3474720" cy="914400"/>
          </a:xfrm>
          <a:prstGeom prst="rect">
            <a:avLst/>
          </a:prstGeom>
          <a:noFill/>
        </p:spPr>
        <p:txBody>
          <a:bodyPr wrap="square" lIns="0" rIns="0" tIns="0" bIns="0" anchor="t">
            <a:spAutoFit/>
          </a:bodyPr>
          <a:lstStyle/>
          <a:p>
            <a:pPr algn="l">
              <a:lnSpc>
                <a:spcPct val="115000"/>
              </a:lnSpc>
              <a:spcAft>
                <a:spcPts val="300"/>
              </a:spcAft>
            </a:pPr>
            <a:r>
              <a:rPr sz="950" b="1" i="0">
                <a:solidFill>
                  <a:srgbClr val="5AA0E0"/>
                </a:solidFill>
                <a:latin typeface="Calibri"/>
              </a:rPr>
              <a:t>Appropriate when</a:t>
            </a:r>
          </a:p>
          <a:p>
            <a:pPr algn="l">
              <a:lnSpc>
                <a:spcPct val="120000"/>
              </a:lnSpc>
              <a:spcAft>
                <a:spcPts val="0"/>
              </a:spcAft>
            </a:pPr>
            <a:r>
              <a:rPr sz="1150" b="0" i="0">
                <a:solidFill>
                  <a:srgbClr val="98A4B3"/>
                </a:solidFill>
                <a:latin typeface="Calibri"/>
              </a:rPr>
              <a:t>Bypass prevention is a formal requirement; compliance evidence is needed; direct provider access must be prohibited.</a:t>
            </a:r>
          </a:p>
        </p:txBody>
      </p:sp>
      <p:sp>
        <p:nvSpPr>
          <p:cNvPr id="22" name="TextBox 21"/>
          <p:cNvSpPr txBox="1"/>
          <p:nvPr/>
        </p:nvSpPr>
        <p:spPr>
          <a:xfrm>
            <a:off x="685800" y="5797296"/>
            <a:ext cx="10820095" cy="457200"/>
          </a:xfrm>
          <a:prstGeom prst="rect">
            <a:avLst/>
          </a:prstGeom>
          <a:noFill/>
        </p:spPr>
        <p:txBody>
          <a:bodyPr wrap="square" lIns="0" rIns="0" tIns="0" bIns="0" anchor="t">
            <a:spAutoFit/>
          </a:bodyPr>
          <a:lstStyle/>
          <a:p>
            <a:pPr algn="l">
              <a:lnSpc>
                <a:spcPct val="115000"/>
              </a:lnSpc>
              <a:spcAft>
                <a:spcPts val="0"/>
              </a:spcAft>
            </a:pPr>
            <a:r>
              <a:rPr sz="1150" b="0" i="0">
                <a:solidFill>
                  <a:srgbClr val="98A4B3"/>
                </a:solidFill>
                <a:latin typeface="Calibri"/>
              </a:rPr>
              <a:t>Only the strongest posture makes bypass require a platform-side misconfiguration rather than a consumer-side action.</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12161B"/>
        </a:solidFill>
        <a:effectLst/>
      </p:bgPr>
    </p:bg>
    <p:spTree>
      <p:nvGrpSpPr>
        <p:cNvPr id="1" name=""/>
        <p:cNvGrpSpPr/>
        <p:nvPr/>
      </p:nvGrpSpPr>
      <p:grpSpPr/>
      <p:sp>
        <p:nvSpPr>
          <p:cNvPr id="2" name="TextBox 1"/>
          <p:cNvSpPr txBox="1"/>
          <p:nvPr/>
        </p:nvSpPr>
        <p:spPr>
          <a:xfrm>
            <a:off x="685800" y="420624"/>
            <a:ext cx="10820095" cy="658368"/>
          </a:xfrm>
          <a:prstGeom prst="rect">
            <a:avLst/>
          </a:prstGeom>
          <a:noFill/>
        </p:spPr>
        <p:txBody>
          <a:bodyPr wrap="square" lIns="0" rIns="0" tIns="0" bIns="0" anchor="t">
            <a:spAutoFit/>
          </a:bodyPr>
          <a:lstStyle/>
          <a:p>
            <a:pPr algn="l">
              <a:lnSpc>
                <a:spcPct val="115000"/>
              </a:lnSpc>
              <a:spcAft>
                <a:spcPts val="0"/>
              </a:spcAft>
            </a:pPr>
            <a:r>
              <a:rPr sz="3000" b="1" i="0">
                <a:solidFill>
                  <a:srgbClr val="E8ECF2"/>
                </a:solidFill>
                <a:latin typeface="Calibri"/>
              </a:rPr>
              <a:t>Threat model, and what remains after mitigation</a:t>
            </a:r>
          </a:p>
        </p:txBody>
      </p:sp>
      <p:sp>
        <p:nvSpPr>
          <p:cNvPr id="3" name="Rectangle 2"/>
          <p:cNvSpPr/>
          <p:nvPr/>
        </p:nvSpPr>
        <p:spPr>
          <a:xfrm>
            <a:off x="685800" y="1188720"/>
            <a:ext cx="1234440" cy="41148"/>
          </a:xfrm>
          <a:prstGeom prst="rect">
            <a:avLst/>
          </a:prstGeom>
          <a:solidFill>
            <a:srgbClr val="5AA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298448"/>
            <a:ext cx="10820095" cy="365760"/>
          </a:xfrm>
          <a:prstGeom prst="rect">
            <a:avLst/>
          </a:prstGeom>
          <a:noFill/>
        </p:spPr>
        <p:txBody>
          <a:bodyPr wrap="square" lIns="0" rIns="0" tIns="0" bIns="0" anchor="t">
            <a:spAutoFit/>
          </a:bodyPr>
          <a:lstStyle/>
          <a:p>
            <a:pPr algn="l">
              <a:lnSpc>
                <a:spcPct val="115000"/>
              </a:lnSpc>
              <a:spcAft>
                <a:spcPts val="0"/>
              </a:spcAft>
            </a:pPr>
            <a:r>
              <a:rPr sz="1350" b="0" i="0">
                <a:solidFill>
                  <a:srgbClr val="98A4B3"/>
                </a:solidFill>
                <a:latin typeface="Calibri"/>
              </a:rPr>
              <a:t>Four threats to the platform's own attack surface. The residual column is the one worth your time.</a:t>
            </a:r>
          </a:p>
        </p:txBody>
      </p:sp>
      <p:sp>
        <p:nvSpPr>
          <p:cNvPr id="5" name="TextBox 4"/>
          <p:cNvSpPr txBox="1"/>
          <p:nvPr/>
        </p:nvSpPr>
        <p:spPr>
          <a:xfrm>
            <a:off x="685800" y="6217920"/>
            <a:ext cx="10820095" cy="292608"/>
          </a:xfrm>
          <a:prstGeom prst="rect">
            <a:avLst/>
          </a:prstGeom>
          <a:noFill/>
        </p:spPr>
        <p:txBody>
          <a:bodyPr wrap="square" lIns="0" rIns="0" tIns="0" bIns="0" anchor="t">
            <a:spAutoFit/>
          </a:bodyPr>
          <a:lstStyle/>
          <a:p>
            <a:pPr algn="l">
              <a:lnSpc>
                <a:spcPct val="115000"/>
              </a:lnSpc>
              <a:spcAft>
                <a:spcPts val="0"/>
              </a:spcAft>
            </a:pPr>
            <a:r>
              <a:rPr sz="900" b="0" i="0">
                <a:solidFill>
                  <a:srgbClr val="98A4B3"/>
                </a:solidFill>
                <a:latin typeface="Calibri"/>
              </a:rPr>
              <a:t>AI Guardrails · design intent and delivery plan — nothing built or piloted today</a:t>
            </a:r>
          </a:p>
        </p:txBody>
      </p:sp>
      <p:graphicFrame>
        <p:nvGraphicFramePr>
          <p:cNvPr id="6" name="Table 5"/>
          <p:cNvGraphicFramePr>
            <a:graphicFrameLocks noGrp="1"/>
          </p:cNvGraphicFramePr>
          <p:nvPr/>
        </p:nvGraphicFramePr>
        <p:xfrm>
          <a:off x="685800" y="1828800"/>
          <a:ext cx="10820094" cy="3145536"/>
        </p:xfrm>
        <a:graphic>
          <a:graphicData uri="http://schemas.openxmlformats.org/drawingml/2006/table">
            <a:tbl>
              <a:tblPr firstRow="1">
                <a:tableStyleId>{5C22544A-7EE6-4342-B048-85BDC9FD1C3A}</a:tableStyleId>
              </a:tblPr>
              <a:tblGrid>
                <a:gridCol w="1839416"/>
                <a:gridCol w="4760841"/>
                <a:gridCol w="4219837"/>
              </a:tblGrid>
              <a:tr h="310896">
                <a:tc>
                  <a:txBody>
                    <a:bodyPr wrap="square"/>
                    <a:lstStyle/>
                    <a:p>
                      <a:pPr algn="l">
                        <a:lnSpc>
                          <a:spcPct val="105000"/>
                        </a:lnSpc>
                        <a:spcAft>
                          <a:spcPts val="0"/>
                        </a:spcAft>
                      </a:pPr>
                      <a:r>
                        <a:rPr sz="1100" b="1" i="0">
                          <a:solidFill>
                            <a:srgbClr val="5AA0E0"/>
                          </a:solidFill>
                          <a:latin typeface="Calibri"/>
                        </a:rPr>
                        <a:t>Threat</a:t>
                      </a:r>
                    </a:p>
                  </a:txBody>
                  <a:tcPr marL="91440" marR="91440" marT="45720" marB="45720" anchor="ctr">
                    <a:solidFill>
                      <a:srgbClr val="1D242C"/>
                    </a:solidFill>
                  </a:tcPr>
                </a:tc>
                <a:tc>
                  <a:txBody>
                    <a:bodyPr wrap="square"/>
                    <a:lstStyle/>
                    <a:p>
                      <a:pPr algn="l">
                        <a:lnSpc>
                          <a:spcPct val="105000"/>
                        </a:lnSpc>
                        <a:spcAft>
                          <a:spcPts val="0"/>
                        </a:spcAft>
                      </a:pPr>
                      <a:r>
                        <a:rPr sz="1100" b="1" i="0">
                          <a:solidFill>
                            <a:srgbClr val="5AA0E0"/>
                          </a:solidFill>
                          <a:latin typeface="Calibri"/>
                        </a:rPr>
                        <a:t>Mitigation</a:t>
                      </a:r>
                    </a:p>
                  </a:txBody>
                  <a:tcPr marL="91440" marR="91440" marT="45720" marB="45720" anchor="ctr">
                    <a:solidFill>
                      <a:srgbClr val="1D242C"/>
                    </a:solidFill>
                  </a:tcPr>
                </a:tc>
                <a:tc>
                  <a:txBody>
                    <a:bodyPr wrap="square"/>
                    <a:lstStyle/>
                    <a:p>
                      <a:pPr algn="l">
                        <a:lnSpc>
                          <a:spcPct val="105000"/>
                        </a:lnSpc>
                        <a:spcAft>
                          <a:spcPts val="0"/>
                        </a:spcAft>
                      </a:pPr>
                      <a:r>
                        <a:rPr sz="1100" b="1" i="0">
                          <a:solidFill>
                            <a:srgbClr val="5AA0E0"/>
                          </a:solidFill>
                          <a:latin typeface="Calibri"/>
                        </a:rPr>
                        <a:t>Residual</a:t>
                      </a:r>
                    </a:p>
                  </a:txBody>
                  <a:tcPr marL="91440" marR="91440" marT="45720" marB="45720" anchor="ctr">
                    <a:solidFill>
                      <a:srgbClr val="1D242C"/>
                    </a:solidFill>
                  </a:tcPr>
                </a:tc>
              </a:tr>
              <a:tr h="566928">
                <a:tc>
                  <a:txBody>
                    <a:bodyPr wrap="square"/>
                    <a:lstStyle/>
                    <a:p>
                      <a:pPr algn="l">
                        <a:lnSpc>
                          <a:spcPct val="105000"/>
                        </a:lnSpc>
                        <a:spcAft>
                          <a:spcPts val="0"/>
                        </a:spcAft>
                      </a:pPr>
                      <a:r>
                        <a:rPr sz="1000" b="1" i="0">
                          <a:solidFill>
                            <a:srgbClr val="E8ECF2"/>
                          </a:solidFill>
                          <a:latin typeface="Calibri"/>
                        </a:rPr>
                        <a:t>Connector bypass</a:t>
                      </a:r>
                    </a:p>
                  </a:txBody>
                  <a:tcPr marL="91440" marR="91440" marT="45720" marB="45720" anchor="ctr">
                    <a:solidFill>
                      <a:srgbClr val="161C23"/>
                    </a:solidFill>
                  </a:tcPr>
                </a:tc>
                <a:tc>
                  <a:txBody>
                    <a:bodyPr wrap="square"/>
                    <a:lstStyle/>
                    <a:p>
                      <a:pPr algn="l">
                        <a:lnSpc>
                          <a:spcPct val="105000"/>
                        </a:lnSpc>
                        <a:spcAft>
                          <a:spcPts val="0"/>
                        </a:spcAft>
                      </a:pPr>
                      <a:r>
                        <a:rPr sz="1000" b="0" i="0">
                          <a:solidFill>
                            <a:srgbClr val="E8ECF2"/>
                          </a:solidFill>
                          <a:latin typeface="Calibri"/>
                        </a:rPr>
                        <a:t>Configuration validation and connector-health telemetry; progression to a stronger enforcement posture as trust requirements rise.</a:t>
                      </a:r>
                    </a:p>
                  </a:txBody>
                  <a:tcPr marL="91440" marR="91440" marT="45720" marB="45720" anchor="ctr">
                    <a:solidFill>
                      <a:srgbClr val="161C23"/>
                    </a:solidFill>
                  </a:tcPr>
                </a:tc>
                <a:tc>
                  <a:txBody>
                    <a:bodyPr wrap="square"/>
                    <a:lstStyle/>
                    <a:p>
                      <a:pPr algn="l">
                        <a:lnSpc>
                          <a:spcPct val="105000"/>
                        </a:lnSpc>
                        <a:spcAft>
                          <a:spcPts val="0"/>
                        </a:spcAft>
                      </a:pPr>
                      <a:r>
                        <a:rPr sz="1000" b="0" i="0">
                          <a:solidFill>
                            <a:srgbClr val="E06C5F"/>
                          </a:solidFill>
                          <a:latin typeface="Calibri"/>
                        </a:rPr>
                        <a:t>Not eliminated under cooperative integration, by design. Accepted rather than hidden.</a:t>
                      </a:r>
                    </a:p>
                  </a:txBody>
                  <a:tcPr marL="91440" marR="91440" marT="45720" marB="45720" anchor="ctr">
                    <a:solidFill>
                      <a:srgbClr val="161C23"/>
                    </a:solidFill>
                  </a:tcPr>
                </a:tc>
              </a:tr>
              <a:tr h="713232">
                <a:tc>
                  <a:txBody>
                    <a:bodyPr wrap="square"/>
                    <a:lstStyle/>
                    <a:p>
                      <a:pPr algn="l">
                        <a:lnSpc>
                          <a:spcPct val="105000"/>
                        </a:lnSpc>
                        <a:spcAft>
                          <a:spcPts val="0"/>
                        </a:spcAft>
                      </a:pPr>
                      <a:r>
                        <a:rPr sz="1000" b="1" i="0">
                          <a:solidFill>
                            <a:srgbClr val="E8ECF2"/>
                          </a:solidFill>
                          <a:latin typeface="Calibri"/>
                        </a:rPr>
                        <a:t>Credential exposure</a:t>
                      </a:r>
                    </a:p>
                  </a:txBody>
                  <a:tcPr marL="91440" marR="91440" marT="45720" marB="45720" anchor="ctr">
                    <a:solidFill>
                      <a:srgbClr val="12161B"/>
                    </a:solidFill>
                  </a:tcPr>
                </a:tc>
                <a:tc>
                  <a:txBody>
                    <a:bodyPr wrap="square"/>
                    <a:lstStyle/>
                    <a:p>
                      <a:pPr algn="l">
                        <a:lnSpc>
                          <a:spcPct val="105000"/>
                        </a:lnSpc>
                        <a:spcAft>
                          <a:spcPts val="0"/>
                        </a:spcAft>
                      </a:pPr>
                      <a:r>
                        <a:rPr sz="1000" b="0" i="0">
                          <a:solidFill>
                            <a:srgbClr val="E8ECF2"/>
                          </a:solidFill>
                          <a:latin typeface="Calibri"/>
                        </a:rPr>
                        <a:t>Identity-based, short-lived, least-privilege credentials; managed encryption at rest; explicit rejection of static gateway keys as a sole control.</a:t>
                      </a:r>
                    </a:p>
                  </a:txBody>
                  <a:tcPr marL="91440" marR="91440" marT="45720" marB="45720" anchor="ctr">
                    <a:solidFill>
                      <a:srgbClr val="12161B"/>
                    </a:solidFill>
                  </a:tcPr>
                </a:tc>
                <a:tc>
                  <a:txBody>
                    <a:bodyPr wrap="square"/>
                    <a:lstStyle/>
                    <a:p>
                      <a:pPr algn="l">
                        <a:lnSpc>
                          <a:spcPct val="105000"/>
                        </a:lnSpc>
                        <a:spcAft>
                          <a:spcPts val="0"/>
                        </a:spcAft>
                      </a:pPr>
                      <a:r>
                        <a:rPr sz="1000" b="0" i="0">
                          <a:solidFill>
                            <a:srgbClr val="E0B341"/>
                          </a:solidFill>
                          <a:latin typeface="Calibri"/>
                        </a:rPr>
                        <a:t>Impact within a leaked credential's active lifetime is reduced, not eliminated. Anomaly detection is operational, not architectural.</a:t>
                      </a:r>
                    </a:p>
                  </a:txBody>
                  <a:tcPr marL="91440" marR="91440" marT="45720" marB="45720" anchor="ctr">
                    <a:solidFill>
                      <a:srgbClr val="12161B"/>
                    </a:solidFill>
                  </a:tcPr>
                </a:tc>
              </a:tr>
              <a:tr h="777240">
                <a:tc>
                  <a:txBody>
                    <a:bodyPr wrap="square"/>
                    <a:lstStyle/>
                    <a:p>
                      <a:pPr algn="l">
                        <a:lnSpc>
                          <a:spcPct val="105000"/>
                        </a:lnSpc>
                        <a:spcAft>
                          <a:spcPts val="0"/>
                        </a:spcAft>
                      </a:pPr>
                      <a:r>
                        <a:rPr sz="1000" b="1" i="0">
                          <a:solidFill>
                            <a:srgbClr val="E8ECF2"/>
                          </a:solidFill>
                          <a:latin typeface="Calibri"/>
                        </a:rPr>
                        <a:t>Tenant spoofing</a:t>
                      </a:r>
                    </a:p>
                  </a:txBody>
                  <a:tcPr marL="91440" marR="91440" marT="45720" marB="45720" anchor="ctr">
                    <a:solidFill>
                      <a:srgbClr val="161C23"/>
                    </a:solidFill>
                  </a:tcPr>
                </a:tc>
                <a:tc>
                  <a:txBody>
                    <a:bodyPr wrap="square"/>
                    <a:lstStyle/>
                    <a:p>
                      <a:pPr algn="l">
                        <a:lnSpc>
                          <a:spcPct val="105000"/>
                        </a:lnSpc>
                        <a:spcAft>
                          <a:spcPts val="0"/>
                        </a:spcAft>
                      </a:pPr>
                      <a:r>
                        <a:rPr sz="1000" b="0" i="0">
                          <a:solidFill>
                            <a:srgbClr val="E8ECF2"/>
                          </a:solidFill>
                          <a:latin typeface="Calibri"/>
                        </a:rPr>
                        <a:t>Per-tenant workload identity that is never shared across tenants, authenticated on every call; policy authorization tied to the authenticated identity rather than a caller-asserted one.</a:t>
                      </a:r>
                    </a:p>
                  </a:txBody>
                  <a:tcPr marL="91440" marR="91440" marT="45720" marB="45720" anchor="ctr">
                    <a:solidFill>
                      <a:srgbClr val="161C23"/>
                    </a:solidFill>
                  </a:tcPr>
                </a:tc>
                <a:tc>
                  <a:txBody>
                    <a:bodyPr wrap="square"/>
                    <a:lstStyle/>
                    <a:p>
                      <a:pPr algn="l">
                        <a:lnSpc>
                          <a:spcPct val="105000"/>
                        </a:lnSpc>
                        <a:spcAft>
                          <a:spcPts val="0"/>
                        </a:spcAft>
                      </a:pPr>
                      <a:r>
                        <a:rPr sz="1000" b="0" i="0">
                          <a:solidFill>
                            <a:srgbClr val="E0B341"/>
                          </a:solidFill>
                          <a:latin typeface="Calibri"/>
                        </a:rPr>
                        <a:t>Isolation in the hosted modes is logical, not infrastructure-level. Only the customer-managed runtime gives physical separation.</a:t>
                      </a:r>
                    </a:p>
                  </a:txBody>
                  <a:tcPr marL="91440" marR="91440" marT="45720" marB="45720" anchor="ctr">
                    <a:solidFill>
                      <a:srgbClr val="161C23"/>
                    </a:solidFill>
                  </a:tcPr>
                </a:tc>
              </a:tr>
              <a:tr h="777240">
                <a:tc>
                  <a:txBody>
                    <a:bodyPr wrap="square"/>
                    <a:lstStyle/>
                    <a:p>
                      <a:pPr algn="l">
                        <a:lnSpc>
                          <a:spcPct val="105000"/>
                        </a:lnSpc>
                        <a:spcAft>
                          <a:spcPts val="0"/>
                        </a:spcAft>
                      </a:pPr>
                      <a:r>
                        <a:rPr sz="1000" b="1" i="0">
                          <a:solidFill>
                            <a:srgbClr val="E8ECF2"/>
                          </a:solidFill>
                          <a:latin typeface="Calibri"/>
                        </a:rPr>
                        <a:t>Unauthorized policy selection</a:t>
                      </a:r>
                    </a:p>
                  </a:txBody>
                  <a:tcPr marL="91440" marR="91440" marT="45720" marB="45720" anchor="ctr">
                    <a:solidFill>
                      <a:srgbClr val="12161B"/>
                    </a:solidFill>
                  </a:tcPr>
                </a:tc>
                <a:tc>
                  <a:txBody>
                    <a:bodyPr wrap="square"/>
                    <a:lstStyle/>
                    <a:p>
                      <a:pPr algn="l">
                        <a:lnSpc>
                          <a:spcPct val="105000"/>
                        </a:lnSpc>
                        <a:spcAft>
                          <a:spcPts val="0"/>
                        </a:spcAft>
                      </a:pPr>
                      <a:r>
                        <a:rPr sz="1000" b="0" i="0">
                          <a:solidFill>
                            <a:srgbClr val="E8ECF2"/>
                          </a:solidFill>
                          <a:latin typeface="Calibri"/>
                        </a:rPr>
                        <a:t>The runtime resolves and authorizes the effective policy server-side; a client-supplied version not bound to the authenticated workload is rejected.</a:t>
                      </a:r>
                    </a:p>
                  </a:txBody>
                  <a:tcPr marL="91440" marR="91440" marT="45720" marB="45720" anchor="ctr">
                    <a:solidFill>
                      <a:srgbClr val="12161B"/>
                    </a:solidFill>
                  </a:tcPr>
                </a:tc>
                <a:tc>
                  <a:txBody>
                    <a:bodyPr wrap="square"/>
                    <a:lstStyle/>
                    <a:p>
                      <a:pPr algn="l">
                        <a:lnSpc>
                          <a:spcPct val="105000"/>
                        </a:lnSpc>
                        <a:spcAft>
                          <a:spcPts val="0"/>
                        </a:spcAft>
                      </a:pPr>
                      <a:r>
                        <a:rPr sz="1000" b="0" i="0">
                          <a:solidFill>
                            <a:srgbClr val="E0B341"/>
                          </a:solidFill>
                          <a:latin typeface="Calibri"/>
                        </a:rPr>
                        <a:t>Verifies authorization to use a version, not the cryptographic authenticity of the artifact reaching a customer runtime. Transport security is today's safeguard.</a:t>
                      </a:r>
                    </a:p>
                  </a:txBody>
                  <a:tcPr marL="91440" marR="91440" marT="45720" marB="45720" anchor="ctr">
                    <a:solidFill>
                      <a:srgbClr val="12161B"/>
                    </a:solidFill>
                  </a:tcPr>
                </a:tc>
              </a:tr>
            </a:tbl>
          </a:graphicData>
        </a:graphic>
      </p:graphicFrame>
      <p:sp>
        <p:nvSpPr>
          <p:cNvPr id="7" name="TextBox 6"/>
          <p:cNvSpPr txBox="1"/>
          <p:nvPr/>
        </p:nvSpPr>
        <p:spPr>
          <a:xfrm>
            <a:off x="685800" y="5779008"/>
            <a:ext cx="10820095" cy="457200"/>
          </a:xfrm>
          <a:prstGeom prst="rect">
            <a:avLst/>
          </a:prstGeom>
          <a:noFill/>
        </p:spPr>
        <p:txBody>
          <a:bodyPr wrap="square" lIns="0" rIns="0" tIns="0" bIns="0" anchor="t">
            <a:spAutoFit/>
          </a:bodyPr>
          <a:lstStyle/>
          <a:p>
            <a:pPr algn="l">
              <a:lnSpc>
                <a:spcPct val="115000"/>
              </a:lnSpc>
              <a:spcAft>
                <a:spcPts val="0"/>
              </a:spcAft>
            </a:pPr>
            <a:r>
              <a:rPr sz="1150" b="0" i="0">
                <a:solidFill>
                  <a:srgbClr val="98A4B3"/>
                </a:solidFill>
                <a:latin typeface="Calibri"/>
              </a:rPr>
              <a:t>Two further risks — false confidence and hosted data exposure — are addressed by the authorization boundary and the exposure model rather than by a control, and both have their own slides in this deck.</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12161B"/>
        </a:solidFill>
        <a:effectLst/>
      </p:bgPr>
    </p:bg>
    <p:spTree>
      <p:nvGrpSpPr>
        <p:cNvPr id="1" name=""/>
        <p:cNvGrpSpPr/>
        <p:nvPr/>
      </p:nvGrpSpPr>
      <p:grpSpPr/>
      <p:sp>
        <p:nvSpPr>
          <p:cNvPr id="2" name="TextBox 1"/>
          <p:cNvSpPr txBox="1"/>
          <p:nvPr/>
        </p:nvSpPr>
        <p:spPr>
          <a:xfrm>
            <a:off x="685800" y="420624"/>
            <a:ext cx="10820095" cy="658368"/>
          </a:xfrm>
          <a:prstGeom prst="rect">
            <a:avLst/>
          </a:prstGeom>
          <a:noFill/>
        </p:spPr>
        <p:txBody>
          <a:bodyPr wrap="square" lIns="0" rIns="0" tIns="0" bIns="0" anchor="t">
            <a:spAutoFit/>
          </a:bodyPr>
          <a:lstStyle/>
          <a:p>
            <a:pPr algn="l">
              <a:lnSpc>
                <a:spcPct val="115000"/>
              </a:lnSpc>
              <a:spcAft>
                <a:spcPts val="0"/>
              </a:spcAft>
            </a:pPr>
            <a:r>
              <a:rPr sz="3000" b="1" i="0">
                <a:solidFill>
                  <a:srgbClr val="E8ECF2"/>
                </a:solidFill>
                <a:latin typeface="Calibri"/>
              </a:rPr>
              <a:t>Four things we will not let ourselves rely on</a:t>
            </a:r>
          </a:p>
        </p:txBody>
      </p:sp>
      <p:sp>
        <p:nvSpPr>
          <p:cNvPr id="3" name="Rectangle 2"/>
          <p:cNvSpPr/>
          <p:nvPr/>
        </p:nvSpPr>
        <p:spPr>
          <a:xfrm>
            <a:off x="685800" y="1188720"/>
            <a:ext cx="1234440" cy="41148"/>
          </a:xfrm>
          <a:prstGeom prst="rect">
            <a:avLst/>
          </a:prstGeom>
          <a:solidFill>
            <a:srgbClr val="5AA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298448"/>
            <a:ext cx="10820095" cy="365760"/>
          </a:xfrm>
          <a:prstGeom prst="rect">
            <a:avLst/>
          </a:prstGeom>
          <a:noFill/>
        </p:spPr>
        <p:txBody>
          <a:bodyPr wrap="square" lIns="0" rIns="0" tIns="0" bIns="0" anchor="t">
            <a:spAutoFit/>
          </a:bodyPr>
          <a:lstStyle/>
          <a:p>
            <a:pPr algn="l">
              <a:lnSpc>
                <a:spcPct val="115000"/>
              </a:lnSpc>
              <a:spcAft>
                <a:spcPts val="0"/>
              </a:spcAft>
            </a:pPr>
            <a:r>
              <a:rPr sz="1350" b="0" i="0">
                <a:solidFill>
                  <a:srgbClr val="98A4B3"/>
                </a:solidFill>
                <a:latin typeface="Calibri"/>
              </a:rPr>
              <a:t>Each may exist as a convenience or a diagnostic. None may be cited as the reason a workload is protected.</a:t>
            </a:r>
          </a:p>
        </p:txBody>
      </p:sp>
      <p:sp>
        <p:nvSpPr>
          <p:cNvPr id="5" name="TextBox 4"/>
          <p:cNvSpPr txBox="1"/>
          <p:nvPr/>
        </p:nvSpPr>
        <p:spPr>
          <a:xfrm>
            <a:off x="685800" y="6217920"/>
            <a:ext cx="10820095" cy="292608"/>
          </a:xfrm>
          <a:prstGeom prst="rect">
            <a:avLst/>
          </a:prstGeom>
          <a:noFill/>
        </p:spPr>
        <p:txBody>
          <a:bodyPr wrap="square" lIns="0" rIns="0" tIns="0" bIns="0" anchor="t">
            <a:spAutoFit/>
          </a:bodyPr>
          <a:lstStyle/>
          <a:p>
            <a:pPr algn="l">
              <a:lnSpc>
                <a:spcPct val="115000"/>
              </a:lnSpc>
              <a:spcAft>
                <a:spcPts val="0"/>
              </a:spcAft>
            </a:pPr>
            <a:r>
              <a:rPr sz="900" b="0" i="0">
                <a:solidFill>
                  <a:srgbClr val="98A4B3"/>
                </a:solidFill>
                <a:latin typeface="Calibri"/>
              </a:rPr>
              <a:t>AI Guardrails · design intent and delivery plan — nothing built or piloted today</a:t>
            </a:r>
          </a:p>
        </p:txBody>
      </p:sp>
      <p:graphicFrame>
        <p:nvGraphicFramePr>
          <p:cNvPr id="6" name="Table 5"/>
          <p:cNvGraphicFramePr>
            <a:graphicFrameLocks noGrp="1"/>
          </p:cNvGraphicFramePr>
          <p:nvPr/>
        </p:nvGraphicFramePr>
        <p:xfrm>
          <a:off x="685800" y="1828800"/>
          <a:ext cx="10820094" cy="2743200"/>
        </p:xfrm>
        <a:graphic>
          <a:graphicData uri="http://schemas.openxmlformats.org/drawingml/2006/table">
            <a:tbl>
              <a:tblPr firstRow="1">
                <a:tableStyleId>{5C22544A-7EE6-4342-B048-85BDC9FD1C3A}</a:tableStyleId>
              </a:tblPr>
              <a:tblGrid>
                <a:gridCol w="3029626"/>
                <a:gridCol w="4111636"/>
                <a:gridCol w="3678832"/>
              </a:tblGrid>
              <a:tr h="329184">
                <a:tc>
                  <a:txBody>
                    <a:bodyPr wrap="square"/>
                    <a:lstStyle/>
                    <a:p>
                      <a:pPr algn="l">
                        <a:lnSpc>
                          <a:spcPct val="105000"/>
                        </a:lnSpc>
                        <a:spcAft>
                          <a:spcPts val="0"/>
                        </a:spcAft>
                      </a:pPr>
                      <a:r>
                        <a:rPr sz="1100" b="1" i="0">
                          <a:solidFill>
                            <a:srgbClr val="5AA0E0"/>
                          </a:solidFill>
                          <a:latin typeface="Calibri"/>
                        </a:rPr>
                        <a:t>Not the sole control</a:t>
                      </a:r>
                    </a:p>
                  </a:txBody>
                  <a:tcPr marL="91440" marR="91440" marT="45720" marB="45720" anchor="ctr">
                    <a:solidFill>
                      <a:srgbClr val="1D242C"/>
                    </a:solidFill>
                  </a:tcPr>
                </a:tc>
                <a:tc>
                  <a:txBody>
                    <a:bodyPr wrap="square"/>
                    <a:lstStyle/>
                    <a:p>
                      <a:pPr algn="l">
                        <a:lnSpc>
                          <a:spcPct val="105000"/>
                        </a:lnSpc>
                        <a:spcAft>
                          <a:spcPts val="0"/>
                        </a:spcAft>
                      </a:pPr>
                      <a:r>
                        <a:rPr sz="1100" b="1" i="0">
                          <a:solidFill>
                            <a:srgbClr val="5AA0E0"/>
                          </a:solidFill>
                          <a:latin typeface="Calibri"/>
                        </a:rPr>
                        <a:t>Why it is insufficient alone</a:t>
                      </a:r>
                    </a:p>
                  </a:txBody>
                  <a:tcPr marL="91440" marR="91440" marT="45720" marB="45720" anchor="ctr">
                    <a:solidFill>
                      <a:srgbClr val="1D242C"/>
                    </a:solidFill>
                  </a:tcPr>
                </a:tc>
                <a:tc>
                  <a:txBody>
                    <a:bodyPr wrap="square"/>
                    <a:lstStyle/>
                    <a:p>
                      <a:pPr algn="l">
                        <a:lnSpc>
                          <a:spcPct val="105000"/>
                        </a:lnSpc>
                        <a:spcAft>
                          <a:spcPts val="0"/>
                        </a:spcAft>
                      </a:pPr>
                      <a:r>
                        <a:rPr sz="1100" b="1" i="0">
                          <a:solidFill>
                            <a:srgbClr val="5AA0E0"/>
                          </a:solidFill>
                          <a:latin typeface="Calibri"/>
                        </a:rPr>
                        <a:t>What carries it instead</a:t>
                      </a:r>
                    </a:p>
                  </a:txBody>
                  <a:tcPr marL="91440" marR="91440" marT="45720" marB="45720" anchor="ctr">
                    <a:solidFill>
                      <a:srgbClr val="1D242C"/>
                    </a:solidFill>
                  </a:tcPr>
                </a:tc>
              </a:tr>
              <a:tr h="621792">
                <a:tc>
                  <a:txBody>
                    <a:bodyPr wrap="square"/>
                    <a:lstStyle/>
                    <a:p>
                      <a:pPr algn="l">
                        <a:lnSpc>
                          <a:spcPct val="105000"/>
                        </a:lnSpc>
                        <a:spcAft>
                          <a:spcPts val="0"/>
                        </a:spcAft>
                      </a:pPr>
                      <a:r>
                        <a:rPr sz="1050" b="1" i="0">
                          <a:solidFill>
                            <a:srgbClr val="E8ECF2"/>
                          </a:solidFill>
                          <a:latin typeface="Calibri"/>
                        </a:rPr>
                        <a:t>Static keys held in gateway configuration</a:t>
                      </a:r>
                    </a:p>
                  </a:txBody>
                  <a:tcPr marL="91440" marR="91440" marT="45720" marB="45720" anchor="ctr">
                    <a:solidFill>
                      <a:srgbClr val="161C23"/>
                    </a:solidFill>
                  </a:tcPr>
                </a:tc>
                <a:tc>
                  <a:txBody>
                    <a:bodyPr wrap="square"/>
                    <a:lstStyle/>
                    <a:p>
                      <a:pPr algn="l">
                        <a:lnSpc>
                          <a:spcPct val="105000"/>
                        </a:lnSpc>
                        <a:spcAft>
                          <a:spcPts val="0"/>
                        </a:spcAft>
                      </a:pPr>
                      <a:r>
                        <a:rPr sz="1050" b="0" i="0">
                          <a:solidFill>
                            <a:srgbClr val="E8ECF2"/>
                          </a:solidFill>
                          <a:latin typeface="Calibri"/>
                        </a:rPr>
                        <a:t>Static secrets in application-owned configuration are easy to leak, copy, or leave unrotated.</a:t>
                      </a:r>
                    </a:p>
                  </a:txBody>
                  <a:tcPr marL="91440" marR="91440" marT="45720" marB="45720" anchor="ctr">
                    <a:solidFill>
                      <a:srgbClr val="161C23"/>
                    </a:solidFill>
                  </a:tcPr>
                </a:tc>
                <a:tc>
                  <a:txBody>
                    <a:bodyPr wrap="square"/>
                    <a:lstStyle/>
                    <a:p>
                      <a:pPr algn="l">
                        <a:lnSpc>
                          <a:spcPct val="105000"/>
                        </a:lnSpc>
                        <a:spcAft>
                          <a:spcPts val="0"/>
                        </a:spcAft>
                      </a:pPr>
                      <a:r>
                        <a:rPr sz="1050" b="0" i="0">
                          <a:solidFill>
                            <a:srgbClr val="E8ECF2"/>
                          </a:solidFill>
                          <a:latin typeface="Calibri"/>
                        </a:rPr>
                        <a:t>Identity-based, short-lived, least-privilege authentication.</a:t>
                      </a:r>
                    </a:p>
                  </a:txBody>
                  <a:tcPr marL="91440" marR="91440" marT="45720" marB="45720" anchor="ctr">
                    <a:solidFill>
                      <a:srgbClr val="161C23"/>
                    </a:solidFill>
                  </a:tcPr>
                </a:tc>
              </a:tr>
              <a:tr h="566928">
                <a:tc>
                  <a:txBody>
                    <a:bodyPr wrap="square"/>
                    <a:lstStyle/>
                    <a:p>
                      <a:pPr algn="l">
                        <a:lnSpc>
                          <a:spcPct val="105000"/>
                        </a:lnSpc>
                        <a:spcAft>
                          <a:spcPts val="0"/>
                        </a:spcAft>
                      </a:pPr>
                      <a:r>
                        <a:rPr sz="1050" b="1" i="0">
                          <a:solidFill>
                            <a:srgbClr val="E8ECF2"/>
                          </a:solidFill>
                          <a:latin typeface="Calibri"/>
                        </a:rPr>
                        <a:t>Tenant-supplied identifiers without authentication</a:t>
                      </a:r>
                    </a:p>
                  </a:txBody>
                  <a:tcPr marL="91440" marR="91440" marT="45720" marB="45720" anchor="ctr">
                    <a:solidFill>
                      <a:srgbClr val="12161B"/>
                    </a:solidFill>
                  </a:tcPr>
                </a:tc>
                <a:tc>
                  <a:txBody>
                    <a:bodyPr wrap="square"/>
                    <a:lstStyle/>
                    <a:p>
                      <a:pPr algn="l">
                        <a:lnSpc>
                          <a:spcPct val="105000"/>
                        </a:lnSpc>
                        <a:spcAft>
                          <a:spcPts val="0"/>
                        </a:spcAft>
                      </a:pPr>
                      <a:r>
                        <a:rPr sz="1050" b="0" i="0">
                          <a:solidFill>
                            <a:srgbClr val="E8ECF2"/>
                          </a:solidFill>
                          <a:latin typeface="Calibri"/>
                        </a:rPr>
                        <a:t>An unauthenticated identifier can be spoofed by any caller who knows or guesses it.</a:t>
                      </a:r>
                    </a:p>
                  </a:txBody>
                  <a:tcPr marL="91440" marR="91440" marT="45720" marB="45720" anchor="ctr">
                    <a:solidFill>
                      <a:srgbClr val="12161B"/>
                    </a:solidFill>
                  </a:tcPr>
                </a:tc>
                <a:tc>
                  <a:txBody>
                    <a:bodyPr wrap="square"/>
                    <a:lstStyle/>
                    <a:p>
                      <a:pPr algn="l">
                        <a:lnSpc>
                          <a:spcPct val="105000"/>
                        </a:lnSpc>
                        <a:spcAft>
                          <a:spcPts val="0"/>
                        </a:spcAft>
                      </a:pPr>
                      <a:r>
                        <a:rPr sz="1050" b="0" i="0">
                          <a:solidFill>
                            <a:srgbClr val="E8ECF2"/>
                          </a:solidFill>
                          <a:latin typeface="Calibri"/>
                        </a:rPr>
                        <a:t>Per-tenant workload identity issued and authenticated at onboarding.</a:t>
                      </a:r>
                    </a:p>
                  </a:txBody>
                  <a:tcPr marL="91440" marR="91440" marT="45720" marB="45720" anchor="ctr">
                    <a:solidFill>
                      <a:srgbClr val="12161B"/>
                    </a:solidFill>
                  </a:tcPr>
                </a:tc>
              </a:tr>
              <a:tr h="658368">
                <a:tc>
                  <a:txBody>
                    <a:bodyPr wrap="square"/>
                    <a:lstStyle/>
                    <a:p>
                      <a:pPr algn="l">
                        <a:lnSpc>
                          <a:spcPct val="105000"/>
                        </a:lnSpc>
                        <a:spcAft>
                          <a:spcPts val="0"/>
                        </a:spcAft>
                      </a:pPr>
                      <a:r>
                        <a:rPr sz="1050" b="1" i="0">
                          <a:solidFill>
                            <a:srgbClr val="E8ECF2"/>
                          </a:solidFill>
                          <a:latin typeface="Calibri"/>
                        </a:rPr>
                        <a:t>Client-provided policy versions without authorization</a:t>
                      </a:r>
                    </a:p>
                  </a:txBody>
                  <a:tcPr marL="91440" marR="91440" marT="45720" marB="45720" anchor="ctr">
                    <a:solidFill>
                      <a:srgbClr val="161C23"/>
                    </a:solidFill>
                  </a:tcPr>
                </a:tc>
                <a:tc>
                  <a:txBody>
                    <a:bodyPr wrap="square"/>
                    <a:lstStyle/>
                    <a:p>
                      <a:pPr algn="l">
                        <a:lnSpc>
                          <a:spcPct val="105000"/>
                        </a:lnSpc>
                        <a:spcAft>
                          <a:spcPts val="0"/>
                        </a:spcAft>
                      </a:pPr>
                      <a:r>
                        <a:rPr sz="1050" b="0" i="0">
                          <a:solidFill>
                            <a:srgbClr val="E8ECF2"/>
                          </a:solidFill>
                          <a:latin typeface="Calibri"/>
                        </a:rPr>
                        <a:t>A caller could otherwise request evaluation against a weaker or stale version it is not entitled to.</a:t>
                      </a:r>
                    </a:p>
                  </a:txBody>
                  <a:tcPr marL="91440" marR="91440" marT="45720" marB="45720" anchor="ctr">
                    <a:solidFill>
                      <a:srgbClr val="161C23"/>
                    </a:solidFill>
                  </a:tcPr>
                </a:tc>
                <a:tc>
                  <a:txBody>
                    <a:bodyPr wrap="square"/>
                    <a:lstStyle/>
                    <a:p>
                      <a:pPr algn="l">
                        <a:lnSpc>
                          <a:spcPct val="105000"/>
                        </a:lnSpc>
                        <a:spcAft>
                          <a:spcPts val="0"/>
                        </a:spcAft>
                      </a:pPr>
                      <a:r>
                        <a:rPr sz="1050" b="0" i="0">
                          <a:solidFill>
                            <a:srgbClr val="E8ECF2"/>
                          </a:solidFill>
                          <a:latin typeface="Calibri"/>
                        </a:rPr>
                        <a:t>Server-side policy authorization against the workload's active binding.</a:t>
                      </a:r>
                    </a:p>
                  </a:txBody>
                  <a:tcPr marL="91440" marR="91440" marT="45720" marB="45720" anchor="ctr">
                    <a:solidFill>
                      <a:srgbClr val="161C23"/>
                    </a:solidFill>
                  </a:tcPr>
                </a:tc>
              </a:tr>
              <a:tr h="566928">
                <a:tc>
                  <a:txBody>
                    <a:bodyPr wrap="square"/>
                    <a:lstStyle/>
                    <a:p>
                      <a:pPr algn="l">
                        <a:lnSpc>
                          <a:spcPct val="105000"/>
                        </a:lnSpc>
                        <a:spcAft>
                          <a:spcPts val="0"/>
                        </a:spcAft>
                      </a:pPr>
                      <a:r>
                        <a:rPr sz="1050" b="1" i="0">
                          <a:solidFill>
                            <a:srgbClr val="E8ECF2"/>
                          </a:solidFill>
                          <a:latin typeface="Calibri"/>
                        </a:rPr>
                        <a:t>Connector telemetry as evidence of enforcement</a:t>
                      </a:r>
                    </a:p>
                  </a:txBody>
                  <a:tcPr marL="91440" marR="91440" marT="45720" marB="45720" anchor="ctr">
                    <a:solidFill>
                      <a:srgbClr val="12161B"/>
                    </a:solidFill>
                  </a:tcPr>
                </a:tc>
                <a:tc>
                  <a:txBody>
                    <a:bodyPr wrap="square"/>
                    <a:lstStyle/>
                    <a:p>
                      <a:pPr algn="l">
                        <a:lnSpc>
                          <a:spcPct val="105000"/>
                        </a:lnSpc>
                        <a:spcAft>
                          <a:spcPts val="0"/>
                        </a:spcAft>
                      </a:pPr>
                      <a:r>
                        <a:rPr sz="1050" b="0" i="0">
                          <a:solidFill>
                            <a:srgbClr val="E8ECF2"/>
                          </a:solidFill>
                          <a:latin typeface="Calibri"/>
                        </a:rPr>
                        <a:t>Telemetry shows an installed connector is reporting; it cannot prove no request bypassed it.</a:t>
                      </a:r>
                    </a:p>
                  </a:txBody>
                  <a:tcPr marL="91440" marR="91440" marT="45720" marB="45720" anchor="ctr">
                    <a:solidFill>
                      <a:srgbClr val="12161B"/>
                    </a:solidFill>
                  </a:tcPr>
                </a:tc>
                <a:tc>
                  <a:txBody>
                    <a:bodyPr wrap="square"/>
                    <a:lstStyle/>
                    <a:p>
                      <a:pPr algn="l">
                        <a:lnSpc>
                          <a:spcPct val="105000"/>
                        </a:lnSpc>
                        <a:spcAft>
                          <a:spcPts val="0"/>
                        </a:spcAft>
                      </a:pPr>
                      <a:r>
                        <a:rPr sz="1050" b="0" i="0">
                          <a:solidFill>
                            <a:srgbClr val="E8ECF2"/>
                          </a:solidFill>
                          <a:latin typeface="Calibri"/>
                        </a:rPr>
                        <a:t>The enforcement posture actually in force for that workload.</a:t>
                      </a:r>
                    </a:p>
                  </a:txBody>
                  <a:tcPr marL="91440" marR="91440" marT="45720" marB="45720" anchor="ctr">
                    <a:solidFill>
                      <a:srgbClr val="12161B"/>
                    </a:solidFill>
                  </a:tcPr>
                </a:tc>
              </a:tr>
            </a:tbl>
          </a:graphicData>
        </a:graphic>
      </p:graphicFrame>
      <p:sp>
        <p:nvSpPr>
          <p:cNvPr id="7" name="TextBox 6"/>
          <p:cNvSpPr txBox="1"/>
          <p:nvPr/>
        </p:nvSpPr>
        <p:spPr>
          <a:xfrm>
            <a:off x="685800" y="5632704"/>
            <a:ext cx="10820095" cy="457200"/>
          </a:xfrm>
          <a:prstGeom prst="rect">
            <a:avLst/>
          </a:prstGeom>
          <a:noFill/>
        </p:spPr>
        <p:txBody>
          <a:bodyPr wrap="square" lIns="0" rIns="0" tIns="0" bIns="0" anchor="t">
            <a:spAutoFit/>
          </a:bodyPr>
          <a:lstStyle/>
          <a:p>
            <a:pPr algn="l">
              <a:lnSpc>
                <a:spcPct val="115000"/>
              </a:lnSpc>
              <a:spcAft>
                <a:spcPts val="0"/>
              </a:spcAft>
            </a:pPr>
            <a:r>
              <a:rPr sz="1150" b="0" i="0">
                <a:solidFill>
                  <a:srgbClr val="98A4B3"/>
                </a:solidFill>
                <a:latin typeface="Calibri"/>
              </a:rPr>
              <a:t>This is a constraint on how the platform may be described as much as on how it is built: none of the four may appear in product, sales, or compliance material as the reason a workload's guardrails cannot be bypassed.</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12161B"/>
        </a:solidFill>
        <a:effectLst/>
      </p:bgPr>
    </p:bg>
    <p:spTree>
      <p:nvGrpSpPr>
        <p:cNvPr id="1" name=""/>
        <p:cNvGrpSpPr/>
        <p:nvPr/>
      </p:nvGrpSpPr>
      <p:grpSpPr/>
      <p:sp>
        <p:nvSpPr>
          <p:cNvPr id="2" name="TextBox 1"/>
          <p:cNvSpPr txBox="1"/>
          <p:nvPr/>
        </p:nvSpPr>
        <p:spPr>
          <a:xfrm>
            <a:off x="685800" y="420624"/>
            <a:ext cx="10820095" cy="658368"/>
          </a:xfrm>
          <a:prstGeom prst="rect">
            <a:avLst/>
          </a:prstGeom>
          <a:noFill/>
        </p:spPr>
        <p:txBody>
          <a:bodyPr wrap="square" lIns="0" rIns="0" tIns="0" bIns="0" anchor="t">
            <a:spAutoFit/>
          </a:bodyPr>
          <a:lstStyle/>
          <a:p>
            <a:pPr algn="l">
              <a:lnSpc>
                <a:spcPct val="115000"/>
              </a:lnSpc>
              <a:spcAft>
                <a:spcPts val="0"/>
              </a:spcAft>
            </a:pPr>
            <a:r>
              <a:rPr sz="3000" b="1" i="0">
                <a:solidFill>
                  <a:srgbClr val="E8ECF2"/>
                </a:solidFill>
                <a:latin typeface="Calibri"/>
              </a:rPr>
              <a:t>Nothing blocks on day one</a:t>
            </a:r>
          </a:p>
        </p:txBody>
      </p:sp>
      <p:sp>
        <p:nvSpPr>
          <p:cNvPr id="3" name="Rectangle 2"/>
          <p:cNvSpPr/>
          <p:nvPr/>
        </p:nvSpPr>
        <p:spPr>
          <a:xfrm>
            <a:off x="685800" y="1188720"/>
            <a:ext cx="1234440" cy="41148"/>
          </a:xfrm>
          <a:prstGeom prst="rect">
            <a:avLst/>
          </a:prstGeom>
          <a:solidFill>
            <a:srgbClr val="5AA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298448"/>
            <a:ext cx="10820095" cy="365760"/>
          </a:xfrm>
          <a:prstGeom prst="rect">
            <a:avLst/>
          </a:prstGeom>
          <a:noFill/>
        </p:spPr>
        <p:txBody>
          <a:bodyPr wrap="square" lIns="0" rIns="0" tIns="0" bIns="0" anchor="t">
            <a:spAutoFit/>
          </a:bodyPr>
          <a:lstStyle/>
          <a:p>
            <a:pPr algn="l">
              <a:lnSpc>
                <a:spcPct val="115000"/>
              </a:lnSpc>
              <a:spcAft>
                <a:spcPts val="0"/>
              </a:spcAft>
            </a:pPr>
            <a:r>
              <a:rPr sz="1350" b="0" i="0">
                <a:solidFill>
                  <a:srgbClr val="98A4B3"/>
                </a:solidFill>
                <a:latin typeface="Calibri"/>
              </a:rPr>
              <a:t>Every policy supports a non-blocking state, and promotion is an explicit, audited action.</a:t>
            </a:r>
          </a:p>
        </p:txBody>
      </p:sp>
      <p:sp>
        <p:nvSpPr>
          <p:cNvPr id="5" name="TextBox 4"/>
          <p:cNvSpPr txBox="1"/>
          <p:nvPr/>
        </p:nvSpPr>
        <p:spPr>
          <a:xfrm>
            <a:off x="685800" y="6217920"/>
            <a:ext cx="10820095" cy="292608"/>
          </a:xfrm>
          <a:prstGeom prst="rect">
            <a:avLst/>
          </a:prstGeom>
          <a:noFill/>
        </p:spPr>
        <p:txBody>
          <a:bodyPr wrap="square" lIns="0" rIns="0" tIns="0" bIns="0" anchor="t">
            <a:spAutoFit/>
          </a:bodyPr>
          <a:lstStyle/>
          <a:p>
            <a:pPr algn="l">
              <a:lnSpc>
                <a:spcPct val="115000"/>
              </a:lnSpc>
              <a:spcAft>
                <a:spcPts val="0"/>
              </a:spcAft>
            </a:pPr>
            <a:r>
              <a:rPr sz="900" b="0" i="0">
                <a:solidFill>
                  <a:srgbClr val="98A4B3"/>
                </a:solidFill>
                <a:latin typeface="Calibri"/>
              </a:rPr>
              <a:t>AI Guardrails · design intent and delivery plan — nothing built or piloted today</a:t>
            </a:r>
          </a:p>
        </p:txBody>
      </p:sp>
      <p:sp>
        <p:nvSpPr>
          <p:cNvPr id="6" name="Chevron 5"/>
          <p:cNvSpPr/>
          <p:nvPr/>
        </p:nvSpPr>
        <p:spPr>
          <a:xfrm>
            <a:off x="685800" y="2057400"/>
            <a:ext cx="2331720" cy="960120"/>
          </a:xfrm>
          <a:prstGeom prst="chevron">
            <a:avLst/>
          </a:prstGeom>
          <a:solidFill>
            <a:srgbClr val="1D242C"/>
          </a:solidFill>
          <a:ln w="12700">
            <a:solidFill>
              <a:srgbClr val="98A4B3"/>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36576" bIns="36576"/>
          <a:lstStyle/>
          <a:p>
            <a:pPr algn="ctr">
              <a:lnSpc>
                <a:spcPct val="115000"/>
              </a:lnSpc>
              <a:spcAft>
                <a:spcPts val="200"/>
              </a:spcAft>
            </a:pPr>
            <a:r>
              <a:rPr sz="1500" b="1" i="0">
                <a:solidFill>
                  <a:srgbClr val="E8ECF2"/>
                </a:solidFill>
                <a:latin typeface="Calibri"/>
              </a:rPr>
              <a:t>Disabled</a:t>
            </a:r>
          </a:p>
        </p:txBody>
      </p:sp>
      <p:sp>
        <p:nvSpPr>
          <p:cNvPr id="7" name="TextBox 6"/>
          <p:cNvSpPr txBox="1"/>
          <p:nvPr/>
        </p:nvSpPr>
        <p:spPr>
          <a:xfrm>
            <a:off x="1069848" y="3200400"/>
            <a:ext cx="1645919" cy="914400"/>
          </a:xfrm>
          <a:prstGeom prst="rect">
            <a:avLst/>
          </a:prstGeom>
          <a:noFill/>
        </p:spPr>
        <p:txBody>
          <a:bodyPr wrap="square" lIns="0" rIns="0" tIns="0" bIns="0" anchor="t">
            <a:spAutoFit/>
          </a:bodyPr>
          <a:lstStyle/>
          <a:p>
            <a:pPr algn="ctr">
              <a:lnSpc>
                <a:spcPct val="120000"/>
              </a:lnSpc>
              <a:spcAft>
                <a:spcPts val="0"/>
              </a:spcAft>
            </a:pPr>
            <a:r>
              <a:rPr sz="1150" b="0" i="0">
                <a:solidFill>
                  <a:srgbClr val="98A4B3"/>
                </a:solidFill>
                <a:latin typeface="Calibri"/>
              </a:rPr>
              <a:t>Bound, not
evaluating</a:t>
            </a:r>
          </a:p>
        </p:txBody>
      </p:sp>
      <p:sp>
        <p:nvSpPr>
          <p:cNvPr id="8" name="Chevron 7"/>
          <p:cNvSpPr/>
          <p:nvPr/>
        </p:nvSpPr>
        <p:spPr>
          <a:xfrm>
            <a:off x="2743200" y="2057400"/>
            <a:ext cx="2331720" cy="960120"/>
          </a:xfrm>
          <a:prstGeom prst="chevron">
            <a:avLst/>
          </a:prstGeom>
          <a:solidFill>
            <a:srgbClr val="2B4A69"/>
          </a:solidFill>
          <a:ln w="12700">
            <a:solidFill>
              <a:srgbClr val="5AA0E0"/>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36576" bIns="36576"/>
          <a:lstStyle/>
          <a:p>
            <a:pPr algn="ctr">
              <a:lnSpc>
                <a:spcPct val="115000"/>
              </a:lnSpc>
              <a:spcAft>
                <a:spcPts val="200"/>
              </a:spcAft>
            </a:pPr>
            <a:r>
              <a:rPr sz="1500" b="1" i="0">
                <a:solidFill>
                  <a:srgbClr val="E8ECF2"/>
                </a:solidFill>
                <a:latin typeface="Calibri"/>
              </a:rPr>
              <a:t>Observe</a:t>
            </a:r>
          </a:p>
        </p:txBody>
      </p:sp>
      <p:sp>
        <p:nvSpPr>
          <p:cNvPr id="9" name="TextBox 8"/>
          <p:cNvSpPr txBox="1"/>
          <p:nvPr/>
        </p:nvSpPr>
        <p:spPr>
          <a:xfrm>
            <a:off x="3127248" y="3200400"/>
            <a:ext cx="1645919" cy="914400"/>
          </a:xfrm>
          <a:prstGeom prst="rect">
            <a:avLst/>
          </a:prstGeom>
          <a:noFill/>
        </p:spPr>
        <p:txBody>
          <a:bodyPr wrap="square" lIns="0" rIns="0" tIns="0" bIns="0" anchor="t">
            <a:spAutoFit/>
          </a:bodyPr>
          <a:lstStyle/>
          <a:p>
            <a:pPr algn="ctr">
              <a:lnSpc>
                <a:spcPct val="120000"/>
              </a:lnSpc>
              <a:spcAft>
                <a:spcPts val="0"/>
              </a:spcAft>
            </a:pPr>
            <a:r>
              <a:rPr sz="1150" b="0" i="0">
                <a:solidFill>
                  <a:srgbClr val="98A4B3"/>
                </a:solidFill>
                <a:latin typeface="Calibri"/>
              </a:rPr>
              <a:t>Evaluates and
records. Never
acts on traffic.</a:t>
            </a:r>
          </a:p>
        </p:txBody>
      </p:sp>
      <p:sp>
        <p:nvSpPr>
          <p:cNvPr id="10" name="Chevron 9"/>
          <p:cNvSpPr/>
          <p:nvPr/>
        </p:nvSpPr>
        <p:spPr>
          <a:xfrm>
            <a:off x="4800600" y="2057400"/>
            <a:ext cx="2331720" cy="960120"/>
          </a:xfrm>
          <a:prstGeom prst="chevron">
            <a:avLst/>
          </a:prstGeom>
          <a:solidFill>
            <a:srgbClr val="1D242C"/>
          </a:solidFill>
          <a:ln w="12700">
            <a:solidFill>
              <a:srgbClr val="E0B341"/>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36576" bIns="36576"/>
          <a:lstStyle/>
          <a:p>
            <a:pPr algn="ctr">
              <a:lnSpc>
                <a:spcPct val="115000"/>
              </a:lnSpc>
              <a:spcAft>
                <a:spcPts val="200"/>
              </a:spcAft>
            </a:pPr>
            <a:r>
              <a:rPr sz="1500" b="1" i="0">
                <a:solidFill>
                  <a:srgbClr val="E8ECF2"/>
                </a:solidFill>
                <a:latin typeface="Calibri"/>
              </a:rPr>
              <a:t>Warn</a:t>
            </a:r>
          </a:p>
        </p:txBody>
      </p:sp>
      <p:sp>
        <p:nvSpPr>
          <p:cNvPr id="11" name="TextBox 10"/>
          <p:cNvSpPr txBox="1"/>
          <p:nvPr/>
        </p:nvSpPr>
        <p:spPr>
          <a:xfrm>
            <a:off x="5184648" y="3200400"/>
            <a:ext cx="1645919" cy="914400"/>
          </a:xfrm>
          <a:prstGeom prst="rect">
            <a:avLst/>
          </a:prstGeom>
          <a:noFill/>
        </p:spPr>
        <p:txBody>
          <a:bodyPr wrap="square" lIns="0" rIns="0" tIns="0" bIns="0" anchor="t">
            <a:spAutoFit/>
          </a:bodyPr>
          <a:lstStyle/>
          <a:p>
            <a:pPr algn="ctr">
              <a:lnSpc>
                <a:spcPct val="120000"/>
              </a:lnSpc>
              <a:spcAft>
                <a:spcPts val="0"/>
              </a:spcAft>
            </a:pPr>
            <a:r>
              <a:rPr sz="1150" b="0" i="0">
                <a:solidFill>
                  <a:srgbClr val="98A4B3"/>
                </a:solidFill>
                <a:latin typeface="Calibri"/>
              </a:rPr>
              <a:t>Surfaces a
violation without
stopping it</a:t>
            </a:r>
          </a:p>
        </p:txBody>
      </p:sp>
      <p:sp>
        <p:nvSpPr>
          <p:cNvPr id="12" name="Chevron 11"/>
          <p:cNvSpPr/>
          <p:nvPr/>
        </p:nvSpPr>
        <p:spPr>
          <a:xfrm>
            <a:off x="6858000" y="2057400"/>
            <a:ext cx="2331720" cy="960120"/>
          </a:xfrm>
          <a:prstGeom prst="chevron">
            <a:avLst/>
          </a:prstGeom>
          <a:solidFill>
            <a:srgbClr val="1D242C"/>
          </a:solidFill>
          <a:ln w="12700">
            <a:solidFill>
              <a:srgbClr val="E0B341"/>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36576" bIns="36576"/>
          <a:lstStyle/>
          <a:p>
            <a:pPr algn="ctr">
              <a:lnSpc>
                <a:spcPct val="115000"/>
              </a:lnSpc>
              <a:spcAft>
                <a:spcPts val="200"/>
              </a:spcAft>
            </a:pPr>
            <a:r>
              <a:rPr sz="1500" b="1" i="0">
                <a:solidFill>
                  <a:srgbClr val="E8ECF2"/>
                </a:solidFill>
                <a:latin typeface="Calibri"/>
              </a:rPr>
              <a:t>Redact</a:t>
            </a:r>
          </a:p>
        </p:txBody>
      </p:sp>
      <p:sp>
        <p:nvSpPr>
          <p:cNvPr id="13" name="TextBox 12"/>
          <p:cNvSpPr txBox="1"/>
          <p:nvPr/>
        </p:nvSpPr>
        <p:spPr>
          <a:xfrm>
            <a:off x="7242048" y="3200400"/>
            <a:ext cx="1645919" cy="914400"/>
          </a:xfrm>
          <a:prstGeom prst="rect">
            <a:avLst/>
          </a:prstGeom>
          <a:noFill/>
        </p:spPr>
        <p:txBody>
          <a:bodyPr wrap="square" lIns="0" rIns="0" tIns="0" bIns="0" anchor="t">
            <a:spAutoFit/>
          </a:bodyPr>
          <a:lstStyle/>
          <a:p>
            <a:pPr algn="ctr">
              <a:lnSpc>
                <a:spcPct val="120000"/>
              </a:lnSpc>
              <a:spcAft>
                <a:spcPts val="0"/>
              </a:spcAft>
            </a:pPr>
            <a:r>
              <a:rPr sz="1150" b="0" i="0">
                <a:solidFill>
                  <a:srgbClr val="98A4B3"/>
                </a:solidFill>
                <a:latin typeface="Calibri"/>
              </a:rPr>
              <a:t>Transforms the
content it
must remove</a:t>
            </a:r>
          </a:p>
        </p:txBody>
      </p:sp>
      <p:sp>
        <p:nvSpPr>
          <p:cNvPr id="14" name="Chevron 13"/>
          <p:cNvSpPr/>
          <p:nvPr/>
        </p:nvSpPr>
        <p:spPr>
          <a:xfrm>
            <a:off x="8915400" y="2057400"/>
            <a:ext cx="2331720" cy="960120"/>
          </a:xfrm>
          <a:prstGeom prst="chevron">
            <a:avLst/>
          </a:prstGeom>
          <a:solidFill>
            <a:srgbClr val="1D242C"/>
          </a:solidFill>
          <a:ln w="12700">
            <a:solidFill>
              <a:srgbClr val="E06C5F"/>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36576" bIns="36576"/>
          <a:lstStyle/>
          <a:p>
            <a:pPr algn="ctr">
              <a:lnSpc>
                <a:spcPct val="115000"/>
              </a:lnSpc>
              <a:spcAft>
                <a:spcPts val="200"/>
              </a:spcAft>
            </a:pPr>
            <a:r>
              <a:rPr sz="1500" b="1" i="0">
                <a:solidFill>
                  <a:srgbClr val="E8ECF2"/>
                </a:solidFill>
                <a:latin typeface="Calibri"/>
              </a:rPr>
              <a:t>Block</a:t>
            </a:r>
          </a:p>
        </p:txBody>
      </p:sp>
      <p:sp>
        <p:nvSpPr>
          <p:cNvPr id="15" name="TextBox 14"/>
          <p:cNvSpPr txBox="1"/>
          <p:nvPr/>
        </p:nvSpPr>
        <p:spPr>
          <a:xfrm>
            <a:off x="9299448" y="3200400"/>
            <a:ext cx="1645919" cy="914400"/>
          </a:xfrm>
          <a:prstGeom prst="rect">
            <a:avLst/>
          </a:prstGeom>
          <a:noFill/>
        </p:spPr>
        <p:txBody>
          <a:bodyPr wrap="square" lIns="0" rIns="0" tIns="0" bIns="0" anchor="t">
            <a:spAutoFit/>
          </a:bodyPr>
          <a:lstStyle/>
          <a:p>
            <a:pPr algn="ctr">
              <a:lnSpc>
                <a:spcPct val="120000"/>
              </a:lnSpc>
              <a:spcAft>
                <a:spcPts val="0"/>
              </a:spcAft>
            </a:pPr>
            <a:r>
              <a:rPr sz="1150" b="0" i="0">
                <a:solidFill>
                  <a:srgbClr val="98A4B3"/>
                </a:solidFill>
                <a:latin typeface="Calibri"/>
              </a:rPr>
              <a:t>Stops the
request or
response</a:t>
            </a:r>
          </a:p>
        </p:txBody>
      </p:sp>
      <p:sp>
        <p:nvSpPr>
          <p:cNvPr id="16" name="Rounded Rectangle 15"/>
          <p:cNvSpPr/>
          <p:nvPr/>
        </p:nvSpPr>
        <p:spPr>
          <a:xfrm>
            <a:off x="685800" y="4389120"/>
            <a:ext cx="10820095" cy="1234440"/>
          </a:xfrm>
          <a:prstGeom prst="roundRect">
            <a:avLst>
              <a:gd name="adj" fmla="val 4000"/>
            </a:avLst>
          </a:prstGeom>
          <a:solidFill>
            <a:srgbClr val="161C23"/>
          </a:solidFill>
          <a:ln w="12700">
            <a:solidFill>
              <a:srgbClr val="2E39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05840" y="4572000"/>
            <a:ext cx="10180015" cy="914400"/>
          </a:xfrm>
          <a:prstGeom prst="rect">
            <a:avLst/>
          </a:prstGeom>
          <a:noFill/>
        </p:spPr>
        <p:txBody>
          <a:bodyPr wrap="square" lIns="0" rIns="0" tIns="0" bIns="0" anchor="t">
            <a:spAutoFit/>
          </a:bodyPr>
          <a:lstStyle/>
          <a:p>
            <a:pPr algn="l">
              <a:lnSpc>
                <a:spcPct val="115000"/>
              </a:lnSpc>
              <a:spcAft>
                <a:spcPts val="700"/>
              </a:spcAft>
            </a:pPr>
            <a:r>
              <a:rPr sz="1500" b="1" i="0">
                <a:solidFill>
                  <a:srgbClr val="5AA0E0"/>
                </a:solidFill>
                <a:latin typeface="Calibri"/>
              </a:rPr>
              <a:t>The state is a ceiling on the action, held per workload — never a property of the policy.</a:t>
            </a:r>
          </a:p>
          <a:p>
            <a:pPr algn="l">
              <a:lnSpc>
                <a:spcPct val="125000"/>
              </a:lnSpc>
              <a:spcAft>
                <a:spcPts val="0"/>
              </a:spcAft>
            </a:pPr>
            <a:r>
              <a:rPr sz="1250" b="0" i="0">
                <a:solidFill>
                  <a:srgbClr val="98A4B3"/>
                </a:solidFill>
                <a:latin typeface="Calibri"/>
              </a:rPr>
              <a:t>Two workloads can run the same approved policy version at different states, so a team measures false positives and business impact on its own traffic before anything it owns can be blocked. Clamping changes the action only: findings and reason codes are reported unchanged, so observe-mode measurement is real measurement rather than a rehearsal.</a:t>
            </a:r>
          </a:p>
        </p:txBody>
      </p:sp>
      <p:sp>
        <p:nvSpPr>
          <p:cNvPr id="18" name="TextBox 17"/>
          <p:cNvSpPr txBox="1"/>
          <p:nvPr/>
        </p:nvSpPr>
        <p:spPr>
          <a:xfrm>
            <a:off x="685800" y="5998464"/>
            <a:ext cx="10820095" cy="457200"/>
          </a:xfrm>
          <a:prstGeom prst="rect">
            <a:avLst/>
          </a:prstGeom>
          <a:noFill/>
        </p:spPr>
        <p:txBody>
          <a:bodyPr wrap="square" lIns="0" rIns="0" tIns="0" bIns="0" anchor="t">
            <a:spAutoFit/>
          </a:bodyPr>
          <a:lstStyle/>
          <a:p>
            <a:pPr algn="l">
              <a:lnSpc>
                <a:spcPct val="115000"/>
              </a:lnSpc>
              <a:spcAft>
                <a:spcPts val="0"/>
              </a:spcAft>
            </a:pPr>
            <a:r>
              <a:rPr sz="1100" b="0" i="0">
                <a:solidFill>
                  <a:srgbClr val="98A4B3"/>
                </a:solidFill>
                <a:latin typeface="Calibri"/>
              </a:rPr>
              <a:t>What evidence justifies promoting a workload out of observe is not yet defined — it is an open question this review is well placed to answer.</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12161B"/>
        </a:solidFill>
        <a:effectLst/>
      </p:bgPr>
    </p:bg>
    <p:spTree>
      <p:nvGrpSpPr>
        <p:cNvPr id="1" name=""/>
        <p:cNvGrpSpPr/>
        <p:nvPr/>
      </p:nvGrpSpPr>
      <p:grpSpPr/>
      <p:sp>
        <p:nvSpPr>
          <p:cNvPr id="2" name="TextBox 1"/>
          <p:cNvSpPr txBox="1"/>
          <p:nvPr/>
        </p:nvSpPr>
        <p:spPr>
          <a:xfrm>
            <a:off x="685800" y="420624"/>
            <a:ext cx="10820095" cy="658368"/>
          </a:xfrm>
          <a:prstGeom prst="rect">
            <a:avLst/>
          </a:prstGeom>
          <a:noFill/>
        </p:spPr>
        <p:txBody>
          <a:bodyPr wrap="square" lIns="0" rIns="0" tIns="0" bIns="0" anchor="t">
            <a:spAutoFit/>
          </a:bodyPr>
          <a:lstStyle/>
          <a:p>
            <a:pPr algn="l">
              <a:lnSpc>
                <a:spcPct val="115000"/>
              </a:lnSpc>
              <a:spcAft>
                <a:spcPts val="0"/>
              </a:spcAft>
            </a:pPr>
            <a:r>
              <a:rPr sz="3000" b="1" i="0">
                <a:solidFill>
                  <a:srgbClr val="E8ECF2"/>
                </a:solidFill>
                <a:latin typeface="Calibri"/>
              </a:rPr>
              <a:t>What happens when evaluation fails is your decision</a:t>
            </a:r>
          </a:p>
        </p:txBody>
      </p:sp>
      <p:sp>
        <p:nvSpPr>
          <p:cNvPr id="3" name="Rectangle 2"/>
          <p:cNvSpPr/>
          <p:nvPr/>
        </p:nvSpPr>
        <p:spPr>
          <a:xfrm>
            <a:off x="685800" y="1188720"/>
            <a:ext cx="1234440" cy="41148"/>
          </a:xfrm>
          <a:prstGeom prst="rect">
            <a:avLst/>
          </a:prstGeom>
          <a:solidFill>
            <a:srgbClr val="5AA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298448"/>
            <a:ext cx="10820095" cy="365760"/>
          </a:xfrm>
          <a:prstGeom prst="rect">
            <a:avLst/>
          </a:prstGeom>
          <a:noFill/>
        </p:spPr>
        <p:txBody>
          <a:bodyPr wrap="square" lIns="0" rIns="0" tIns="0" bIns="0" anchor="t">
            <a:spAutoFit/>
          </a:bodyPr>
          <a:lstStyle/>
          <a:p>
            <a:pPr algn="l">
              <a:lnSpc>
                <a:spcPct val="115000"/>
              </a:lnSpc>
              <a:spcAft>
                <a:spcPts val="0"/>
              </a:spcAft>
            </a:pPr>
            <a:r>
              <a:rPr sz="1350" b="0" i="0">
                <a:solidFill>
                  <a:srgbClr val="98A4B3"/>
                </a:solidFill>
                <a:latin typeface="Calibri"/>
              </a:rPr>
              <a:t>Failure behavior is part of the policy. There is no undocumented fallback, and no runtime default.</a:t>
            </a:r>
          </a:p>
        </p:txBody>
      </p:sp>
      <p:sp>
        <p:nvSpPr>
          <p:cNvPr id="5" name="TextBox 4"/>
          <p:cNvSpPr txBox="1"/>
          <p:nvPr/>
        </p:nvSpPr>
        <p:spPr>
          <a:xfrm>
            <a:off x="685800" y="6217920"/>
            <a:ext cx="10820095" cy="292608"/>
          </a:xfrm>
          <a:prstGeom prst="rect">
            <a:avLst/>
          </a:prstGeom>
          <a:noFill/>
        </p:spPr>
        <p:txBody>
          <a:bodyPr wrap="square" lIns="0" rIns="0" tIns="0" bIns="0" anchor="t">
            <a:spAutoFit/>
          </a:bodyPr>
          <a:lstStyle/>
          <a:p>
            <a:pPr algn="l">
              <a:lnSpc>
                <a:spcPct val="115000"/>
              </a:lnSpc>
              <a:spcAft>
                <a:spcPts val="0"/>
              </a:spcAft>
            </a:pPr>
            <a:r>
              <a:rPr sz="900" b="0" i="0">
                <a:solidFill>
                  <a:srgbClr val="98A4B3"/>
                </a:solidFill>
                <a:latin typeface="Calibri"/>
              </a:rPr>
              <a:t>AI Guardrails · design intent and delivery plan — nothing built or piloted today</a:t>
            </a:r>
          </a:p>
        </p:txBody>
      </p:sp>
      <p:graphicFrame>
        <p:nvGraphicFramePr>
          <p:cNvPr id="6" name="Table 5"/>
          <p:cNvGraphicFramePr>
            <a:graphicFrameLocks noGrp="1"/>
          </p:cNvGraphicFramePr>
          <p:nvPr/>
        </p:nvGraphicFramePr>
        <p:xfrm>
          <a:off x="685800" y="1828800"/>
          <a:ext cx="10820094" cy="2542032"/>
        </p:xfrm>
        <a:graphic>
          <a:graphicData uri="http://schemas.openxmlformats.org/drawingml/2006/table">
            <a:tbl>
              <a:tblPr firstRow="1">
                <a:tableStyleId>{5C22544A-7EE6-4342-B048-85BDC9FD1C3A}</a:tableStyleId>
              </a:tblPr>
              <a:tblGrid>
                <a:gridCol w="4111636"/>
                <a:gridCol w="6708458"/>
              </a:tblGrid>
              <a:tr h="329184">
                <a:tc>
                  <a:txBody>
                    <a:bodyPr wrap="square"/>
                    <a:lstStyle/>
                    <a:p>
                      <a:pPr algn="l">
                        <a:lnSpc>
                          <a:spcPct val="105000"/>
                        </a:lnSpc>
                        <a:spcAft>
                          <a:spcPts val="0"/>
                        </a:spcAft>
                      </a:pPr>
                      <a:r>
                        <a:rPr sz="1100" b="1" i="0">
                          <a:solidFill>
                            <a:srgbClr val="5AA0E0"/>
                          </a:solidFill>
                          <a:latin typeface="Calibri"/>
                        </a:rPr>
                        <a:t>Failure condition</a:t>
                      </a:r>
                    </a:p>
                  </a:txBody>
                  <a:tcPr marL="91440" marR="91440" marT="45720" marB="45720" anchor="ctr">
                    <a:solidFill>
                      <a:srgbClr val="1D242C"/>
                    </a:solidFill>
                  </a:tcPr>
                </a:tc>
                <a:tc>
                  <a:txBody>
                    <a:bodyPr wrap="square"/>
                    <a:lstStyle/>
                    <a:p>
                      <a:pPr algn="l">
                        <a:lnSpc>
                          <a:spcPct val="105000"/>
                        </a:lnSpc>
                        <a:spcAft>
                          <a:spcPts val="0"/>
                        </a:spcAft>
                      </a:pPr>
                      <a:r>
                        <a:rPr sz="1100" b="1" i="0">
                          <a:solidFill>
                            <a:srgbClr val="5AA0E0"/>
                          </a:solidFill>
                          <a:latin typeface="Calibri"/>
                        </a:rPr>
                        <a:t>Behaviours a policy may configure</a:t>
                      </a:r>
                    </a:p>
                  </a:txBody>
                  <a:tcPr marL="91440" marR="91440" marT="45720" marB="45720" anchor="ctr">
                    <a:solidFill>
                      <a:srgbClr val="1D242C"/>
                    </a:solidFill>
                  </a:tcPr>
                </a:tc>
              </a:tr>
              <a:tr h="384048">
                <a:tc>
                  <a:txBody>
                    <a:bodyPr wrap="square"/>
                    <a:lstStyle/>
                    <a:p>
                      <a:pPr algn="l">
                        <a:lnSpc>
                          <a:spcPct val="105000"/>
                        </a:lnSpc>
                        <a:spcAft>
                          <a:spcPts val="0"/>
                        </a:spcAft>
                      </a:pPr>
                      <a:r>
                        <a:rPr sz="1150" b="1" i="0">
                          <a:solidFill>
                            <a:srgbClr val="E8ECF2"/>
                          </a:solidFill>
                          <a:latin typeface="Calibri"/>
                        </a:rPr>
                        <a:t>The Evaluation API times out</a:t>
                      </a:r>
                    </a:p>
                  </a:txBody>
                  <a:tcPr marL="91440" marR="91440" marT="45720" marB="45720" anchor="ctr">
                    <a:solidFill>
                      <a:srgbClr val="161C23"/>
                    </a:solidFill>
                  </a:tcPr>
                </a:tc>
                <a:tc>
                  <a:txBody>
                    <a:bodyPr wrap="square"/>
                    <a:lstStyle/>
                    <a:p>
                      <a:pPr algn="l">
                        <a:lnSpc>
                          <a:spcPct val="105000"/>
                        </a:lnSpc>
                        <a:spcAft>
                          <a:spcPts val="0"/>
                        </a:spcAft>
                      </a:pPr>
                      <a:r>
                        <a:rPr sz="1150" b="0" i="0">
                          <a:solidFill>
                            <a:srgbClr val="E8ECF2"/>
                          </a:solidFill>
                          <a:latin typeface="Calibri"/>
                        </a:rPr>
                        <a:t>Allow and log · return a safe fallback · block the request</a:t>
                      </a:r>
                    </a:p>
                  </a:txBody>
                  <a:tcPr marL="91440" marR="91440" marT="45720" marB="45720" anchor="ctr">
                    <a:solidFill>
                      <a:srgbClr val="161C23"/>
                    </a:solidFill>
                  </a:tcPr>
                </a:tc>
              </a:tr>
              <a:tr h="420624">
                <a:tc>
                  <a:txBody>
                    <a:bodyPr wrap="square"/>
                    <a:lstStyle/>
                    <a:p>
                      <a:pPr algn="l">
                        <a:lnSpc>
                          <a:spcPct val="105000"/>
                        </a:lnSpc>
                        <a:spcAft>
                          <a:spcPts val="0"/>
                        </a:spcAft>
                      </a:pPr>
                      <a:r>
                        <a:rPr sz="1150" b="1" i="0">
                          <a:solidFill>
                            <a:srgbClr val="E8ECF2"/>
                          </a:solidFill>
                          <a:latin typeface="Calibri"/>
                        </a:rPr>
                        <a:t>A detector is unavailable</a:t>
                      </a:r>
                    </a:p>
                  </a:txBody>
                  <a:tcPr marL="91440" marR="91440" marT="45720" marB="45720" anchor="ctr">
                    <a:solidFill>
                      <a:srgbClr val="12161B"/>
                    </a:solidFill>
                  </a:tcPr>
                </a:tc>
                <a:tc>
                  <a:txBody>
                    <a:bodyPr wrap="square"/>
                    <a:lstStyle/>
                    <a:p>
                      <a:pPr algn="l">
                        <a:lnSpc>
                          <a:spcPct val="105000"/>
                        </a:lnSpc>
                        <a:spcAft>
                          <a:spcPts val="0"/>
                        </a:spcAft>
                      </a:pPr>
                      <a:r>
                        <a:rPr sz="1150" b="0" i="0">
                          <a:solidFill>
                            <a:srgbClr val="E8ECF2"/>
                          </a:solidFill>
                          <a:latin typeface="Calibri"/>
                        </a:rPr>
                        <a:t>Degrade to the remaining detectors and log · use a cached policy · block</a:t>
                      </a:r>
                    </a:p>
                  </a:txBody>
                  <a:tcPr marL="91440" marR="91440" marT="45720" marB="45720" anchor="ctr">
                    <a:solidFill>
                      <a:srgbClr val="12161B"/>
                    </a:solidFill>
                  </a:tcPr>
                </a:tc>
              </a:tr>
              <a:tr h="329184">
                <a:tc>
                  <a:txBody>
                    <a:bodyPr wrap="square"/>
                    <a:lstStyle/>
                    <a:p>
                      <a:pPr algn="l">
                        <a:lnSpc>
                          <a:spcPct val="105000"/>
                        </a:lnSpc>
                        <a:spcAft>
                          <a:spcPts val="0"/>
                        </a:spcAft>
                      </a:pPr>
                      <a:r>
                        <a:rPr sz="1150" b="1" i="0">
                          <a:solidFill>
                            <a:srgbClr val="E8ECF2"/>
                          </a:solidFill>
                          <a:latin typeface="Calibri"/>
                        </a:rPr>
                        <a:t>The policy cannot be resolved</a:t>
                      </a:r>
                    </a:p>
                  </a:txBody>
                  <a:tcPr marL="91440" marR="91440" marT="45720" marB="45720" anchor="ctr">
                    <a:solidFill>
                      <a:srgbClr val="161C23"/>
                    </a:solidFill>
                  </a:tcPr>
                </a:tc>
                <a:tc>
                  <a:txBody>
                    <a:bodyPr wrap="square"/>
                    <a:lstStyle/>
                    <a:p>
                      <a:pPr algn="l">
                        <a:lnSpc>
                          <a:spcPct val="105000"/>
                        </a:lnSpc>
                        <a:spcAft>
                          <a:spcPts val="0"/>
                        </a:spcAft>
                      </a:pPr>
                      <a:r>
                        <a:rPr sz="1150" b="0" i="0">
                          <a:solidFill>
                            <a:srgbClr val="E8ECF2"/>
                          </a:solidFill>
                          <a:latin typeface="Calibri"/>
                        </a:rPr>
                        <a:t>Block · require manual approval</a:t>
                      </a:r>
                    </a:p>
                  </a:txBody>
                  <a:tcPr marL="91440" marR="91440" marT="45720" marB="45720" anchor="ctr">
                    <a:solidFill>
                      <a:srgbClr val="161C23"/>
                    </a:solidFill>
                  </a:tcPr>
                </a:tc>
              </a:tr>
              <a:tr h="329184">
                <a:tc>
                  <a:txBody>
                    <a:bodyPr wrap="square"/>
                    <a:lstStyle/>
                    <a:p>
                      <a:pPr algn="l">
                        <a:lnSpc>
                          <a:spcPct val="105000"/>
                        </a:lnSpc>
                        <a:spcAft>
                          <a:spcPts val="0"/>
                        </a:spcAft>
                      </a:pPr>
                      <a:r>
                        <a:rPr sz="1150" b="1" i="0">
                          <a:solidFill>
                            <a:srgbClr val="E8ECF2"/>
                          </a:solidFill>
                          <a:latin typeface="Calibri"/>
                        </a:rPr>
                        <a:t>The control plane is unavailable</a:t>
                      </a:r>
                    </a:p>
                  </a:txBody>
                  <a:tcPr marL="91440" marR="91440" marT="45720" marB="45720" anchor="ctr">
                    <a:solidFill>
                      <a:srgbClr val="12161B"/>
                    </a:solidFill>
                  </a:tcPr>
                </a:tc>
                <a:tc>
                  <a:txBody>
                    <a:bodyPr wrap="square"/>
                    <a:lstStyle/>
                    <a:p>
                      <a:pPr algn="l">
                        <a:lnSpc>
                          <a:spcPct val="105000"/>
                        </a:lnSpc>
                        <a:spcAft>
                          <a:spcPts val="0"/>
                        </a:spcAft>
                      </a:pPr>
                      <a:r>
                        <a:rPr sz="1150" b="0" i="0">
                          <a:solidFill>
                            <a:srgbClr val="E8ECF2"/>
                          </a:solidFill>
                          <a:latin typeface="Calibri"/>
                        </a:rPr>
                        <a:t>Continue on the cached policy · block</a:t>
                      </a:r>
                    </a:p>
                  </a:txBody>
                  <a:tcPr marL="91440" marR="91440" marT="45720" marB="45720" anchor="ctr">
                    <a:solidFill>
                      <a:srgbClr val="12161B"/>
                    </a:solidFill>
                  </a:tcPr>
                </a:tc>
              </a:tr>
              <a:tr h="420624">
                <a:tc>
                  <a:txBody>
                    <a:bodyPr wrap="square"/>
                    <a:lstStyle/>
                    <a:p>
                      <a:pPr algn="l">
                        <a:lnSpc>
                          <a:spcPct val="105000"/>
                        </a:lnSpc>
                        <a:spcAft>
                          <a:spcPts val="0"/>
                        </a:spcAft>
                      </a:pPr>
                      <a:r>
                        <a:rPr sz="1150" b="1" i="0">
                          <a:solidFill>
                            <a:srgbClr val="E8ECF2"/>
                          </a:solidFill>
                          <a:latin typeface="Calibri"/>
                        </a:rPr>
                        <a:t>Audit delivery fails</a:t>
                      </a:r>
                    </a:p>
                  </a:txBody>
                  <a:tcPr marL="91440" marR="91440" marT="45720" marB="45720" anchor="ctr">
                    <a:solidFill>
                      <a:srgbClr val="161C23"/>
                    </a:solidFill>
                  </a:tcPr>
                </a:tc>
                <a:tc>
                  <a:txBody>
                    <a:bodyPr wrap="square"/>
                    <a:lstStyle/>
                    <a:p>
                      <a:pPr algn="l">
                        <a:lnSpc>
                          <a:spcPct val="105000"/>
                        </a:lnSpc>
                        <a:spcAft>
                          <a:spcPts val="0"/>
                        </a:spcAft>
                      </a:pPr>
                      <a:r>
                        <a:rPr sz="1150" b="0" i="0">
                          <a:solidFill>
                            <a:srgbClr val="E8ECF2"/>
                          </a:solidFill>
                          <a:latin typeface="Calibri"/>
                        </a:rPr>
                        <a:t>Allow and log locally for later reconciliation · block, where audit is critical</a:t>
                      </a:r>
                    </a:p>
                  </a:txBody>
                  <a:tcPr marL="91440" marR="91440" marT="45720" marB="45720" anchor="ctr">
                    <a:solidFill>
                      <a:srgbClr val="161C23"/>
                    </a:solidFill>
                  </a:tcPr>
                </a:tc>
              </a:tr>
              <a:tr h="329184">
                <a:tc>
                  <a:txBody>
                    <a:bodyPr wrap="square"/>
                    <a:lstStyle/>
                    <a:p>
                      <a:pPr algn="l">
                        <a:lnSpc>
                          <a:spcPct val="105000"/>
                        </a:lnSpc>
                        <a:spcAft>
                          <a:spcPts val="0"/>
                        </a:spcAft>
                      </a:pPr>
                      <a:r>
                        <a:rPr sz="1150" b="1" i="0">
                          <a:solidFill>
                            <a:srgbClr val="E8ECF2"/>
                          </a:solidFill>
                          <a:latin typeface="Calibri"/>
                        </a:rPr>
                        <a:t>A response cannot be safely transformed</a:t>
                      </a:r>
                    </a:p>
                  </a:txBody>
                  <a:tcPr marL="91440" marR="91440" marT="45720" marB="45720" anchor="ctr">
                    <a:solidFill>
                      <a:srgbClr val="12161B"/>
                    </a:solidFill>
                  </a:tcPr>
                </a:tc>
                <a:tc>
                  <a:txBody>
                    <a:bodyPr wrap="square"/>
                    <a:lstStyle/>
                    <a:p>
                      <a:pPr algn="l">
                        <a:lnSpc>
                          <a:spcPct val="105000"/>
                        </a:lnSpc>
                        <a:spcAft>
                          <a:spcPts val="0"/>
                        </a:spcAft>
                      </a:pPr>
                      <a:r>
                        <a:rPr sz="1150" b="0" i="0">
                          <a:solidFill>
                            <a:srgbClr val="E8ECF2"/>
                          </a:solidFill>
                          <a:latin typeface="Calibri"/>
                        </a:rPr>
                        <a:t>Return a safe fallback · block</a:t>
                      </a:r>
                    </a:p>
                  </a:txBody>
                  <a:tcPr marL="91440" marR="91440" marT="45720" marB="45720" anchor="ctr">
                    <a:solidFill>
                      <a:srgbClr val="12161B"/>
                    </a:solidFill>
                  </a:tcPr>
                </a:tc>
              </a:tr>
            </a:tbl>
          </a:graphicData>
        </a:graphic>
      </p:graphicFrame>
      <p:sp>
        <p:nvSpPr>
          <p:cNvPr id="7" name="Rounded Rectangle 6"/>
          <p:cNvSpPr/>
          <p:nvPr/>
        </p:nvSpPr>
        <p:spPr>
          <a:xfrm>
            <a:off x="685800" y="4983480"/>
            <a:ext cx="10820095" cy="822960"/>
          </a:xfrm>
          <a:prstGeom prst="roundRect">
            <a:avLst>
              <a:gd name="adj" fmla="val 4000"/>
            </a:avLst>
          </a:prstGeom>
          <a:solidFill>
            <a:srgbClr val="161C23"/>
          </a:solidFill>
          <a:ln w="12700">
            <a:solidFill>
              <a:srgbClr val="5AA0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78408" y="5111496"/>
            <a:ext cx="10234879" cy="640080"/>
          </a:xfrm>
          <a:prstGeom prst="rect">
            <a:avLst/>
          </a:prstGeom>
          <a:noFill/>
        </p:spPr>
        <p:txBody>
          <a:bodyPr wrap="square" lIns="0" rIns="0" tIns="0" bIns="0" anchor="t">
            <a:spAutoFit/>
          </a:bodyPr>
          <a:lstStyle/>
          <a:p>
            <a:pPr algn="l">
              <a:lnSpc>
                <a:spcPct val="120000"/>
              </a:lnSpc>
              <a:spcAft>
                <a:spcPts val="0"/>
              </a:spcAft>
            </a:pPr>
            <a:r>
              <a:rPr sz="1250" b="0" i="0">
                <a:solidFill>
                  <a:srgbClr val="E8ECF2"/>
                </a:solidFill>
                <a:latin typeface="Calibri"/>
              </a:rPr>
              <a:t>A policy that omits any one of these fails validation and is never published. The runtime never chooses for you, and the audit record states which path was taken.</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12161B"/>
        </a:solidFill>
        <a:effectLst/>
      </p:bgPr>
    </p:bg>
    <p:spTree>
      <p:nvGrpSpPr>
        <p:cNvPr id="1" name=""/>
        <p:cNvGrpSpPr/>
        <p:nvPr/>
      </p:nvGrpSpPr>
      <p:grpSpPr/>
      <p:sp>
        <p:nvSpPr>
          <p:cNvPr id="2" name="TextBox 1"/>
          <p:cNvSpPr txBox="1"/>
          <p:nvPr/>
        </p:nvSpPr>
        <p:spPr>
          <a:xfrm>
            <a:off x="685800" y="420624"/>
            <a:ext cx="10820095" cy="658368"/>
          </a:xfrm>
          <a:prstGeom prst="rect">
            <a:avLst/>
          </a:prstGeom>
          <a:noFill/>
        </p:spPr>
        <p:txBody>
          <a:bodyPr wrap="square" lIns="0" rIns="0" tIns="0" bIns="0" anchor="t">
            <a:spAutoFit/>
          </a:bodyPr>
          <a:lstStyle/>
          <a:p>
            <a:pPr algn="l">
              <a:lnSpc>
                <a:spcPct val="115000"/>
              </a:lnSpc>
              <a:spcAft>
                <a:spcPts val="0"/>
              </a:spcAft>
            </a:pPr>
            <a:r>
              <a:rPr sz="3000" b="1" i="0">
                <a:solidFill>
                  <a:srgbClr val="E8ECF2"/>
                </a:solidFill>
                <a:latin typeface="Calibri"/>
              </a:rPr>
              <a:t>What this is — and isn't</a:t>
            </a:r>
          </a:p>
        </p:txBody>
      </p:sp>
      <p:sp>
        <p:nvSpPr>
          <p:cNvPr id="3" name="Rectangle 2"/>
          <p:cNvSpPr/>
          <p:nvPr/>
        </p:nvSpPr>
        <p:spPr>
          <a:xfrm>
            <a:off x="685800" y="1188720"/>
            <a:ext cx="1234440" cy="41148"/>
          </a:xfrm>
          <a:prstGeom prst="rect">
            <a:avLst/>
          </a:prstGeom>
          <a:solidFill>
            <a:srgbClr val="5AA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298448"/>
            <a:ext cx="10820095" cy="365760"/>
          </a:xfrm>
          <a:prstGeom prst="rect">
            <a:avLst/>
          </a:prstGeom>
          <a:noFill/>
        </p:spPr>
        <p:txBody>
          <a:bodyPr wrap="square" lIns="0" rIns="0" tIns="0" bIns="0" anchor="t">
            <a:spAutoFit/>
          </a:bodyPr>
          <a:lstStyle/>
          <a:p>
            <a:pPr algn="l">
              <a:lnSpc>
                <a:spcPct val="115000"/>
              </a:lnSpc>
              <a:spcAft>
                <a:spcPts val="0"/>
              </a:spcAft>
            </a:pPr>
            <a:r>
              <a:rPr sz="1350" b="0" i="0">
                <a:solidFill>
                  <a:srgbClr val="98A4B3"/>
                </a:solidFill>
                <a:latin typeface="Calibri"/>
              </a:rPr>
              <a:t>On the slide, not in an appendix.</a:t>
            </a:r>
          </a:p>
        </p:txBody>
      </p:sp>
      <p:sp>
        <p:nvSpPr>
          <p:cNvPr id="5" name="TextBox 4"/>
          <p:cNvSpPr txBox="1"/>
          <p:nvPr/>
        </p:nvSpPr>
        <p:spPr>
          <a:xfrm>
            <a:off x="685800" y="6217920"/>
            <a:ext cx="10820095" cy="292608"/>
          </a:xfrm>
          <a:prstGeom prst="rect">
            <a:avLst/>
          </a:prstGeom>
          <a:noFill/>
        </p:spPr>
        <p:txBody>
          <a:bodyPr wrap="square" lIns="0" rIns="0" tIns="0" bIns="0" anchor="t">
            <a:spAutoFit/>
          </a:bodyPr>
          <a:lstStyle/>
          <a:p>
            <a:pPr algn="l">
              <a:lnSpc>
                <a:spcPct val="115000"/>
              </a:lnSpc>
              <a:spcAft>
                <a:spcPts val="0"/>
              </a:spcAft>
            </a:pPr>
            <a:r>
              <a:rPr sz="900" b="0" i="0">
                <a:solidFill>
                  <a:srgbClr val="98A4B3"/>
                </a:solidFill>
                <a:latin typeface="Calibri"/>
              </a:rPr>
              <a:t>AI Guardrails · design intent and delivery plan — nothing built or piloted today</a:t>
            </a:r>
          </a:p>
        </p:txBody>
      </p:sp>
      <p:sp>
        <p:nvSpPr>
          <p:cNvPr id="6" name="Rounded Rectangle 5"/>
          <p:cNvSpPr/>
          <p:nvPr/>
        </p:nvSpPr>
        <p:spPr>
          <a:xfrm>
            <a:off x="685800" y="1828800"/>
            <a:ext cx="5440680" cy="3931920"/>
          </a:xfrm>
          <a:prstGeom prst="roundRect">
            <a:avLst>
              <a:gd name="adj" fmla="val 4000"/>
            </a:avLst>
          </a:prstGeom>
          <a:solidFill>
            <a:srgbClr val="161C23"/>
          </a:solidFill>
          <a:ln w="12700">
            <a:solidFill>
              <a:srgbClr val="2E39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85800" y="1828800"/>
            <a:ext cx="5440680" cy="502920"/>
          </a:xfrm>
          <a:prstGeom prst="roundRect">
            <a:avLst>
              <a:gd name="adj" fmla="val 8000"/>
            </a:avLst>
          </a:prstGeom>
          <a:solidFill>
            <a:srgbClr val="2B4A69"/>
          </a:solidFill>
          <a:ln w="12700">
            <a:solidFill>
              <a:srgbClr val="5AA0E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lnSpc>
                <a:spcPct val="115000"/>
              </a:lnSpc>
              <a:spcAft>
                <a:spcPts val="200"/>
              </a:spcAft>
            </a:pPr>
            <a:r>
              <a:rPr sz="1250" b="1" i="0">
                <a:solidFill>
                  <a:srgbClr val="E8ECF2"/>
                </a:solidFill>
                <a:latin typeface="Calibri"/>
              </a:rPr>
              <a:t>WHAT IT IS</a:t>
            </a:r>
          </a:p>
        </p:txBody>
      </p:sp>
      <p:sp>
        <p:nvSpPr>
          <p:cNvPr id="8" name="Rectangle 7"/>
          <p:cNvSpPr/>
          <p:nvPr/>
        </p:nvSpPr>
        <p:spPr>
          <a:xfrm>
            <a:off x="941832" y="2683764"/>
            <a:ext cx="77724" cy="77724"/>
          </a:xfrm>
          <a:prstGeom prst="rect">
            <a:avLst/>
          </a:prstGeom>
          <a:solidFill>
            <a:srgbClr val="4FB47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216152" y="2606040"/>
            <a:ext cx="4709160" cy="365760"/>
          </a:xfrm>
          <a:prstGeom prst="rect">
            <a:avLst/>
          </a:prstGeom>
          <a:noFill/>
        </p:spPr>
        <p:txBody>
          <a:bodyPr wrap="square" lIns="0" rIns="0" tIns="0" bIns="0" anchor="t">
            <a:spAutoFit/>
          </a:bodyPr>
          <a:lstStyle/>
          <a:p>
            <a:pPr algn="l">
              <a:lnSpc>
                <a:spcPct val="115000"/>
              </a:lnSpc>
              <a:spcAft>
                <a:spcPts val="100"/>
              </a:spcAft>
            </a:pPr>
            <a:r>
              <a:rPr sz="1250" b="0" i="0">
                <a:solidFill>
                  <a:srgbClr val="E8ECF2"/>
                </a:solidFill>
                <a:latin typeface="Calibri"/>
              </a:rPr>
              <a:t>Content evaluation of prompts and responses against configured policies</a:t>
            </a:r>
          </a:p>
        </p:txBody>
      </p:sp>
      <p:sp>
        <p:nvSpPr>
          <p:cNvPr id="10" name="Rectangle 9"/>
          <p:cNvSpPr/>
          <p:nvPr/>
        </p:nvSpPr>
        <p:spPr>
          <a:xfrm>
            <a:off x="941832" y="3323844"/>
            <a:ext cx="77724" cy="77724"/>
          </a:xfrm>
          <a:prstGeom prst="rect">
            <a:avLst/>
          </a:prstGeom>
          <a:solidFill>
            <a:srgbClr val="4FB47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216152" y="3246120"/>
            <a:ext cx="4709160" cy="365760"/>
          </a:xfrm>
          <a:prstGeom prst="rect">
            <a:avLst/>
          </a:prstGeom>
          <a:noFill/>
        </p:spPr>
        <p:txBody>
          <a:bodyPr wrap="square" lIns="0" rIns="0" tIns="0" bIns="0" anchor="t">
            <a:spAutoFit/>
          </a:bodyPr>
          <a:lstStyle/>
          <a:p>
            <a:pPr algn="l">
              <a:lnSpc>
                <a:spcPct val="115000"/>
              </a:lnSpc>
              <a:spcAft>
                <a:spcPts val="100"/>
              </a:spcAft>
            </a:pPr>
            <a:r>
              <a:rPr sz="1250" b="0" i="0">
                <a:solidFill>
                  <a:srgbClr val="E8ECF2"/>
                </a:solidFill>
                <a:latin typeface="Calibri"/>
              </a:rPr>
              <a:t>Enforcement actions — allow, block, redact, log only — applied per binding</a:t>
            </a:r>
          </a:p>
        </p:txBody>
      </p:sp>
      <p:sp>
        <p:nvSpPr>
          <p:cNvPr id="12" name="Rectangle 11"/>
          <p:cNvSpPr/>
          <p:nvPr/>
        </p:nvSpPr>
        <p:spPr>
          <a:xfrm>
            <a:off x="941832" y="3963924"/>
            <a:ext cx="77724" cy="77724"/>
          </a:xfrm>
          <a:prstGeom prst="rect">
            <a:avLst/>
          </a:prstGeom>
          <a:solidFill>
            <a:srgbClr val="4FB47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216152" y="3886200"/>
            <a:ext cx="4709160" cy="365760"/>
          </a:xfrm>
          <a:prstGeom prst="rect">
            <a:avLst/>
          </a:prstGeom>
          <a:noFill/>
        </p:spPr>
        <p:txBody>
          <a:bodyPr wrap="square" lIns="0" rIns="0" tIns="0" bIns="0" anchor="t">
            <a:spAutoFit/>
          </a:bodyPr>
          <a:lstStyle/>
          <a:p>
            <a:pPr algn="l">
              <a:lnSpc>
                <a:spcPct val="115000"/>
              </a:lnSpc>
              <a:spcAft>
                <a:spcPts val="100"/>
              </a:spcAft>
            </a:pPr>
            <a:r>
              <a:rPr sz="1250" b="0" i="0">
                <a:solidFill>
                  <a:srgbClr val="E8ECF2"/>
                </a:solidFill>
                <a:latin typeface="Calibri"/>
              </a:rPr>
              <a:t>Policy versioning, bindings, and audit evidence across teams and gateways</a:t>
            </a:r>
          </a:p>
        </p:txBody>
      </p:sp>
      <p:sp>
        <p:nvSpPr>
          <p:cNvPr id="14" name="Rectangle 13"/>
          <p:cNvSpPr/>
          <p:nvPr/>
        </p:nvSpPr>
        <p:spPr>
          <a:xfrm>
            <a:off x="941832" y="4604004"/>
            <a:ext cx="77724" cy="77724"/>
          </a:xfrm>
          <a:prstGeom prst="rect">
            <a:avLst/>
          </a:prstGeom>
          <a:solidFill>
            <a:srgbClr val="4FB47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216152" y="4526280"/>
            <a:ext cx="4709160" cy="365760"/>
          </a:xfrm>
          <a:prstGeom prst="rect">
            <a:avLst/>
          </a:prstGeom>
          <a:noFill/>
        </p:spPr>
        <p:txBody>
          <a:bodyPr wrap="square" lIns="0" rIns="0" tIns="0" bIns="0" anchor="t">
            <a:spAutoFit/>
          </a:bodyPr>
          <a:lstStyle/>
          <a:p>
            <a:pPr algn="l">
              <a:lnSpc>
                <a:spcPct val="115000"/>
              </a:lnSpc>
              <a:spcAft>
                <a:spcPts val="100"/>
              </a:spcAft>
            </a:pPr>
            <a:r>
              <a:rPr sz="1250" b="0" i="0">
                <a:solidFill>
                  <a:srgbClr val="E8ECF2"/>
                </a:solidFill>
                <a:latin typeface="Calibri"/>
              </a:rPr>
              <a:t>One evaluation contract, hosted or customer-managed</a:t>
            </a:r>
          </a:p>
        </p:txBody>
      </p:sp>
      <p:sp>
        <p:nvSpPr>
          <p:cNvPr id="16" name="Rounded Rectangle 15"/>
          <p:cNvSpPr/>
          <p:nvPr/>
        </p:nvSpPr>
        <p:spPr>
          <a:xfrm>
            <a:off x="6519672" y="1828800"/>
            <a:ext cx="4983480" cy="3931920"/>
          </a:xfrm>
          <a:prstGeom prst="roundRect">
            <a:avLst>
              <a:gd name="adj" fmla="val 4000"/>
            </a:avLst>
          </a:prstGeom>
          <a:solidFill>
            <a:srgbClr val="161C23"/>
          </a:solidFill>
          <a:ln w="12700">
            <a:solidFill>
              <a:srgbClr val="2E39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519672" y="1828800"/>
            <a:ext cx="4983480" cy="502920"/>
          </a:xfrm>
          <a:prstGeom prst="roundRect">
            <a:avLst>
              <a:gd name="adj" fmla="val 8000"/>
            </a:avLst>
          </a:prstGeom>
          <a:solidFill>
            <a:srgbClr val="1D242C"/>
          </a:solidFill>
          <a:ln w="12700">
            <a:solidFill>
              <a:srgbClr val="E06C5F"/>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lnSpc>
                <a:spcPct val="115000"/>
              </a:lnSpc>
              <a:spcAft>
                <a:spcPts val="200"/>
              </a:spcAft>
            </a:pPr>
            <a:r>
              <a:rPr sz="1250" b="1" i="0">
                <a:solidFill>
                  <a:srgbClr val="E8ECF2"/>
                </a:solidFill>
                <a:latin typeface="Calibri"/>
              </a:rPr>
              <a:t>WHAT IT IS NOT</a:t>
            </a:r>
          </a:p>
        </p:txBody>
      </p:sp>
      <p:sp>
        <p:nvSpPr>
          <p:cNvPr id="18" name="Rectangle 17"/>
          <p:cNvSpPr/>
          <p:nvPr/>
        </p:nvSpPr>
        <p:spPr>
          <a:xfrm>
            <a:off x="6775704" y="2638044"/>
            <a:ext cx="77724" cy="77724"/>
          </a:xfrm>
          <a:prstGeom prst="rect">
            <a:avLst/>
          </a:prstGeom>
          <a:solidFill>
            <a:srgbClr val="E06C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050024" y="2560320"/>
            <a:ext cx="4251960" cy="365760"/>
          </a:xfrm>
          <a:prstGeom prst="rect">
            <a:avLst/>
          </a:prstGeom>
          <a:noFill/>
        </p:spPr>
        <p:txBody>
          <a:bodyPr wrap="square" lIns="0" rIns="0" tIns="0" bIns="0" anchor="t">
            <a:spAutoFit/>
          </a:bodyPr>
          <a:lstStyle/>
          <a:p>
            <a:pPr algn="l">
              <a:lnSpc>
                <a:spcPct val="115000"/>
              </a:lnSpc>
              <a:spcAft>
                <a:spcPts val="100"/>
              </a:spcAft>
            </a:pPr>
            <a:r>
              <a:rPr sz="1250" b="1" i="0">
                <a:solidFill>
                  <a:srgbClr val="E8ECF2"/>
                </a:solidFill>
                <a:latin typeface="Calibri"/>
              </a:rPr>
              <a:t>Not authorization</a:t>
            </a:r>
          </a:p>
          <a:p>
            <a:pPr algn="l">
              <a:lnSpc>
                <a:spcPct val="115000"/>
              </a:lnSpc>
              <a:spcAft>
                <a:spcPts val="0"/>
              </a:spcAft>
            </a:pPr>
            <a:r>
              <a:rPr sz="1050" b="0" i="0">
                <a:solidFill>
                  <a:srgbClr val="98A4B3"/>
                </a:solidFill>
                <a:latin typeface="Calibri"/>
              </a:rPr>
              <a:t>A decision that content appears safe says nothing about whether this user may perform this action. Authentication, business authorization, and approval workflows stay with your application.</a:t>
            </a:r>
          </a:p>
        </p:txBody>
      </p:sp>
      <p:sp>
        <p:nvSpPr>
          <p:cNvPr id="20" name="Rectangle 19"/>
          <p:cNvSpPr/>
          <p:nvPr/>
        </p:nvSpPr>
        <p:spPr>
          <a:xfrm>
            <a:off x="6775704" y="3424427"/>
            <a:ext cx="77724" cy="77724"/>
          </a:xfrm>
          <a:prstGeom prst="rect">
            <a:avLst/>
          </a:prstGeom>
          <a:solidFill>
            <a:srgbClr val="E06C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050024" y="3346703"/>
            <a:ext cx="4251960" cy="365760"/>
          </a:xfrm>
          <a:prstGeom prst="rect">
            <a:avLst/>
          </a:prstGeom>
          <a:noFill/>
        </p:spPr>
        <p:txBody>
          <a:bodyPr wrap="square" lIns="0" rIns="0" tIns="0" bIns="0" anchor="t">
            <a:spAutoFit/>
          </a:bodyPr>
          <a:lstStyle/>
          <a:p>
            <a:pPr algn="l">
              <a:lnSpc>
                <a:spcPct val="115000"/>
              </a:lnSpc>
              <a:spcAft>
                <a:spcPts val="100"/>
              </a:spcAft>
            </a:pPr>
            <a:r>
              <a:rPr sz="1250" b="1" i="0">
                <a:solidFill>
                  <a:srgbClr val="E8ECF2"/>
                </a:solidFill>
                <a:latin typeface="Calibri"/>
              </a:rPr>
              <a:t>Not a bypass-proof boundary in cooperative mode</a:t>
            </a:r>
          </a:p>
          <a:p>
            <a:pPr algn="l">
              <a:lnSpc>
                <a:spcPct val="115000"/>
              </a:lnSpc>
              <a:spcAft>
                <a:spcPts val="0"/>
              </a:spcAft>
            </a:pPr>
            <a:r>
              <a:rPr sz="1050" b="0" i="0">
                <a:solidFill>
                  <a:srgbClr val="98A4B3"/>
                </a:solidFill>
                <a:latin typeface="Calibri"/>
              </a:rPr>
              <a:t>A connector a team installs itself can be disabled, removed, or misconfigured.</a:t>
            </a:r>
          </a:p>
        </p:txBody>
      </p:sp>
      <p:sp>
        <p:nvSpPr>
          <p:cNvPr id="22" name="Rectangle 21"/>
          <p:cNvSpPr/>
          <p:nvPr/>
        </p:nvSpPr>
        <p:spPr>
          <a:xfrm>
            <a:off x="6775704" y="4210812"/>
            <a:ext cx="77724" cy="77724"/>
          </a:xfrm>
          <a:prstGeom prst="rect">
            <a:avLst/>
          </a:prstGeom>
          <a:solidFill>
            <a:srgbClr val="E06C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050024" y="4133087"/>
            <a:ext cx="4251960" cy="365760"/>
          </a:xfrm>
          <a:prstGeom prst="rect">
            <a:avLst/>
          </a:prstGeom>
          <a:noFill/>
        </p:spPr>
        <p:txBody>
          <a:bodyPr wrap="square" lIns="0" rIns="0" tIns="0" bIns="0" anchor="t">
            <a:spAutoFit/>
          </a:bodyPr>
          <a:lstStyle/>
          <a:p>
            <a:pPr algn="l">
              <a:lnSpc>
                <a:spcPct val="115000"/>
              </a:lnSpc>
              <a:spcAft>
                <a:spcPts val="100"/>
              </a:spcAft>
            </a:pPr>
            <a:r>
              <a:rPr sz="1250" b="1" i="0">
                <a:solidFill>
                  <a:srgbClr val="E8ECF2"/>
                </a:solidFill>
                <a:latin typeface="Calibri"/>
              </a:rPr>
              <a:t>Not cross-cloud</a:t>
            </a:r>
          </a:p>
          <a:p>
            <a:pPr algn="l">
              <a:lnSpc>
                <a:spcPct val="115000"/>
              </a:lnSpc>
              <a:spcAft>
                <a:spcPts val="0"/>
              </a:spcAft>
            </a:pPr>
            <a:r>
              <a:rPr sz="1050" b="0" i="0">
                <a:solidFill>
                  <a:srgbClr val="98A4B3"/>
                </a:solidFill>
                <a:latin typeface="Calibri"/>
              </a:rPr>
              <a:t>AWS is the primary and initial cloud. The policy contract is cloud-independent; the hosted runtime is not.</a:t>
            </a:r>
          </a:p>
        </p:txBody>
      </p:sp>
      <p:sp>
        <p:nvSpPr>
          <p:cNvPr id="24" name="Rectangle 23"/>
          <p:cNvSpPr/>
          <p:nvPr/>
        </p:nvSpPr>
        <p:spPr>
          <a:xfrm>
            <a:off x="6775704" y="4997196"/>
            <a:ext cx="77724" cy="77724"/>
          </a:xfrm>
          <a:prstGeom prst="rect">
            <a:avLst/>
          </a:prstGeom>
          <a:solidFill>
            <a:srgbClr val="E06C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050024" y="4919472"/>
            <a:ext cx="4251960" cy="365760"/>
          </a:xfrm>
          <a:prstGeom prst="rect">
            <a:avLst/>
          </a:prstGeom>
          <a:noFill/>
        </p:spPr>
        <p:txBody>
          <a:bodyPr wrap="square" lIns="0" rIns="0" tIns="0" bIns="0" anchor="t">
            <a:spAutoFit/>
          </a:bodyPr>
          <a:lstStyle/>
          <a:p>
            <a:pPr algn="l">
              <a:lnSpc>
                <a:spcPct val="115000"/>
              </a:lnSpc>
              <a:spcAft>
                <a:spcPts val="100"/>
              </a:spcAft>
            </a:pPr>
            <a:r>
              <a:rPr sz="1250" b="1" i="0">
                <a:solidFill>
                  <a:srgbClr val="E8ECF2"/>
                </a:solidFill>
                <a:latin typeface="Calibri"/>
              </a:rPr>
              <a:t>Not a complete AI-governance or DLP platform</a:t>
            </a:r>
          </a:p>
          <a:p>
            <a:pPr algn="l">
              <a:lnSpc>
                <a:spcPct val="115000"/>
              </a:lnSpc>
              <a:spcAft>
                <a:spcPts val="0"/>
              </a:spcAft>
            </a:pPr>
            <a:r>
              <a:rPr sz="1050" b="0" i="0">
                <a:solidFill>
                  <a:srgbClr val="98A4B3"/>
                </a:solidFill>
                <a:latin typeface="Calibri"/>
              </a:rPr>
              <a:t>Also excluded: gateway replacement, a proprietary moderation model, general MCP security, compliance certification.</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12161B"/>
        </a:solidFill>
        <a:effectLst/>
      </p:bgPr>
    </p:bg>
    <p:spTree>
      <p:nvGrpSpPr>
        <p:cNvPr id="1" name=""/>
        <p:cNvGrpSpPr/>
        <p:nvPr/>
      </p:nvGrpSpPr>
      <p:grpSpPr/>
      <p:sp>
        <p:nvSpPr>
          <p:cNvPr id="2" name="TextBox 1"/>
          <p:cNvSpPr txBox="1"/>
          <p:nvPr/>
        </p:nvSpPr>
        <p:spPr>
          <a:xfrm>
            <a:off x="685800" y="420624"/>
            <a:ext cx="10820095" cy="658368"/>
          </a:xfrm>
          <a:prstGeom prst="rect">
            <a:avLst/>
          </a:prstGeom>
          <a:noFill/>
        </p:spPr>
        <p:txBody>
          <a:bodyPr wrap="square" lIns="0" rIns="0" tIns="0" bIns="0" anchor="t">
            <a:spAutoFit/>
          </a:bodyPr>
          <a:lstStyle/>
          <a:p>
            <a:pPr algn="l">
              <a:lnSpc>
                <a:spcPct val="115000"/>
              </a:lnSpc>
              <a:spcAft>
                <a:spcPts val="0"/>
              </a:spcAft>
            </a:pPr>
            <a:r>
              <a:rPr sz="3000" b="1" i="0">
                <a:solidFill>
                  <a:srgbClr val="E8ECF2"/>
                </a:solidFill>
                <a:latin typeface="Calibri"/>
              </a:rPr>
              <a:t>Who owns what</a:t>
            </a:r>
          </a:p>
        </p:txBody>
      </p:sp>
      <p:sp>
        <p:nvSpPr>
          <p:cNvPr id="3" name="Rectangle 2"/>
          <p:cNvSpPr/>
          <p:nvPr/>
        </p:nvSpPr>
        <p:spPr>
          <a:xfrm>
            <a:off x="685800" y="1188720"/>
            <a:ext cx="1234440" cy="41148"/>
          </a:xfrm>
          <a:prstGeom prst="rect">
            <a:avLst/>
          </a:prstGeom>
          <a:solidFill>
            <a:srgbClr val="5AA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298448"/>
            <a:ext cx="10820095" cy="365760"/>
          </a:xfrm>
          <a:prstGeom prst="rect">
            <a:avLst/>
          </a:prstGeom>
          <a:noFill/>
        </p:spPr>
        <p:txBody>
          <a:bodyPr wrap="square" lIns="0" rIns="0" tIns="0" bIns="0" anchor="t">
            <a:spAutoFit/>
          </a:bodyPr>
          <a:lstStyle/>
          <a:p>
            <a:pPr algn="l">
              <a:lnSpc>
                <a:spcPct val="115000"/>
              </a:lnSpc>
              <a:spcAft>
                <a:spcPts val="0"/>
              </a:spcAft>
            </a:pPr>
            <a:r>
              <a:rPr sz="1350" b="0" i="0">
                <a:solidFill>
                  <a:srgbClr val="98A4B3"/>
                </a:solidFill>
                <a:latin typeface="Calibri"/>
              </a:rPr>
              <a:t>Including the parts that land on your side of the line.</a:t>
            </a:r>
          </a:p>
        </p:txBody>
      </p:sp>
      <p:sp>
        <p:nvSpPr>
          <p:cNvPr id="5" name="TextBox 4"/>
          <p:cNvSpPr txBox="1"/>
          <p:nvPr/>
        </p:nvSpPr>
        <p:spPr>
          <a:xfrm>
            <a:off x="685800" y="6217920"/>
            <a:ext cx="10820095" cy="292608"/>
          </a:xfrm>
          <a:prstGeom prst="rect">
            <a:avLst/>
          </a:prstGeom>
          <a:noFill/>
        </p:spPr>
        <p:txBody>
          <a:bodyPr wrap="square" lIns="0" rIns="0" tIns="0" bIns="0" anchor="t">
            <a:spAutoFit/>
          </a:bodyPr>
          <a:lstStyle/>
          <a:p>
            <a:pPr algn="l">
              <a:lnSpc>
                <a:spcPct val="115000"/>
              </a:lnSpc>
              <a:spcAft>
                <a:spcPts val="0"/>
              </a:spcAft>
            </a:pPr>
            <a:r>
              <a:rPr sz="900" b="0" i="0">
                <a:solidFill>
                  <a:srgbClr val="98A4B3"/>
                </a:solidFill>
                <a:latin typeface="Calibri"/>
              </a:rPr>
              <a:t>AI Guardrails · design intent and delivery plan — nothing built or piloted today</a:t>
            </a:r>
          </a:p>
        </p:txBody>
      </p:sp>
      <p:graphicFrame>
        <p:nvGraphicFramePr>
          <p:cNvPr id="6" name="Table 5"/>
          <p:cNvGraphicFramePr>
            <a:graphicFrameLocks noGrp="1"/>
          </p:cNvGraphicFramePr>
          <p:nvPr/>
        </p:nvGraphicFramePr>
        <p:xfrm>
          <a:off x="685800" y="1828800"/>
          <a:ext cx="10820094" cy="3300984"/>
        </p:xfrm>
        <a:graphic>
          <a:graphicData uri="http://schemas.openxmlformats.org/drawingml/2006/table">
            <a:tbl>
              <a:tblPr firstRow="1">
                <a:tableStyleId>{5C22544A-7EE6-4342-B048-85BDC9FD1C3A}</a:tableStyleId>
              </a:tblPr>
              <a:tblGrid>
                <a:gridCol w="2596822"/>
                <a:gridCol w="8223272"/>
              </a:tblGrid>
              <a:tr h="384048">
                <a:tc>
                  <a:txBody>
                    <a:bodyPr wrap="square"/>
                    <a:lstStyle/>
                    <a:p>
                      <a:pPr algn="l">
                        <a:lnSpc>
                          <a:spcPct val="105000"/>
                        </a:lnSpc>
                        <a:spcAft>
                          <a:spcPts val="0"/>
                        </a:spcAft>
                      </a:pPr>
                      <a:r>
                        <a:rPr sz="1100" b="1" i="0">
                          <a:solidFill>
                            <a:srgbClr val="5AA0E0"/>
                          </a:solidFill>
                          <a:latin typeface="Calibri"/>
                        </a:rPr>
                        <a:t>Group</a:t>
                      </a:r>
                    </a:p>
                  </a:txBody>
                  <a:tcPr marL="91440" marR="91440" marT="45720" marB="45720" anchor="ctr">
                    <a:solidFill>
                      <a:srgbClr val="1D242C"/>
                    </a:solidFill>
                  </a:tcPr>
                </a:tc>
                <a:tc>
                  <a:txBody>
                    <a:bodyPr wrap="square"/>
                    <a:lstStyle/>
                    <a:p>
                      <a:pPr algn="l">
                        <a:lnSpc>
                          <a:spcPct val="105000"/>
                        </a:lnSpc>
                        <a:spcAft>
                          <a:spcPts val="0"/>
                        </a:spcAft>
                      </a:pPr>
                      <a:r>
                        <a:rPr sz="1100" b="1" i="0">
                          <a:solidFill>
                            <a:srgbClr val="5AA0E0"/>
                          </a:solidFill>
                          <a:latin typeface="Calibri"/>
                        </a:rPr>
                        <a:t>What they own</a:t>
                      </a:r>
                    </a:p>
                  </a:txBody>
                  <a:tcPr marL="91440" marR="91440" marT="45720" marB="45720" anchor="ctr">
                    <a:solidFill>
                      <a:srgbClr val="1D242C"/>
                    </a:solidFill>
                  </a:tcPr>
                </a:tc>
              </a:tr>
              <a:tr h="777240">
                <a:tc>
                  <a:txBody>
                    <a:bodyPr wrap="square"/>
                    <a:lstStyle/>
                    <a:p>
                      <a:pPr algn="l">
                        <a:lnSpc>
                          <a:spcPct val="105000"/>
                        </a:lnSpc>
                        <a:spcAft>
                          <a:spcPts val="0"/>
                        </a:spcAft>
                      </a:pPr>
                      <a:r>
                        <a:rPr sz="1200" b="1" i="0">
                          <a:solidFill>
                            <a:srgbClr val="E8ECF2"/>
                          </a:solidFill>
                          <a:latin typeface="Calibri"/>
                        </a:rPr>
                        <a:t>AI Guardrails team</a:t>
                      </a:r>
                    </a:p>
                  </a:txBody>
                  <a:tcPr marL="91440" marR="91440" marT="45720" marB="45720" anchor="ctr">
                    <a:solidFill>
                      <a:srgbClr val="161C23"/>
                    </a:solidFill>
                  </a:tcPr>
                </a:tc>
                <a:tc>
                  <a:txBody>
                    <a:bodyPr wrap="square"/>
                    <a:lstStyle/>
                    <a:p>
                      <a:pPr algn="l">
                        <a:lnSpc>
                          <a:spcPct val="105000"/>
                        </a:lnSpc>
                        <a:spcAft>
                          <a:spcPts val="0"/>
                        </a:spcAft>
                      </a:pPr>
                      <a:r>
                        <a:rPr sz="1200" b="0" i="0">
                          <a:solidFill>
                            <a:srgbClr val="E8ECF2"/>
                          </a:solidFill>
                          <a:latin typeface="Calibri"/>
                        </a:rPr>
                        <a:t>Product architecture, policy schemas, the evaluation contract, the guardrail runtime, the LiteLLM connector, Bedrock integration, compatibility, deployment artifacts, and documentation.</a:t>
                      </a:r>
                    </a:p>
                  </a:txBody>
                  <a:tcPr marL="91440" marR="91440" marT="45720" marB="45720" anchor="ctr">
                    <a:solidFill>
                      <a:srgbClr val="161C23"/>
                    </a:solidFill>
                  </a:tcPr>
                </a:tc>
              </a:tr>
              <a:tr h="658368">
                <a:tc>
                  <a:txBody>
                    <a:bodyPr wrap="square"/>
                    <a:lstStyle/>
                    <a:p>
                      <a:pPr algn="l">
                        <a:lnSpc>
                          <a:spcPct val="105000"/>
                        </a:lnSpc>
                        <a:spcAft>
                          <a:spcPts val="0"/>
                        </a:spcAft>
                      </a:pPr>
                      <a:r>
                        <a:rPr sz="1200" b="1" i="0">
                          <a:solidFill>
                            <a:srgbClr val="E8ECF2"/>
                          </a:solidFill>
                          <a:latin typeface="Calibri"/>
                        </a:rPr>
                        <a:t>Platform operations</a:t>
                      </a:r>
                    </a:p>
                  </a:txBody>
                  <a:tcPr marL="91440" marR="91440" marT="45720" marB="45720" anchor="ctr">
                    <a:solidFill>
                      <a:srgbClr val="12161B"/>
                    </a:solidFill>
                  </a:tcPr>
                </a:tc>
                <a:tc>
                  <a:txBody>
                    <a:bodyPr wrap="square"/>
                    <a:lstStyle/>
                    <a:p>
                      <a:pPr algn="l">
                        <a:lnSpc>
                          <a:spcPct val="105000"/>
                        </a:lnSpc>
                        <a:spcAft>
                          <a:spcPts val="0"/>
                        </a:spcAft>
                      </a:pPr>
                      <a:r>
                        <a:rPr sz="1200" b="0" i="0">
                          <a:solidFill>
                            <a:srgbClr val="E8ECF2"/>
                          </a:solidFill>
                          <a:latin typeface="Calibri"/>
                        </a:rPr>
                        <a:t>The provider's own hosted infrastructure day to day — deployment, monitoring, capacity, networking, and production incident response.</a:t>
                      </a:r>
                    </a:p>
                  </a:txBody>
                  <a:tcPr marL="91440" marR="91440" marT="45720" marB="45720" anchor="ctr">
                    <a:solidFill>
                      <a:srgbClr val="12161B"/>
                    </a:solidFill>
                  </a:tcPr>
                </a:tc>
              </a:tr>
              <a:tr h="658368">
                <a:tc>
                  <a:txBody>
                    <a:bodyPr wrap="square"/>
                    <a:lstStyle/>
                    <a:p>
                      <a:pPr algn="l">
                        <a:lnSpc>
                          <a:spcPct val="105000"/>
                        </a:lnSpc>
                        <a:spcAft>
                          <a:spcPts val="0"/>
                        </a:spcAft>
                      </a:pPr>
                      <a:r>
                        <a:rPr sz="1200" b="1" i="0">
                          <a:solidFill>
                            <a:srgbClr val="E8ECF2"/>
                          </a:solidFill>
                          <a:latin typeface="Calibri"/>
                        </a:rPr>
                        <a:t>Security and governance</a:t>
                      </a:r>
                    </a:p>
                  </a:txBody>
                  <a:tcPr marL="91440" marR="91440" marT="45720" marB="45720" anchor="ctr">
                    <a:solidFill>
                      <a:srgbClr val="161C23"/>
                    </a:solidFill>
                  </a:tcPr>
                </a:tc>
                <a:tc>
                  <a:txBody>
                    <a:bodyPr wrap="square"/>
                    <a:lstStyle/>
                    <a:p>
                      <a:pPr algn="l">
                        <a:lnSpc>
                          <a:spcPct val="105000"/>
                        </a:lnSpc>
                        <a:spcAft>
                          <a:spcPts val="0"/>
                        </a:spcAft>
                      </a:pPr>
                      <a:r>
                        <a:rPr sz="1200" b="0" i="0">
                          <a:solidFill>
                            <a:srgbClr val="E8ECF2"/>
                          </a:solidFill>
                          <a:latin typeface="Calibri"/>
                        </a:rPr>
                        <a:t>Organization-level policy requirements, risk classification, policy approval, exception criteria, retention and audit rules.</a:t>
                      </a:r>
                    </a:p>
                  </a:txBody>
                  <a:tcPr marL="91440" marR="91440" marT="45720" marB="45720" anchor="ctr">
                    <a:solidFill>
                      <a:srgbClr val="161C23"/>
                    </a:solidFill>
                  </a:tcPr>
                </a:tc>
              </a:tr>
              <a:tr h="822960">
                <a:tc>
                  <a:txBody>
                    <a:bodyPr wrap="square"/>
                    <a:lstStyle/>
                    <a:p>
                      <a:pPr algn="l">
                        <a:lnSpc>
                          <a:spcPct val="105000"/>
                        </a:lnSpc>
                        <a:spcAft>
                          <a:spcPts val="0"/>
                        </a:spcAft>
                      </a:pPr>
                      <a:r>
                        <a:rPr sz="1200" b="1" i="0">
                          <a:solidFill>
                            <a:srgbClr val="E8ECF2"/>
                          </a:solidFill>
                          <a:latin typeface="Calibri"/>
                        </a:rPr>
                        <a:t>Consuming teams</a:t>
                      </a:r>
                    </a:p>
                  </a:txBody>
                  <a:tcPr marL="91440" marR="91440" marT="45720" marB="45720" anchor="ctr">
                    <a:solidFill>
                      <a:srgbClr val="12161B"/>
                    </a:solidFill>
                  </a:tcPr>
                </a:tc>
                <a:tc>
                  <a:txBody>
                    <a:bodyPr wrap="square"/>
                    <a:lstStyle/>
                    <a:p>
                      <a:pPr algn="l">
                        <a:lnSpc>
                          <a:spcPct val="105000"/>
                        </a:lnSpc>
                        <a:spcAft>
                          <a:spcPts val="0"/>
                        </a:spcAft>
                      </a:pPr>
                      <a:r>
                        <a:rPr sz="1200" b="0" i="0">
                          <a:solidFill>
                            <a:srgbClr val="E8ECF2"/>
                          </a:solidFill>
                          <a:latin typeface="Calibri"/>
                        </a:rPr>
                        <a:t>Application behaviour, connector installation in cooperative mode, workload registration accuracy, end-user authentication and business authorization, and review of observe-mode findings before accepting enforcement.</a:t>
                      </a:r>
                    </a:p>
                  </a:txBody>
                  <a:tcPr marL="91440" marR="91440" marT="45720" marB="45720" anchor="ctr">
                    <a:solidFill>
                      <a:srgbClr val="12161B"/>
                    </a:solidFill>
                  </a:tcPr>
                </a:tc>
              </a:tr>
            </a:tbl>
          </a:graphicData>
        </a:graphic>
      </p:graphicFrame>
      <p:sp>
        <p:nvSpPr>
          <p:cNvPr id="7" name="TextBox 6"/>
          <p:cNvSpPr txBox="1"/>
          <p:nvPr/>
        </p:nvSpPr>
        <p:spPr>
          <a:xfrm>
            <a:off x="685800" y="5742432"/>
            <a:ext cx="10820095" cy="457200"/>
          </a:xfrm>
          <a:prstGeom prst="rect">
            <a:avLst/>
          </a:prstGeom>
          <a:noFill/>
        </p:spPr>
        <p:txBody>
          <a:bodyPr wrap="square" lIns="0" rIns="0" tIns="0" bIns="0" anchor="t">
            <a:spAutoFit/>
          </a:bodyPr>
          <a:lstStyle/>
          <a:p>
            <a:pPr algn="l">
              <a:lnSpc>
                <a:spcPct val="115000"/>
              </a:lnSpc>
              <a:spcAft>
                <a:spcPts val="0"/>
              </a:spcAft>
            </a:pPr>
            <a:r>
              <a:rPr sz="1150" b="0" i="0">
                <a:solidFill>
                  <a:srgbClr val="98A4B3"/>
                </a:solidFill>
                <a:latin typeface="Calibri"/>
              </a:rPr>
              <a:t>Ownership shifts by deployment mode and by enforcement posture: in the customer-managed runtime the consuming team also owns runtime infrastructure, availability, upgrades and local audit storage.</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12161B"/>
        </a:solidFill>
        <a:effectLst/>
      </p:bgPr>
    </p:bg>
    <p:spTree>
      <p:nvGrpSpPr>
        <p:cNvPr id="1" name=""/>
        <p:cNvGrpSpPr/>
        <p:nvPr/>
      </p:nvGrpSpPr>
      <p:grpSpPr/>
      <p:sp>
        <p:nvSpPr>
          <p:cNvPr id="2" name="TextBox 1"/>
          <p:cNvSpPr txBox="1"/>
          <p:nvPr/>
        </p:nvSpPr>
        <p:spPr>
          <a:xfrm>
            <a:off x="685800" y="420624"/>
            <a:ext cx="10820095" cy="658368"/>
          </a:xfrm>
          <a:prstGeom prst="rect">
            <a:avLst/>
          </a:prstGeom>
          <a:noFill/>
        </p:spPr>
        <p:txBody>
          <a:bodyPr wrap="square" lIns="0" rIns="0" tIns="0" bIns="0" anchor="t">
            <a:spAutoFit/>
          </a:bodyPr>
          <a:lstStyle/>
          <a:p>
            <a:pPr algn="l">
              <a:lnSpc>
                <a:spcPct val="115000"/>
              </a:lnSpc>
              <a:spcAft>
                <a:spcPts val="0"/>
              </a:spcAft>
            </a:pPr>
            <a:r>
              <a:rPr sz="3000" b="1" i="0">
                <a:solidFill>
                  <a:srgbClr val="E8ECF2"/>
                </a:solidFill>
                <a:latin typeface="Calibri"/>
              </a:rPr>
              <a:t>The decision we are asking for</a:t>
            </a:r>
          </a:p>
        </p:txBody>
      </p:sp>
      <p:sp>
        <p:nvSpPr>
          <p:cNvPr id="3" name="Rectangle 2"/>
          <p:cNvSpPr/>
          <p:nvPr/>
        </p:nvSpPr>
        <p:spPr>
          <a:xfrm>
            <a:off x="685800" y="1188720"/>
            <a:ext cx="1234440" cy="41148"/>
          </a:xfrm>
          <a:prstGeom prst="rect">
            <a:avLst/>
          </a:prstGeom>
          <a:solidFill>
            <a:srgbClr val="5AA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6217920"/>
            <a:ext cx="10820095" cy="292608"/>
          </a:xfrm>
          <a:prstGeom prst="rect">
            <a:avLst/>
          </a:prstGeom>
          <a:noFill/>
        </p:spPr>
        <p:txBody>
          <a:bodyPr wrap="square" lIns="0" rIns="0" tIns="0" bIns="0" anchor="t">
            <a:spAutoFit/>
          </a:bodyPr>
          <a:lstStyle/>
          <a:p>
            <a:pPr algn="l">
              <a:lnSpc>
                <a:spcPct val="115000"/>
              </a:lnSpc>
              <a:spcAft>
                <a:spcPts val="0"/>
              </a:spcAft>
            </a:pPr>
            <a:r>
              <a:rPr sz="900" b="0" i="0">
                <a:solidFill>
                  <a:srgbClr val="98A4B3"/>
                </a:solidFill>
                <a:latin typeface="Calibri"/>
              </a:rPr>
              <a:t>AI Guardrails · design intent and delivery plan — nothing built or piloted today</a:t>
            </a:r>
          </a:p>
        </p:txBody>
      </p:sp>
      <p:sp>
        <p:nvSpPr>
          <p:cNvPr id="5" name="Rounded Rectangle 4"/>
          <p:cNvSpPr/>
          <p:nvPr/>
        </p:nvSpPr>
        <p:spPr>
          <a:xfrm>
            <a:off x="685800" y="1737360"/>
            <a:ext cx="10820095" cy="1371600"/>
          </a:xfrm>
          <a:prstGeom prst="roundRect">
            <a:avLst>
              <a:gd name="adj" fmla="val 4000"/>
            </a:avLst>
          </a:prstGeom>
          <a:solidFill>
            <a:srgbClr val="1D242C"/>
          </a:solidFill>
          <a:ln w="12700">
            <a:solidFill>
              <a:srgbClr val="5AA0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51560" y="1965960"/>
            <a:ext cx="10088575" cy="960120"/>
          </a:xfrm>
          <a:prstGeom prst="rect">
            <a:avLst/>
          </a:prstGeom>
          <a:noFill/>
        </p:spPr>
        <p:txBody>
          <a:bodyPr wrap="square" lIns="0" rIns="0" tIns="0" bIns="0" anchor="t">
            <a:spAutoFit/>
          </a:bodyPr>
          <a:lstStyle/>
          <a:p>
            <a:pPr algn="l">
              <a:lnSpc>
                <a:spcPct val="120000"/>
              </a:lnSpc>
              <a:spcAft>
                <a:spcPts val="600"/>
              </a:spcAft>
            </a:pPr>
            <a:r>
              <a:rPr sz="1800" b="1" i="0">
                <a:solidFill>
                  <a:srgbClr val="E8ECF2"/>
                </a:solidFill>
                <a:latin typeface="Calibri"/>
              </a:rPr>
              <a:t>Tell us which data classes may run under Remote Evaluation for the pilot, and which may not run under any mode until in-account evaluation exists.</a:t>
            </a:r>
          </a:p>
          <a:p>
            <a:pPr algn="l">
              <a:lnSpc>
                <a:spcPct val="115000"/>
              </a:lnSpc>
              <a:spcAft>
                <a:spcPts val="0"/>
              </a:spcAft>
            </a:pPr>
            <a:r>
              <a:rPr sz="1250" b="0" i="0">
                <a:solidFill>
                  <a:srgbClr val="98A4B3"/>
                </a:solidFill>
                <a:latin typeface="Calibri"/>
              </a:rPr>
              <a:t>A conditional approval is a good outcome. A list of conditions is a better one than a yes without them.</a:t>
            </a:r>
          </a:p>
        </p:txBody>
      </p:sp>
      <p:sp>
        <p:nvSpPr>
          <p:cNvPr id="7" name="TextBox 6"/>
          <p:cNvSpPr txBox="1"/>
          <p:nvPr/>
        </p:nvSpPr>
        <p:spPr>
          <a:xfrm>
            <a:off x="685800" y="3227832"/>
            <a:ext cx="5532120" cy="365760"/>
          </a:xfrm>
          <a:prstGeom prst="rect">
            <a:avLst/>
          </a:prstGeom>
          <a:noFill/>
        </p:spPr>
        <p:txBody>
          <a:bodyPr wrap="square" lIns="0" rIns="0" tIns="0" bIns="0" anchor="t">
            <a:spAutoFit/>
          </a:bodyPr>
          <a:lstStyle/>
          <a:p>
            <a:pPr algn="l">
              <a:lnSpc>
                <a:spcPct val="115000"/>
              </a:lnSpc>
              <a:spcAft>
                <a:spcPts val="0"/>
              </a:spcAft>
            </a:pPr>
            <a:r>
              <a:rPr sz="1300" b="1" i="0">
                <a:solidFill>
                  <a:srgbClr val="5AA0E0"/>
                </a:solidFill>
                <a:latin typeface="Calibri"/>
              </a:rPr>
              <a:t>Conditions we expect you to set</a:t>
            </a:r>
          </a:p>
        </p:txBody>
      </p:sp>
      <p:sp>
        <p:nvSpPr>
          <p:cNvPr id="8" name="Rectangle 7"/>
          <p:cNvSpPr/>
          <p:nvPr/>
        </p:nvSpPr>
        <p:spPr>
          <a:xfrm>
            <a:off x="685800" y="3689604"/>
            <a:ext cx="77724" cy="77724"/>
          </a:xfrm>
          <a:prstGeom prst="rect">
            <a:avLst/>
          </a:prstGeom>
          <a:solidFill>
            <a:srgbClr val="4FB47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3611880"/>
            <a:ext cx="5257800" cy="365760"/>
          </a:xfrm>
          <a:prstGeom prst="rect">
            <a:avLst/>
          </a:prstGeom>
          <a:noFill/>
        </p:spPr>
        <p:txBody>
          <a:bodyPr wrap="square" lIns="0" rIns="0" tIns="0" bIns="0" anchor="t">
            <a:spAutoFit/>
          </a:bodyPr>
          <a:lstStyle/>
          <a:p>
            <a:pPr algn="l">
              <a:lnSpc>
                <a:spcPct val="115000"/>
              </a:lnSpc>
              <a:spcAft>
                <a:spcPts val="100"/>
              </a:spcAft>
            </a:pPr>
            <a:r>
              <a:rPr sz="1250" b="0" i="0">
                <a:solidFill>
                  <a:srgbClr val="E8ECF2"/>
                </a:solidFill>
                <a:latin typeface="Calibri"/>
              </a:rPr>
              <a:t>Retention configuration for the pilot tenant, and who may change it</a:t>
            </a:r>
          </a:p>
        </p:txBody>
      </p:sp>
      <p:sp>
        <p:nvSpPr>
          <p:cNvPr id="10" name="Rectangle 9"/>
          <p:cNvSpPr/>
          <p:nvPr/>
        </p:nvSpPr>
        <p:spPr>
          <a:xfrm>
            <a:off x="685800" y="4256532"/>
            <a:ext cx="77724" cy="77724"/>
          </a:xfrm>
          <a:prstGeom prst="rect">
            <a:avLst/>
          </a:prstGeom>
          <a:solidFill>
            <a:srgbClr val="4FB47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0120" y="4178808"/>
            <a:ext cx="5257800" cy="365760"/>
          </a:xfrm>
          <a:prstGeom prst="rect">
            <a:avLst/>
          </a:prstGeom>
          <a:noFill/>
        </p:spPr>
        <p:txBody>
          <a:bodyPr wrap="square" lIns="0" rIns="0" tIns="0" bIns="0" anchor="t">
            <a:spAutoFit/>
          </a:bodyPr>
          <a:lstStyle/>
          <a:p>
            <a:pPr algn="l">
              <a:lnSpc>
                <a:spcPct val="115000"/>
              </a:lnSpc>
              <a:spcAft>
                <a:spcPts val="100"/>
              </a:spcAft>
            </a:pPr>
            <a:r>
              <a:rPr sz="1250" b="0" i="0">
                <a:solidFill>
                  <a:srgbClr val="E8ECF2"/>
                </a:solidFill>
                <a:latin typeface="Calibri"/>
              </a:rPr>
              <a:t>The enforcement posture a workload must reach before it carries anything beyond the lowest data class</a:t>
            </a:r>
          </a:p>
        </p:txBody>
      </p:sp>
      <p:sp>
        <p:nvSpPr>
          <p:cNvPr id="12" name="Rectangle 11"/>
          <p:cNvSpPr/>
          <p:nvPr/>
        </p:nvSpPr>
        <p:spPr>
          <a:xfrm>
            <a:off x="685800" y="4823460"/>
            <a:ext cx="77724" cy="77724"/>
          </a:xfrm>
          <a:prstGeom prst="rect">
            <a:avLst/>
          </a:prstGeom>
          <a:solidFill>
            <a:srgbClr val="4FB47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60120" y="4745736"/>
            <a:ext cx="5257800" cy="365760"/>
          </a:xfrm>
          <a:prstGeom prst="rect">
            <a:avLst/>
          </a:prstGeom>
          <a:noFill/>
        </p:spPr>
        <p:txBody>
          <a:bodyPr wrap="square" lIns="0" rIns="0" tIns="0" bIns="0" anchor="t">
            <a:spAutoFit/>
          </a:bodyPr>
          <a:lstStyle/>
          <a:p>
            <a:pPr algn="l">
              <a:lnSpc>
                <a:spcPct val="115000"/>
              </a:lnSpc>
              <a:spcAft>
                <a:spcPts val="100"/>
              </a:spcAft>
            </a:pPr>
            <a:r>
              <a:rPr sz="1250" b="0" i="0">
                <a:solidFill>
                  <a:srgbClr val="E8ECF2"/>
                </a:solidFill>
                <a:latin typeface="Calibri"/>
              </a:rPr>
              <a:t>The evidence required before a workload is promoted out of observe</a:t>
            </a:r>
          </a:p>
        </p:txBody>
      </p:sp>
      <p:sp>
        <p:nvSpPr>
          <p:cNvPr id="14" name="TextBox 13"/>
          <p:cNvSpPr txBox="1"/>
          <p:nvPr/>
        </p:nvSpPr>
        <p:spPr>
          <a:xfrm>
            <a:off x="6428232" y="3227832"/>
            <a:ext cx="5074920" cy="365760"/>
          </a:xfrm>
          <a:prstGeom prst="rect">
            <a:avLst/>
          </a:prstGeom>
          <a:noFill/>
        </p:spPr>
        <p:txBody>
          <a:bodyPr wrap="square" lIns="0" rIns="0" tIns="0" bIns="0" anchor="t">
            <a:spAutoFit/>
          </a:bodyPr>
          <a:lstStyle/>
          <a:p>
            <a:pPr algn="l">
              <a:lnSpc>
                <a:spcPct val="115000"/>
              </a:lnSpc>
              <a:spcAft>
                <a:spcPts val="0"/>
              </a:spcAft>
            </a:pPr>
            <a:r>
              <a:rPr sz="1300" b="1" i="0">
                <a:solidFill>
                  <a:srgbClr val="98A4B3"/>
                </a:solidFill>
                <a:latin typeface="Calibri"/>
              </a:rPr>
              <a:t>Residual risks we are asking you to accept, on the record</a:t>
            </a:r>
          </a:p>
        </p:txBody>
      </p:sp>
      <p:sp>
        <p:nvSpPr>
          <p:cNvPr id="15" name="Rectangle 14"/>
          <p:cNvSpPr/>
          <p:nvPr/>
        </p:nvSpPr>
        <p:spPr>
          <a:xfrm>
            <a:off x="6428232" y="3689604"/>
            <a:ext cx="77724" cy="77724"/>
          </a:xfrm>
          <a:prstGeom prst="rect">
            <a:avLst/>
          </a:prstGeom>
          <a:solidFill>
            <a:srgbClr val="E06C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702552" y="3611880"/>
            <a:ext cx="4800600" cy="365760"/>
          </a:xfrm>
          <a:prstGeom prst="rect">
            <a:avLst/>
          </a:prstGeom>
          <a:noFill/>
        </p:spPr>
        <p:txBody>
          <a:bodyPr wrap="square" lIns="0" rIns="0" tIns="0" bIns="0" anchor="t">
            <a:spAutoFit/>
          </a:bodyPr>
          <a:lstStyle/>
          <a:p>
            <a:pPr algn="l">
              <a:lnSpc>
                <a:spcPct val="115000"/>
              </a:lnSpc>
              <a:spcAft>
                <a:spcPts val="100"/>
              </a:spcAft>
            </a:pPr>
            <a:r>
              <a:rPr sz="1250" b="0" i="0">
                <a:solidFill>
                  <a:srgbClr val="E8ECF2"/>
                </a:solidFill>
                <a:latin typeface="Calibri"/>
              </a:rPr>
              <a:t>Bypass is possible by the team that installed the connector, under the cooperative posture the pilot starts in</a:t>
            </a:r>
          </a:p>
        </p:txBody>
      </p:sp>
      <p:sp>
        <p:nvSpPr>
          <p:cNvPr id="17" name="Rectangle 16"/>
          <p:cNvSpPr/>
          <p:nvPr/>
        </p:nvSpPr>
        <p:spPr>
          <a:xfrm>
            <a:off x="6428232" y="4256532"/>
            <a:ext cx="77724" cy="77724"/>
          </a:xfrm>
          <a:prstGeom prst="rect">
            <a:avLst/>
          </a:prstGeom>
          <a:solidFill>
            <a:srgbClr val="E06C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702552" y="4178808"/>
            <a:ext cx="4800600" cy="365760"/>
          </a:xfrm>
          <a:prstGeom prst="rect">
            <a:avLst/>
          </a:prstGeom>
          <a:noFill/>
        </p:spPr>
        <p:txBody>
          <a:bodyPr wrap="square" lIns="0" rIns="0" tIns="0" bIns="0" anchor="t">
            <a:spAutoFit/>
          </a:bodyPr>
          <a:lstStyle/>
          <a:p>
            <a:pPr algn="l">
              <a:lnSpc>
                <a:spcPct val="115000"/>
              </a:lnSpc>
              <a:spcAft>
                <a:spcPts val="100"/>
              </a:spcAft>
            </a:pPr>
            <a:r>
              <a:rPr sz="1250" b="0" i="0">
                <a:solidFill>
                  <a:srgbClr val="E8ECF2"/>
                </a:solidFill>
                <a:latin typeface="Calibri"/>
              </a:rPr>
              <a:t>Content transits a hosted service on every evaluated call in Remote Evaluation</a:t>
            </a:r>
          </a:p>
        </p:txBody>
      </p:sp>
      <p:sp>
        <p:nvSpPr>
          <p:cNvPr id="19" name="Rectangle 18"/>
          <p:cNvSpPr/>
          <p:nvPr/>
        </p:nvSpPr>
        <p:spPr>
          <a:xfrm>
            <a:off x="6428232" y="4823460"/>
            <a:ext cx="77724" cy="77724"/>
          </a:xfrm>
          <a:prstGeom prst="rect">
            <a:avLst/>
          </a:prstGeom>
          <a:solidFill>
            <a:srgbClr val="E06C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702552" y="4745736"/>
            <a:ext cx="4800600" cy="365760"/>
          </a:xfrm>
          <a:prstGeom prst="rect">
            <a:avLst/>
          </a:prstGeom>
          <a:noFill/>
        </p:spPr>
        <p:txBody>
          <a:bodyPr wrap="square" lIns="0" rIns="0" tIns="0" bIns="0" anchor="t">
            <a:spAutoFit/>
          </a:bodyPr>
          <a:lstStyle/>
          <a:p>
            <a:pPr algn="l">
              <a:lnSpc>
                <a:spcPct val="115000"/>
              </a:lnSpc>
              <a:spcAft>
                <a:spcPts val="100"/>
              </a:spcAft>
            </a:pPr>
            <a:r>
              <a:rPr sz="1250" b="0" i="0">
                <a:solidFill>
                  <a:srgbClr val="E8ECF2"/>
                </a:solidFill>
                <a:latin typeface="Calibri"/>
              </a:rPr>
              <a:t>Isolation between tenants in the hosted modes is logical, not infrastructure-level</a:t>
            </a:r>
          </a:p>
        </p:txBody>
      </p:sp>
      <p:sp>
        <p:nvSpPr>
          <p:cNvPr id="21" name="TextBox 20"/>
          <p:cNvSpPr txBox="1"/>
          <p:nvPr/>
        </p:nvSpPr>
        <p:spPr>
          <a:xfrm>
            <a:off x="685800" y="5888736"/>
            <a:ext cx="10820095" cy="457200"/>
          </a:xfrm>
          <a:prstGeom prst="rect">
            <a:avLst/>
          </a:prstGeom>
          <a:noFill/>
        </p:spPr>
        <p:txBody>
          <a:bodyPr wrap="square" lIns="0" rIns="0" tIns="0" bIns="0" anchor="t">
            <a:spAutoFit/>
          </a:bodyPr>
          <a:lstStyle/>
          <a:p>
            <a:pPr algn="l">
              <a:lnSpc>
                <a:spcPct val="115000"/>
              </a:lnSpc>
              <a:spcAft>
                <a:spcPts val="0"/>
              </a:spcAft>
            </a:pPr>
            <a:r>
              <a:rPr sz="1150" b="0" i="0">
                <a:solidFill>
                  <a:srgbClr val="98A4B3"/>
                </a:solidFill>
                <a:latin typeface="Calibri"/>
              </a:rPr>
              <a:t>If you cannot approve any data class today, the useful outcome is the list of controls that would change that answer — it becomes a design input rather than an objection.</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12161B"/>
        </a:solidFill>
        <a:effectLst/>
      </p:bgPr>
    </p:bg>
    <p:spTree>
      <p:nvGrpSpPr>
        <p:cNvPr id="1" name=""/>
        <p:cNvGrpSpPr/>
        <p:nvPr/>
      </p:nvGrpSpPr>
      <p:grpSpPr/>
      <p:sp>
        <p:nvSpPr>
          <p:cNvPr id="2" name="TextBox 1"/>
          <p:cNvSpPr txBox="1"/>
          <p:nvPr/>
        </p:nvSpPr>
        <p:spPr>
          <a:xfrm>
            <a:off x="685800" y="2788920"/>
            <a:ext cx="10820095" cy="1463040"/>
          </a:xfrm>
          <a:prstGeom prst="rect">
            <a:avLst/>
          </a:prstGeom>
          <a:noFill/>
        </p:spPr>
        <p:txBody>
          <a:bodyPr wrap="square" lIns="0" rIns="0" tIns="0" bIns="0" anchor="t">
            <a:spAutoFit/>
          </a:bodyPr>
          <a:lstStyle/>
          <a:p>
            <a:pPr algn="l">
              <a:lnSpc>
                <a:spcPct val="115000"/>
              </a:lnSpc>
              <a:spcAft>
                <a:spcPts val="1000"/>
              </a:spcAft>
            </a:pPr>
            <a:r>
              <a:rPr sz="4400" b="1" i="0">
                <a:solidFill>
                  <a:srgbClr val="E8ECF2"/>
                </a:solidFill>
                <a:latin typeface="Calibri"/>
              </a:rPr>
              <a:t>Appendix</a:t>
            </a:r>
          </a:p>
          <a:p>
            <a:pPr algn="l">
              <a:lnSpc>
                <a:spcPct val="115000"/>
              </a:lnSpc>
              <a:spcAft>
                <a:spcPts val="0"/>
              </a:spcAft>
            </a:pPr>
            <a:r>
              <a:rPr sz="1500" b="0" i="0">
                <a:solidFill>
                  <a:srgbClr val="98A4B3"/>
                </a:solidFill>
                <a:latin typeface="Calibri"/>
              </a:rPr>
              <a:t>Reference material. Use only if raised.</a:t>
            </a:r>
          </a:p>
        </p:txBody>
      </p:sp>
      <p:sp>
        <p:nvSpPr>
          <p:cNvPr id="3" name="Rectangle 2"/>
          <p:cNvSpPr/>
          <p:nvPr/>
        </p:nvSpPr>
        <p:spPr>
          <a:xfrm>
            <a:off x="685800" y="2606040"/>
            <a:ext cx="1234440" cy="41148"/>
          </a:xfrm>
          <a:prstGeom prst="rect">
            <a:avLst/>
          </a:prstGeom>
          <a:solidFill>
            <a:srgbClr val="5AA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4892040"/>
            <a:ext cx="10820095" cy="457200"/>
          </a:xfrm>
          <a:prstGeom prst="rect">
            <a:avLst/>
          </a:prstGeom>
          <a:noFill/>
        </p:spPr>
        <p:txBody>
          <a:bodyPr wrap="square" lIns="0" rIns="0" tIns="0" bIns="0" anchor="t">
            <a:spAutoFit/>
          </a:bodyPr>
          <a:lstStyle/>
          <a:p>
            <a:pPr algn="l">
              <a:lnSpc>
                <a:spcPct val="115000"/>
              </a:lnSpc>
              <a:spcAft>
                <a:spcPts val="0"/>
              </a:spcAft>
            </a:pPr>
            <a:r>
              <a:rPr sz="1150" b="0" i="0">
                <a:solidFill>
                  <a:srgbClr val="98A4B3"/>
                </a:solidFill>
                <a:latin typeface="Calibri"/>
              </a:rPr>
              <a:t>Core domain model  ·  Objection handling  ·  Onboarding sequence</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12161B"/>
        </a:solidFill>
        <a:effectLst/>
      </p:bgPr>
    </p:bg>
    <p:spTree>
      <p:nvGrpSpPr>
        <p:cNvPr id="1" name=""/>
        <p:cNvGrpSpPr/>
        <p:nvPr/>
      </p:nvGrpSpPr>
      <p:grpSpPr/>
      <p:sp>
        <p:nvSpPr>
          <p:cNvPr id="2" name="TextBox 1"/>
          <p:cNvSpPr txBox="1"/>
          <p:nvPr/>
        </p:nvSpPr>
        <p:spPr>
          <a:xfrm>
            <a:off x="685800" y="420624"/>
            <a:ext cx="10820095" cy="658368"/>
          </a:xfrm>
          <a:prstGeom prst="rect">
            <a:avLst/>
          </a:prstGeom>
          <a:noFill/>
        </p:spPr>
        <p:txBody>
          <a:bodyPr wrap="square" lIns="0" rIns="0" tIns="0" bIns="0" anchor="t">
            <a:spAutoFit/>
          </a:bodyPr>
          <a:lstStyle/>
          <a:p>
            <a:pPr algn="l">
              <a:lnSpc>
                <a:spcPct val="115000"/>
              </a:lnSpc>
              <a:spcAft>
                <a:spcPts val="0"/>
              </a:spcAft>
            </a:pPr>
            <a:r>
              <a:rPr sz="3000" b="1" i="0">
                <a:solidFill>
                  <a:srgbClr val="E8ECF2"/>
                </a:solidFill>
                <a:latin typeface="Calibri"/>
              </a:rPr>
              <a:t>Appendix — Core domain model</a:t>
            </a:r>
          </a:p>
        </p:txBody>
      </p:sp>
      <p:sp>
        <p:nvSpPr>
          <p:cNvPr id="3" name="Rectangle 2"/>
          <p:cNvSpPr/>
          <p:nvPr/>
        </p:nvSpPr>
        <p:spPr>
          <a:xfrm>
            <a:off x="685800" y="1188720"/>
            <a:ext cx="1234440" cy="41148"/>
          </a:xfrm>
          <a:prstGeom prst="rect">
            <a:avLst/>
          </a:prstGeom>
          <a:solidFill>
            <a:srgbClr val="5AA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298448"/>
            <a:ext cx="10820095" cy="365760"/>
          </a:xfrm>
          <a:prstGeom prst="rect">
            <a:avLst/>
          </a:prstGeom>
          <a:noFill/>
        </p:spPr>
        <p:txBody>
          <a:bodyPr wrap="square" lIns="0" rIns="0" tIns="0" bIns="0" anchor="t">
            <a:spAutoFit/>
          </a:bodyPr>
          <a:lstStyle/>
          <a:p>
            <a:pPr algn="l">
              <a:lnSpc>
                <a:spcPct val="115000"/>
              </a:lnSpc>
              <a:spcAft>
                <a:spcPts val="0"/>
              </a:spcAft>
            </a:pPr>
            <a:r>
              <a:rPr sz="1350" b="0" i="0">
                <a:solidFill>
                  <a:srgbClr val="98A4B3"/>
                </a:solidFill>
                <a:latin typeface="Calibri"/>
              </a:rPr>
              <a:t>Six entities. Every retention, binding and audit statement above attaches to one of them.</a:t>
            </a:r>
          </a:p>
        </p:txBody>
      </p:sp>
      <p:sp>
        <p:nvSpPr>
          <p:cNvPr id="5" name="TextBox 4"/>
          <p:cNvSpPr txBox="1"/>
          <p:nvPr/>
        </p:nvSpPr>
        <p:spPr>
          <a:xfrm>
            <a:off x="685800" y="6217920"/>
            <a:ext cx="10820095" cy="292608"/>
          </a:xfrm>
          <a:prstGeom prst="rect">
            <a:avLst/>
          </a:prstGeom>
          <a:noFill/>
        </p:spPr>
        <p:txBody>
          <a:bodyPr wrap="square" lIns="0" rIns="0" tIns="0" bIns="0" anchor="t">
            <a:spAutoFit/>
          </a:bodyPr>
          <a:lstStyle/>
          <a:p>
            <a:pPr algn="l">
              <a:lnSpc>
                <a:spcPct val="115000"/>
              </a:lnSpc>
              <a:spcAft>
                <a:spcPts val="0"/>
              </a:spcAft>
            </a:pPr>
            <a:r>
              <a:rPr sz="900" b="0" i="0">
                <a:solidFill>
                  <a:srgbClr val="98A4B3"/>
                </a:solidFill>
                <a:latin typeface="Calibri"/>
              </a:rPr>
              <a:t>AI Guardrails · design intent and delivery plan — nothing built or piloted today</a:t>
            </a:r>
          </a:p>
        </p:txBody>
      </p:sp>
      <p:sp>
        <p:nvSpPr>
          <p:cNvPr id="6" name="Rounded Rectangle 5"/>
          <p:cNvSpPr/>
          <p:nvPr/>
        </p:nvSpPr>
        <p:spPr>
          <a:xfrm>
            <a:off x="685800" y="1874519"/>
            <a:ext cx="5318607" cy="1143000"/>
          </a:xfrm>
          <a:prstGeom prst="roundRect">
            <a:avLst>
              <a:gd name="adj" fmla="val 4000"/>
            </a:avLst>
          </a:prstGeom>
          <a:solidFill>
            <a:srgbClr val="161C23"/>
          </a:solidFill>
          <a:ln w="12700">
            <a:solidFill>
              <a:srgbClr val="2E39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41832" y="2039112"/>
            <a:ext cx="4806543" cy="914400"/>
          </a:xfrm>
          <a:prstGeom prst="rect">
            <a:avLst/>
          </a:prstGeom>
          <a:noFill/>
        </p:spPr>
        <p:txBody>
          <a:bodyPr wrap="square" lIns="0" rIns="0" tIns="0" bIns="0" anchor="t">
            <a:spAutoFit/>
          </a:bodyPr>
          <a:lstStyle/>
          <a:p>
            <a:pPr algn="l">
              <a:lnSpc>
                <a:spcPct val="115000"/>
              </a:lnSpc>
              <a:spcAft>
                <a:spcPts val="500"/>
              </a:spcAft>
            </a:pPr>
            <a:r>
              <a:rPr sz="1400" b="1" i="0">
                <a:solidFill>
                  <a:srgbClr val="5AA0E0"/>
                </a:solidFill>
                <a:latin typeface="Calibri"/>
              </a:rPr>
              <a:t>Tenant</a:t>
            </a:r>
          </a:p>
          <a:p>
            <a:pPr algn="l">
              <a:lnSpc>
                <a:spcPct val="120000"/>
              </a:lnSpc>
              <a:spcAft>
                <a:spcPts val="0"/>
              </a:spcAft>
            </a:pPr>
            <a:r>
              <a:rPr sz="1150" b="0" i="0">
                <a:solidFill>
                  <a:srgbClr val="98A4B3"/>
                </a:solidFill>
                <a:latin typeface="Calibri"/>
              </a:rPr>
              <a:t>An organization, business unit, or consuming team. Carries ownership, AWS account, data classification, allowed Regions, retention configuration, and deployment mode.</a:t>
            </a:r>
          </a:p>
        </p:txBody>
      </p:sp>
      <p:sp>
        <p:nvSpPr>
          <p:cNvPr id="8" name="Rounded Rectangle 7"/>
          <p:cNvSpPr/>
          <p:nvPr/>
        </p:nvSpPr>
        <p:spPr>
          <a:xfrm>
            <a:off x="6187287" y="1874519"/>
            <a:ext cx="5318607" cy="1143000"/>
          </a:xfrm>
          <a:prstGeom prst="roundRect">
            <a:avLst>
              <a:gd name="adj" fmla="val 4000"/>
            </a:avLst>
          </a:prstGeom>
          <a:solidFill>
            <a:srgbClr val="161C23"/>
          </a:solidFill>
          <a:ln w="12700">
            <a:solidFill>
              <a:srgbClr val="2E39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43319" y="2039112"/>
            <a:ext cx="4806543" cy="914400"/>
          </a:xfrm>
          <a:prstGeom prst="rect">
            <a:avLst/>
          </a:prstGeom>
          <a:noFill/>
        </p:spPr>
        <p:txBody>
          <a:bodyPr wrap="square" lIns="0" rIns="0" tIns="0" bIns="0" anchor="t">
            <a:spAutoFit/>
          </a:bodyPr>
          <a:lstStyle/>
          <a:p>
            <a:pPr algn="l">
              <a:lnSpc>
                <a:spcPct val="115000"/>
              </a:lnSpc>
              <a:spcAft>
                <a:spcPts val="500"/>
              </a:spcAft>
            </a:pPr>
            <a:r>
              <a:rPr sz="1400" b="1" i="0">
                <a:solidFill>
                  <a:srgbClr val="5AA0E0"/>
                </a:solidFill>
                <a:latin typeface="Calibri"/>
              </a:rPr>
              <a:t>Workload</a:t>
            </a:r>
          </a:p>
          <a:p>
            <a:pPr algn="l">
              <a:lnSpc>
                <a:spcPct val="120000"/>
              </a:lnSpc>
              <a:spcAft>
                <a:spcPts val="0"/>
              </a:spcAft>
            </a:pPr>
            <a:r>
              <a:rPr sz="1150" b="0" i="0">
                <a:solidFill>
                  <a:srgbClr val="98A4B3"/>
                </a:solidFill>
                <a:latin typeface="Calibri"/>
              </a:rPr>
              <a:t>An application, assistant, agent, gateway, or inference service using guardrails. Carries owner, environment, risk classification, gateway type, assigned policy, and enforcement mode.</a:t>
            </a:r>
          </a:p>
        </p:txBody>
      </p:sp>
      <p:sp>
        <p:nvSpPr>
          <p:cNvPr id="10" name="Rounded Rectangle 9"/>
          <p:cNvSpPr/>
          <p:nvPr/>
        </p:nvSpPr>
        <p:spPr>
          <a:xfrm>
            <a:off x="685800" y="3172968"/>
            <a:ext cx="5318607" cy="1143000"/>
          </a:xfrm>
          <a:prstGeom prst="roundRect">
            <a:avLst>
              <a:gd name="adj" fmla="val 4000"/>
            </a:avLst>
          </a:prstGeom>
          <a:solidFill>
            <a:srgbClr val="161C23"/>
          </a:solidFill>
          <a:ln w="12700">
            <a:solidFill>
              <a:srgbClr val="2E39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41832" y="3337560"/>
            <a:ext cx="4806543" cy="914400"/>
          </a:xfrm>
          <a:prstGeom prst="rect">
            <a:avLst/>
          </a:prstGeom>
          <a:noFill/>
        </p:spPr>
        <p:txBody>
          <a:bodyPr wrap="square" lIns="0" rIns="0" tIns="0" bIns="0" anchor="t">
            <a:spAutoFit/>
          </a:bodyPr>
          <a:lstStyle/>
          <a:p>
            <a:pPr algn="l">
              <a:lnSpc>
                <a:spcPct val="115000"/>
              </a:lnSpc>
              <a:spcAft>
                <a:spcPts val="500"/>
              </a:spcAft>
            </a:pPr>
            <a:r>
              <a:rPr sz="1400" b="1" i="0">
                <a:solidFill>
                  <a:srgbClr val="5AA0E0"/>
                </a:solidFill>
                <a:latin typeface="Calibri"/>
              </a:rPr>
              <a:t>Policy</a:t>
            </a:r>
          </a:p>
          <a:p>
            <a:pPr algn="l">
              <a:lnSpc>
                <a:spcPct val="120000"/>
              </a:lnSpc>
              <a:spcAft>
                <a:spcPts val="0"/>
              </a:spcAft>
            </a:pPr>
            <a:r>
              <a:rPr sz="1150" b="0" i="0">
                <a:solidFill>
                  <a:srgbClr val="98A4B3"/>
                </a:solidFill>
                <a:latin typeface="Calibri"/>
              </a:rPr>
              <a:t>What must be evaluated and how violations are handled — versioned and immutable, independent of any gateway or provider.</a:t>
            </a:r>
          </a:p>
        </p:txBody>
      </p:sp>
      <p:sp>
        <p:nvSpPr>
          <p:cNvPr id="12" name="Rounded Rectangle 11"/>
          <p:cNvSpPr/>
          <p:nvPr/>
        </p:nvSpPr>
        <p:spPr>
          <a:xfrm>
            <a:off x="6187287" y="3172968"/>
            <a:ext cx="5318607" cy="1143000"/>
          </a:xfrm>
          <a:prstGeom prst="roundRect">
            <a:avLst>
              <a:gd name="adj" fmla="val 4000"/>
            </a:avLst>
          </a:prstGeom>
          <a:solidFill>
            <a:srgbClr val="161C23"/>
          </a:solidFill>
          <a:ln w="12700">
            <a:solidFill>
              <a:srgbClr val="2E39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43319" y="3337560"/>
            <a:ext cx="4806543" cy="914400"/>
          </a:xfrm>
          <a:prstGeom prst="rect">
            <a:avLst/>
          </a:prstGeom>
          <a:noFill/>
        </p:spPr>
        <p:txBody>
          <a:bodyPr wrap="square" lIns="0" rIns="0" tIns="0" bIns="0" anchor="t">
            <a:spAutoFit/>
          </a:bodyPr>
          <a:lstStyle/>
          <a:p>
            <a:pPr algn="l">
              <a:lnSpc>
                <a:spcPct val="115000"/>
              </a:lnSpc>
              <a:spcAft>
                <a:spcPts val="500"/>
              </a:spcAft>
            </a:pPr>
            <a:r>
              <a:rPr sz="1400" b="1" i="0">
                <a:solidFill>
                  <a:srgbClr val="5AA0E0"/>
                </a:solidFill>
                <a:latin typeface="Calibri"/>
              </a:rPr>
              <a:t>Policy binding</a:t>
            </a:r>
          </a:p>
          <a:p>
            <a:pPr algn="l">
              <a:lnSpc>
                <a:spcPct val="120000"/>
              </a:lnSpc>
              <a:spcAft>
                <a:spcPts val="0"/>
              </a:spcAft>
            </a:pPr>
            <a:r>
              <a:rPr sz="1150" b="0" i="0">
                <a:solidFill>
                  <a:srgbClr val="98A4B3"/>
                </a:solidFill>
                <a:latin typeface="Calibri"/>
              </a:rPr>
              <a:t>The association between a workload and a specific policy version: observe or enforce mode, allowed overrides, effective date, rollback version.</a:t>
            </a:r>
          </a:p>
        </p:txBody>
      </p:sp>
      <p:sp>
        <p:nvSpPr>
          <p:cNvPr id="14" name="Rounded Rectangle 13"/>
          <p:cNvSpPr/>
          <p:nvPr/>
        </p:nvSpPr>
        <p:spPr>
          <a:xfrm>
            <a:off x="685800" y="4471416"/>
            <a:ext cx="5318607" cy="1143000"/>
          </a:xfrm>
          <a:prstGeom prst="roundRect">
            <a:avLst>
              <a:gd name="adj" fmla="val 4000"/>
            </a:avLst>
          </a:prstGeom>
          <a:solidFill>
            <a:srgbClr val="161C23"/>
          </a:solidFill>
          <a:ln w="12700">
            <a:solidFill>
              <a:srgbClr val="2E39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41832" y="4636007"/>
            <a:ext cx="4806543" cy="914400"/>
          </a:xfrm>
          <a:prstGeom prst="rect">
            <a:avLst/>
          </a:prstGeom>
          <a:noFill/>
        </p:spPr>
        <p:txBody>
          <a:bodyPr wrap="square" lIns="0" rIns="0" tIns="0" bIns="0" anchor="t">
            <a:spAutoFit/>
          </a:bodyPr>
          <a:lstStyle/>
          <a:p>
            <a:pPr algn="l">
              <a:lnSpc>
                <a:spcPct val="115000"/>
              </a:lnSpc>
              <a:spcAft>
                <a:spcPts val="500"/>
              </a:spcAft>
            </a:pPr>
            <a:r>
              <a:rPr sz="1400" b="1" i="0">
                <a:solidFill>
                  <a:srgbClr val="5AA0E0"/>
                </a:solidFill>
                <a:latin typeface="Calibri"/>
              </a:rPr>
              <a:t>Evaluation</a:t>
            </a:r>
          </a:p>
          <a:p>
            <a:pPr algn="l">
              <a:lnSpc>
                <a:spcPct val="120000"/>
              </a:lnSpc>
              <a:spcAft>
                <a:spcPts val="0"/>
              </a:spcAft>
            </a:pPr>
            <a:r>
              <a:rPr sz="1150" b="0" i="0">
                <a:solidFill>
                  <a:srgbClr val="98A4B3"/>
                </a:solidFill>
                <a:latin typeface="Calibri"/>
              </a:rPr>
              <a:t>A request to inspect content at a particular stage of an interaction.</a:t>
            </a:r>
          </a:p>
        </p:txBody>
      </p:sp>
      <p:sp>
        <p:nvSpPr>
          <p:cNvPr id="16" name="Rounded Rectangle 15"/>
          <p:cNvSpPr/>
          <p:nvPr/>
        </p:nvSpPr>
        <p:spPr>
          <a:xfrm>
            <a:off x="6187287" y="4471416"/>
            <a:ext cx="5318607" cy="1143000"/>
          </a:xfrm>
          <a:prstGeom prst="roundRect">
            <a:avLst>
              <a:gd name="adj" fmla="val 4000"/>
            </a:avLst>
          </a:prstGeom>
          <a:solidFill>
            <a:srgbClr val="161C23"/>
          </a:solidFill>
          <a:ln w="12700">
            <a:solidFill>
              <a:srgbClr val="2E39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43319" y="4636007"/>
            <a:ext cx="4806543" cy="914400"/>
          </a:xfrm>
          <a:prstGeom prst="rect">
            <a:avLst/>
          </a:prstGeom>
          <a:noFill/>
        </p:spPr>
        <p:txBody>
          <a:bodyPr wrap="square" lIns="0" rIns="0" tIns="0" bIns="0" anchor="t">
            <a:spAutoFit/>
          </a:bodyPr>
          <a:lstStyle/>
          <a:p>
            <a:pPr algn="l">
              <a:lnSpc>
                <a:spcPct val="115000"/>
              </a:lnSpc>
              <a:spcAft>
                <a:spcPts val="500"/>
              </a:spcAft>
            </a:pPr>
            <a:r>
              <a:rPr sz="1400" b="1" i="0">
                <a:solidFill>
                  <a:srgbClr val="5AA0E0"/>
                </a:solidFill>
                <a:latin typeface="Calibri"/>
              </a:rPr>
              <a:t>Decision</a:t>
            </a:r>
          </a:p>
          <a:p>
            <a:pPr algn="l">
              <a:lnSpc>
                <a:spcPct val="120000"/>
              </a:lnSpc>
              <a:spcAft>
                <a:spcPts val="0"/>
              </a:spcAft>
            </a:pPr>
            <a:r>
              <a:rPr sz="1150" b="0" i="0">
                <a:solidFill>
                  <a:srgbClr val="98A4B3"/>
                </a:solidFill>
                <a:latin typeface="Calibri"/>
              </a:rPr>
              <a:t>The normalized result: action (allow / block / redact / log_only), allowed status, reason codes, policy name and version, evaluator metadata, correlation and audit identifiers, latency.</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12161B"/>
        </a:solidFill>
        <a:effectLst/>
      </p:bgPr>
    </p:bg>
    <p:spTree>
      <p:nvGrpSpPr>
        <p:cNvPr id="1" name=""/>
        <p:cNvGrpSpPr/>
        <p:nvPr/>
      </p:nvGrpSpPr>
      <p:grpSpPr/>
      <p:sp>
        <p:nvSpPr>
          <p:cNvPr id="2" name="TextBox 1"/>
          <p:cNvSpPr txBox="1"/>
          <p:nvPr/>
        </p:nvSpPr>
        <p:spPr>
          <a:xfrm>
            <a:off x="685800" y="420624"/>
            <a:ext cx="10820095" cy="658368"/>
          </a:xfrm>
          <a:prstGeom prst="rect">
            <a:avLst/>
          </a:prstGeom>
          <a:noFill/>
        </p:spPr>
        <p:txBody>
          <a:bodyPr wrap="square" lIns="0" rIns="0" tIns="0" bIns="0" anchor="t">
            <a:spAutoFit/>
          </a:bodyPr>
          <a:lstStyle/>
          <a:p>
            <a:pPr algn="l">
              <a:lnSpc>
                <a:spcPct val="115000"/>
              </a:lnSpc>
              <a:spcAft>
                <a:spcPts val="0"/>
              </a:spcAft>
            </a:pPr>
            <a:r>
              <a:rPr sz="3000" b="1" i="0">
                <a:solidFill>
                  <a:srgbClr val="E8ECF2"/>
                </a:solidFill>
                <a:latin typeface="Calibri"/>
              </a:rPr>
              <a:t>Appendix — The questions this room usually asks</a:t>
            </a:r>
          </a:p>
        </p:txBody>
      </p:sp>
      <p:sp>
        <p:nvSpPr>
          <p:cNvPr id="3" name="Rectangle 2"/>
          <p:cNvSpPr/>
          <p:nvPr/>
        </p:nvSpPr>
        <p:spPr>
          <a:xfrm>
            <a:off x="685800" y="1188720"/>
            <a:ext cx="1234440" cy="41148"/>
          </a:xfrm>
          <a:prstGeom prst="rect">
            <a:avLst/>
          </a:prstGeom>
          <a:solidFill>
            <a:srgbClr val="5AA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298448"/>
            <a:ext cx="10820095" cy="365760"/>
          </a:xfrm>
          <a:prstGeom prst="rect">
            <a:avLst/>
          </a:prstGeom>
          <a:noFill/>
        </p:spPr>
        <p:txBody>
          <a:bodyPr wrap="square" lIns="0" rIns="0" tIns="0" bIns="0" anchor="t">
            <a:spAutoFit/>
          </a:bodyPr>
          <a:lstStyle/>
          <a:p>
            <a:pPr algn="l">
              <a:lnSpc>
                <a:spcPct val="115000"/>
              </a:lnSpc>
              <a:spcAft>
                <a:spcPts val="0"/>
              </a:spcAft>
            </a:pPr>
            <a:r>
              <a:rPr sz="1350" b="0" i="0">
                <a:solidFill>
                  <a:srgbClr val="98A4B3"/>
                </a:solidFill>
                <a:latin typeface="Calibri"/>
              </a:rPr>
              <a:t>Pull only the pair that matches the question raised.</a:t>
            </a:r>
          </a:p>
        </p:txBody>
      </p:sp>
      <p:sp>
        <p:nvSpPr>
          <p:cNvPr id="5" name="TextBox 4"/>
          <p:cNvSpPr txBox="1"/>
          <p:nvPr/>
        </p:nvSpPr>
        <p:spPr>
          <a:xfrm>
            <a:off x="685800" y="6217920"/>
            <a:ext cx="10820095" cy="292608"/>
          </a:xfrm>
          <a:prstGeom prst="rect">
            <a:avLst/>
          </a:prstGeom>
          <a:noFill/>
        </p:spPr>
        <p:txBody>
          <a:bodyPr wrap="square" lIns="0" rIns="0" tIns="0" bIns="0" anchor="t">
            <a:spAutoFit/>
          </a:bodyPr>
          <a:lstStyle/>
          <a:p>
            <a:pPr algn="l">
              <a:lnSpc>
                <a:spcPct val="115000"/>
              </a:lnSpc>
              <a:spcAft>
                <a:spcPts val="0"/>
              </a:spcAft>
            </a:pPr>
            <a:r>
              <a:rPr sz="900" b="0" i="0">
                <a:solidFill>
                  <a:srgbClr val="98A4B3"/>
                </a:solidFill>
                <a:latin typeface="Calibri"/>
              </a:rPr>
              <a:t>AI Guardrails · design intent and delivery plan — nothing built or piloted today</a:t>
            </a:r>
          </a:p>
        </p:txBody>
      </p:sp>
      <p:graphicFrame>
        <p:nvGraphicFramePr>
          <p:cNvPr id="6" name="Table 5"/>
          <p:cNvGraphicFramePr>
            <a:graphicFrameLocks noGrp="1"/>
          </p:cNvGraphicFramePr>
          <p:nvPr/>
        </p:nvGraphicFramePr>
        <p:xfrm>
          <a:off x="685800" y="1828800"/>
          <a:ext cx="10820094" cy="4133088"/>
        </p:xfrm>
        <a:graphic>
          <a:graphicData uri="http://schemas.openxmlformats.org/drawingml/2006/table">
            <a:tbl>
              <a:tblPr firstRow="1">
                <a:tableStyleId>{5C22544A-7EE6-4342-B048-85BDC9FD1C3A}</a:tableStyleId>
              </a:tblPr>
              <a:tblGrid>
                <a:gridCol w="3029626"/>
                <a:gridCol w="7790468"/>
              </a:tblGrid>
              <a:tr h="310896">
                <a:tc>
                  <a:txBody>
                    <a:bodyPr wrap="square"/>
                    <a:lstStyle/>
                    <a:p>
                      <a:pPr algn="l">
                        <a:lnSpc>
                          <a:spcPct val="105000"/>
                        </a:lnSpc>
                        <a:spcAft>
                          <a:spcPts val="0"/>
                        </a:spcAft>
                      </a:pPr>
                      <a:r>
                        <a:rPr sz="1100" b="1" i="0">
                          <a:solidFill>
                            <a:srgbClr val="5AA0E0"/>
                          </a:solidFill>
                          <a:latin typeface="Calibri"/>
                        </a:rPr>
                        <a:t>Question</a:t>
                      </a:r>
                    </a:p>
                  </a:txBody>
                  <a:tcPr marL="91440" marR="91440" marT="45720" marB="45720" anchor="ctr">
                    <a:solidFill>
                      <a:srgbClr val="1D242C"/>
                    </a:solidFill>
                  </a:tcPr>
                </a:tc>
                <a:tc>
                  <a:txBody>
                    <a:bodyPr wrap="square"/>
                    <a:lstStyle/>
                    <a:p>
                      <a:pPr algn="l">
                        <a:lnSpc>
                          <a:spcPct val="105000"/>
                        </a:lnSpc>
                        <a:spcAft>
                          <a:spcPts val="0"/>
                        </a:spcAft>
                      </a:pPr>
                      <a:r>
                        <a:rPr sz="1100" b="1" i="0">
                          <a:solidFill>
                            <a:srgbClr val="5AA0E0"/>
                          </a:solidFill>
                          <a:latin typeface="Calibri"/>
                        </a:rPr>
                        <a:t>Answer</a:t>
                      </a:r>
                    </a:p>
                  </a:txBody>
                  <a:tcPr marL="91440" marR="91440" marT="45720" marB="45720" anchor="ctr">
                    <a:solidFill>
                      <a:srgbClr val="1D242C"/>
                    </a:solidFill>
                  </a:tcPr>
                </a:tc>
              </a:tr>
              <a:tr h="585216">
                <a:tc>
                  <a:txBody>
                    <a:bodyPr wrap="square"/>
                    <a:lstStyle/>
                    <a:p>
                      <a:pPr algn="l">
                        <a:lnSpc>
                          <a:spcPct val="105000"/>
                        </a:lnSpc>
                        <a:spcAft>
                          <a:spcPts val="0"/>
                        </a:spcAft>
                      </a:pPr>
                      <a:r>
                        <a:rPr sz="1100" b="1" i="0">
                          <a:solidFill>
                            <a:srgbClr val="E8ECF2"/>
                          </a:solidFill>
                          <a:latin typeface="Calibri"/>
                        </a:rPr>
                        <a:t>Is Remote Evaluation data-local?</a:t>
                      </a:r>
                    </a:p>
                  </a:txBody>
                  <a:tcPr marL="91440" marR="91440" marT="45720" marB="45720" anchor="ctr">
                    <a:solidFill>
                      <a:srgbClr val="161C23"/>
                    </a:solidFill>
                  </a:tcPr>
                </a:tc>
                <a:tc>
                  <a:txBody>
                    <a:bodyPr wrap="square"/>
                    <a:lstStyle/>
                    <a:p>
                      <a:pPr algn="l">
                        <a:lnSpc>
                          <a:spcPct val="105000"/>
                        </a:lnSpc>
                        <a:spcAft>
                          <a:spcPts val="0"/>
                        </a:spcAft>
                      </a:pPr>
                      <a:r>
                        <a:rPr sz="1100" b="0" i="0">
                          <a:solidFill>
                            <a:srgbClr val="E8ECF2"/>
                          </a:solidFill>
                          <a:latin typeface="Calibri"/>
                        </a:rPr>
                        <a:t>No. In Mode A, prompts, responses, and any evaluated content are transmitted to the hosted Evaluation API. Workloads with residency requirements belong in Customer-Managed Runtime.</a:t>
                      </a:r>
                    </a:p>
                  </a:txBody>
                  <a:tcPr marL="91440" marR="91440" marT="45720" marB="45720" anchor="ctr">
                    <a:solidFill>
                      <a:srgbClr val="161C23"/>
                    </a:solidFill>
                  </a:tcPr>
                </a:tc>
              </a:tr>
              <a:tr h="585216">
                <a:tc>
                  <a:txBody>
                    <a:bodyPr wrap="square"/>
                    <a:lstStyle/>
                    <a:p>
                      <a:pPr algn="l">
                        <a:lnSpc>
                          <a:spcPct val="105000"/>
                        </a:lnSpc>
                        <a:spcAft>
                          <a:spcPts val="0"/>
                        </a:spcAft>
                      </a:pPr>
                      <a:r>
                        <a:rPr sz="1100" b="1" i="0">
                          <a:solidFill>
                            <a:srgbClr val="E8ECF2"/>
                          </a:solidFill>
                          <a:latin typeface="Calibri"/>
                        </a:rPr>
                        <a:t>Does my prompt data get stored?</a:t>
                      </a:r>
                    </a:p>
                  </a:txBody>
                  <a:tcPr marL="91440" marR="91440" marT="45720" marB="45720" anchor="ctr">
                    <a:solidFill>
                      <a:srgbClr val="12161B"/>
                    </a:solidFill>
                  </a:tcPr>
                </a:tc>
                <a:tc>
                  <a:txBody>
                    <a:bodyPr wrap="square"/>
                    <a:lstStyle/>
                    <a:p>
                      <a:pPr algn="l">
                        <a:lnSpc>
                          <a:spcPct val="105000"/>
                        </a:lnSpc>
                        <a:spcAft>
                          <a:spcPts val="0"/>
                        </a:spcAft>
                      </a:pPr>
                      <a:r>
                        <a:rPr sz="1100" b="0" i="0">
                          <a:solidFill>
                            <a:srgbClr val="E8ECF2"/>
                          </a:solidFill>
                          <a:latin typeface="Calibri"/>
                        </a:rPr>
                        <a:t>Not by default. The hosted runtime persists decision metadata, not raw prompts and responses; identifiers are hashed where possible. Retention requires explicit tenant-level configuration.</a:t>
                      </a:r>
                    </a:p>
                  </a:txBody>
                  <a:tcPr marL="91440" marR="91440" marT="45720" marB="45720" anchor="ctr">
                    <a:solidFill>
                      <a:srgbClr val="12161B"/>
                    </a:solidFill>
                  </a:tcPr>
                </a:tc>
              </a:tr>
              <a:tr h="640080">
                <a:tc>
                  <a:txBody>
                    <a:bodyPr wrap="square"/>
                    <a:lstStyle/>
                    <a:p>
                      <a:pPr algn="l">
                        <a:lnSpc>
                          <a:spcPct val="105000"/>
                        </a:lnSpc>
                        <a:spcAft>
                          <a:spcPts val="0"/>
                        </a:spcAft>
                      </a:pPr>
                      <a:r>
                        <a:rPr sz="1100" b="1" i="0">
                          <a:solidFill>
                            <a:srgbClr val="E8ECF2"/>
                          </a:solidFill>
                          <a:latin typeface="Calibri"/>
                        </a:rPr>
                        <a:t>Is the connector a hard security boundary?</a:t>
                      </a:r>
                    </a:p>
                  </a:txBody>
                  <a:tcPr marL="91440" marR="91440" marT="45720" marB="45720" anchor="ctr">
                    <a:solidFill>
                      <a:srgbClr val="161C23"/>
                    </a:solidFill>
                  </a:tcPr>
                </a:tc>
                <a:tc>
                  <a:txBody>
                    <a:bodyPr wrap="square"/>
                    <a:lstStyle/>
                    <a:p>
                      <a:pPr algn="l">
                        <a:lnSpc>
                          <a:spcPct val="105000"/>
                        </a:lnSpc>
                        <a:spcAft>
                          <a:spcPts val="0"/>
                        </a:spcAft>
                      </a:pPr>
                      <a:r>
                        <a:rPr sz="1100" b="0" i="0">
                          <a:solidFill>
                            <a:srgbClr val="E8ECF2"/>
                          </a:solidFill>
                          <a:latin typeface="Calibri"/>
                        </a:rPr>
                        <a:t>Not under cooperative integration — a team that installs its own connector can disable, remove, or misconfigure it. Platform-managed and network/IAM-enforced postures exist for workloads that need bypass resistance.</a:t>
                      </a:r>
                    </a:p>
                  </a:txBody>
                  <a:tcPr marL="91440" marR="91440" marT="45720" marB="45720" anchor="ctr">
                    <a:solidFill>
                      <a:srgbClr val="161C23"/>
                    </a:solidFill>
                  </a:tcPr>
                </a:tc>
              </a:tr>
              <a:tr h="585216">
                <a:tc>
                  <a:txBody>
                    <a:bodyPr wrap="square"/>
                    <a:lstStyle/>
                    <a:p>
                      <a:pPr algn="l">
                        <a:lnSpc>
                          <a:spcPct val="105000"/>
                        </a:lnSpc>
                        <a:spcAft>
                          <a:spcPts val="0"/>
                        </a:spcAft>
                      </a:pPr>
                      <a:r>
                        <a:rPr sz="1100" b="1" i="0">
                          <a:solidFill>
                            <a:srgbClr val="E8ECF2"/>
                          </a:solidFill>
                          <a:latin typeface="Calibri"/>
                        </a:rPr>
                        <a:t>Does it do user authorization?</a:t>
                      </a:r>
                    </a:p>
                  </a:txBody>
                  <a:tcPr marL="91440" marR="91440" marT="45720" marB="45720" anchor="ctr">
                    <a:solidFill>
                      <a:srgbClr val="12161B"/>
                    </a:solidFill>
                  </a:tcPr>
                </a:tc>
                <a:tc>
                  <a:txBody>
                    <a:bodyPr wrap="square"/>
                    <a:lstStyle/>
                    <a:p>
                      <a:pPr algn="l">
                        <a:lnSpc>
                          <a:spcPct val="105000"/>
                        </a:lnSpc>
                        <a:spcAft>
                          <a:spcPts val="0"/>
                        </a:spcAft>
                      </a:pPr>
                      <a:r>
                        <a:rPr sz="1100" b="0" i="0">
                          <a:solidFill>
                            <a:srgbClr val="E8ECF2"/>
                          </a:solidFill>
                          <a:latin typeface="Calibri"/>
                        </a:rPr>
                        <a:t>No. A decision that content appears safe does not determine whether this user may perform this action. Authentication, business authorization, tenant isolation, and approval workflows stay with the application.</a:t>
                      </a:r>
                    </a:p>
                  </a:txBody>
                  <a:tcPr marL="91440" marR="91440" marT="45720" marB="45720" anchor="ctr">
                    <a:solidFill>
                      <a:srgbClr val="12161B"/>
                    </a:solidFill>
                  </a:tcPr>
                </a:tc>
              </a:tr>
              <a:tr h="640080">
                <a:tc>
                  <a:txBody>
                    <a:bodyPr wrap="square"/>
                    <a:lstStyle/>
                    <a:p>
                      <a:pPr algn="l">
                        <a:lnSpc>
                          <a:spcPct val="105000"/>
                        </a:lnSpc>
                        <a:spcAft>
                          <a:spcPts val="0"/>
                        </a:spcAft>
                      </a:pPr>
                      <a:r>
                        <a:rPr sz="1100" b="1" i="0">
                          <a:solidFill>
                            <a:srgbClr val="E8ECF2"/>
                          </a:solidFill>
                          <a:latin typeface="Calibri"/>
                        </a:rPr>
                        <a:t>What happens on evaluation timeout?</a:t>
                      </a:r>
                    </a:p>
                  </a:txBody>
                  <a:tcPr marL="91440" marR="91440" marT="45720" marB="45720" anchor="ctr">
                    <a:solidFill>
                      <a:srgbClr val="161C23"/>
                    </a:solidFill>
                  </a:tcPr>
                </a:tc>
                <a:tc>
                  <a:txBody>
                    <a:bodyPr wrap="square"/>
                    <a:lstStyle/>
                    <a:p>
                      <a:pPr algn="l">
                        <a:lnSpc>
                          <a:spcPct val="105000"/>
                        </a:lnSpc>
                        <a:spcAft>
                          <a:spcPts val="0"/>
                        </a:spcAft>
                      </a:pPr>
                      <a:r>
                        <a:rPr sz="1100" b="0" i="0">
                          <a:solidFill>
                            <a:srgbClr val="E8ECF2"/>
                          </a:solidFill>
                          <a:latin typeface="Calibri"/>
                        </a:rPr>
                        <a:t>Whatever the workload's policy configures. Failure behaviour — timeout, detector unavailability, unresolved policy, control-plane outage — is a mandatory part of every policy, and the path taken is captured in the audit record.</a:t>
                      </a:r>
                    </a:p>
                  </a:txBody>
                  <a:tcPr marL="91440" marR="91440" marT="45720" marB="45720" anchor="ctr">
                    <a:solidFill>
                      <a:srgbClr val="161C23"/>
                    </a:solidFill>
                  </a:tcPr>
                </a:tc>
              </a:tr>
              <a:tr h="786384">
                <a:tc>
                  <a:txBody>
                    <a:bodyPr wrap="square"/>
                    <a:lstStyle/>
                    <a:p>
                      <a:pPr algn="l">
                        <a:lnSpc>
                          <a:spcPct val="105000"/>
                        </a:lnSpc>
                        <a:spcAft>
                          <a:spcPts val="0"/>
                        </a:spcAft>
                      </a:pPr>
                      <a:r>
                        <a:rPr sz="1100" b="1" i="0">
                          <a:solidFill>
                            <a:srgbClr val="E8ECF2"/>
                          </a:solidFill>
                          <a:latin typeface="Calibri"/>
                        </a:rPr>
                        <a:t>Who sees our observe-mode findings?</a:t>
                      </a:r>
                    </a:p>
                  </a:txBody>
                  <a:tcPr marL="91440" marR="91440" marT="45720" marB="45720" anchor="ctr">
                    <a:solidFill>
                      <a:srgbClr val="12161B"/>
                    </a:solidFill>
                  </a:tcPr>
                </a:tc>
                <a:tc>
                  <a:txBody>
                    <a:bodyPr wrap="square"/>
                    <a:lstStyle/>
                    <a:p>
                      <a:pPr algn="l">
                        <a:lnSpc>
                          <a:spcPct val="105000"/>
                        </a:lnSpc>
                        <a:spcAft>
                          <a:spcPts val="0"/>
                        </a:spcAft>
                      </a:pPr>
                      <a:r>
                        <a:rPr sz="1100" b="0" i="0">
                          <a:solidFill>
                            <a:srgbClr val="E8ECF2"/>
                          </a:solidFill>
                          <a:latin typeface="Calibri"/>
                        </a:rPr>
                        <a:t>The consuming team owns the review and is accountable for it; the guardrail team and security and governance are consulted. Decision metadata is stored in the provider-operated audit archive, scoped per tenant. No routing of a per-workload findings report to anyone else is defined, and no review tooling is specified.</a:t>
                      </a:r>
                    </a:p>
                  </a:txBody>
                  <a:tcPr marL="91440" marR="91440" marT="45720" marB="45720" anchor="ctr">
                    <a:solidFill>
                      <a:srgbClr val="12161B"/>
                    </a:solidFill>
                  </a:tcPr>
                </a:tc>
              </a:tr>
            </a:tbl>
          </a:graphicData>
        </a:graphic>
      </p:graphicFrame>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12161B"/>
        </a:solidFill>
        <a:effectLst/>
      </p:bgPr>
    </p:bg>
    <p:spTree>
      <p:nvGrpSpPr>
        <p:cNvPr id="1" name=""/>
        <p:cNvGrpSpPr/>
        <p:nvPr/>
      </p:nvGrpSpPr>
      <p:grpSpPr/>
      <p:sp>
        <p:nvSpPr>
          <p:cNvPr id="2" name="TextBox 1"/>
          <p:cNvSpPr txBox="1"/>
          <p:nvPr/>
        </p:nvSpPr>
        <p:spPr>
          <a:xfrm>
            <a:off x="685800" y="420624"/>
            <a:ext cx="10820095" cy="658368"/>
          </a:xfrm>
          <a:prstGeom prst="rect">
            <a:avLst/>
          </a:prstGeom>
          <a:noFill/>
        </p:spPr>
        <p:txBody>
          <a:bodyPr wrap="square" lIns="0" rIns="0" tIns="0" bIns="0" anchor="t">
            <a:spAutoFit/>
          </a:bodyPr>
          <a:lstStyle/>
          <a:p>
            <a:pPr algn="l">
              <a:lnSpc>
                <a:spcPct val="115000"/>
              </a:lnSpc>
              <a:spcAft>
                <a:spcPts val="0"/>
              </a:spcAft>
            </a:pPr>
            <a:r>
              <a:rPr sz="3000" b="1" i="0">
                <a:solidFill>
                  <a:srgbClr val="E8ECF2"/>
                </a:solidFill>
                <a:latin typeface="Calibri"/>
              </a:rPr>
              <a:t>Appendix — What onboarding involves</a:t>
            </a:r>
          </a:p>
        </p:txBody>
      </p:sp>
      <p:sp>
        <p:nvSpPr>
          <p:cNvPr id="3" name="Rectangle 2"/>
          <p:cNvSpPr/>
          <p:nvPr/>
        </p:nvSpPr>
        <p:spPr>
          <a:xfrm>
            <a:off x="685800" y="1188720"/>
            <a:ext cx="1234440" cy="41148"/>
          </a:xfrm>
          <a:prstGeom prst="rect">
            <a:avLst/>
          </a:prstGeom>
          <a:solidFill>
            <a:srgbClr val="5AA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298448"/>
            <a:ext cx="10820095" cy="365760"/>
          </a:xfrm>
          <a:prstGeom prst="rect">
            <a:avLst/>
          </a:prstGeom>
          <a:noFill/>
        </p:spPr>
        <p:txBody>
          <a:bodyPr wrap="square" lIns="0" rIns="0" tIns="0" bIns="0" anchor="t">
            <a:spAutoFit/>
          </a:bodyPr>
          <a:lstStyle/>
          <a:p>
            <a:pPr algn="l">
              <a:lnSpc>
                <a:spcPct val="115000"/>
              </a:lnSpc>
              <a:spcAft>
                <a:spcPts val="0"/>
              </a:spcAft>
            </a:pPr>
            <a:r>
              <a:rPr sz="1350" b="0" i="0">
                <a:solidFill>
                  <a:srgbClr val="98A4B3"/>
                </a:solidFill>
                <a:latin typeface="Calibri"/>
              </a:rPr>
              <a:t>Adopting a versioned policy for a workload — never adopting or controlling a team's gateway.</a:t>
            </a:r>
          </a:p>
        </p:txBody>
      </p:sp>
      <p:sp>
        <p:nvSpPr>
          <p:cNvPr id="5" name="TextBox 4"/>
          <p:cNvSpPr txBox="1"/>
          <p:nvPr/>
        </p:nvSpPr>
        <p:spPr>
          <a:xfrm>
            <a:off x="685800" y="6217920"/>
            <a:ext cx="10820095" cy="292608"/>
          </a:xfrm>
          <a:prstGeom prst="rect">
            <a:avLst/>
          </a:prstGeom>
          <a:noFill/>
        </p:spPr>
        <p:txBody>
          <a:bodyPr wrap="square" lIns="0" rIns="0" tIns="0" bIns="0" anchor="t">
            <a:spAutoFit/>
          </a:bodyPr>
          <a:lstStyle/>
          <a:p>
            <a:pPr algn="l">
              <a:lnSpc>
                <a:spcPct val="115000"/>
              </a:lnSpc>
              <a:spcAft>
                <a:spcPts val="0"/>
              </a:spcAft>
            </a:pPr>
            <a:r>
              <a:rPr sz="900" b="0" i="0">
                <a:solidFill>
                  <a:srgbClr val="98A4B3"/>
                </a:solidFill>
                <a:latin typeface="Calibri"/>
              </a:rPr>
              <a:t>AI Guardrails · design intent and delivery plan — nothing built or piloted today</a:t>
            </a:r>
          </a:p>
        </p:txBody>
      </p:sp>
      <p:sp>
        <p:nvSpPr>
          <p:cNvPr id="6" name="Rounded Rectangle 5"/>
          <p:cNvSpPr/>
          <p:nvPr/>
        </p:nvSpPr>
        <p:spPr>
          <a:xfrm>
            <a:off x="685800" y="2103120"/>
            <a:ext cx="1417320" cy="1234440"/>
          </a:xfrm>
          <a:prstGeom prst="roundRect">
            <a:avLst>
              <a:gd name="adj" fmla="val 8000"/>
            </a:avLst>
          </a:prstGeom>
          <a:solidFill>
            <a:srgbClr val="1D242C"/>
          </a:solidFill>
          <a:ln w="12700">
            <a:solidFill>
              <a:srgbClr val="2E3945"/>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lnSpc>
                <a:spcPct val="115000"/>
              </a:lnSpc>
              <a:spcAft>
                <a:spcPts val="200"/>
              </a:spcAft>
            </a:pPr>
            <a:r>
              <a:rPr sz="1200" b="1" i="0">
                <a:solidFill>
                  <a:srgbClr val="E8ECF2"/>
                </a:solidFill>
                <a:latin typeface="Calibri"/>
              </a:rPr>
              <a:t>Register</a:t>
            </a:r>
          </a:p>
          <a:p>
            <a:pPr algn="ctr">
              <a:lnSpc>
                <a:spcPct val="115000"/>
              </a:lnSpc>
              <a:spcAft>
                <a:spcPts val="200"/>
              </a:spcAft>
            </a:pPr>
            <a:r>
              <a:rPr sz="1050" b="0" i="0">
                <a:solidFill>
                  <a:srgbClr val="98A4B3"/>
                </a:solidFill>
                <a:latin typeface="Calibri"/>
              </a:rPr>
              <a:t>workload</a:t>
            </a:r>
          </a:p>
        </p:txBody>
      </p:sp>
      <p:sp>
        <p:nvSpPr>
          <p:cNvPr id="7" name="TextBox 6"/>
          <p:cNvSpPr txBox="1"/>
          <p:nvPr/>
        </p:nvSpPr>
        <p:spPr>
          <a:xfrm>
            <a:off x="685800" y="1874519"/>
            <a:ext cx="1417320" cy="228600"/>
          </a:xfrm>
          <a:prstGeom prst="rect">
            <a:avLst/>
          </a:prstGeom>
          <a:noFill/>
        </p:spPr>
        <p:txBody>
          <a:bodyPr wrap="square" lIns="0" rIns="0" tIns="0" bIns="0" anchor="t">
            <a:spAutoFit/>
          </a:bodyPr>
          <a:lstStyle/>
          <a:p>
            <a:pPr algn="ctr">
              <a:lnSpc>
                <a:spcPct val="115000"/>
              </a:lnSpc>
              <a:spcAft>
                <a:spcPts val="0"/>
              </a:spcAft>
            </a:pPr>
            <a:r>
              <a:rPr sz="1050" b="1" i="0">
                <a:solidFill>
                  <a:srgbClr val="98A4B3"/>
                </a:solidFill>
                <a:latin typeface="Calibri"/>
              </a:rPr>
              <a:t>1</a:t>
            </a:r>
          </a:p>
        </p:txBody>
      </p:sp>
      <p:cxnSp>
        <p:nvCxnSpPr>
          <p:cNvPr id="8" name="Connector 7"/>
          <p:cNvCxnSpPr/>
          <p:nvPr/>
        </p:nvCxnSpPr>
        <p:spPr>
          <a:xfrm>
            <a:off x="2112263" y="2715768"/>
            <a:ext cx="109729" cy="0"/>
          </a:xfrm>
          <a:prstGeom prst="line">
            <a:avLst/>
          </a:prstGeom>
          <a:ln w="19050">
            <a:solidFill>
              <a:srgbClr val="2E3945"/>
            </a:solidFill>
            <a:tailEnd type="triangle" w="med" len="med"/>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2231136" y="2103120"/>
            <a:ext cx="1417320" cy="1234440"/>
          </a:xfrm>
          <a:prstGeom prst="roundRect">
            <a:avLst>
              <a:gd name="adj" fmla="val 8000"/>
            </a:avLst>
          </a:prstGeom>
          <a:solidFill>
            <a:srgbClr val="1D242C"/>
          </a:solidFill>
          <a:ln w="12700">
            <a:solidFill>
              <a:srgbClr val="2E3945"/>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lnSpc>
                <a:spcPct val="115000"/>
              </a:lnSpc>
              <a:spcAft>
                <a:spcPts val="200"/>
              </a:spcAft>
            </a:pPr>
            <a:r>
              <a:rPr sz="1200" b="1" i="0">
                <a:solidFill>
                  <a:srgbClr val="E8ECF2"/>
                </a:solidFill>
                <a:latin typeface="Calibri"/>
              </a:rPr>
              <a:t>Select</a:t>
            </a:r>
          </a:p>
          <a:p>
            <a:pPr algn="ctr">
              <a:lnSpc>
                <a:spcPct val="115000"/>
              </a:lnSpc>
              <a:spcAft>
                <a:spcPts val="200"/>
              </a:spcAft>
            </a:pPr>
            <a:r>
              <a:rPr sz="1050" b="0" i="0">
                <a:solidFill>
                  <a:srgbClr val="98A4B3"/>
                </a:solidFill>
                <a:latin typeface="Calibri"/>
              </a:rPr>
              <a:t>policy</a:t>
            </a:r>
          </a:p>
        </p:txBody>
      </p:sp>
      <p:sp>
        <p:nvSpPr>
          <p:cNvPr id="10" name="TextBox 9"/>
          <p:cNvSpPr txBox="1"/>
          <p:nvPr/>
        </p:nvSpPr>
        <p:spPr>
          <a:xfrm>
            <a:off x="2231136" y="1874519"/>
            <a:ext cx="1417320" cy="228600"/>
          </a:xfrm>
          <a:prstGeom prst="rect">
            <a:avLst/>
          </a:prstGeom>
          <a:noFill/>
        </p:spPr>
        <p:txBody>
          <a:bodyPr wrap="square" lIns="0" rIns="0" tIns="0" bIns="0" anchor="t">
            <a:spAutoFit/>
          </a:bodyPr>
          <a:lstStyle/>
          <a:p>
            <a:pPr algn="ctr">
              <a:lnSpc>
                <a:spcPct val="115000"/>
              </a:lnSpc>
              <a:spcAft>
                <a:spcPts val="0"/>
              </a:spcAft>
            </a:pPr>
            <a:r>
              <a:rPr sz="1050" b="1" i="0">
                <a:solidFill>
                  <a:srgbClr val="98A4B3"/>
                </a:solidFill>
                <a:latin typeface="Calibri"/>
              </a:rPr>
              <a:t>2</a:t>
            </a:r>
          </a:p>
        </p:txBody>
      </p:sp>
      <p:cxnSp>
        <p:nvCxnSpPr>
          <p:cNvPr id="11" name="Connector 10"/>
          <p:cNvCxnSpPr/>
          <p:nvPr/>
        </p:nvCxnSpPr>
        <p:spPr>
          <a:xfrm>
            <a:off x="3657600" y="2715768"/>
            <a:ext cx="109728" cy="0"/>
          </a:xfrm>
          <a:prstGeom prst="line">
            <a:avLst/>
          </a:prstGeom>
          <a:ln w="19050">
            <a:solidFill>
              <a:srgbClr val="2E3945"/>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3776472" y="2103120"/>
            <a:ext cx="1417320" cy="1234440"/>
          </a:xfrm>
          <a:prstGeom prst="roundRect">
            <a:avLst>
              <a:gd name="adj" fmla="val 8000"/>
            </a:avLst>
          </a:prstGeom>
          <a:solidFill>
            <a:srgbClr val="1D242C"/>
          </a:solidFill>
          <a:ln w="12700">
            <a:solidFill>
              <a:srgbClr val="2E3945"/>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lnSpc>
                <a:spcPct val="115000"/>
              </a:lnSpc>
              <a:spcAft>
                <a:spcPts val="200"/>
              </a:spcAft>
            </a:pPr>
            <a:r>
              <a:rPr sz="1200" b="1" i="0">
                <a:solidFill>
                  <a:srgbClr val="E8ECF2"/>
                </a:solidFill>
                <a:latin typeface="Calibri"/>
              </a:rPr>
              <a:t>Generate</a:t>
            </a:r>
          </a:p>
          <a:p>
            <a:pPr algn="ctr">
              <a:lnSpc>
                <a:spcPct val="115000"/>
              </a:lnSpc>
              <a:spcAft>
                <a:spcPts val="200"/>
              </a:spcAft>
            </a:pPr>
            <a:r>
              <a:rPr sz="1050" b="0" i="0">
                <a:solidFill>
                  <a:srgbClr val="98A4B3"/>
                </a:solidFill>
                <a:latin typeface="Calibri"/>
              </a:rPr>
              <a:t>integration</a:t>
            </a:r>
          </a:p>
          <a:p>
            <a:pPr algn="ctr">
              <a:lnSpc>
                <a:spcPct val="115000"/>
              </a:lnSpc>
              <a:spcAft>
                <a:spcPts val="200"/>
              </a:spcAft>
            </a:pPr>
            <a:r>
              <a:rPr sz="1050" b="0" i="0">
                <a:solidFill>
                  <a:srgbClr val="98A4B3"/>
                </a:solidFill>
                <a:latin typeface="Calibri"/>
              </a:rPr>
              <a:t>manifest</a:t>
            </a:r>
          </a:p>
        </p:txBody>
      </p:sp>
      <p:sp>
        <p:nvSpPr>
          <p:cNvPr id="13" name="TextBox 12"/>
          <p:cNvSpPr txBox="1"/>
          <p:nvPr/>
        </p:nvSpPr>
        <p:spPr>
          <a:xfrm>
            <a:off x="3776472" y="1874519"/>
            <a:ext cx="1417320" cy="228600"/>
          </a:xfrm>
          <a:prstGeom prst="rect">
            <a:avLst/>
          </a:prstGeom>
          <a:noFill/>
        </p:spPr>
        <p:txBody>
          <a:bodyPr wrap="square" lIns="0" rIns="0" tIns="0" bIns="0" anchor="t">
            <a:spAutoFit/>
          </a:bodyPr>
          <a:lstStyle/>
          <a:p>
            <a:pPr algn="ctr">
              <a:lnSpc>
                <a:spcPct val="115000"/>
              </a:lnSpc>
              <a:spcAft>
                <a:spcPts val="0"/>
              </a:spcAft>
            </a:pPr>
            <a:r>
              <a:rPr sz="1050" b="1" i="0">
                <a:solidFill>
                  <a:srgbClr val="98A4B3"/>
                </a:solidFill>
                <a:latin typeface="Calibri"/>
              </a:rPr>
              <a:t>3</a:t>
            </a:r>
          </a:p>
        </p:txBody>
      </p:sp>
      <p:cxnSp>
        <p:nvCxnSpPr>
          <p:cNvPr id="14" name="Connector 13"/>
          <p:cNvCxnSpPr/>
          <p:nvPr/>
        </p:nvCxnSpPr>
        <p:spPr>
          <a:xfrm>
            <a:off x="5202936" y="2715768"/>
            <a:ext cx="109728" cy="0"/>
          </a:xfrm>
          <a:prstGeom prst="line">
            <a:avLst/>
          </a:prstGeom>
          <a:ln w="19050">
            <a:solidFill>
              <a:srgbClr val="2E3945"/>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5321808" y="2103120"/>
            <a:ext cx="1417320" cy="1234440"/>
          </a:xfrm>
          <a:prstGeom prst="roundRect">
            <a:avLst>
              <a:gd name="adj" fmla="val 8000"/>
            </a:avLst>
          </a:prstGeom>
          <a:solidFill>
            <a:srgbClr val="1D242C"/>
          </a:solidFill>
          <a:ln w="12700">
            <a:solidFill>
              <a:srgbClr val="2E3945"/>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lnSpc>
                <a:spcPct val="115000"/>
              </a:lnSpc>
              <a:spcAft>
                <a:spcPts val="200"/>
              </a:spcAft>
            </a:pPr>
            <a:r>
              <a:rPr sz="1200" b="1" i="0">
                <a:solidFill>
                  <a:srgbClr val="E8ECF2"/>
                </a:solidFill>
                <a:latin typeface="Calibri"/>
              </a:rPr>
              <a:t>Install</a:t>
            </a:r>
          </a:p>
          <a:p>
            <a:pPr algn="ctr">
              <a:lnSpc>
                <a:spcPct val="115000"/>
              </a:lnSpc>
              <a:spcAft>
                <a:spcPts val="200"/>
              </a:spcAft>
            </a:pPr>
            <a:r>
              <a:rPr sz="1050" b="0" i="0">
                <a:solidFill>
                  <a:srgbClr val="98A4B3"/>
                </a:solidFill>
                <a:latin typeface="Calibri"/>
              </a:rPr>
              <a:t>connector</a:t>
            </a:r>
          </a:p>
        </p:txBody>
      </p:sp>
      <p:sp>
        <p:nvSpPr>
          <p:cNvPr id="16" name="TextBox 15"/>
          <p:cNvSpPr txBox="1"/>
          <p:nvPr/>
        </p:nvSpPr>
        <p:spPr>
          <a:xfrm>
            <a:off x="5321808" y="1874519"/>
            <a:ext cx="1417320" cy="228600"/>
          </a:xfrm>
          <a:prstGeom prst="rect">
            <a:avLst/>
          </a:prstGeom>
          <a:noFill/>
        </p:spPr>
        <p:txBody>
          <a:bodyPr wrap="square" lIns="0" rIns="0" tIns="0" bIns="0" anchor="t">
            <a:spAutoFit/>
          </a:bodyPr>
          <a:lstStyle/>
          <a:p>
            <a:pPr algn="ctr">
              <a:lnSpc>
                <a:spcPct val="115000"/>
              </a:lnSpc>
              <a:spcAft>
                <a:spcPts val="0"/>
              </a:spcAft>
            </a:pPr>
            <a:r>
              <a:rPr sz="1050" b="1" i="0">
                <a:solidFill>
                  <a:srgbClr val="98A4B3"/>
                </a:solidFill>
                <a:latin typeface="Calibri"/>
              </a:rPr>
              <a:t>4</a:t>
            </a:r>
          </a:p>
        </p:txBody>
      </p:sp>
      <p:cxnSp>
        <p:nvCxnSpPr>
          <p:cNvPr id="17" name="Connector 16"/>
          <p:cNvCxnSpPr/>
          <p:nvPr/>
        </p:nvCxnSpPr>
        <p:spPr>
          <a:xfrm>
            <a:off x="6748272" y="2715768"/>
            <a:ext cx="109728" cy="0"/>
          </a:xfrm>
          <a:prstGeom prst="line">
            <a:avLst/>
          </a:prstGeom>
          <a:ln w="19050">
            <a:solidFill>
              <a:srgbClr val="2E3945"/>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6867144" y="2103120"/>
            <a:ext cx="1417320" cy="1234440"/>
          </a:xfrm>
          <a:prstGeom prst="roundRect">
            <a:avLst>
              <a:gd name="adj" fmla="val 8000"/>
            </a:avLst>
          </a:prstGeom>
          <a:solidFill>
            <a:srgbClr val="1D242C"/>
          </a:solidFill>
          <a:ln w="12700">
            <a:solidFill>
              <a:srgbClr val="2E3945"/>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lnSpc>
                <a:spcPct val="115000"/>
              </a:lnSpc>
              <a:spcAft>
                <a:spcPts val="200"/>
              </a:spcAft>
            </a:pPr>
            <a:r>
              <a:rPr sz="1200" b="1" i="0">
                <a:solidFill>
                  <a:srgbClr val="E8ECF2"/>
                </a:solidFill>
                <a:latin typeface="Calibri"/>
              </a:rPr>
              <a:t>Run in</a:t>
            </a:r>
          </a:p>
          <a:p>
            <a:pPr algn="ctr">
              <a:lnSpc>
                <a:spcPct val="115000"/>
              </a:lnSpc>
              <a:spcAft>
                <a:spcPts val="200"/>
              </a:spcAft>
            </a:pPr>
            <a:r>
              <a:rPr sz="1050" b="0" i="0">
                <a:solidFill>
                  <a:srgbClr val="98A4B3"/>
                </a:solidFill>
                <a:latin typeface="Calibri"/>
              </a:rPr>
              <a:t>observe mode</a:t>
            </a:r>
          </a:p>
        </p:txBody>
      </p:sp>
      <p:sp>
        <p:nvSpPr>
          <p:cNvPr id="19" name="TextBox 18"/>
          <p:cNvSpPr txBox="1"/>
          <p:nvPr/>
        </p:nvSpPr>
        <p:spPr>
          <a:xfrm>
            <a:off x="6867144" y="1874519"/>
            <a:ext cx="1417320" cy="228600"/>
          </a:xfrm>
          <a:prstGeom prst="rect">
            <a:avLst/>
          </a:prstGeom>
          <a:noFill/>
        </p:spPr>
        <p:txBody>
          <a:bodyPr wrap="square" lIns="0" rIns="0" tIns="0" bIns="0" anchor="t">
            <a:spAutoFit/>
          </a:bodyPr>
          <a:lstStyle/>
          <a:p>
            <a:pPr algn="ctr">
              <a:lnSpc>
                <a:spcPct val="115000"/>
              </a:lnSpc>
              <a:spcAft>
                <a:spcPts val="0"/>
              </a:spcAft>
            </a:pPr>
            <a:r>
              <a:rPr sz="1050" b="1" i="0">
                <a:solidFill>
                  <a:srgbClr val="98A4B3"/>
                </a:solidFill>
                <a:latin typeface="Calibri"/>
              </a:rPr>
              <a:t>5</a:t>
            </a:r>
          </a:p>
        </p:txBody>
      </p:sp>
      <p:cxnSp>
        <p:nvCxnSpPr>
          <p:cNvPr id="20" name="Connector 19"/>
          <p:cNvCxnSpPr/>
          <p:nvPr/>
        </p:nvCxnSpPr>
        <p:spPr>
          <a:xfrm>
            <a:off x="8293608" y="2715768"/>
            <a:ext cx="109728" cy="0"/>
          </a:xfrm>
          <a:prstGeom prst="line">
            <a:avLst/>
          </a:prstGeom>
          <a:ln w="19050">
            <a:solidFill>
              <a:srgbClr val="2E3945"/>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8412480" y="2103120"/>
            <a:ext cx="1417320" cy="1234440"/>
          </a:xfrm>
          <a:prstGeom prst="roundRect">
            <a:avLst>
              <a:gd name="adj" fmla="val 8000"/>
            </a:avLst>
          </a:prstGeom>
          <a:solidFill>
            <a:srgbClr val="1D242C"/>
          </a:solidFill>
          <a:ln w="12700">
            <a:solidFill>
              <a:srgbClr val="2E3945"/>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lnSpc>
                <a:spcPct val="115000"/>
              </a:lnSpc>
              <a:spcAft>
                <a:spcPts val="200"/>
              </a:spcAft>
            </a:pPr>
            <a:r>
              <a:rPr sz="1200" b="1" i="0">
                <a:solidFill>
                  <a:srgbClr val="E8ECF2"/>
                </a:solidFill>
                <a:latin typeface="Calibri"/>
              </a:rPr>
              <a:t>Review</a:t>
            </a:r>
          </a:p>
          <a:p>
            <a:pPr algn="ctr">
              <a:lnSpc>
                <a:spcPct val="115000"/>
              </a:lnSpc>
              <a:spcAft>
                <a:spcPts val="200"/>
              </a:spcAft>
            </a:pPr>
            <a:r>
              <a:rPr sz="1050" b="0" i="0">
                <a:solidFill>
                  <a:srgbClr val="98A4B3"/>
                </a:solidFill>
                <a:latin typeface="Calibri"/>
              </a:rPr>
              <a:t>evaluation</a:t>
            </a:r>
          </a:p>
          <a:p>
            <a:pPr algn="ctr">
              <a:lnSpc>
                <a:spcPct val="115000"/>
              </a:lnSpc>
              <a:spcAft>
                <a:spcPts val="200"/>
              </a:spcAft>
            </a:pPr>
            <a:r>
              <a:rPr sz="1050" b="0" i="0">
                <a:solidFill>
                  <a:srgbClr val="98A4B3"/>
                </a:solidFill>
                <a:latin typeface="Calibri"/>
              </a:rPr>
              <a:t>results</a:t>
            </a:r>
          </a:p>
        </p:txBody>
      </p:sp>
      <p:sp>
        <p:nvSpPr>
          <p:cNvPr id="22" name="TextBox 21"/>
          <p:cNvSpPr txBox="1"/>
          <p:nvPr/>
        </p:nvSpPr>
        <p:spPr>
          <a:xfrm>
            <a:off x="8412480" y="1874519"/>
            <a:ext cx="1417320" cy="228600"/>
          </a:xfrm>
          <a:prstGeom prst="rect">
            <a:avLst/>
          </a:prstGeom>
          <a:noFill/>
        </p:spPr>
        <p:txBody>
          <a:bodyPr wrap="square" lIns="0" rIns="0" tIns="0" bIns="0" anchor="t">
            <a:spAutoFit/>
          </a:bodyPr>
          <a:lstStyle/>
          <a:p>
            <a:pPr algn="ctr">
              <a:lnSpc>
                <a:spcPct val="115000"/>
              </a:lnSpc>
              <a:spcAft>
                <a:spcPts val="0"/>
              </a:spcAft>
            </a:pPr>
            <a:r>
              <a:rPr sz="1050" b="1" i="0">
                <a:solidFill>
                  <a:srgbClr val="98A4B3"/>
                </a:solidFill>
                <a:latin typeface="Calibri"/>
              </a:rPr>
              <a:t>6</a:t>
            </a:r>
          </a:p>
        </p:txBody>
      </p:sp>
      <p:cxnSp>
        <p:nvCxnSpPr>
          <p:cNvPr id="23" name="Connector 22"/>
          <p:cNvCxnSpPr/>
          <p:nvPr/>
        </p:nvCxnSpPr>
        <p:spPr>
          <a:xfrm>
            <a:off x="9838944" y="2715768"/>
            <a:ext cx="109728" cy="0"/>
          </a:xfrm>
          <a:prstGeom prst="line">
            <a:avLst/>
          </a:prstGeom>
          <a:ln w="19050">
            <a:solidFill>
              <a:srgbClr val="2E3945"/>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9957816" y="2103120"/>
            <a:ext cx="1417320" cy="1234440"/>
          </a:xfrm>
          <a:prstGeom prst="roundRect">
            <a:avLst>
              <a:gd name="adj" fmla="val 8000"/>
            </a:avLst>
          </a:prstGeom>
          <a:solidFill>
            <a:srgbClr val="1D242C"/>
          </a:solidFill>
          <a:ln w="12700">
            <a:solidFill>
              <a:srgbClr val="5AA0E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lnSpc>
                <a:spcPct val="115000"/>
              </a:lnSpc>
              <a:spcAft>
                <a:spcPts val="200"/>
              </a:spcAft>
            </a:pPr>
            <a:r>
              <a:rPr sz="1200" b="1" i="0">
                <a:solidFill>
                  <a:srgbClr val="E8ECF2"/>
                </a:solidFill>
                <a:latin typeface="Calibri"/>
              </a:rPr>
              <a:t>Enable</a:t>
            </a:r>
          </a:p>
          <a:p>
            <a:pPr algn="ctr">
              <a:lnSpc>
                <a:spcPct val="115000"/>
              </a:lnSpc>
              <a:spcAft>
                <a:spcPts val="200"/>
              </a:spcAft>
            </a:pPr>
            <a:r>
              <a:rPr sz="1050" b="0" i="0">
                <a:solidFill>
                  <a:srgbClr val="98A4B3"/>
                </a:solidFill>
                <a:latin typeface="Calibri"/>
              </a:rPr>
              <a:t>enforcement</a:t>
            </a:r>
          </a:p>
        </p:txBody>
      </p:sp>
      <p:sp>
        <p:nvSpPr>
          <p:cNvPr id="25" name="TextBox 24"/>
          <p:cNvSpPr txBox="1"/>
          <p:nvPr/>
        </p:nvSpPr>
        <p:spPr>
          <a:xfrm>
            <a:off x="9957816" y="1874519"/>
            <a:ext cx="1417320" cy="228600"/>
          </a:xfrm>
          <a:prstGeom prst="rect">
            <a:avLst/>
          </a:prstGeom>
          <a:noFill/>
        </p:spPr>
        <p:txBody>
          <a:bodyPr wrap="square" lIns="0" rIns="0" tIns="0" bIns="0" anchor="t">
            <a:spAutoFit/>
          </a:bodyPr>
          <a:lstStyle/>
          <a:p>
            <a:pPr algn="ctr">
              <a:lnSpc>
                <a:spcPct val="115000"/>
              </a:lnSpc>
              <a:spcAft>
                <a:spcPts val="0"/>
              </a:spcAft>
            </a:pPr>
            <a:r>
              <a:rPr sz="1050" b="1" i="0">
                <a:solidFill>
                  <a:srgbClr val="98A4B3"/>
                </a:solidFill>
                <a:latin typeface="Calibri"/>
              </a:rPr>
              <a:t>7</a:t>
            </a:r>
          </a:p>
        </p:txBody>
      </p:sp>
      <p:sp>
        <p:nvSpPr>
          <p:cNvPr id="26" name="Rounded Rectangle 25"/>
          <p:cNvSpPr/>
          <p:nvPr/>
        </p:nvSpPr>
        <p:spPr>
          <a:xfrm>
            <a:off x="685800" y="3703320"/>
            <a:ext cx="10820095" cy="1783080"/>
          </a:xfrm>
          <a:prstGeom prst="roundRect">
            <a:avLst>
              <a:gd name="adj" fmla="val 4000"/>
            </a:avLst>
          </a:prstGeom>
          <a:solidFill>
            <a:srgbClr val="161C23"/>
          </a:solidFill>
          <a:ln w="12700">
            <a:solidFill>
              <a:srgbClr val="E06C5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005840" y="3904487"/>
            <a:ext cx="10180015" cy="1463040"/>
          </a:xfrm>
          <a:prstGeom prst="rect">
            <a:avLst/>
          </a:prstGeom>
          <a:noFill/>
        </p:spPr>
        <p:txBody>
          <a:bodyPr wrap="square" lIns="0" rIns="0" tIns="0" bIns="0" anchor="t">
            <a:spAutoFit/>
          </a:bodyPr>
          <a:lstStyle/>
          <a:p>
            <a:pPr algn="l">
              <a:lnSpc>
                <a:spcPct val="115000"/>
              </a:lnSpc>
              <a:spcAft>
                <a:spcPts val="800"/>
              </a:spcAft>
            </a:pPr>
            <a:r>
              <a:rPr sz="1400" b="1" i="0">
                <a:solidFill>
                  <a:srgbClr val="E8ECF2"/>
                </a:solidFill>
                <a:latin typeface="Calibri"/>
              </a:rPr>
              <a:t>Onboarding never requires:</a:t>
            </a:r>
          </a:p>
          <a:p>
            <a:pPr algn="l">
              <a:lnSpc>
                <a:spcPct val="130000"/>
              </a:lnSpc>
              <a:spcAft>
                <a:spcPts val="800"/>
              </a:spcAft>
            </a:pPr>
            <a:r>
              <a:rPr sz="1300" b="0" i="0">
                <a:solidFill>
                  <a:srgbClr val="98A4B3"/>
                </a:solidFill>
                <a:latin typeface="Calibri"/>
              </a:rPr>
              <a:t>copying another team's LiteLLM database  ·  transferring model-provider credentials  ·  exposing gateway administration endpoints  ·  replacing model-routing configuration  ·  granting the guardrail provider administrative access to the team's gateway</a:t>
            </a:r>
          </a:p>
          <a:p>
            <a:pPr algn="l">
              <a:lnSpc>
                <a:spcPct val="115000"/>
              </a:lnSpc>
              <a:spcAft>
                <a:spcPts val="0"/>
              </a:spcAft>
            </a:pPr>
            <a:r>
              <a:rPr sz="1250" b="0" i="0">
                <a:solidFill>
                  <a:srgbClr val="E8ECF2"/>
                </a:solidFill>
                <a:latin typeface="Calibri"/>
              </a:rPr>
              <a:t>The configuration a team receives is a reviewable, version-controlled file — so what a workload is bound to is visible in that team's own repository rather than only in our console.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Application>AI Guardrails deck generator</Application>
  <PresentationFormat>Widescreen</PresentationFormat>
  <Company/>
  <Manager/>
  <ScaleCrop>false</ScaleCrop>
  <LinksUpToDate>false</LinksUpToDate>
  <SharedDoc>false</SharedDoc>
  <HyperlinksChanged>false</HyperlinksChanged>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 Guardrails — Security and compliance leadership</dc:title>
  <dc:subject>Approve which deployment modes may carry which data classes</dc:subject>
  <dc:creator>AI Guardrails — generated from solution-docs</dc:creator>
  <cp:keywords/>
  <dc:description>Generated from the solution-docs set. Rebuild rather than edit — hand edits are overwritten.</dc:description>
  <cp:lastModifiedBy>AI Guardrails — generated from solution-docs</cp:lastModifiedBy>
  <cp:revision>1</cp:revision>
  <dcterms:created xsi:type="dcterms:W3CDTF">2026-07-26T00:00:00Z</dcterms:created>
  <dcterms:modified xsi:type="dcterms:W3CDTF">2026-07-26T00:00:00Z</dcterms:modified>
  <cp:category>Internal</cp:category>
  <cp:contentStatus>Draft — design intent and delivery plan; nothing built or piloted</cp:contentStatus>
  <dc:language>en</dc:language>
</cp:coreProperties>
</file>