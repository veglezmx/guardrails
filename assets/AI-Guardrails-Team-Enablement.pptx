
<file path=[Content_Types].xml><?xml version="1.0" encoding="utf-8"?>
<Types xmlns="http://schemas.openxmlformats.org/package/2006/content-types">
  <Default Extension="bin" ContentType="application/vnd.openxmlformats-officedocument.presentationml.printerSetting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DECK-VARIANTS.md §5 (audience, decision, format, and the deck's careful points); VISUAL-DIRECTION.md §8 speaker-note contract; the independence requirement is MVP-01 in SUCCESS-CRITERIA.md §1.2 with VAL-002 in VALIDATION-PLAN.md; the LiteLLM prerequisite is AGR-003; escalation targets follow the ownership groups in TEAM-AND-OWNERSHIP.md §1.</a:t>
            </a:r>
          </a:p>
          <a:p>
            <a:r>
              <a:t>CAVEAT NOT ON SLIDE — Nothing on this slide is audience-facing and none of it is sourced from a register — the blanks are engagement facts that only the person running the session can fill. If they cannot be filled, the honest move is to postpone rather than to improvise them live.</a:t>
            </a:r>
          </a:p>
          <a:p>
            <a:r>
              <a:t>TALK TRACK — Read this before the meeting, not during it. It is marked skipped in slideshow, so it will not appear when presenting, but check that before you share the file.</a:t>
            </a:r>
          </a:p>
          <a:p>
            <a:r>
              <a:t>IF ASKED — n/a — presenter-only slide.</a:t>
            </a:r>
          </a:p>
          <a:p>
            <a:r>
              <a:t>PREP — If more than two of the five items on the left are unknown at the time of the session, the meeting is premature: the team will ask all five within the first ten minutes and unanswered ones compound. Postponing costs a week; an unconvincing first session costs the pilot.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DECK-VARIANTS.md §5; the two-independent-instance requirement is MVP-01 in SUCCESS-CRITERIA.md §1.2, resting on the unvalidated assumptions ASM-002 and ASM-003.</a:t>
            </a:r>
          </a:p>
          <a:p>
            <a:r>
              <a:t>CAVEAT NOT ON SLIDE — This team volunteering is a currently unvalidated assumption that gates the first phase. If they decline, that is a real finding to carry back, not a failed meeting.</a:t>
            </a:r>
          </a:p>
          <a:p>
            <a:r>
              <a:t>TALK TRACK — Open by naming the cost honestly. This audience has been asked for effort before by a platform team and has learned to look for what was left out — leading with the cost is what earns the rest of the session.</a:t>
            </a:r>
          </a:p>
          <a:p>
            <a:r>
              <a:t>IF ASKED — 'Is this already running somewhere?' — No. Nothing is built. You would be the first workload, which is why we are asking rather than announcing.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The two-instance requirement is MVP-01, observe mode is MVP-04, both in SUCCESS-CRITERIA.md §1.2 and gated as VAL-002 in VALIDATION-PLAN.md; the LiteLLM connector as first gateway integration and the generic API for everything else are AGR-003 with INTEGRATION-ARCHITECTURE.md §5; observe-first is AGR-011; the exclusions are AGR-019; the assumption that a second team volunteers is ASM-002/ASM-003.</a:t>
            </a:r>
          </a:p>
          <a:p>
            <a:r>
              <a:t>CAVEAT NOT ON SLIDE — Independence is organizational, not just technical — two instances run by the same team would not demonstrate what the phase exists to prove. If this team is inside the same reporting line as the proposing team, that is worth surfacing now rather than at validation.</a:t>
            </a:r>
          </a:p>
          <a:p>
            <a:r>
              <a:t>TALK TRACK — Four asks, then the exclusion list. The exclusion list is what most of the room is actually listening for.</a:t>
            </a:r>
          </a:p>
          <a:p>
            <a:r>
              <a:t>IF ASKED — 'How long are we committing for?' — Through the observe-mode review. No calendar dates exist in the plan yet, and I will not invent one.</a:t>
            </a:r>
          </a:p>
          <a:p>
            <a:r>
              <a:t>PREP — Establish before the session whether this team actually runs LiteLLM, and roughly which version. The whole ask is written against MVP-01's two-LiteLLM-instance wording; a team on another gateway can still integrate via the generic API, but it cannot be the second instance and the meeting becomes a different conversation. Also confirm the reporting line — if it converges with the proposing team's above the engineering-manager level, organizational independence is not satisfied and that has to be said in the room, not discovered at validation.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Application-team benefits per TARGET-USERS.md §3 ('what the product gives them'); latency as a first-class decision field INTEGRATION-ARCHITECTURE.md §3.6 and NFR-PERF-001 through NFR-PERF-006; observe-mode measurement AGR-011 and FAQ.md; the undecided items are OQ-014 (promotion criteria) and OQ-022 (connector support window); false-positive review as an ongoing metric with no defined workflow SUCCESS-CRITERIA.md §2.3.</a:t>
            </a:r>
          </a:p>
          <a:p>
            <a:r>
              <a:t>CAVEAT NOT ON SLIDE — None of these benefits is measured or demonstrated — they are the designed intent of observe mode, offered to a team that will be generating the first evidence for them. Do not let 'you get a measured picture' harden into a claim that the measurement pipeline exists today.</a:t>
            </a:r>
          </a:p>
          <a:p>
            <a:r>
              <a:t>TALK TRACK — This is the only slide in the deck arguing for a yes, and it comes straight after the cost. Deliver it as an exchange, not as a benefit pitch: they carry two synchronous calls and a security review, and they get data and influence in return. If the room does not accept that trade, the rest of the session will not fix it.</a:t>
            </a:r>
          </a:p>
          <a:p>
            <a:r>
              <a:t>IF ASKED — 'Could we get the same data by just logging our own prompts?' — Partly, and honestly say so. What you would not get is normalized reason codes, a category taxonomy that survives a change of detection engine, and a policy version attached to every finding.</a:t>
            </a:r>
          </a:p>
          <a:p>
            <a:r>
              <a:t>PREP — Find out beforehand whether this team has already had an AI-safety incident, a red-team finding, or an awkward question from security about their model traffic. If they have, that is the concrete version of the first bullet and it should lead. If they have not, do not manufacture one — lead with the third and fourth bullets instead, which are about control rather than risk.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Product statement in substance from CLAIMS-REGISTER.md; standalone platform AGR-001; the policy/connector split AGR-007 with the artifact-level statement in ADR-0008 §5 and the configuration boundary in ADR-0012 §4; decision structure AGR-017; content-scope limitation DATA-ARCHITECTURE.md §3.3.</a:t>
            </a:r>
          </a:p>
          <a:p>
            <a:r>
              <a:t>CAVEAT NOT ON SLIDE — The connector is provider code running inside their process with access to their users' content. Their security review of that artifact is a legitimate onboarding step, and the published documentation is written to be reviewed — say so before they have to ask.</a:t>
            </a:r>
          </a:p>
          <a:p>
            <a:r>
              <a:t>TALK TRACK — Keep this to the mental model. The detail they want is in the next three slides, and pre-empting it here makes this one dense.</a:t>
            </a:r>
          </a:p>
          <a:p>
            <a:r>
              <a:t>IF ASKED — 'Does it sit in front of our gateway?' — No. It is called by your gateway. Your model call never transits our infrastructure in this mode.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Request sequence per INTEGRATION-ARCHITECTURE.md §4.1; correlation and per-stage timeouts §4.4; mandatory timeouts CON-016; status semantics — a block is a completed evaluation, not an error — ADR-0005 §6; the missing numbers are ASM-011.</a:t>
            </a:r>
          </a:p>
          <a:p>
            <a:r>
              <a:t>CAVEAT NOT ON SLIDE — On block at the input stage the connector returns a safe rejection without calling the model; on block at the output stage it returns a safe fallback instead of the model's response. In observe mode neither happens — the decision is recorded and the original content passes through.</a:t>
            </a:r>
          </a:p>
          <a:p>
            <a:r>
              <a:t>TALK TRACK — Draw the two extra hops and then say the honest thing about latency: we do not know yet, and their traffic is how we find out. That is a real cost and pretending otherwise damages everything after it.</a:t>
            </a:r>
          </a:p>
          <a:p>
            <a:r>
              <a:t>IF ASKED — 'What does this add to our p95?' — Unmeasured. Two synchronous calls, each with a configured timeout, and no target set. We would measure it on your traffic in observe mode before anyone talks about enforcement.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DEPLOYMENT-ARCHITECTURE.md §2.1 topology and §2.3 content exposure; framing mandated by AGR-009; retention default AGR-014 and CON-014; the two other modes are AGR-002 and land in Phases 3 and 4.</a:t>
            </a:r>
          </a:p>
          <a:p>
            <a:r>
              <a:t>CAVEAT NOT ON SLIDE — If this team's workload carries regulated or residency-bound content, Remote Evaluation is the wrong home for it and there is no interim configuration that fixes that. The customer-managed runtime is Phase 4 — do not offer it as an option available to them now.</a:t>
            </a:r>
          </a:p>
          <a:p>
            <a:r>
              <a:t>TALK TRACK — State the exposure before they ask. A pilot team that discovers this later feels misled, and they would be right to.</a:t>
            </a:r>
          </a:p>
          <a:p>
            <a:r>
              <a:t>IF ASKED — 'Does our content leave our environment?' — Yes, on every evaluated call, to the evaluation service. Your model call does not — that stays entirely in your environment with your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Distribution, integrity and documented privilege per ADR-0008 §1, §3, §4, §5; the manifest is ADR-0006 §1 file-not-screen, §2 derived-not-authoritative, §3 required contents, §4 prohibited contents enforcing AGR-019; client configuration retrieval ADR-0012 §1 and §5.</a:t>
            </a:r>
          </a:p>
          <a:p>
            <a:r>
              <a:t>CAVEAT NOT ON SLIDE — A client that has never retrieved its configuration and was given none refuses to evaluate rather than allowing. That is deliberate — defaulting to allow would silently disable guardrails for a workload whose owner believes they are on. Expect this to be challenged as an outage risk.</a:t>
            </a:r>
          </a:p>
          <a:p>
            <a:r>
              <a:t>TALK TRACK — Both panels answer the same underlying question: what am I being asked to trust inside my own process. Let them read rather than narrating every line.</a:t>
            </a:r>
          </a:p>
          <a:p>
            <a:r>
              <a:t>IF ASKED — 'Can we review the connector source?' — Not decided in the material I have. What is committed is a published artifact with verifiable integrity and a documented description of what it does in your process.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AGR-019 meaning of import; sequence in PRODUCT-OVERVIEW.md §8; the pending-verification state and the stale-workload signal are ADR-0007 §4 and §5; approved wording CLAIMS-REGISTER.md §2 and §10.</a:t>
            </a:r>
          </a:p>
          <a:p>
            <a:r>
              <a:t>CAVEAT NOT ON SLIDE — This flow is multi-step and reviewed. It is not one-click, instant, or zero-configuration, and the claims register prohibits describing it that way — including verbally in this room.</a:t>
            </a:r>
          </a:p>
          <a:p>
            <a:r>
              <a:t>TALK TRACK — Walk the steps quickly; spend the time on the verification state, because it is the part that catches a botched install before it becomes a false sense of coverage.</a:t>
            </a:r>
          </a:p>
          <a:p>
            <a:r>
              <a:t>IF ASKED — 'What if we install it and forget?' — A bound workload that stops producing evaluations is marked stale and reported. The interval is configured per workload, since a batch job and an interactive service cannot share a threshold.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AGR-011 observe-before-enforce; state on the binding and clamping semantics ADR-0004 §1, §2, §5; the warn state is distinguished by a decision field per §3; PRINCIPLES.md §5.6; the undefined promotion criteria are OQ-014.</a:t>
            </a:r>
          </a:p>
          <a:p>
            <a:r>
              <a:t>CAVEAT NOT ON SLIDE — Security and governance own policy approval; this team accepts enforcement for its own workload. Neither side can promote silently. What is not yet defined is the evidence that justifies promotion — that gap is real and they should hear it from us.</a:t>
            </a:r>
          </a:p>
          <a:p>
            <a:r>
              <a:t>TALK TRACK — This slide removes the objection they came in with. Say plainly that nothing they own gets blocked without their agreement, then let the clamping detail do the rest.</a:t>
            </a:r>
          </a:p>
          <a:p>
            <a:r>
              <a:t>IF ASKED — 'Could someone promote us without asking?' — No. Promotion is an explicit audited transition and the consuming team accepts enforcement. The criteria for making that call are not yet defined, which is one of the things we would want your input 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Decision structure INTEGRATION-ARCHITECTURE.md §3.3 and ADR-0005 §5; reason-code namespacing ADR-0003 and DEC-013; enforcement_state on the decision ADR-0004 §3; the durable record fields DATA-ARCHITECTURE.md §4; review accountability and the consulted/informed split TEAM-AND-OWNERSHIP.md §3.4; tenant isolation of stored records CON-011; the absent review workflow SUCCESS-CRITERIA.md §2.3 (false-positive review rate, TBD).</a:t>
            </a:r>
          </a:p>
          <a:p>
            <a:r>
              <a:t>CAVEAT NOT ON SLIDE — In observe the clamping changes the action to log_only but leaves findings and reason codes untouched. That is what makes observe-mode review real measurement rather than a rehearsal — worth saying, because a team that thinks observe is a dry run will not take the review seriously.</a:t>
            </a:r>
          </a:p>
          <a:p>
            <a:r>
              <a:t>TALK TRACK — This is the slide that turns 'run it in observe' into something concrete. Spend time on the reason-code row: it is what their false-positive review is actually made of.</a:t>
            </a:r>
          </a:p>
          <a:p>
            <a:r>
              <a:t>IF ASKED — 'How do we know a finding is a false positive?' — You look at the reason code and the content it fired on. There is no tooling specified for that review yet, which is a gap we would want your help scoping.</a:t>
            </a:r>
          </a:p>
          <a:p>
            <a:r>
              <a:t>PREP — The findings-visibility panel is the political question of the session, and it usually arrives phrased as something else ('who gets the report?'). Before the meeting, find out whether the sponsor intends any cross-team or leadership reporting of pilot findings. If the answer is yes, say so here rather than letting the panel imply otherwise; if nobody has decided, say that, and record it as a question the team has asked. Never answer it by guessing.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AGR-012 enumerates the failure modes; no-default schema rule ADR-0009 §4; the client keeps its last configuration per ADR-0012 §3, and refuses without one per §2; the same table is OPERABILITY.md §7; client-synthesized records and their bounded store are ADR-0014 §3.</a:t>
            </a:r>
          </a:p>
          <a:p>
            <a:r>
              <a:t>CAVEAT NOT ON SLIDE — Client-origin records are explicitly not evidentiary — they say what a client reports having done, not what the platform observed, and delivery is best-effort because records can be lost if the process dies. Do not let this team believe their audit trail is complete through an outage.</a:t>
            </a:r>
          </a:p>
          <a:p>
            <a:r>
              <a:t>TALK TRACK — This is where a sceptical engineer decides whether we have thought it through. The second bullet — bounded, lossy, and honest about it — usually does more than the table above it.</a:t>
            </a:r>
          </a:p>
          <a:p>
            <a:r>
              <a:t>IF ASKED — 'What happens in observe if the service is down?' — Whatever your policy configures for a timeout. In observe nothing was going to be blocked anyway, so the practical answer is that traffic proceeds and the gap is recorded.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TEAM-AND-OWNERSHIP.md §2.4 consuming-team responsibilities and §3.4 the onboarding responsibility matrix; connector non-responsibilities INTEGRATION-ARCHITECTURE.md §4.3; the authorization boundary AGR-010; the onboarding boundary AGR-019.</a:t>
            </a:r>
          </a:p>
          <a:p>
            <a:r>
              <a:t>CAVEAT NOT ON SLIDE — Ownership shifts if they ever move to the customer-managed runtime — they would then also own runtime infrastructure, availability, upgrades and local audit storage. Not relevant to this pilot, but relevant if they ask about later phases.</a:t>
            </a:r>
          </a:p>
          <a:p>
            <a:r>
              <a:t>TALK TRACK — Read the fourth item in the left column deliberately. Teams routinely assume a guardrail layer takes over some of their authorization surface; it does not, and finding that out later is expensive.</a:t>
            </a:r>
          </a:p>
          <a:p>
            <a:r>
              <a:t>IF ASKED — 'Is this an ongoing cost or a setup cost?' — Both, but the ongoing part is small: keep the connector healthy, keep the registration accurate, review findings before enforcement. The setup part is installation and review.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SUCCESS-CRITERIA.md §1.2 criteria MVP-01 through MVP-05 as summarised here, MVP-06 through MVP-09 in the panel, §1.3 the gating rule; milestones in VALIDATION-PLAN.md; phase gating AGR-020.</a:t>
            </a:r>
          </a:p>
          <a:p>
            <a:r>
              <a:t>CAVEAT NOT ON SLIDE — Verification method, environment and sign-off owner per criterion are not yet defined — a delivery-plan gap owed before the first phase exits. If this team asks who signs off their part, the honest answer is that it is not assigned.</a:t>
            </a:r>
          </a:p>
          <a:p>
            <a:r>
              <a:t>TALK TRACK — Frame this as what their effort buys, not as a test they might fail. Then be explicit that the demonstration has not been run by anyone.</a:t>
            </a:r>
          </a:p>
          <a:p>
            <a:r>
              <a:t>IF ASKED — 'What if the demonstration fails?' — Then the phase is not validated and the next one is not committed. That is the point of running it, and a negative result is a real outcome rather than an embarrassment.</a:t>
            </a:r>
          </a:p>
          <a:p>
            <a:r>
              <a:t>PREP — The green panel is the half of this slide that belongs to them, and it is the half a presenter who did not write the deck tends to skip. Read it out. If the room hears only the four platform criteria, the slide lands as 'here is the exam we are setting you' and the ask two slides later gets harder, not easier.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The numeric gaps are ASM-011 (latency) and ASM-012 (availability); the synchronous pre- and post-call sequence with no sampling or shadow path is INTEGRATION-ARCHITECTURE.md §4.1 and §4.4 — the absence is the source, no asynchronous evaluation option appears anywhere in the material; promotion criteria OQ-014; connector support window OQ-022; the cooperative posture and its residual bypass risk are AGR-018 with ASM-005; verification ownership gaps in VALIDATION-PLAN.md.</a:t>
            </a:r>
          </a:p>
          <a:p>
            <a:r>
              <a:t>CAVEAT NOT ON SLIDE — Do not soften any of these under pressure to close the commitment. A pilot team that agrees on a softened description will withdraw at the first contradiction, and that costs the phase more than a slower yes.</a:t>
            </a:r>
          </a:p>
          <a:p>
            <a:r>
              <a:t>TALK TRACK — This is the credibility slide. Deliver it flatly, without apology and without over-explaining — the list is the point.</a:t>
            </a:r>
          </a:p>
          <a:p>
            <a:r>
              <a:t>IF ASKED — 'Why would we take this on?' — Because the alternative is that guardrails arrive as a mandate designed without you. Piloting is how the constraints that matter to your team get into the design while it is still cheap to change.</a:t>
            </a:r>
          </a:p>
          <a:p>
            <a:r>
              <a:t>PREP — Row two is the one most likely to end the meeting, so know in advance whether this team's workload is latency-sensitive — an interactive assistant and a nightly batch job hear that row completely differently. If they are latency-sensitive and push back, do not invent an asynchronous option: none is designed. Take it away as a requirement with their name on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Step one is the 'important distinction' in VALIDATION-PLAN.md VAL-002 — the engineering execution of the two-instance test is Guardrails-team-owned and may use a simulated stand-in, separate from securing two real teams, which is what retires ASM-002/ASM-003; steps two to four are the AGR-019 onboarding flow with connector distribution and integrity per ADR-0008 §1 and §3; the Pilot gate definition in VALIDATION-PLAN.md is the first real workload on a hosted mode; promotion is AGR-011 with its criteria still open as OQ-014.</a:t>
            </a:r>
          </a:p>
          <a:p>
            <a:r>
              <a:t>CAVEAT NOT ON SLIDE — This sequence is the plan's shape, not a schedule anyone has committed to, and the whole of it sits behind the Phase 1–2 approval gate. Do not let 'four steps' be heard as 'four sprints'.</a:t>
            </a:r>
          </a:p>
          <a:p>
            <a:r>
              <a:t>TALK TRACK — Put this immediately before the ask. The commitment they are being asked for is only answerable once they can see what it triggers — an engineering manager cannot say yes to an open-ended sequence, and until this slide existed the deck was asking exactly that.</a:t>
            </a:r>
          </a:p>
          <a:p>
            <a:r>
              <a:t>IF ASKED — 'When does step two happen?' — Unknown, and I will not invent it. What I can tell you is the order and the trigger for each step, and that nothing lands in your environment until your own review has finished.</a:t>
            </a:r>
          </a:p>
          <a:p>
            <a:r>
              <a:t>PREP — Before the session, establish where step one actually stands — whether the stand-in rig exists, is being built, or is unstarted — and say so plainly. This is the slide where a presenter who does not know the engineering state gets caught, and 'I do not know, I will find out' is a far cheaper answer than an optimistic one that the team checks later.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DECK-VARIANTS.md §5 (the decision this deck asks for); observe-first AGR-011; the two-instance criterion MVP-01 in SUCCESS-CRITERIA.md §1.2; the assumption that a second team volunteers is ASM-002/ASM-003; the exit statement rests on AGR-018 — under cooperative integration the consuming team can disable, remove or misconfigure its own connector — and on OPERABILITY.md §6.4, where connector-health telemetry stopping is read as a bypass signal rather than treated as a control.</a:t>
            </a:r>
          </a:p>
          <a:p>
            <a:r>
              <a:t>CAVEAT NOT ON SLIDE — This team declining is a legitimate outcome that invalidates a load-bearing assumption behind the first phase. Report it as a finding rather than renegotiating the ask downward in the room.</a:t>
            </a:r>
          </a:p>
          <a:p>
            <a:r>
              <a:t>TALK TRACK — Make the ask, name what they are not agreeing to, and stop. The second column is what makes the first one answerable today.</a:t>
            </a:r>
          </a:p>
          <a:p>
            <a:r>
              <a:t>IF ASKED — 'Can we decide after our security review?' — Yes, and that is the expected sequence. What we need today is whether you are willing to run the review at all.</a:t>
            </a:r>
          </a:p>
          <a:p>
            <a:r>
              <a:t>PREP — Know before the room who the named contact on our side is, and who answers each kind of follow-up: policy content and approval go to security and governance, the contract and the connector to the guardrail team, availability and infrastructure to platform operations. Leaving with a question and no owner attached to it is how a pilot commitment quietly decays. The exit panel is not a throwaway — read it, because a team that can see the way out commits faster than one that cannot.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DECK-VARIANTS.md §5 appendix list.</a:t>
            </a:r>
          </a:p>
          <a:p>
            <a:r>
              <a:t>CAVEAT NOT ON SLIDE — The appendix exists for follow-ups, not for filling time. This session works better short.</a:t>
            </a:r>
          </a:p>
          <a:p>
            <a:r>
              <a:t>TALK TRACK — Pause. If there is a named contact and a candidate workload, stop here.</a:t>
            </a:r>
          </a:p>
          <a:p>
            <a:r>
              <a:t>IF ASKED — n/a — divider slide.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AGR-002 three modes; per-mode ownership DEPLOYMENT-ARCHITECTURE.md §2–§4; phase sequencing AGR-020 and PRODUCT-ROADMAP.md.</a:t>
            </a:r>
          </a:p>
          <a:p>
            <a:r>
              <a:t>CAVEAT NOT ON SLIDE — The policy and the contract are the same across modes, so a workload that later moves to a different mode does not have its policy re-approved. That is the portability claim, and it is the reason the pilot is not a dead end.</a:t>
            </a:r>
          </a:p>
          <a:p>
            <a:r>
              <a:t>TALK TRACK — Reach for this if the team asks whether they are locking themselves into the hosted path.</a:t>
            </a:r>
          </a:p>
          <a:p>
            <a:r>
              <a:t>IF ASKED — 'If we later need in-account evaluation, do we start over?' — No. The policy and the connector contract do not change; the runtime's location does.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AGR-017 core domain model; per-entity attributes DATA-ARCHITECTURE.md §1.2–§1.7 and GLOSSARY.md.</a:t>
            </a:r>
          </a:p>
          <a:p>
            <a:r>
              <a:t>CAVEAT NOT ON SLIDE — The binding is the one people miss, and it is the one that matters most to this team: it is where their enforcement state lives, which is why another team's state cannot affect theirs.</a:t>
            </a:r>
          </a:p>
          <a:p>
            <a:r>
              <a:t>TALK TRACK — Use this if workload, policy and binding start being used interchangeably.</a:t>
            </a:r>
          </a:p>
          <a:p>
            <a:r>
              <a:t>IF ASKED — 'What exactly is a workload?' — The application or service using guardrails, with its owner, environment, risk classification, gateway type, assigned policy and enforcement mode.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SOURCING — FAQ.md — the pairs most likely to be raised; the first five trace to AGR-009, AGR-014, AGR-018, AGR-010 and AGR-012 respectively, and the findings-visibility pair to the TEAM-AND-OWNERSHIP.md §3.4 responsibility matrix.</a:t>
            </a:r>
          </a:p>
          <a:p>
            <a:r>
              <a:t>CAVEAT NOT ON SLIDE — Answer the one that was asked and stop. This audience reads a recited table as a prepared defence rather than an answer.</a:t>
            </a:r>
          </a:p>
          <a:p>
            <a:r>
              <a:t>TALK TRACK — Only surface this if something lands that the main sequence did not cover.</a:t>
            </a:r>
          </a:p>
          <a:p>
            <a:r>
              <a:t>IF ASKED — If a question arrives that is not here and not in the source material, say it is not decided and take it away. Improvising a commitment to a pilot team is the most expensive place to do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Presenter brief — hidden slide, not projected</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Marked skipped in slideshow. Fill in the blanks below before the session; do not present this deck with them unfilled.</a:t>
            </a:r>
          </a:p>
        </p:txBody>
      </p:sp>
      <p:sp>
        <p:nvSpPr>
          <p:cNvPr id="5" name="Rounded Rectangle 4"/>
          <p:cNvSpPr/>
          <p:nvPr/>
        </p:nvSpPr>
        <p:spPr>
          <a:xfrm>
            <a:off x="685800" y="1801368"/>
            <a:ext cx="5760720" cy="39319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85800" y="1801368"/>
            <a:ext cx="5760720" cy="438912"/>
          </a:xfrm>
          <a:prstGeom prst="roundRect">
            <a:avLst>
              <a:gd name="adj" fmla="val 8000"/>
            </a:avLst>
          </a:prstGeom>
          <a:solidFill>
            <a:srgbClr val="2B4A69"/>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1" i="0">
                <a:solidFill>
                  <a:srgbClr val="E8ECF2"/>
                </a:solidFill>
                <a:latin typeface="Calibri"/>
              </a:rPr>
              <a:t>ESTABLISH BEFORE THE ROOM</a:t>
            </a:r>
          </a:p>
        </p:txBody>
      </p:sp>
      <p:sp>
        <p:nvSpPr>
          <p:cNvPr id="7" name="Rectangle 6"/>
          <p:cNvSpPr/>
          <p:nvPr/>
        </p:nvSpPr>
        <p:spPr>
          <a:xfrm>
            <a:off x="923544" y="2537460"/>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97864" y="2459736"/>
            <a:ext cx="5047488" cy="365760"/>
          </a:xfrm>
          <a:prstGeom prst="rect">
            <a:avLst/>
          </a:prstGeom>
          <a:noFill/>
        </p:spPr>
        <p:txBody>
          <a:bodyPr wrap="square" lIns="0" rIns="0" tIns="0" bIns="0" anchor="t">
            <a:spAutoFit/>
          </a:bodyPr>
          <a:lstStyle/>
          <a:p>
            <a:pPr algn="l">
              <a:lnSpc>
                <a:spcPct val="115000"/>
              </a:lnSpc>
              <a:spcAft>
                <a:spcPts val="100"/>
              </a:spcAft>
            </a:pPr>
            <a:r>
              <a:rPr sz="1150" b="1" i="0">
                <a:solidFill>
                  <a:srgbClr val="E8ECF2"/>
                </a:solidFill>
                <a:latin typeface="Calibri"/>
              </a:rPr>
              <a:t>Does this team run LiteLLM, and roughly which version</a:t>
            </a:r>
          </a:p>
          <a:p>
            <a:pPr algn="l">
              <a:lnSpc>
                <a:spcPct val="115000"/>
              </a:lnSpc>
              <a:spcAft>
                <a:spcPts val="0"/>
              </a:spcAft>
            </a:pPr>
            <a:r>
              <a:rPr sz="950" b="0" i="0">
                <a:solidFill>
                  <a:srgbClr val="98A4B3"/>
                </a:solidFill>
                <a:latin typeface="Calibri"/>
              </a:rPr>
              <a:t>If not, they cannot be the second instance and this is a different meeting.</a:t>
            </a:r>
          </a:p>
        </p:txBody>
      </p:sp>
      <p:sp>
        <p:nvSpPr>
          <p:cNvPr id="9" name="Rectangle 8"/>
          <p:cNvSpPr/>
          <p:nvPr/>
        </p:nvSpPr>
        <p:spPr>
          <a:xfrm>
            <a:off x="923544" y="3232404"/>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97864" y="3154680"/>
            <a:ext cx="5047488" cy="365760"/>
          </a:xfrm>
          <a:prstGeom prst="rect">
            <a:avLst/>
          </a:prstGeom>
          <a:noFill/>
        </p:spPr>
        <p:txBody>
          <a:bodyPr wrap="square" lIns="0" rIns="0" tIns="0" bIns="0" anchor="t">
            <a:spAutoFit/>
          </a:bodyPr>
          <a:lstStyle/>
          <a:p>
            <a:pPr algn="l">
              <a:lnSpc>
                <a:spcPct val="115000"/>
              </a:lnSpc>
              <a:spcAft>
                <a:spcPts val="100"/>
              </a:spcAft>
            </a:pPr>
            <a:r>
              <a:rPr sz="1150" b="1" i="0">
                <a:solidFill>
                  <a:srgbClr val="E8ECF2"/>
                </a:solidFill>
                <a:latin typeface="Calibri"/>
              </a:rPr>
              <a:t>Does their reporting line converge with the proposing team's</a:t>
            </a:r>
          </a:p>
          <a:p>
            <a:pPr algn="l">
              <a:lnSpc>
                <a:spcPct val="115000"/>
              </a:lnSpc>
              <a:spcAft>
                <a:spcPts val="0"/>
              </a:spcAft>
            </a:pPr>
            <a:r>
              <a:rPr sz="950" b="0" i="0">
                <a:solidFill>
                  <a:srgbClr val="98A4B3"/>
                </a:solidFill>
                <a:latin typeface="Calibri"/>
              </a:rPr>
              <a:t>If it does above the engineering-manager level, organizational independence is not satisfied. Say so in the room.</a:t>
            </a:r>
          </a:p>
        </p:txBody>
      </p:sp>
      <p:sp>
        <p:nvSpPr>
          <p:cNvPr id="11" name="Rectangle 10"/>
          <p:cNvSpPr/>
          <p:nvPr/>
        </p:nvSpPr>
        <p:spPr>
          <a:xfrm>
            <a:off x="923544" y="3927348"/>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97864" y="3849624"/>
            <a:ext cx="5047488" cy="365760"/>
          </a:xfrm>
          <a:prstGeom prst="rect">
            <a:avLst/>
          </a:prstGeom>
          <a:noFill/>
        </p:spPr>
        <p:txBody>
          <a:bodyPr wrap="square" lIns="0" rIns="0" tIns="0" bIns="0" anchor="t">
            <a:spAutoFit/>
          </a:bodyPr>
          <a:lstStyle/>
          <a:p>
            <a:pPr algn="l">
              <a:lnSpc>
                <a:spcPct val="115000"/>
              </a:lnSpc>
              <a:spcAft>
                <a:spcPts val="100"/>
              </a:spcAft>
            </a:pPr>
            <a:r>
              <a:rPr sz="1150" b="1" i="0">
                <a:solidFill>
                  <a:srgbClr val="E8ECF2"/>
                </a:solidFill>
                <a:latin typeface="Calibri"/>
              </a:rPr>
              <a:t>Who is sponsoring the ask, and does their leadership already know</a:t>
            </a:r>
          </a:p>
          <a:p>
            <a:pPr algn="l">
              <a:lnSpc>
                <a:spcPct val="115000"/>
              </a:lnSpc>
              <a:spcAft>
                <a:spcPts val="0"/>
              </a:spcAft>
            </a:pPr>
            <a:r>
              <a:rPr sz="950" b="0" i="0">
                <a:solidFill>
                  <a:srgbClr val="98A4B3"/>
                </a:solidFill>
                <a:latin typeface="Calibri"/>
              </a:rPr>
              <a:t>First question an engineering manager asks. Arriving without the answer reads as the ask being informal.</a:t>
            </a:r>
          </a:p>
        </p:txBody>
      </p:sp>
      <p:sp>
        <p:nvSpPr>
          <p:cNvPr id="13" name="Rectangle 12"/>
          <p:cNvSpPr/>
          <p:nvPr/>
        </p:nvSpPr>
        <p:spPr>
          <a:xfrm>
            <a:off x="923544" y="4622292"/>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97864" y="4544568"/>
            <a:ext cx="5047488" cy="365760"/>
          </a:xfrm>
          <a:prstGeom prst="rect">
            <a:avLst/>
          </a:prstGeom>
          <a:noFill/>
        </p:spPr>
        <p:txBody>
          <a:bodyPr wrap="square" lIns="0" rIns="0" tIns="0" bIns="0" anchor="t">
            <a:spAutoFit/>
          </a:bodyPr>
          <a:lstStyle/>
          <a:p>
            <a:pPr algn="l">
              <a:lnSpc>
                <a:spcPct val="115000"/>
              </a:lnSpc>
              <a:spcAft>
                <a:spcPts val="100"/>
              </a:spcAft>
            </a:pPr>
            <a:r>
              <a:rPr sz="1150" b="1" i="0">
                <a:solidFill>
                  <a:srgbClr val="E8ECF2"/>
                </a:solidFill>
                <a:latin typeface="Calibri"/>
              </a:rPr>
              <a:t>Which team is the other independent instance, and have they agreed</a:t>
            </a:r>
          </a:p>
          <a:p>
            <a:pPr algn="l">
              <a:lnSpc>
                <a:spcPct val="115000"/>
              </a:lnSpc>
              <a:spcAft>
                <a:spcPts val="0"/>
              </a:spcAft>
            </a:pPr>
            <a:r>
              <a:rPr sz="950" b="0" i="0">
                <a:solidFill>
                  <a:srgbClr val="98A4B3"/>
                </a:solidFill>
                <a:latin typeface="Calibri"/>
              </a:rPr>
              <a:t>If nobody has, say that rather than implying a peer is already committed.</a:t>
            </a:r>
          </a:p>
        </p:txBody>
      </p:sp>
      <p:sp>
        <p:nvSpPr>
          <p:cNvPr id="15" name="Rectangle 14"/>
          <p:cNvSpPr/>
          <p:nvPr/>
        </p:nvSpPr>
        <p:spPr>
          <a:xfrm>
            <a:off x="923544" y="5317236"/>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97864" y="5239512"/>
            <a:ext cx="5047488" cy="365760"/>
          </a:xfrm>
          <a:prstGeom prst="rect">
            <a:avLst/>
          </a:prstGeom>
          <a:noFill/>
        </p:spPr>
        <p:txBody>
          <a:bodyPr wrap="square" lIns="0" rIns="0" tIns="0" bIns="0" anchor="t">
            <a:spAutoFit/>
          </a:bodyPr>
          <a:lstStyle/>
          <a:p>
            <a:pPr algn="l">
              <a:lnSpc>
                <a:spcPct val="115000"/>
              </a:lnSpc>
              <a:spcAft>
                <a:spcPts val="100"/>
              </a:spcAft>
            </a:pPr>
            <a:r>
              <a:rPr sz="1150" b="1" i="0">
                <a:solidFill>
                  <a:srgbClr val="E8ECF2"/>
                </a:solidFill>
                <a:latin typeface="Calibri"/>
              </a:rPr>
              <a:t>Is there a candidate workload, and is it latency-sensitive</a:t>
            </a:r>
          </a:p>
          <a:p>
            <a:pPr algn="l">
              <a:lnSpc>
                <a:spcPct val="115000"/>
              </a:lnSpc>
              <a:spcAft>
                <a:spcPts val="0"/>
              </a:spcAft>
            </a:pPr>
            <a:r>
              <a:rPr sz="950" b="0" i="0">
                <a:solidFill>
                  <a:srgbClr val="98A4B3"/>
                </a:solidFill>
                <a:latin typeface="Calibri"/>
              </a:rPr>
              <a:t>Determines how the rough-edges slide lands.</a:t>
            </a:r>
          </a:p>
        </p:txBody>
      </p:sp>
      <p:sp>
        <p:nvSpPr>
          <p:cNvPr id="17" name="Rounded Rectangle 16"/>
          <p:cNvSpPr/>
          <p:nvPr/>
        </p:nvSpPr>
        <p:spPr>
          <a:xfrm>
            <a:off x="6519672" y="1801368"/>
            <a:ext cx="4983480" cy="1874519"/>
          </a:xfrm>
          <a:prstGeom prst="roundRect">
            <a:avLst>
              <a:gd name="adj" fmla="val 4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519672" y="1801368"/>
            <a:ext cx="4983480" cy="438912"/>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1" i="0">
                <a:solidFill>
                  <a:srgbClr val="E8ECF2"/>
                </a:solidFill>
                <a:latin typeface="Calibri"/>
              </a:rPr>
              <a:t>WHERE UNANSWERED QUESTIONS GO</a:t>
            </a:r>
          </a:p>
        </p:txBody>
      </p:sp>
      <p:sp>
        <p:nvSpPr>
          <p:cNvPr id="19" name="Rectangle 18"/>
          <p:cNvSpPr/>
          <p:nvPr/>
        </p:nvSpPr>
        <p:spPr>
          <a:xfrm>
            <a:off x="6757416" y="2537460"/>
            <a:ext cx="77724" cy="77724"/>
          </a:xfrm>
          <a:prstGeom prst="rect">
            <a:avLst/>
          </a:prstGeom>
          <a:solidFill>
            <a:srgbClr val="98A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31736" y="2459736"/>
            <a:ext cx="4251960" cy="365760"/>
          </a:xfrm>
          <a:prstGeom prst="rect">
            <a:avLst/>
          </a:prstGeom>
          <a:noFill/>
        </p:spPr>
        <p:txBody>
          <a:bodyPr wrap="square" lIns="0" rIns="0" tIns="0" bIns="0" anchor="t">
            <a:spAutoFit/>
          </a:bodyPr>
          <a:lstStyle/>
          <a:p>
            <a:pPr algn="l">
              <a:lnSpc>
                <a:spcPct val="115000"/>
              </a:lnSpc>
              <a:spcAft>
                <a:spcPts val="100"/>
              </a:spcAft>
            </a:pPr>
            <a:r>
              <a:rPr sz="1150" b="0" i="0">
                <a:solidFill>
                  <a:srgbClr val="E8ECF2"/>
                </a:solidFill>
                <a:latin typeface="Calibri"/>
              </a:rPr>
              <a:t>Policy content, approval, exceptions → security and governance</a:t>
            </a:r>
          </a:p>
        </p:txBody>
      </p:sp>
      <p:sp>
        <p:nvSpPr>
          <p:cNvPr id="21" name="Rectangle 20"/>
          <p:cNvSpPr/>
          <p:nvPr/>
        </p:nvSpPr>
        <p:spPr>
          <a:xfrm>
            <a:off x="6757416" y="2830068"/>
            <a:ext cx="77724" cy="77724"/>
          </a:xfrm>
          <a:prstGeom prst="rect">
            <a:avLst/>
          </a:prstGeom>
          <a:solidFill>
            <a:srgbClr val="98A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31736" y="2752344"/>
            <a:ext cx="4251960" cy="365760"/>
          </a:xfrm>
          <a:prstGeom prst="rect">
            <a:avLst/>
          </a:prstGeom>
          <a:noFill/>
        </p:spPr>
        <p:txBody>
          <a:bodyPr wrap="square" lIns="0" rIns="0" tIns="0" bIns="0" anchor="t">
            <a:spAutoFit/>
          </a:bodyPr>
          <a:lstStyle/>
          <a:p>
            <a:pPr algn="l">
              <a:lnSpc>
                <a:spcPct val="115000"/>
              </a:lnSpc>
              <a:spcAft>
                <a:spcPts val="100"/>
              </a:spcAft>
            </a:pPr>
            <a:r>
              <a:rPr sz="1150" b="0" i="0">
                <a:solidFill>
                  <a:srgbClr val="E8ECF2"/>
                </a:solidFill>
                <a:latin typeface="Calibri"/>
              </a:rPr>
              <a:t>Contract, connector, schemas → the guardrail team</a:t>
            </a:r>
          </a:p>
        </p:txBody>
      </p:sp>
      <p:sp>
        <p:nvSpPr>
          <p:cNvPr id="23" name="Rectangle 22"/>
          <p:cNvSpPr/>
          <p:nvPr/>
        </p:nvSpPr>
        <p:spPr>
          <a:xfrm>
            <a:off x="6757416" y="3122675"/>
            <a:ext cx="77724" cy="77724"/>
          </a:xfrm>
          <a:prstGeom prst="rect">
            <a:avLst/>
          </a:prstGeom>
          <a:solidFill>
            <a:srgbClr val="98A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31736" y="3044951"/>
            <a:ext cx="4251960" cy="365760"/>
          </a:xfrm>
          <a:prstGeom prst="rect">
            <a:avLst/>
          </a:prstGeom>
          <a:noFill/>
        </p:spPr>
        <p:txBody>
          <a:bodyPr wrap="square" lIns="0" rIns="0" tIns="0" bIns="0" anchor="t">
            <a:spAutoFit/>
          </a:bodyPr>
          <a:lstStyle/>
          <a:p>
            <a:pPr algn="l">
              <a:lnSpc>
                <a:spcPct val="115000"/>
              </a:lnSpc>
              <a:spcAft>
                <a:spcPts val="100"/>
              </a:spcAft>
            </a:pPr>
            <a:r>
              <a:rPr sz="1150" b="0" i="0">
                <a:solidFill>
                  <a:srgbClr val="E8ECF2"/>
                </a:solidFill>
                <a:latin typeface="Calibri"/>
              </a:rPr>
              <a:t>Availability, capacity, incidents → platform operations</a:t>
            </a:r>
          </a:p>
        </p:txBody>
      </p:sp>
      <p:sp>
        <p:nvSpPr>
          <p:cNvPr id="25" name="Rectangle 24"/>
          <p:cNvSpPr/>
          <p:nvPr/>
        </p:nvSpPr>
        <p:spPr>
          <a:xfrm>
            <a:off x="6757416" y="3415283"/>
            <a:ext cx="77724" cy="77724"/>
          </a:xfrm>
          <a:prstGeom prst="rect">
            <a:avLst/>
          </a:prstGeom>
          <a:solidFill>
            <a:srgbClr val="98A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31736" y="3337559"/>
            <a:ext cx="4251960" cy="365760"/>
          </a:xfrm>
          <a:prstGeom prst="rect">
            <a:avLst/>
          </a:prstGeom>
          <a:noFill/>
        </p:spPr>
        <p:txBody>
          <a:bodyPr wrap="square" lIns="0" rIns="0" tIns="0" bIns="0" anchor="t">
            <a:spAutoFit/>
          </a:bodyPr>
          <a:lstStyle/>
          <a:p>
            <a:pPr algn="l">
              <a:lnSpc>
                <a:spcPct val="115000"/>
              </a:lnSpc>
              <a:spcAft>
                <a:spcPts val="100"/>
              </a:spcAft>
            </a:pPr>
            <a:r>
              <a:rPr sz="1150" b="0" i="0">
                <a:solidFill>
                  <a:srgbClr val="E8ECF2"/>
                </a:solidFill>
                <a:latin typeface="Calibri"/>
              </a:rPr>
              <a:t>Anything with no owner → record it and say it is not decided</a:t>
            </a:r>
          </a:p>
        </p:txBody>
      </p:sp>
      <p:sp>
        <p:nvSpPr>
          <p:cNvPr id="27" name="Rounded Rectangle 26"/>
          <p:cNvSpPr/>
          <p:nvPr/>
        </p:nvSpPr>
        <p:spPr>
          <a:xfrm>
            <a:off x="6519672" y="3858768"/>
            <a:ext cx="4983480" cy="1874519"/>
          </a:xfrm>
          <a:prstGeom prst="roundRect">
            <a:avLst>
              <a:gd name="adj" fmla="val 4000"/>
            </a:avLst>
          </a:prstGeom>
          <a:solidFill>
            <a:srgbClr val="161C23"/>
          </a:solidFill>
          <a:ln w="12700">
            <a:solidFill>
              <a:srgbClr val="E0B3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519672" y="3858768"/>
            <a:ext cx="4983480" cy="438912"/>
          </a:xfrm>
          <a:prstGeom prst="roundRect">
            <a:avLst>
              <a:gd name="adj" fmla="val 8000"/>
            </a:avLst>
          </a:prstGeom>
          <a:solidFill>
            <a:srgbClr val="161C23"/>
          </a:solidFill>
          <a:ln w="12700">
            <a:solidFill>
              <a:srgbClr val="E0B34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1" i="0">
                <a:solidFill>
                  <a:srgbClr val="E8ECF2"/>
                </a:solidFill>
                <a:latin typeface="Calibri"/>
              </a:rPr>
              <a:t>IF YOU ARE RUNNING LONG</a:t>
            </a:r>
          </a:p>
        </p:txBody>
      </p:sp>
      <p:sp>
        <p:nvSpPr>
          <p:cNvPr id="29" name="TextBox 28"/>
          <p:cNvSpPr txBox="1"/>
          <p:nvPr/>
        </p:nvSpPr>
        <p:spPr>
          <a:xfrm>
            <a:off x="6757416" y="4498848"/>
            <a:ext cx="4526280" cy="1143000"/>
          </a:xfrm>
          <a:prstGeom prst="rect">
            <a:avLst/>
          </a:prstGeom>
          <a:noFill/>
        </p:spPr>
        <p:txBody>
          <a:bodyPr wrap="square" lIns="0" rIns="0" tIns="0" bIns="0" anchor="t">
            <a:spAutoFit/>
          </a:bodyPr>
          <a:lstStyle/>
          <a:p>
            <a:pPr algn="l">
              <a:lnSpc>
                <a:spcPct val="118000"/>
              </a:lnSpc>
              <a:spcAft>
                <a:spcPts val="500"/>
              </a:spcAft>
            </a:pPr>
            <a:r>
              <a:rPr sz="1100" b="0" i="0">
                <a:solidFill>
                  <a:srgbClr val="E8ECF2"/>
                </a:solidFill>
                <a:latin typeface="Calibri"/>
              </a:rPr>
              <a:t>Spine, in priority order: the four asks · what you get · what changes in your request path · you are on Remote Evaluation · observe first · what you own · the rough edges · what happens after yes · the ask.</a:t>
            </a:r>
          </a:p>
          <a:p>
            <a:pPr algn="l">
              <a:lnSpc>
                <a:spcPct val="118000"/>
              </a:lnSpc>
              <a:spcAft>
                <a:spcPts val="0"/>
              </a:spcAft>
            </a:pPr>
            <a:r>
              <a:rPr sz="1100" b="0" i="0">
                <a:solidFill>
                  <a:srgbClr val="98A4B3"/>
                </a:solidFill>
                <a:latin typeface="Calibri"/>
              </a:rPr>
              <a:t>Drop first, in this order: what you install · what evaluation failure does · reading a decision · what the pilot has to demonstrate. All four are in the leave-behind and none of them changes the answer in the room.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Rounded Rectangle 1"/>
          <p:cNvSpPr/>
          <p:nvPr/>
        </p:nvSpPr>
        <p:spPr>
          <a:xfrm>
            <a:off x="685800" y="1417320"/>
            <a:ext cx="10820095" cy="32461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777240"/>
            <a:ext cx="10820095" cy="411480"/>
          </a:xfrm>
          <a:prstGeom prst="rect">
            <a:avLst/>
          </a:prstGeom>
          <a:noFill/>
        </p:spPr>
        <p:txBody>
          <a:bodyPr wrap="square" lIns="0" rIns="0" tIns="0" bIns="0" anchor="t">
            <a:spAutoFit/>
          </a:bodyPr>
          <a:lstStyle/>
          <a:p>
            <a:pPr algn="l">
              <a:lnSpc>
                <a:spcPct val="115000"/>
              </a:lnSpc>
              <a:spcAft>
                <a:spcPts val="0"/>
              </a:spcAft>
            </a:pPr>
            <a:r>
              <a:rPr sz="1400" b="1" i="0">
                <a:solidFill>
                  <a:srgbClr val="5AA0E0"/>
                </a:solidFill>
                <a:latin typeface="Calibri"/>
              </a:rPr>
              <a:t>AI GUARDRAILS</a:t>
            </a:r>
          </a:p>
        </p:txBody>
      </p:sp>
      <p:sp>
        <p:nvSpPr>
          <p:cNvPr id="4" name="TextBox 3"/>
          <p:cNvSpPr txBox="1"/>
          <p:nvPr/>
        </p:nvSpPr>
        <p:spPr>
          <a:xfrm>
            <a:off x="1188720" y="1965960"/>
            <a:ext cx="9357055" cy="2377440"/>
          </a:xfrm>
          <a:prstGeom prst="rect">
            <a:avLst/>
          </a:prstGeom>
          <a:noFill/>
        </p:spPr>
        <p:txBody>
          <a:bodyPr wrap="square" lIns="0" rIns="0" tIns="0" bIns="0" anchor="t">
            <a:spAutoFit/>
          </a:bodyPr>
          <a:lstStyle/>
          <a:p>
            <a:pPr algn="l">
              <a:lnSpc>
                <a:spcPct val="105000"/>
              </a:lnSpc>
              <a:spcAft>
                <a:spcPts val="600"/>
              </a:spcAft>
            </a:pPr>
            <a:r>
              <a:rPr sz="3400" b="1" i="0">
                <a:solidFill>
                  <a:srgbClr val="E8ECF2"/>
                </a:solidFill>
                <a:latin typeface="Calibri"/>
              </a:rPr>
              <a:t>You have been asked to pilot this.</a:t>
            </a:r>
          </a:p>
          <a:p>
            <a:pPr algn="l">
              <a:lnSpc>
                <a:spcPct val="105000"/>
              </a:lnSpc>
              <a:spcAft>
                <a:spcPts val="600"/>
              </a:spcAft>
            </a:pPr>
            <a:r>
              <a:rPr sz="3400" b="1" i="0">
                <a:solidFill>
                  <a:srgbClr val="E8ECF2"/>
                </a:solidFill>
                <a:latin typeface="Calibri"/>
              </a:rPr>
              <a:t>Here is exactly what that means,</a:t>
            </a:r>
          </a:p>
          <a:p>
            <a:pPr algn="l">
              <a:lnSpc>
                <a:spcPct val="105000"/>
              </a:lnSpc>
              <a:spcAft>
                <a:spcPts val="0"/>
              </a:spcAft>
            </a:pPr>
            <a:r>
              <a:rPr sz="3400" b="1" i="0">
                <a:solidFill>
                  <a:srgbClr val="5AA0E0"/>
                </a:solidFill>
                <a:latin typeface="Calibri"/>
              </a:rPr>
              <a:t>and what it costs you.</a:t>
            </a:r>
          </a:p>
        </p:txBody>
      </p:sp>
      <p:sp>
        <p:nvSpPr>
          <p:cNvPr id="5" name="TextBox 4"/>
          <p:cNvSpPr txBox="1"/>
          <p:nvPr/>
        </p:nvSpPr>
        <p:spPr>
          <a:xfrm>
            <a:off x="685800" y="4956048"/>
            <a:ext cx="10820095" cy="822960"/>
          </a:xfrm>
          <a:prstGeom prst="rect">
            <a:avLst/>
          </a:prstGeom>
          <a:noFill/>
        </p:spPr>
        <p:txBody>
          <a:bodyPr wrap="square" lIns="0" rIns="0" tIns="0" bIns="0" anchor="t">
            <a:spAutoFit/>
          </a:bodyPr>
          <a:lstStyle/>
          <a:p>
            <a:pPr algn="l">
              <a:lnSpc>
                <a:spcPct val="115000"/>
              </a:lnSpc>
              <a:spcAft>
                <a:spcPts val="800"/>
              </a:spcAft>
            </a:pPr>
            <a:r>
              <a:rPr sz="1700" b="0" i="0">
                <a:solidFill>
                  <a:srgbClr val="E8ECF2"/>
                </a:solidFill>
                <a:latin typeface="Calibri"/>
              </a:rPr>
              <a:t>Pilot enablement — what you install, what changes in your request path, what you own, and what we need back from you</a:t>
            </a:r>
          </a:p>
          <a:p>
            <a:pPr algn="l">
              <a:lnSpc>
                <a:spcPct val="115000"/>
              </a:lnSpc>
              <a:spcAft>
                <a:spcPts val="0"/>
              </a:spcAft>
            </a:pPr>
            <a:r>
              <a:rPr sz="1150" b="0" i="0">
                <a:solidFill>
                  <a:srgbClr val="98A4B3"/>
                </a:solidFill>
                <a:latin typeface="Calibri"/>
              </a:rPr>
              <a:t>Working session  ·  Presenter: TBD  ·  Nothing here is built yet — you would be the first workload on it</a:t>
            </a:r>
          </a:p>
        </p:txBody>
      </p:sp>
      <p:sp>
        <p:nvSpPr>
          <p:cNvPr id="6" name="TextBox 5"/>
          <p:cNvSpPr txBox="1"/>
          <p:nvPr/>
        </p:nvSpPr>
        <p:spPr>
          <a:xfrm>
            <a:off x="685800" y="6327648"/>
            <a:ext cx="10820095" cy="457200"/>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Placeholder styling — no brand kit exists yet; all colours and type are stand-ins pending brand.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What we are asking you to do</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Four things. None of them involves giving us access to anything you own.</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ectangle 5"/>
          <p:cNvSpPr/>
          <p:nvPr/>
        </p:nvSpPr>
        <p:spPr>
          <a:xfrm>
            <a:off x="685800" y="1952243"/>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19"/>
            <a:ext cx="10545775" cy="365760"/>
          </a:xfrm>
          <a:prstGeom prst="rect">
            <a:avLst/>
          </a:prstGeom>
          <a:noFill/>
        </p:spPr>
        <p:txBody>
          <a:bodyPr wrap="square" lIns="0" rIns="0" tIns="0" bIns="0" anchor="t">
            <a:spAutoFit/>
          </a:bodyPr>
          <a:lstStyle/>
          <a:p>
            <a:pPr algn="l">
              <a:lnSpc>
                <a:spcPct val="115000"/>
              </a:lnSpc>
              <a:spcAft>
                <a:spcPts val="100"/>
              </a:spcAft>
            </a:pPr>
            <a:r>
              <a:rPr sz="1350" b="1" i="0">
                <a:solidFill>
                  <a:srgbClr val="E8ECF2"/>
                </a:solidFill>
                <a:latin typeface="Calibri"/>
              </a:rPr>
              <a:t>Run your own LiteLLM gateway, exactly as you do now</a:t>
            </a:r>
          </a:p>
          <a:p>
            <a:pPr algn="l">
              <a:lnSpc>
                <a:spcPct val="115000"/>
              </a:lnSpc>
              <a:spcAft>
                <a:spcPts val="0"/>
              </a:spcAft>
            </a:pPr>
            <a:r>
              <a:rPr sz="1150" b="0" i="0">
                <a:solidFill>
                  <a:srgbClr val="98A4B3"/>
                </a:solidFill>
                <a:latin typeface="Calibri"/>
              </a:rPr>
              <a:t>The demonstration needs two organizationally independent LiteLLM deployments consuming the same policy version. Yours is the second. Independence is the point — one deployment exercised twice under different labels does not satisfy it. If your gateway is something else, the generic evaluation API is the integration path, but this particular ask is not the one that fits you.</a:t>
            </a:r>
          </a:p>
        </p:txBody>
      </p:sp>
      <p:sp>
        <p:nvSpPr>
          <p:cNvPr id="8" name="Rectangle 7"/>
          <p:cNvSpPr/>
          <p:nvPr/>
        </p:nvSpPr>
        <p:spPr>
          <a:xfrm>
            <a:off x="685800" y="2793491"/>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715768"/>
            <a:ext cx="10545775" cy="365760"/>
          </a:xfrm>
          <a:prstGeom prst="rect">
            <a:avLst/>
          </a:prstGeom>
          <a:noFill/>
        </p:spPr>
        <p:txBody>
          <a:bodyPr wrap="square" lIns="0" rIns="0" tIns="0" bIns="0" anchor="t">
            <a:spAutoFit/>
          </a:bodyPr>
          <a:lstStyle/>
          <a:p>
            <a:pPr algn="l">
              <a:lnSpc>
                <a:spcPct val="115000"/>
              </a:lnSpc>
              <a:spcAft>
                <a:spcPts val="100"/>
              </a:spcAft>
            </a:pPr>
            <a:r>
              <a:rPr sz="1350" b="1" i="0">
                <a:solidFill>
                  <a:srgbClr val="E8ECF2"/>
                </a:solidFill>
                <a:latin typeface="Calibri"/>
              </a:rPr>
              <a:t>Install a connector into it</a:t>
            </a:r>
          </a:p>
          <a:p>
            <a:pPr algn="l">
              <a:lnSpc>
                <a:spcPct val="115000"/>
              </a:lnSpc>
              <a:spcAft>
                <a:spcPts val="0"/>
              </a:spcAft>
            </a:pPr>
            <a:r>
              <a:rPr sz="1150" b="0" i="0">
                <a:solidFill>
                  <a:srgbClr val="98A4B3"/>
                </a:solidFill>
                <a:latin typeface="Calibri"/>
              </a:rPr>
              <a:t>A published artifact you install and can verify before it runs. It calls an evaluation service before and after each model call and applies what comes back.</a:t>
            </a:r>
          </a:p>
        </p:txBody>
      </p:sp>
      <p:sp>
        <p:nvSpPr>
          <p:cNvPr id="10" name="Rectangle 9"/>
          <p:cNvSpPr/>
          <p:nvPr/>
        </p:nvSpPr>
        <p:spPr>
          <a:xfrm>
            <a:off x="685800" y="3634739"/>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557015"/>
            <a:ext cx="10545775" cy="365760"/>
          </a:xfrm>
          <a:prstGeom prst="rect">
            <a:avLst/>
          </a:prstGeom>
          <a:noFill/>
        </p:spPr>
        <p:txBody>
          <a:bodyPr wrap="square" lIns="0" rIns="0" tIns="0" bIns="0" anchor="t">
            <a:spAutoFit/>
          </a:bodyPr>
          <a:lstStyle/>
          <a:p>
            <a:pPr algn="l">
              <a:lnSpc>
                <a:spcPct val="115000"/>
              </a:lnSpc>
              <a:spcAft>
                <a:spcPts val="100"/>
              </a:spcAft>
            </a:pPr>
            <a:r>
              <a:rPr sz="1350" b="1" i="0">
                <a:solidFill>
                  <a:srgbClr val="E8ECF2"/>
                </a:solidFill>
                <a:latin typeface="Calibri"/>
              </a:rPr>
              <a:t>Run in observe mode, and stay there until you decide otherwise</a:t>
            </a:r>
          </a:p>
          <a:p>
            <a:pPr algn="l">
              <a:lnSpc>
                <a:spcPct val="115000"/>
              </a:lnSpc>
              <a:spcAft>
                <a:spcPts val="0"/>
              </a:spcAft>
            </a:pPr>
            <a:r>
              <a:rPr sz="1150" b="0" i="0">
                <a:solidFill>
                  <a:srgbClr val="98A4B3"/>
                </a:solidFill>
                <a:latin typeface="Calibri"/>
              </a:rPr>
              <a:t>Evaluations execute and are recorded. Nothing is blocked, nothing is redacted, nothing changes in what your users receive.</a:t>
            </a:r>
          </a:p>
        </p:txBody>
      </p:sp>
      <p:sp>
        <p:nvSpPr>
          <p:cNvPr id="12" name="Rectangle 11"/>
          <p:cNvSpPr/>
          <p:nvPr/>
        </p:nvSpPr>
        <p:spPr>
          <a:xfrm>
            <a:off x="685800" y="4475988"/>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398264"/>
            <a:ext cx="10545775" cy="365760"/>
          </a:xfrm>
          <a:prstGeom prst="rect">
            <a:avLst/>
          </a:prstGeom>
          <a:noFill/>
        </p:spPr>
        <p:txBody>
          <a:bodyPr wrap="square" lIns="0" rIns="0" tIns="0" bIns="0" anchor="t">
            <a:spAutoFit/>
          </a:bodyPr>
          <a:lstStyle/>
          <a:p>
            <a:pPr algn="l">
              <a:lnSpc>
                <a:spcPct val="115000"/>
              </a:lnSpc>
              <a:spcAft>
                <a:spcPts val="100"/>
              </a:spcAft>
            </a:pPr>
            <a:r>
              <a:rPr sz="1350" b="1" i="0">
                <a:solidFill>
                  <a:srgbClr val="E8ECF2"/>
                </a:solidFill>
                <a:latin typeface="Calibri"/>
              </a:rPr>
              <a:t>Review what observe mode found, and tell us whether it is usable</a:t>
            </a:r>
          </a:p>
          <a:p>
            <a:pPr algn="l">
              <a:lnSpc>
                <a:spcPct val="115000"/>
              </a:lnSpc>
              <a:spcAft>
                <a:spcPts val="0"/>
              </a:spcAft>
            </a:pPr>
            <a:r>
              <a:rPr sz="1150" b="0" i="0">
                <a:solidFill>
                  <a:srgbClr val="98A4B3"/>
                </a:solidFill>
                <a:latin typeface="Calibri"/>
              </a:rPr>
              <a:t>That review is the deliverable. Promotion to enforcement is your decision to accept, not ours to schedule.</a:t>
            </a:r>
          </a:p>
        </p:txBody>
      </p:sp>
      <p:sp>
        <p:nvSpPr>
          <p:cNvPr id="14" name="TextBox 13"/>
          <p:cNvSpPr txBox="1"/>
          <p:nvPr/>
        </p:nvSpPr>
        <p:spPr>
          <a:xfrm>
            <a:off x="685800" y="5669280"/>
            <a:ext cx="10820095" cy="457200"/>
          </a:xfrm>
          <a:prstGeom prst="rect">
            <a:avLst/>
          </a:prstGeom>
          <a:noFill/>
        </p:spPr>
        <p:txBody>
          <a:bodyPr wrap="square" lIns="0" rIns="0" tIns="0" bIns="0" anchor="t">
            <a:spAutoFit/>
          </a:bodyPr>
          <a:lstStyle/>
          <a:p>
            <a:pPr algn="l">
              <a:lnSpc>
                <a:spcPct val="115000"/>
              </a:lnSpc>
              <a:spcAft>
                <a:spcPts val="0"/>
              </a:spcAft>
            </a:pPr>
            <a:r>
              <a:rPr sz="1150" b="0" i="0">
                <a:solidFill>
                  <a:srgbClr val="98A4B3"/>
                </a:solidFill>
                <a:latin typeface="Calibri"/>
              </a:rPr>
              <a:t>What we are not asking for: your model-provider credentials, administrative access to your gateway, a copy of your configuration database, or a change to how you route models. None of those is part of onboarding, and none of them ever becomes part of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What you get for doing it</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Four returns, all of them available in observe mode. None of them is a promise about what the platform becomes later.</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ectangle 5"/>
          <p:cNvSpPr/>
          <p:nvPr/>
        </p:nvSpPr>
        <p:spPr>
          <a:xfrm>
            <a:off x="685800" y="1952243"/>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19"/>
            <a:ext cx="10545775" cy="365760"/>
          </a:xfrm>
          <a:prstGeom prst="rect">
            <a:avLst/>
          </a:prstGeom>
          <a:noFill/>
        </p:spPr>
        <p:txBody>
          <a:bodyPr wrap="square" lIns="0" rIns="0" tIns="0" bIns="0" anchor="t">
            <a:spAutoFit/>
          </a:bodyPr>
          <a:lstStyle/>
          <a:p>
            <a:pPr algn="l">
              <a:lnSpc>
                <a:spcPct val="115000"/>
              </a:lnSpc>
              <a:spcAft>
                <a:spcPts val="100"/>
              </a:spcAft>
            </a:pPr>
            <a:r>
              <a:rPr sz="1300" b="1" i="0">
                <a:solidFill>
                  <a:srgbClr val="E8ECF2"/>
                </a:solidFill>
                <a:latin typeface="Calibri"/>
              </a:rPr>
              <a:t>A measured picture of what your own traffic actually trips</a:t>
            </a:r>
          </a:p>
          <a:p>
            <a:pPr algn="l">
              <a:lnSpc>
                <a:spcPct val="115000"/>
              </a:lnSpc>
              <a:spcAft>
                <a:spcPts val="0"/>
              </a:spcAft>
            </a:pPr>
            <a:r>
              <a:rPr sz="1100" b="0" i="0">
                <a:solidFill>
                  <a:srgbClr val="98A4B3"/>
                </a:solidFill>
                <a:latin typeface="Calibri"/>
              </a:rPr>
              <a:t>Observe records the decision that would have been made on real requests — reason codes, category, policy version. Nobody in your team has that today, and getting it costs you no enforcement and no change to what your users receive.</a:t>
            </a:r>
          </a:p>
        </p:txBody>
      </p:sp>
      <p:sp>
        <p:nvSpPr>
          <p:cNvPr id="8" name="Rectangle 7"/>
          <p:cNvSpPr/>
          <p:nvPr/>
        </p:nvSpPr>
        <p:spPr>
          <a:xfrm>
            <a:off x="685800" y="2793491"/>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715768"/>
            <a:ext cx="10545775" cy="365760"/>
          </a:xfrm>
          <a:prstGeom prst="rect">
            <a:avLst/>
          </a:prstGeom>
          <a:noFill/>
        </p:spPr>
        <p:txBody>
          <a:bodyPr wrap="square" lIns="0" rIns="0" tIns="0" bIns="0" anchor="t">
            <a:spAutoFit/>
          </a:bodyPr>
          <a:lstStyle/>
          <a:p>
            <a:pPr algn="l">
              <a:lnSpc>
                <a:spcPct val="115000"/>
              </a:lnSpc>
              <a:spcAft>
                <a:spcPts val="100"/>
              </a:spcAft>
            </a:pPr>
            <a:r>
              <a:rPr sz="1300" b="1" i="0">
                <a:solidFill>
                  <a:srgbClr val="E8ECF2"/>
                </a:solidFill>
                <a:latin typeface="Calibri"/>
              </a:rPr>
              <a:t>Evaluation latency as a number you hold, not one you are quoted</a:t>
            </a:r>
          </a:p>
          <a:p>
            <a:pPr algn="l">
              <a:lnSpc>
                <a:spcPct val="115000"/>
              </a:lnSpc>
              <a:spcAft>
                <a:spcPts val="0"/>
              </a:spcAft>
            </a:pPr>
            <a:r>
              <a:rPr sz="1100" b="0" i="0">
                <a:solidFill>
                  <a:srgbClr val="98A4B3"/>
                </a:solidFill>
                <a:latin typeface="Calibri"/>
              </a:rPr>
              <a:t>Latency is a field on every decision and is measured per stage and per detector. You would be measuring the real cost on your own traffic rather than accepting someone else's estimate of it later.</a:t>
            </a:r>
          </a:p>
        </p:txBody>
      </p:sp>
      <p:sp>
        <p:nvSpPr>
          <p:cNvPr id="10" name="Rectangle 9"/>
          <p:cNvSpPr/>
          <p:nvPr/>
        </p:nvSpPr>
        <p:spPr>
          <a:xfrm>
            <a:off x="685800" y="3634739"/>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557015"/>
            <a:ext cx="10545775" cy="365760"/>
          </a:xfrm>
          <a:prstGeom prst="rect">
            <a:avLst/>
          </a:prstGeom>
          <a:noFill/>
        </p:spPr>
        <p:txBody>
          <a:bodyPr wrap="square" lIns="0" rIns="0" tIns="0" bIns="0" anchor="t">
            <a:spAutoFit/>
          </a:bodyPr>
          <a:lstStyle/>
          <a:p>
            <a:pPr algn="l">
              <a:lnSpc>
                <a:spcPct val="115000"/>
              </a:lnSpc>
              <a:spcAft>
                <a:spcPts val="100"/>
              </a:spcAft>
            </a:pPr>
            <a:r>
              <a:rPr sz="1300" b="1" i="0">
                <a:solidFill>
                  <a:srgbClr val="E8ECF2"/>
                </a:solidFill>
                <a:latin typeface="Calibri"/>
              </a:rPr>
              <a:t>Influence over the parts that are still undecided</a:t>
            </a:r>
          </a:p>
          <a:p>
            <a:pPr algn="l">
              <a:lnSpc>
                <a:spcPct val="115000"/>
              </a:lnSpc>
              <a:spcAft>
                <a:spcPts val="0"/>
              </a:spcAft>
            </a:pPr>
            <a:r>
              <a:rPr sz="1100" b="0" i="0">
                <a:solidFill>
                  <a:srgbClr val="98A4B3"/>
                </a:solidFill>
                <a:latin typeface="Calibri"/>
              </a:rPr>
              <a:t>Promotion criteria, the findings-review workflow, timeout defaults, and how long a connector version stays supported are all open. A pilot team's constraints are the cheapest input this design will ever take.</a:t>
            </a:r>
          </a:p>
        </p:txBody>
      </p:sp>
      <p:sp>
        <p:nvSpPr>
          <p:cNvPr id="12" name="Rectangle 11"/>
          <p:cNvSpPr/>
          <p:nvPr/>
        </p:nvSpPr>
        <p:spPr>
          <a:xfrm>
            <a:off x="685800" y="4475988"/>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398264"/>
            <a:ext cx="10545775" cy="365760"/>
          </a:xfrm>
          <a:prstGeom prst="rect">
            <a:avLst/>
          </a:prstGeom>
          <a:noFill/>
        </p:spPr>
        <p:txBody>
          <a:bodyPr wrap="square" lIns="0" rIns="0" tIns="0" bIns="0" anchor="t">
            <a:spAutoFit/>
          </a:bodyPr>
          <a:lstStyle/>
          <a:p>
            <a:pPr algn="l">
              <a:lnSpc>
                <a:spcPct val="115000"/>
              </a:lnSpc>
              <a:spcAft>
                <a:spcPts val="100"/>
              </a:spcAft>
            </a:pPr>
            <a:r>
              <a:rPr sz="1300" b="1" i="0">
                <a:solidFill>
                  <a:srgbClr val="E8ECF2"/>
                </a:solidFill>
                <a:latin typeface="Calibri"/>
              </a:rPr>
              <a:t>A defined onboarding path instead of a later mandate</a:t>
            </a:r>
          </a:p>
          <a:p>
            <a:pPr algn="l">
              <a:lnSpc>
                <a:spcPct val="115000"/>
              </a:lnSpc>
              <a:spcAft>
                <a:spcPts val="0"/>
              </a:spcAft>
            </a:pPr>
            <a:r>
              <a:rPr sz="1100" b="0" i="0">
                <a:solidFill>
                  <a:srgbClr val="98A4B3"/>
                </a:solidFill>
                <a:latin typeface="Calibri"/>
              </a:rPr>
              <a:t>The realistic alternative is that guardrails arrive as a requirement designed without you. Piloting is how your constraints get in first, while changing them is still inexpensive.</a:t>
            </a:r>
          </a:p>
        </p:txBody>
      </p:sp>
      <p:sp>
        <p:nvSpPr>
          <p:cNvPr id="14" name="TextBox 13"/>
          <p:cNvSpPr txBox="1"/>
          <p:nvPr/>
        </p:nvSpPr>
        <p:spPr>
          <a:xfrm>
            <a:off x="685800" y="5687568"/>
            <a:ext cx="10820095" cy="457200"/>
          </a:xfrm>
          <a:prstGeom prst="rect">
            <a:avLst/>
          </a:prstGeom>
          <a:noFill/>
        </p:spPr>
        <p:txBody>
          <a:bodyPr wrap="square" lIns="0" rIns="0" tIns="0" bIns="0" anchor="t">
            <a:spAutoFit/>
          </a:bodyPr>
          <a:lstStyle/>
          <a:p>
            <a:pPr algn="l">
              <a:lnSpc>
                <a:spcPct val="115000"/>
              </a:lnSpc>
              <a:spcAft>
                <a:spcPts val="0"/>
              </a:spcAft>
            </a:pPr>
            <a:r>
              <a:rPr sz="1150" b="0" i="0">
                <a:solidFill>
                  <a:srgbClr val="98A4B3"/>
                </a:solidFill>
                <a:latin typeface="Calibri"/>
              </a:rPr>
              <a:t>What this is not: it is not a latency improvement, not a security certification, not a reduction of anything you already operate, and not an argument that your workload is unsafe today. It is measurement you do not currently have, plus a say in what gets built on top of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What the thing actually is</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A policy and enforcement service your gateway calls. Not a gateway, not a proxy, not a replacement for anything you run.</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ounded Rectangle 5"/>
          <p:cNvSpPr/>
          <p:nvPr/>
        </p:nvSpPr>
        <p:spPr>
          <a:xfrm>
            <a:off x="685800" y="1828800"/>
            <a:ext cx="10820095" cy="146304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828800"/>
            <a:ext cx="68580" cy="1463040"/>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43000" y="2057400"/>
            <a:ext cx="9814255" cy="1097280"/>
          </a:xfrm>
          <a:prstGeom prst="rect">
            <a:avLst/>
          </a:prstGeom>
          <a:noFill/>
        </p:spPr>
        <p:txBody>
          <a:bodyPr wrap="square" lIns="0" rIns="0" tIns="0" bIns="0" anchor="t">
            <a:spAutoFit/>
          </a:bodyPr>
          <a:lstStyle/>
          <a:p>
            <a:pPr algn="l">
              <a:lnSpc>
                <a:spcPct val="128000"/>
              </a:lnSpc>
              <a:spcAft>
                <a:spcPts val="0"/>
              </a:spcAft>
            </a:pPr>
            <a:r>
              <a:rPr sz="1700" b="0" i="0">
                <a:solidFill>
                  <a:srgbClr val="E8ECF2"/>
                </a:solidFill>
                <a:latin typeface="Calibri"/>
              </a:rPr>
              <a:t>You send content to be evaluated. You get back a decision — allow, block, redact, or log only — with the reasons, the policy version that produced it, and a correlation identifier you can join to your own logs.</a:t>
            </a:r>
          </a:p>
        </p:txBody>
      </p:sp>
      <p:sp>
        <p:nvSpPr>
          <p:cNvPr id="9" name="Rectangle 8"/>
          <p:cNvSpPr/>
          <p:nvPr/>
        </p:nvSpPr>
        <p:spPr>
          <a:xfrm>
            <a:off x="685800" y="3643884"/>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566160"/>
            <a:ext cx="10545775" cy="365760"/>
          </a:xfrm>
          <a:prstGeom prst="rect">
            <a:avLst/>
          </a:prstGeom>
          <a:noFill/>
        </p:spPr>
        <p:txBody>
          <a:bodyPr wrap="square" lIns="0" rIns="0" tIns="0" bIns="0" anchor="t">
            <a:spAutoFit/>
          </a:bodyPr>
          <a:lstStyle/>
          <a:p>
            <a:pPr algn="l">
              <a:lnSpc>
                <a:spcPct val="115000"/>
              </a:lnSpc>
              <a:spcAft>
                <a:spcPts val="100"/>
              </a:spcAft>
            </a:pPr>
            <a:r>
              <a:rPr sz="1250" b="1" i="0">
                <a:solidFill>
                  <a:srgbClr val="E8ECF2"/>
                </a:solidFill>
                <a:latin typeface="Calibri"/>
              </a:rPr>
              <a:t>The policy is separate from the connector</a:t>
            </a:r>
          </a:p>
          <a:p>
            <a:pPr algn="l">
              <a:lnSpc>
                <a:spcPct val="115000"/>
              </a:lnSpc>
              <a:spcAft>
                <a:spcPts val="0"/>
              </a:spcAft>
            </a:pPr>
            <a:r>
              <a:rPr sz="1050" b="0" i="0">
                <a:solidFill>
                  <a:srgbClr val="98A4B3"/>
                </a:solidFill>
                <a:latin typeface="Calibri"/>
              </a:rPr>
              <a:t>The policy says what must be evaluated and how violations are handled. The connector says how your gateway invokes it. If you change gateway later, you re-implement a connector — you do not rewrite or re-approve the policy.</a:t>
            </a:r>
          </a:p>
        </p:txBody>
      </p:sp>
      <p:sp>
        <p:nvSpPr>
          <p:cNvPr id="11" name="Rectangle 10"/>
          <p:cNvSpPr/>
          <p:nvPr/>
        </p:nvSpPr>
        <p:spPr>
          <a:xfrm>
            <a:off x="685800" y="4411980"/>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334256"/>
            <a:ext cx="10545775" cy="365760"/>
          </a:xfrm>
          <a:prstGeom prst="rect">
            <a:avLst/>
          </a:prstGeom>
          <a:noFill/>
        </p:spPr>
        <p:txBody>
          <a:bodyPr wrap="square" lIns="0" rIns="0" tIns="0" bIns="0" anchor="t">
            <a:spAutoFit/>
          </a:bodyPr>
          <a:lstStyle/>
          <a:p>
            <a:pPr algn="l">
              <a:lnSpc>
                <a:spcPct val="115000"/>
              </a:lnSpc>
              <a:spcAft>
                <a:spcPts val="100"/>
              </a:spcAft>
            </a:pPr>
            <a:r>
              <a:rPr sz="1250" b="1" i="0">
                <a:solidFill>
                  <a:srgbClr val="E8ECF2"/>
                </a:solidFill>
                <a:latin typeface="Calibri"/>
              </a:rPr>
              <a:t>The connector carries no policy, no detection logic, and no credentials</a:t>
            </a:r>
          </a:p>
          <a:p>
            <a:pPr algn="l">
              <a:lnSpc>
                <a:spcPct val="115000"/>
              </a:lnSpc>
              <a:spcAft>
                <a:spcPts val="0"/>
              </a:spcAft>
            </a:pPr>
            <a:r>
              <a:rPr sz="1050" b="0" i="0">
                <a:solidFill>
                  <a:srgbClr val="98A4B3"/>
                </a:solidFill>
                <a:latin typeface="Calibri"/>
              </a:rPr>
              <a:t>Not yours and not ours. It knows how long to wait and what to do when it cannot wait longer. It never learns what to detect.</a:t>
            </a:r>
          </a:p>
        </p:txBody>
      </p:sp>
      <p:sp>
        <p:nvSpPr>
          <p:cNvPr id="13" name="Rectangle 12"/>
          <p:cNvSpPr/>
          <p:nvPr/>
        </p:nvSpPr>
        <p:spPr>
          <a:xfrm>
            <a:off x="685800" y="5180076"/>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5102352"/>
            <a:ext cx="10545775" cy="365760"/>
          </a:xfrm>
          <a:prstGeom prst="rect">
            <a:avLst/>
          </a:prstGeom>
          <a:noFill/>
        </p:spPr>
        <p:txBody>
          <a:bodyPr wrap="square" lIns="0" rIns="0" tIns="0" bIns="0" anchor="t">
            <a:spAutoFit/>
          </a:bodyPr>
          <a:lstStyle/>
          <a:p>
            <a:pPr algn="l">
              <a:lnSpc>
                <a:spcPct val="115000"/>
              </a:lnSpc>
              <a:spcAft>
                <a:spcPts val="100"/>
              </a:spcAft>
            </a:pPr>
            <a:r>
              <a:rPr sz="1250" b="1" i="0">
                <a:solidFill>
                  <a:srgbClr val="E8ECF2"/>
                </a:solidFill>
                <a:latin typeface="Calibri"/>
              </a:rPr>
              <a:t>It evaluates the prompt and the response, and nothing else yet</a:t>
            </a:r>
          </a:p>
          <a:p>
            <a:pPr algn="l">
              <a:lnSpc>
                <a:spcPct val="115000"/>
              </a:lnSpc>
              <a:spcAft>
                <a:spcPts val="0"/>
              </a:spcAft>
            </a:pPr>
            <a:r>
              <a:rPr sz="1050" b="0" i="0">
                <a:solidFill>
                  <a:srgbClr val="98A4B3"/>
                </a:solidFill>
                <a:latin typeface="Calibri"/>
              </a:rPr>
              <a:t>Not your retrieval content, not tool arguments, not conversation history. Those are later-phase work.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What changes in your request path</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Two synchronous calls added around the model call you already make.</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TextBox 5"/>
          <p:cNvSpPr txBox="1"/>
          <p:nvPr/>
        </p:nvSpPr>
        <p:spPr>
          <a:xfrm>
            <a:off x="685800" y="1801368"/>
            <a:ext cx="4572000" cy="457200"/>
          </a:xfrm>
          <a:prstGeom prst="rect">
            <a:avLst/>
          </a:prstGeom>
          <a:noFill/>
        </p:spPr>
        <p:txBody>
          <a:bodyPr wrap="square" lIns="0" rIns="0" tIns="0" bIns="0" anchor="t">
            <a:spAutoFit/>
          </a:bodyPr>
          <a:lstStyle/>
          <a:p>
            <a:pPr algn="l">
              <a:lnSpc>
                <a:spcPct val="115000"/>
              </a:lnSpc>
              <a:spcAft>
                <a:spcPts val="0"/>
              </a:spcAft>
            </a:pPr>
            <a:r>
              <a:rPr sz="1000" b="0" i="0">
                <a:solidFill>
                  <a:srgbClr val="98A4B3"/>
                </a:solidFill>
                <a:latin typeface="Calibri"/>
              </a:rPr>
              <a:t>TODAY</a:t>
            </a:r>
          </a:p>
        </p:txBody>
      </p:sp>
      <p:sp>
        <p:nvSpPr>
          <p:cNvPr id="7" name="Rounded Rectangle 6"/>
          <p:cNvSpPr/>
          <p:nvPr/>
        </p:nvSpPr>
        <p:spPr>
          <a:xfrm>
            <a:off x="685800" y="2039112"/>
            <a:ext cx="2011680" cy="566928"/>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0" i="0">
                <a:solidFill>
                  <a:srgbClr val="E8ECF2"/>
                </a:solidFill>
                <a:latin typeface="Calibri"/>
              </a:rPr>
              <a:t>Application</a:t>
            </a:r>
          </a:p>
        </p:txBody>
      </p:sp>
      <p:cxnSp>
        <p:nvCxnSpPr>
          <p:cNvPr id="8" name="Connector 7"/>
          <p:cNvCxnSpPr/>
          <p:nvPr/>
        </p:nvCxnSpPr>
        <p:spPr>
          <a:xfrm>
            <a:off x="2715768" y="2322576"/>
            <a:ext cx="466344" cy="0"/>
          </a:xfrm>
          <a:prstGeom prst="line">
            <a:avLst/>
          </a:prstGeom>
          <a:ln w="15875">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200400" y="2039112"/>
            <a:ext cx="2011680" cy="566928"/>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0" i="0">
                <a:solidFill>
                  <a:srgbClr val="E8ECF2"/>
                </a:solidFill>
                <a:latin typeface="Calibri"/>
              </a:rPr>
              <a:t>Your gateway</a:t>
            </a:r>
          </a:p>
        </p:txBody>
      </p:sp>
      <p:cxnSp>
        <p:nvCxnSpPr>
          <p:cNvPr id="10" name="Connector 9"/>
          <p:cNvCxnSpPr/>
          <p:nvPr/>
        </p:nvCxnSpPr>
        <p:spPr>
          <a:xfrm>
            <a:off x="5230368" y="2322576"/>
            <a:ext cx="466344" cy="0"/>
          </a:xfrm>
          <a:prstGeom prst="line">
            <a:avLst/>
          </a:prstGeom>
          <a:ln w="15875">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715000" y="2039112"/>
            <a:ext cx="2011680" cy="566928"/>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0" i="0">
                <a:solidFill>
                  <a:srgbClr val="E8ECF2"/>
                </a:solidFill>
                <a:latin typeface="Calibri"/>
              </a:rPr>
              <a:t>Model provider</a:t>
            </a:r>
          </a:p>
        </p:txBody>
      </p:sp>
      <p:sp>
        <p:nvSpPr>
          <p:cNvPr id="12" name="TextBox 11"/>
          <p:cNvSpPr txBox="1"/>
          <p:nvPr/>
        </p:nvSpPr>
        <p:spPr>
          <a:xfrm>
            <a:off x="685800" y="2898648"/>
            <a:ext cx="4572000" cy="457200"/>
          </a:xfrm>
          <a:prstGeom prst="rect">
            <a:avLst/>
          </a:prstGeom>
          <a:noFill/>
        </p:spPr>
        <p:txBody>
          <a:bodyPr wrap="square" lIns="0" rIns="0" tIns="0" bIns="0" anchor="t">
            <a:spAutoFit/>
          </a:bodyPr>
          <a:lstStyle/>
          <a:p>
            <a:pPr algn="l">
              <a:lnSpc>
                <a:spcPct val="115000"/>
              </a:lnSpc>
              <a:spcAft>
                <a:spcPts val="0"/>
              </a:spcAft>
            </a:pPr>
            <a:r>
              <a:rPr sz="1000" b="0" i="0">
                <a:solidFill>
                  <a:srgbClr val="5AA0E0"/>
                </a:solidFill>
                <a:latin typeface="Calibri"/>
              </a:rPr>
              <a:t>WITH THE CONNECTOR INSTALLED</a:t>
            </a:r>
          </a:p>
        </p:txBody>
      </p:sp>
      <p:sp>
        <p:nvSpPr>
          <p:cNvPr id="13" name="Rounded Rectangle 12"/>
          <p:cNvSpPr/>
          <p:nvPr/>
        </p:nvSpPr>
        <p:spPr>
          <a:xfrm>
            <a:off x="685800" y="3154680"/>
            <a:ext cx="1572768" cy="786384"/>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150" b="0" i="0">
                <a:solidFill>
                  <a:srgbClr val="E8ECF2"/>
                </a:solidFill>
                <a:latin typeface="Calibri"/>
              </a:rPr>
              <a:t>Application</a:t>
            </a:r>
          </a:p>
        </p:txBody>
      </p:sp>
      <p:cxnSp>
        <p:nvCxnSpPr>
          <p:cNvPr id="14" name="Connector 13"/>
          <p:cNvCxnSpPr/>
          <p:nvPr/>
        </p:nvCxnSpPr>
        <p:spPr>
          <a:xfrm>
            <a:off x="2276856" y="3547872"/>
            <a:ext cx="237743" cy="0"/>
          </a:xfrm>
          <a:prstGeom prst="line">
            <a:avLst/>
          </a:prstGeom>
          <a:ln w="15875">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532888" y="3154680"/>
            <a:ext cx="1572768" cy="786384"/>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150" b="0" i="0">
                <a:solidFill>
                  <a:srgbClr val="E8ECF2"/>
                </a:solidFill>
                <a:latin typeface="Calibri"/>
              </a:rPr>
              <a:t>Your gateway</a:t>
            </a:r>
          </a:p>
        </p:txBody>
      </p:sp>
      <p:cxnSp>
        <p:nvCxnSpPr>
          <p:cNvPr id="16" name="Connector 15"/>
          <p:cNvCxnSpPr/>
          <p:nvPr/>
        </p:nvCxnSpPr>
        <p:spPr>
          <a:xfrm>
            <a:off x="4123944" y="3547872"/>
            <a:ext cx="237744" cy="0"/>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379976" y="3154680"/>
            <a:ext cx="1572768" cy="786384"/>
          </a:xfrm>
          <a:prstGeom prst="roundRect">
            <a:avLst>
              <a:gd name="adj" fmla="val 8000"/>
            </a:avLst>
          </a:prstGeom>
          <a:solidFill>
            <a:srgbClr val="161C23"/>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150" b="0" i="0">
                <a:solidFill>
                  <a:srgbClr val="E8ECF2"/>
                </a:solidFill>
                <a:latin typeface="Calibri"/>
              </a:rPr>
              <a:t>evaluate</a:t>
            </a:r>
          </a:p>
          <a:p>
            <a:pPr algn="ctr">
              <a:lnSpc>
                <a:spcPct val="115000"/>
              </a:lnSpc>
              <a:spcAft>
                <a:spcPts val="200"/>
              </a:spcAft>
            </a:pPr>
            <a:r>
              <a:rPr sz="1000" b="0" i="0">
                <a:solidFill>
                  <a:srgbClr val="98A4B3"/>
                </a:solidFill>
                <a:latin typeface="Calibri"/>
              </a:rPr>
              <a:t>input</a:t>
            </a:r>
          </a:p>
        </p:txBody>
      </p:sp>
      <p:cxnSp>
        <p:nvCxnSpPr>
          <p:cNvPr id="18" name="Connector 17"/>
          <p:cNvCxnSpPr/>
          <p:nvPr/>
        </p:nvCxnSpPr>
        <p:spPr>
          <a:xfrm>
            <a:off x="5971031" y="3547872"/>
            <a:ext cx="237745" cy="0"/>
          </a:xfrm>
          <a:prstGeom prst="line">
            <a:avLst/>
          </a:prstGeom>
          <a:ln w="15875">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27064" y="3154680"/>
            <a:ext cx="1572768" cy="786384"/>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150" b="0" i="0">
                <a:solidFill>
                  <a:srgbClr val="E8ECF2"/>
                </a:solidFill>
                <a:latin typeface="Calibri"/>
              </a:rPr>
              <a:t>Model provider</a:t>
            </a:r>
          </a:p>
        </p:txBody>
      </p:sp>
      <p:cxnSp>
        <p:nvCxnSpPr>
          <p:cNvPr id="20" name="Connector 19"/>
          <p:cNvCxnSpPr/>
          <p:nvPr/>
        </p:nvCxnSpPr>
        <p:spPr>
          <a:xfrm>
            <a:off x="7818120" y="3547872"/>
            <a:ext cx="237744" cy="0"/>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074152" y="3154680"/>
            <a:ext cx="1572768" cy="786384"/>
          </a:xfrm>
          <a:prstGeom prst="roundRect">
            <a:avLst>
              <a:gd name="adj" fmla="val 8000"/>
            </a:avLst>
          </a:prstGeom>
          <a:solidFill>
            <a:srgbClr val="161C23"/>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150" b="0" i="0">
                <a:solidFill>
                  <a:srgbClr val="E8ECF2"/>
                </a:solidFill>
                <a:latin typeface="Calibri"/>
              </a:rPr>
              <a:t>evaluate</a:t>
            </a:r>
          </a:p>
          <a:p>
            <a:pPr algn="ctr">
              <a:lnSpc>
                <a:spcPct val="115000"/>
              </a:lnSpc>
              <a:spcAft>
                <a:spcPts val="200"/>
              </a:spcAft>
            </a:pPr>
            <a:r>
              <a:rPr sz="1000" b="0" i="0">
                <a:solidFill>
                  <a:srgbClr val="98A4B3"/>
                </a:solidFill>
                <a:latin typeface="Calibri"/>
              </a:rPr>
              <a:t>output</a:t>
            </a:r>
          </a:p>
        </p:txBody>
      </p:sp>
      <p:cxnSp>
        <p:nvCxnSpPr>
          <p:cNvPr id="22" name="Connector 21"/>
          <p:cNvCxnSpPr/>
          <p:nvPr/>
        </p:nvCxnSpPr>
        <p:spPr>
          <a:xfrm>
            <a:off x="9665208" y="3547872"/>
            <a:ext cx="237744" cy="0"/>
          </a:xfrm>
          <a:prstGeom prst="line">
            <a:avLst/>
          </a:prstGeom>
          <a:ln w="15875">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9921240" y="3154680"/>
            <a:ext cx="1572768" cy="786384"/>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150" b="0" i="0">
                <a:solidFill>
                  <a:srgbClr val="E8ECF2"/>
                </a:solidFill>
                <a:latin typeface="Calibri"/>
              </a:rPr>
              <a:t>Application</a:t>
            </a:r>
          </a:p>
        </p:txBody>
      </p:sp>
      <p:sp>
        <p:nvSpPr>
          <p:cNvPr id="24" name="Rectangle 23"/>
          <p:cNvSpPr/>
          <p:nvPr/>
        </p:nvSpPr>
        <p:spPr>
          <a:xfrm>
            <a:off x="685800" y="4256532"/>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4178808"/>
            <a:ext cx="10545775" cy="365760"/>
          </a:xfrm>
          <a:prstGeom prst="rect">
            <a:avLst/>
          </a:prstGeom>
          <a:noFill/>
        </p:spPr>
        <p:txBody>
          <a:bodyPr wrap="square" lIns="0" rIns="0" tIns="0" bIns="0" anchor="t">
            <a:spAutoFit/>
          </a:bodyPr>
          <a:lstStyle/>
          <a:p>
            <a:pPr algn="l">
              <a:lnSpc>
                <a:spcPct val="115000"/>
              </a:lnSpc>
              <a:spcAft>
                <a:spcPts val="100"/>
              </a:spcAft>
            </a:pPr>
            <a:r>
              <a:rPr sz="1250" b="1" i="0">
                <a:solidFill>
                  <a:srgbClr val="E8ECF2"/>
                </a:solidFill>
                <a:latin typeface="Calibri"/>
              </a:rPr>
              <a:t>Both evaluation calls are synchronous and both are on your latency budget</a:t>
            </a:r>
          </a:p>
          <a:p>
            <a:pPr algn="l">
              <a:lnSpc>
                <a:spcPct val="115000"/>
              </a:lnSpc>
              <a:spcAft>
                <a:spcPts val="0"/>
              </a:spcAft>
            </a:pPr>
            <a:r>
              <a:rPr sz="1050" b="0" i="0">
                <a:solidFill>
                  <a:srgbClr val="98A4B3"/>
                </a:solidFill>
                <a:latin typeface="Calibri"/>
              </a:rPr>
              <a:t>There is no numeric budget yet — it is instrumented from the first phase and the targets get set from real traffic afterwards. Yours would be some of that traffic.</a:t>
            </a:r>
          </a:p>
        </p:txBody>
      </p:sp>
      <p:sp>
        <p:nvSpPr>
          <p:cNvPr id="26" name="Rectangle 25"/>
          <p:cNvSpPr/>
          <p:nvPr/>
        </p:nvSpPr>
        <p:spPr>
          <a:xfrm>
            <a:off x="685800" y="5006340"/>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0120" y="4928616"/>
            <a:ext cx="10545775" cy="365760"/>
          </a:xfrm>
          <a:prstGeom prst="rect">
            <a:avLst/>
          </a:prstGeom>
          <a:noFill/>
        </p:spPr>
        <p:txBody>
          <a:bodyPr wrap="square" lIns="0" rIns="0" tIns="0" bIns="0" anchor="t">
            <a:spAutoFit/>
          </a:bodyPr>
          <a:lstStyle/>
          <a:p>
            <a:pPr algn="l">
              <a:lnSpc>
                <a:spcPct val="115000"/>
              </a:lnSpc>
              <a:spcAft>
                <a:spcPts val="100"/>
              </a:spcAft>
            </a:pPr>
            <a:r>
              <a:rPr sz="1250" b="1" i="0">
                <a:solidFill>
                  <a:srgbClr val="E8ECF2"/>
                </a:solidFill>
                <a:latin typeface="Calibri"/>
              </a:rPr>
              <a:t>Every stage has an explicit timeout, and what happens on expiry is configured, never assumed</a:t>
            </a:r>
          </a:p>
          <a:p>
            <a:pPr algn="l">
              <a:lnSpc>
                <a:spcPct val="115000"/>
              </a:lnSpc>
              <a:spcAft>
                <a:spcPts val="0"/>
              </a:spcAft>
            </a:pPr>
            <a:r>
              <a:rPr sz="1050" b="0" i="0">
                <a:solidFill>
                  <a:srgbClr val="98A4B3"/>
                </a:solidFill>
                <a:latin typeface="Calibri"/>
              </a:rPr>
              <a:t>A timeout is not an implicit allow. The behaviour is part of the policy and it is written down before anything runs.</a:t>
            </a:r>
          </a:p>
        </p:txBody>
      </p:sp>
      <p:sp>
        <p:nvSpPr>
          <p:cNvPr id="28" name="Rectangle 27"/>
          <p:cNvSpPr/>
          <p:nvPr/>
        </p:nvSpPr>
        <p:spPr>
          <a:xfrm>
            <a:off x="685800" y="5756148"/>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5678424"/>
            <a:ext cx="10545775" cy="365760"/>
          </a:xfrm>
          <a:prstGeom prst="rect">
            <a:avLst/>
          </a:prstGeom>
          <a:noFill/>
        </p:spPr>
        <p:txBody>
          <a:bodyPr wrap="square" lIns="0" rIns="0" tIns="0" bIns="0" anchor="t">
            <a:spAutoFit/>
          </a:bodyPr>
          <a:lstStyle/>
          <a:p>
            <a:pPr algn="l">
              <a:lnSpc>
                <a:spcPct val="115000"/>
              </a:lnSpc>
              <a:spcAft>
                <a:spcPts val="100"/>
              </a:spcAft>
            </a:pPr>
            <a:r>
              <a:rPr sz="1250" b="1" i="0">
                <a:solidFill>
                  <a:srgbClr val="E8ECF2"/>
                </a:solidFill>
                <a:latin typeface="Calibri"/>
              </a:rPr>
              <a:t>One correlation identifier threads both calls and the model call</a:t>
            </a:r>
          </a:p>
          <a:p>
            <a:pPr algn="l">
              <a:lnSpc>
                <a:spcPct val="115000"/>
              </a:lnSpc>
              <a:spcAft>
                <a:spcPts val="0"/>
              </a:spcAft>
            </a:pPr>
            <a:r>
              <a:rPr sz="1050" b="0" i="0">
                <a:solidFill>
                  <a:srgbClr val="98A4B3"/>
                </a:solidFill>
                <a:latin typeface="Calibri"/>
              </a:rPr>
              <a:t>So a decision in our audit trail and a request in your logs are the same request, joinable without guesswork.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You are on Remote Evaluation</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You keep your gateway and your model credentials. We run the evaluation service.</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ounded Rectangle 5"/>
          <p:cNvSpPr/>
          <p:nvPr/>
        </p:nvSpPr>
        <p:spPr>
          <a:xfrm>
            <a:off x="685800" y="1874519"/>
            <a:ext cx="6263640" cy="27889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3657600" cy="457200"/>
          </a:xfrm>
          <a:prstGeom prst="rect">
            <a:avLst/>
          </a:prstGeom>
          <a:noFill/>
        </p:spPr>
        <p:txBody>
          <a:bodyPr wrap="square" lIns="0" rIns="0" tIns="0" bIns="0" anchor="t">
            <a:spAutoFit/>
          </a:bodyPr>
          <a:lstStyle/>
          <a:p>
            <a:pPr algn="l">
              <a:lnSpc>
                <a:spcPct val="115000"/>
              </a:lnSpc>
              <a:spcAft>
                <a:spcPts val="0"/>
              </a:spcAft>
            </a:pPr>
            <a:r>
              <a:rPr sz="1000" b="0" i="0">
                <a:solidFill>
                  <a:srgbClr val="98A4B3"/>
                </a:solidFill>
                <a:latin typeface="Calibri"/>
              </a:rPr>
              <a:t>TEAM'S OWN ENVIRONMENT</a:t>
            </a:r>
          </a:p>
        </p:txBody>
      </p:sp>
      <p:sp>
        <p:nvSpPr>
          <p:cNvPr id="8" name="Rounded Rectangle 7"/>
          <p:cNvSpPr/>
          <p:nvPr/>
        </p:nvSpPr>
        <p:spPr>
          <a:xfrm>
            <a:off x="8138160" y="1874519"/>
            <a:ext cx="3364992" cy="27889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39327" y="2011680"/>
            <a:ext cx="3017520" cy="457200"/>
          </a:xfrm>
          <a:prstGeom prst="rect">
            <a:avLst/>
          </a:prstGeom>
          <a:noFill/>
        </p:spPr>
        <p:txBody>
          <a:bodyPr wrap="square" lIns="0" rIns="0" tIns="0" bIns="0" anchor="t">
            <a:spAutoFit/>
          </a:bodyPr>
          <a:lstStyle/>
          <a:p>
            <a:pPr algn="l">
              <a:lnSpc>
                <a:spcPct val="115000"/>
              </a:lnSpc>
              <a:spcAft>
                <a:spcPts val="0"/>
              </a:spcAft>
            </a:pPr>
            <a:r>
              <a:rPr sz="1000" b="0" i="0">
                <a:solidFill>
                  <a:srgbClr val="98A4B3"/>
                </a:solidFill>
                <a:latin typeface="Calibri"/>
              </a:rPr>
              <a:t>AI GUARDRAILS HOSTED ACCOUNT</a:t>
            </a:r>
          </a:p>
        </p:txBody>
      </p:sp>
      <p:sp>
        <p:nvSpPr>
          <p:cNvPr id="10" name="Rounded Rectangle 9"/>
          <p:cNvSpPr/>
          <p:nvPr/>
        </p:nvSpPr>
        <p:spPr>
          <a:xfrm>
            <a:off x="1097280" y="2441448"/>
            <a:ext cx="1737360" cy="530352"/>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0" i="0">
                <a:solidFill>
                  <a:srgbClr val="E8ECF2"/>
                </a:solidFill>
                <a:latin typeface="Calibri"/>
              </a:rPr>
              <a:t>Application</a:t>
            </a:r>
          </a:p>
        </p:txBody>
      </p:sp>
      <p:cxnSp>
        <p:nvCxnSpPr>
          <p:cNvPr id="11" name="Connector 10"/>
          <p:cNvCxnSpPr/>
          <p:nvPr/>
        </p:nvCxnSpPr>
        <p:spPr>
          <a:xfrm>
            <a:off x="2852928" y="2706624"/>
            <a:ext cx="420624" cy="0"/>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291840" y="2350008"/>
            <a:ext cx="3246120" cy="1874519"/>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Team-owned LiteLLM</a:t>
            </a:r>
          </a:p>
          <a:p>
            <a:pPr algn="ctr">
              <a:lnSpc>
                <a:spcPct val="115000"/>
              </a:lnSpc>
              <a:spcAft>
                <a:spcPts val="200"/>
              </a:spcAft>
            </a:pPr>
            <a:r>
              <a:rPr sz="1150" b="0" i="0">
                <a:solidFill>
                  <a:srgbClr val="98A4B3"/>
                </a:solidFill>
                <a:latin typeface="Calibri"/>
              </a:rPr>
              <a:t>(or equivalent gateway)</a:t>
            </a:r>
          </a:p>
          <a:p>
            <a:pPr algn="ctr">
              <a:lnSpc>
                <a:spcPct val="115000"/>
              </a:lnSpc>
              <a:spcAft>
                <a:spcPts val="200"/>
              </a:spcAft>
            </a:pPr>
            <a:r>
              <a:rPr sz="1150" b="0" i="0">
                <a:solidFill>
                  <a:srgbClr val="98A4B3"/>
                </a:solidFill>
                <a:latin typeface="Calibri"/>
              </a:rPr>
              <a:t/>
            </a:r>
          </a:p>
          <a:p>
            <a:pPr algn="ctr">
              <a:lnSpc>
                <a:spcPct val="115000"/>
              </a:lnSpc>
              <a:spcAft>
                <a:spcPts val="200"/>
              </a:spcAft>
            </a:pPr>
            <a:r>
              <a:rPr sz="1150" b="0" i="0">
                <a:solidFill>
                  <a:srgbClr val="98A4B3"/>
                </a:solidFill>
                <a:latin typeface="Calibri"/>
              </a:rPr>
              <a:t>Holds the team's own model-provider credentials</a:t>
            </a:r>
          </a:p>
        </p:txBody>
      </p:sp>
      <p:sp>
        <p:nvSpPr>
          <p:cNvPr id="13" name="Rounded Rectangle 12"/>
          <p:cNvSpPr/>
          <p:nvPr/>
        </p:nvSpPr>
        <p:spPr>
          <a:xfrm>
            <a:off x="1097280" y="3593591"/>
            <a:ext cx="1737360" cy="530352"/>
          </a:xfrm>
          <a:prstGeom prst="roundRect">
            <a:avLst>
              <a:gd name="adj" fmla="val 8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0" i="0">
                <a:solidFill>
                  <a:srgbClr val="E8ECF2"/>
                </a:solidFill>
                <a:latin typeface="Calibri"/>
              </a:rPr>
              <a:t>Model provider</a:t>
            </a:r>
          </a:p>
        </p:txBody>
      </p:sp>
      <p:cxnSp>
        <p:nvCxnSpPr>
          <p:cNvPr id="14" name="Connector 13"/>
          <p:cNvCxnSpPr/>
          <p:nvPr/>
        </p:nvCxnSpPr>
        <p:spPr>
          <a:xfrm flipH="1">
            <a:off x="2852928" y="3858768"/>
            <a:ext cx="420624" cy="0"/>
          </a:xfrm>
          <a:prstGeom prst="line">
            <a:avLst/>
          </a:prstGeom>
          <a:ln w="15875">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503920" y="2587752"/>
            <a:ext cx="2788920" cy="1371600"/>
          </a:xfrm>
          <a:prstGeom prst="roundRect">
            <a:avLst>
              <a:gd name="adj" fmla="val 8000"/>
            </a:avLst>
          </a:prstGeom>
          <a:solidFill>
            <a:srgbClr val="1D242C"/>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Hosted Guardrails Runtime</a:t>
            </a:r>
          </a:p>
          <a:p>
            <a:pPr algn="ctr">
              <a:lnSpc>
                <a:spcPct val="115000"/>
              </a:lnSpc>
              <a:spcAft>
                <a:spcPts val="200"/>
              </a:spcAft>
            </a:pPr>
            <a:r>
              <a:rPr sz="1150" b="0" i="0">
                <a:solidFill>
                  <a:srgbClr val="98A4B3"/>
                </a:solidFill>
                <a:latin typeface="Calibri"/>
              </a:rPr>
              <a:t>Evaluation API · policy execution · detection engines</a:t>
            </a:r>
          </a:p>
        </p:txBody>
      </p:sp>
      <p:cxnSp>
        <p:nvCxnSpPr>
          <p:cNvPr id="16" name="Connector 15"/>
          <p:cNvCxnSpPr/>
          <p:nvPr/>
        </p:nvCxnSpPr>
        <p:spPr>
          <a:xfrm>
            <a:off x="6556248" y="2743200"/>
            <a:ext cx="1929384" cy="246888"/>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903720" y="2313432"/>
            <a:ext cx="1188720" cy="512064"/>
          </a:xfrm>
          <a:prstGeom prst="rect">
            <a:avLst/>
          </a:prstGeom>
          <a:noFill/>
        </p:spPr>
        <p:txBody>
          <a:bodyPr wrap="square" lIns="0" rIns="0" tIns="0" bIns="0" anchor="t">
            <a:spAutoFit/>
          </a:bodyPr>
          <a:lstStyle/>
          <a:p>
            <a:pPr algn="ctr">
              <a:lnSpc>
                <a:spcPct val="110000"/>
              </a:lnSpc>
              <a:spcAft>
                <a:spcPts val="0"/>
              </a:spcAft>
            </a:pPr>
            <a:r>
              <a:rPr sz="950" b="0" i="0">
                <a:solidFill>
                  <a:srgbClr val="98A4B3"/>
                </a:solidFill>
                <a:latin typeface="Calibri"/>
              </a:rPr>
              <a:t>input</a:t>
            </a:r>
          </a:p>
          <a:p>
            <a:pPr algn="ctr">
              <a:lnSpc>
                <a:spcPct val="110000"/>
              </a:lnSpc>
              <a:spcAft>
                <a:spcPts val="0"/>
              </a:spcAft>
            </a:pPr>
            <a:r>
              <a:rPr sz="950" b="0" i="0">
                <a:solidFill>
                  <a:srgbClr val="98A4B3"/>
                </a:solidFill>
                <a:latin typeface="Calibri"/>
              </a:rPr>
              <a:t>evaluation</a:t>
            </a:r>
          </a:p>
        </p:txBody>
      </p:sp>
      <p:cxnSp>
        <p:nvCxnSpPr>
          <p:cNvPr id="18" name="Connector 17"/>
          <p:cNvCxnSpPr/>
          <p:nvPr/>
        </p:nvCxnSpPr>
        <p:spPr>
          <a:xfrm flipV="1">
            <a:off x="6556248" y="3557015"/>
            <a:ext cx="1929384" cy="192024"/>
          </a:xfrm>
          <a:prstGeom prst="line">
            <a:avLst/>
          </a:prstGeom>
          <a:ln w="15875">
            <a:solidFill>
              <a:srgbClr val="5AA0E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903720" y="3849624"/>
            <a:ext cx="1188720" cy="512064"/>
          </a:xfrm>
          <a:prstGeom prst="rect">
            <a:avLst/>
          </a:prstGeom>
          <a:noFill/>
        </p:spPr>
        <p:txBody>
          <a:bodyPr wrap="square" lIns="0" rIns="0" tIns="0" bIns="0" anchor="t">
            <a:spAutoFit/>
          </a:bodyPr>
          <a:lstStyle/>
          <a:p>
            <a:pPr algn="ctr">
              <a:lnSpc>
                <a:spcPct val="110000"/>
              </a:lnSpc>
              <a:spcAft>
                <a:spcPts val="0"/>
              </a:spcAft>
            </a:pPr>
            <a:r>
              <a:rPr sz="950" b="0" i="0">
                <a:solidFill>
                  <a:srgbClr val="98A4B3"/>
                </a:solidFill>
                <a:latin typeface="Calibri"/>
              </a:rPr>
              <a:t>output</a:t>
            </a:r>
          </a:p>
          <a:p>
            <a:pPr algn="ctr">
              <a:lnSpc>
                <a:spcPct val="110000"/>
              </a:lnSpc>
              <a:spcAft>
                <a:spcPts val="0"/>
              </a:spcAft>
            </a:pPr>
            <a:r>
              <a:rPr sz="950" b="0" i="0">
                <a:solidFill>
                  <a:srgbClr val="98A4B3"/>
                </a:solidFill>
                <a:latin typeface="Calibri"/>
              </a:rPr>
              <a:t>evaluation</a:t>
            </a:r>
          </a:p>
        </p:txBody>
      </p:sp>
      <p:sp>
        <p:nvSpPr>
          <p:cNvPr id="20" name="Rounded Rectangle 19"/>
          <p:cNvSpPr/>
          <p:nvPr/>
        </p:nvSpPr>
        <p:spPr>
          <a:xfrm>
            <a:off x="685800" y="4937760"/>
            <a:ext cx="10820095" cy="1024128"/>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5084064"/>
            <a:ext cx="10271455" cy="822960"/>
          </a:xfrm>
          <a:prstGeom prst="rect">
            <a:avLst/>
          </a:prstGeom>
          <a:noFill/>
        </p:spPr>
        <p:txBody>
          <a:bodyPr wrap="square" lIns="0" rIns="0" tIns="0" bIns="0" anchor="t">
            <a:spAutoFit/>
          </a:bodyPr>
          <a:lstStyle/>
          <a:p>
            <a:pPr algn="l">
              <a:lnSpc>
                <a:spcPct val="115000"/>
              </a:lnSpc>
              <a:spcAft>
                <a:spcPts val="400"/>
              </a:spcAft>
            </a:pPr>
            <a:r>
              <a:rPr sz="1050" b="1" i="0">
                <a:solidFill>
                  <a:srgbClr val="5AA0E0"/>
                </a:solidFill>
                <a:latin typeface="Calibri"/>
              </a:rPr>
              <a:t>Content exposure</a:t>
            </a:r>
          </a:p>
          <a:p>
            <a:pPr algn="l">
              <a:lnSpc>
                <a:spcPct val="115000"/>
              </a:lnSpc>
              <a:spcAft>
                <a:spcPts val="0"/>
              </a:spcAft>
            </a:pPr>
            <a:r>
              <a:rPr sz="1250" b="0" i="0">
                <a:solidFill>
                  <a:srgbClr val="E06C5F"/>
                </a:solidFill>
                <a:latin typeface="Calibri"/>
              </a:rPr>
              <a:t>Your prompts and responses are transmitted to the hosted Evaluation API on every evaluated call. This is not a private-data or data-local model. Raw content is not persisted by default — decision metadata is — and any retention requires explicit configuration at the tenant level.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What you actually install</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A published artifact and a configuration file. Both reviewable before anything runs.</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ounded Rectangle 5"/>
          <p:cNvSpPr/>
          <p:nvPr/>
        </p:nvSpPr>
        <p:spPr>
          <a:xfrm>
            <a:off x="685800" y="1828800"/>
            <a:ext cx="5760720" cy="329184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828800"/>
            <a:ext cx="5760720" cy="475488"/>
          </a:xfrm>
          <a:prstGeom prst="roundRect">
            <a:avLst>
              <a:gd name="adj" fmla="val 8000"/>
            </a:avLst>
          </a:prstGeom>
          <a:solidFill>
            <a:srgbClr val="2B4A69"/>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50" b="1" i="0">
                <a:solidFill>
                  <a:srgbClr val="E8ECF2"/>
                </a:solidFill>
                <a:latin typeface="Calibri"/>
              </a:rPr>
              <a:t>THE CONNECTOR</a:t>
            </a:r>
          </a:p>
        </p:txBody>
      </p:sp>
      <p:sp>
        <p:nvSpPr>
          <p:cNvPr id="8" name="Rectangle 7"/>
          <p:cNvSpPr/>
          <p:nvPr/>
        </p:nvSpPr>
        <p:spPr>
          <a:xfrm>
            <a:off x="941832" y="2647188"/>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16152" y="2569464"/>
            <a:ext cx="5029200" cy="365760"/>
          </a:xfrm>
          <a:prstGeom prst="rect">
            <a:avLst/>
          </a:prstGeom>
          <a:noFill/>
        </p:spPr>
        <p:txBody>
          <a:bodyPr wrap="square" lIns="0" rIns="0" tIns="0" bIns="0" anchor="t">
            <a:spAutoFit/>
          </a:bodyPr>
          <a:lstStyle/>
          <a:p>
            <a:pPr algn="l">
              <a:lnSpc>
                <a:spcPct val="115000"/>
              </a:lnSpc>
              <a:spcAft>
                <a:spcPts val="100"/>
              </a:spcAft>
            </a:pPr>
            <a:r>
              <a:rPr sz="1200" b="1" i="0">
                <a:solidFill>
                  <a:srgbClr val="E8ECF2"/>
                </a:solidFill>
                <a:latin typeface="Calibri"/>
              </a:rPr>
              <a:t>Published to a named channel your tooling already uses</a:t>
            </a:r>
          </a:p>
          <a:p>
            <a:pPr algn="l">
              <a:lnSpc>
                <a:spcPct val="115000"/>
              </a:lnSpc>
              <a:spcAft>
                <a:spcPts val="0"/>
              </a:spcAft>
            </a:pPr>
            <a:r>
              <a:rPr sz="1000" b="0" i="0">
                <a:solidFill>
                  <a:srgbClr val="98A4B3"/>
                </a:solidFill>
                <a:latin typeface="Calibri"/>
              </a:rPr>
              <a:t>Versioned independently of the platform, with release notes and a changelog.</a:t>
            </a:r>
          </a:p>
        </p:txBody>
      </p:sp>
      <p:sp>
        <p:nvSpPr>
          <p:cNvPr id="10" name="Rectangle 9"/>
          <p:cNvSpPr/>
          <p:nvPr/>
        </p:nvSpPr>
        <p:spPr>
          <a:xfrm>
            <a:off x="941832" y="3488436"/>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16152" y="3410712"/>
            <a:ext cx="5029200" cy="365760"/>
          </a:xfrm>
          <a:prstGeom prst="rect">
            <a:avLst/>
          </a:prstGeom>
          <a:noFill/>
        </p:spPr>
        <p:txBody>
          <a:bodyPr wrap="square" lIns="0" rIns="0" tIns="0" bIns="0" anchor="t">
            <a:spAutoFit/>
          </a:bodyPr>
          <a:lstStyle/>
          <a:p>
            <a:pPr algn="l">
              <a:lnSpc>
                <a:spcPct val="115000"/>
              </a:lnSpc>
              <a:spcAft>
                <a:spcPts val="100"/>
              </a:spcAft>
            </a:pPr>
            <a:r>
              <a:rPr sz="1200" b="1" i="0">
                <a:solidFill>
                  <a:srgbClr val="E8ECF2"/>
                </a:solidFill>
                <a:latin typeface="Calibri"/>
              </a:rPr>
              <a:t>Integrity is verifiable before it executes</a:t>
            </a:r>
          </a:p>
          <a:p>
            <a:pPr algn="l">
              <a:lnSpc>
                <a:spcPct val="115000"/>
              </a:lnSpc>
              <a:spcAft>
                <a:spcPts val="0"/>
              </a:spcAft>
            </a:pPr>
            <a:r>
              <a:rPr sz="1000" b="0" i="0">
                <a:solidFill>
                  <a:srgbClr val="98A4B3"/>
                </a:solidFill>
                <a:latin typeface="Calibri"/>
              </a:rPr>
              <a:t>Verification is part of the installation instructions, not an option a careful team has to discover.</a:t>
            </a:r>
          </a:p>
        </p:txBody>
      </p:sp>
      <p:sp>
        <p:nvSpPr>
          <p:cNvPr id="12" name="Rectangle 11"/>
          <p:cNvSpPr/>
          <p:nvPr/>
        </p:nvSpPr>
        <p:spPr>
          <a:xfrm>
            <a:off x="941832" y="4329684"/>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16152" y="4251960"/>
            <a:ext cx="5029200" cy="365760"/>
          </a:xfrm>
          <a:prstGeom prst="rect">
            <a:avLst/>
          </a:prstGeom>
          <a:noFill/>
        </p:spPr>
        <p:txBody>
          <a:bodyPr wrap="square" lIns="0" rIns="0" tIns="0" bIns="0" anchor="t">
            <a:spAutoFit/>
          </a:bodyPr>
          <a:lstStyle/>
          <a:p>
            <a:pPr algn="l">
              <a:lnSpc>
                <a:spcPct val="115000"/>
              </a:lnSpc>
              <a:spcAft>
                <a:spcPts val="100"/>
              </a:spcAft>
            </a:pPr>
            <a:r>
              <a:rPr sz="1200" b="1" i="0">
                <a:solidFill>
                  <a:srgbClr val="E8ECF2"/>
                </a:solidFill>
                <a:latin typeface="Calibri"/>
              </a:rPr>
              <a:t>Its privilege is documented, not implied</a:t>
            </a:r>
          </a:p>
          <a:p>
            <a:pPr algn="l">
              <a:lnSpc>
                <a:spcPct val="115000"/>
              </a:lnSpc>
              <a:spcAft>
                <a:spcPts val="0"/>
              </a:spcAft>
            </a:pPr>
            <a:r>
              <a:rPr sz="1000" b="0" i="0">
                <a:solidFill>
                  <a:srgbClr val="98A4B3"/>
                </a:solidFill>
                <a:latin typeface="Calibri"/>
              </a:rPr>
              <a:t>It observes prompt and response content, calls the evaluation service over the network, and applies returned decisions to the request. That is the description your security review gets.</a:t>
            </a:r>
          </a:p>
        </p:txBody>
      </p:sp>
      <p:sp>
        <p:nvSpPr>
          <p:cNvPr id="14" name="Rounded Rectangle 13"/>
          <p:cNvSpPr/>
          <p:nvPr/>
        </p:nvSpPr>
        <p:spPr>
          <a:xfrm>
            <a:off x="6519672" y="1828800"/>
            <a:ext cx="4983480" cy="329184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19672" y="1828800"/>
            <a:ext cx="4983480" cy="475488"/>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50" b="1" i="0">
                <a:solidFill>
                  <a:srgbClr val="E8ECF2"/>
                </a:solidFill>
                <a:latin typeface="Calibri"/>
              </a:rPr>
              <a:t>THE CONFIGURATION FILE</a:t>
            </a:r>
          </a:p>
        </p:txBody>
      </p:sp>
      <p:sp>
        <p:nvSpPr>
          <p:cNvPr id="16" name="Rectangle 15"/>
          <p:cNvSpPr/>
          <p:nvPr/>
        </p:nvSpPr>
        <p:spPr>
          <a:xfrm>
            <a:off x="6775704" y="2647188"/>
            <a:ext cx="77724" cy="77724"/>
          </a:xfrm>
          <a:prstGeom prst="rect">
            <a:avLst/>
          </a:prstGeom>
          <a:solidFill>
            <a:srgbClr val="98A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50024" y="2569464"/>
            <a:ext cx="4251960" cy="365760"/>
          </a:xfrm>
          <a:prstGeom prst="rect">
            <a:avLst/>
          </a:prstGeom>
          <a:noFill/>
        </p:spPr>
        <p:txBody>
          <a:bodyPr wrap="square" lIns="0" rIns="0" tIns="0" bIns="0" anchor="t">
            <a:spAutoFit/>
          </a:bodyPr>
          <a:lstStyle/>
          <a:p>
            <a:pPr algn="l">
              <a:lnSpc>
                <a:spcPct val="115000"/>
              </a:lnSpc>
              <a:spcAft>
                <a:spcPts val="100"/>
              </a:spcAft>
            </a:pPr>
            <a:r>
              <a:rPr sz="1200" b="1" i="0">
                <a:solidFill>
                  <a:srgbClr val="E8ECF2"/>
                </a:solidFill>
                <a:latin typeface="Calibri"/>
              </a:rPr>
              <a:t>A file, not a console screen</a:t>
            </a:r>
          </a:p>
          <a:p>
            <a:pPr algn="l">
              <a:lnSpc>
                <a:spcPct val="115000"/>
              </a:lnSpc>
              <a:spcAft>
                <a:spcPts val="0"/>
              </a:spcAft>
            </a:pPr>
            <a:r>
              <a:rPr sz="1000" b="0" i="0">
                <a:solidFill>
                  <a:srgbClr val="98A4B3"/>
                </a:solidFill>
                <a:latin typeface="Calibri"/>
              </a:rPr>
              <a:t>Schema-validated, committed to your repository, reviewed in a pull request, and diffable. Drift shows up as a diff rather than a support conversation.</a:t>
            </a:r>
          </a:p>
        </p:txBody>
      </p:sp>
      <p:sp>
        <p:nvSpPr>
          <p:cNvPr id="18" name="Rectangle 17"/>
          <p:cNvSpPr/>
          <p:nvPr/>
        </p:nvSpPr>
        <p:spPr>
          <a:xfrm>
            <a:off x="6775704" y="3488436"/>
            <a:ext cx="77724" cy="77724"/>
          </a:xfrm>
          <a:prstGeom prst="rect">
            <a:avLst/>
          </a:prstGeom>
          <a:solidFill>
            <a:srgbClr val="98A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50024" y="3410712"/>
            <a:ext cx="4251960" cy="365760"/>
          </a:xfrm>
          <a:prstGeom prst="rect">
            <a:avLst/>
          </a:prstGeom>
          <a:noFill/>
        </p:spPr>
        <p:txBody>
          <a:bodyPr wrap="square" lIns="0" rIns="0" tIns="0" bIns="0" anchor="t">
            <a:spAutoFit/>
          </a:bodyPr>
          <a:lstStyle/>
          <a:p>
            <a:pPr algn="l">
              <a:lnSpc>
                <a:spcPct val="115000"/>
              </a:lnSpc>
              <a:spcAft>
                <a:spcPts val="100"/>
              </a:spcAft>
            </a:pPr>
            <a:r>
              <a:rPr sz="1200" b="1" i="0">
                <a:solidFill>
                  <a:srgbClr val="E8ECF2"/>
                </a:solidFill>
                <a:latin typeface="Calibri"/>
              </a:rPr>
              <a:t>It states what you are bound to</a:t>
            </a:r>
          </a:p>
          <a:p>
            <a:pPr algn="l">
              <a:lnSpc>
                <a:spcPct val="115000"/>
              </a:lnSpc>
              <a:spcAft>
                <a:spcPts val="0"/>
              </a:spcAft>
            </a:pPr>
            <a:r>
              <a:rPr sz="1000" b="0" i="0">
                <a:solidFill>
                  <a:srgbClr val="98A4B3"/>
                </a:solidFill>
                <a:latin typeface="Calibri"/>
              </a:rPr>
              <a:t>Workload identity, policy name and immutable version, enforcement mode, endpoint, timeouts, failure behaviour, and which connector versions are compatible.</a:t>
            </a:r>
          </a:p>
        </p:txBody>
      </p:sp>
      <p:sp>
        <p:nvSpPr>
          <p:cNvPr id="20" name="Rectangle 19"/>
          <p:cNvSpPr/>
          <p:nvPr/>
        </p:nvSpPr>
        <p:spPr>
          <a:xfrm>
            <a:off x="6775704" y="4329684"/>
            <a:ext cx="77724" cy="77724"/>
          </a:xfrm>
          <a:prstGeom prst="rect">
            <a:avLst/>
          </a:prstGeom>
          <a:solidFill>
            <a:srgbClr val="98A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50024" y="4251960"/>
            <a:ext cx="4251960" cy="365760"/>
          </a:xfrm>
          <a:prstGeom prst="rect">
            <a:avLst/>
          </a:prstGeom>
          <a:noFill/>
        </p:spPr>
        <p:txBody>
          <a:bodyPr wrap="square" lIns="0" rIns="0" tIns="0" bIns="0" anchor="t">
            <a:spAutoFit/>
          </a:bodyPr>
          <a:lstStyle/>
          <a:p>
            <a:pPr algn="l">
              <a:lnSpc>
                <a:spcPct val="115000"/>
              </a:lnSpc>
              <a:spcAft>
                <a:spcPts val="100"/>
              </a:spcAft>
            </a:pPr>
            <a:r>
              <a:rPr sz="1200" b="1" i="0">
                <a:solidFill>
                  <a:srgbClr val="E8ECF2"/>
                </a:solidFill>
                <a:latin typeface="Calibri"/>
              </a:rPr>
              <a:t>It is generated, and regenerable</a:t>
            </a:r>
          </a:p>
          <a:p>
            <a:pPr algn="l">
              <a:lnSpc>
                <a:spcPct val="115000"/>
              </a:lnSpc>
              <a:spcAft>
                <a:spcPts val="0"/>
              </a:spcAft>
            </a:pPr>
            <a:r>
              <a:rPr sz="1000" b="0" i="0">
                <a:solidFill>
                  <a:srgbClr val="98A4B3"/>
                </a:solidFill>
                <a:latin typeface="Calibri"/>
              </a:rPr>
              <a:t>Losing it is an inconvenience, never an outage — and editing it cannot get you weaker enforcement, because the service resolves your policy itself.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The sequence, end to end</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Seven steps. You are not onboarded until we have seen evaluations at every stage your policy declares.</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ounded Rectangle 5"/>
          <p:cNvSpPr/>
          <p:nvPr/>
        </p:nvSpPr>
        <p:spPr>
          <a:xfrm>
            <a:off x="685800" y="2103120"/>
            <a:ext cx="1417320" cy="123444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1" i="0">
                <a:solidFill>
                  <a:srgbClr val="E8ECF2"/>
                </a:solidFill>
                <a:latin typeface="Calibri"/>
              </a:rPr>
              <a:t>Register</a:t>
            </a:r>
          </a:p>
          <a:p>
            <a:pPr algn="ctr">
              <a:lnSpc>
                <a:spcPct val="115000"/>
              </a:lnSpc>
              <a:spcAft>
                <a:spcPts val="200"/>
              </a:spcAft>
            </a:pPr>
            <a:r>
              <a:rPr sz="1050" b="0" i="0">
                <a:solidFill>
                  <a:srgbClr val="98A4B3"/>
                </a:solidFill>
                <a:latin typeface="Calibri"/>
              </a:rPr>
              <a:t>workload</a:t>
            </a:r>
          </a:p>
        </p:txBody>
      </p:sp>
      <p:sp>
        <p:nvSpPr>
          <p:cNvPr id="7" name="TextBox 6"/>
          <p:cNvSpPr txBox="1"/>
          <p:nvPr/>
        </p:nvSpPr>
        <p:spPr>
          <a:xfrm>
            <a:off x="685800" y="1874519"/>
            <a:ext cx="1417320" cy="228600"/>
          </a:xfrm>
          <a:prstGeom prst="rect">
            <a:avLst/>
          </a:prstGeom>
          <a:noFill/>
        </p:spPr>
        <p:txBody>
          <a:bodyPr wrap="square" lIns="0" rIns="0" tIns="0" bIns="0" anchor="t">
            <a:spAutoFit/>
          </a:bodyPr>
          <a:lstStyle/>
          <a:p>
            <a:pPr algn="ctr">
              <a:lnSpc>
                <a:spcPct val="115000"/>
              </a:lnSpc>
              <a:spcAft>
                <a:spcPts val="0"/>
              </a:spcAft>
            </a:pPr>
            <a:r>
              <a:rPr sz="1050" b="1" i="0">
                <a:solidFill>
                  <a:srgbClr val="98A4B3"/>
                </a:solidFill>
                <a:latin typeface="Calibri"/>
              </a:rPr>
              <a:t>1</a:t>
            </a:r>
          </a:p>
        </p:txBody>
      </p:sp>
      <p:cxnSp>
        <p:nvCxnSpPr>
          <p:cNvPr id="8" name="Connector 7"/>
          <p:cNvCxnSpPr/>
          <p:nvPr/>
        </p:nvCxnSpPr>
        <p:spPr>
          <a:xfrm>
            <a:off x="2112263" y="2715768"/>
            <a:ext cx="109729" cy="0"/>
          </a:xfrm>
          <a:prstGeom prst="line">
            <a:avLst/>
          </a:prstGeom>
          <a:ln w="19050">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231136" y="2103120"/>
            <a:ext cx="1417320" cy="123444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1" i="0">
                <a:solidFill>
                  <a:srgbClr val="E8ECF2"/>
                </a:solidFill>
                <a:latin typeface="Calibri"/>
              </a:rPr>
              <a:t>Select</a:t>
            </a:r>
          </a:p>
          <a:p>
            <a:pPr algn="ctr">
              <a:lnSpc>
                <a:spcPct val="115000"/>
              </a:lnSpc>
              <a:spcAft>
                <a:spcPts val="200"/>
              </a:spcAft>
            </a:pPr>
            <a:r>
              <a:rPr sz="1050" b="0" i="0">
                <a:solidFill>
                  <a:srgbClr val="98A4B3"/>
                </a:solidFill>
                <a:latin typeface="Calibri"/>
              </a:rPr>
              <a:t>policy</a:t>
            </a:r>
          </a:p>
        </p:txBody>
      </p:sp>
      <p:sp>
        <p:nvSpPr>
          <p:cNvPr id="10" name="TextBox 9"/>
          <p:cNvSpPr txBox="1"/>
          <p:nvPr/>
        </p:nvSpPr>
        <p:spPr>
          <a:xfrm>
            <a:off x="2231136" y="1874519"/>
            <a:ext cx="1417320" cy="228600"/>
          </a:xfrm>
          <a:prstGeom prst="rect">
            <a:avLst/>
          </a:prstGeom>
          <a:noFill/>
        </p:spPr>
        <p:txBody>
          <a:bodyPr wrap="square" lIns="0" rIns="0" tIns="0" bIns="0" anchor="t">
            <a:spAutoFit/>
          </a:bodyPr>
          <a:lstStyle/>
          <a:p>
            <a:pPr algn="ctr">
              <a:lnSpc>
                <a:spcPct val="115000"/>
              </a:lnSpc>
              <a:spcAft>
                <a:spcPts val="0"/>
              </a:spcAft>
            </a:pPr>
            <a:r>
              <a:rPr sz="1050" b="1" i="0">
                <a:solidFill>
                  <a:srgbClr val="98A4B3"/>
                </a:solidFill>
                <a:latin typeface="Calibri"/>
              </a:rPr>
              <a:t>2</a:t>
            </a:r>
          </a:p>
        </p:txBody>
      </p:sp>
      <p:cxnSp>
        <p:nvCxnSpPr>
          <p:cNvPr id="11" name="Connector 10"/>
          <p:cNvCxnSpPr/>
          <p:nvPr/>
        </p:nvCxnSpPr>
        <p:spPr>
          <a:xfrm>
            <a:off x="3657600" y="2715768"/>
            <a:ext cx="109728" cy="0"/>
          </a:xfrm>
          <a:prstGeom prst="line">
            <a:avLst/>
          </a:prstGeom>
          <a:ln w="19050">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776472" y="2103120"/>
            <a:ext cx="1417320" cy="123444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1" i="0">
                <a:solidFill>
                  <a:srgbClr val="E8ECF2"/>
                </a:solidFill>
                <a:latin typeface="Calibri"/>
              </a:rPr>
              <a:t>Generate</a:t>
            </a:r>
          </a:p>
          <a:p>
            <a:pPr algn="ctr">
              <a:lnSpc>
                <a:spcPct val="115000"/>
              </a:lnSpc>
              <a:spcAft>
                <a:spcPts val="200"/>
              </a:spcAft>
            </a:pPr>
            <a:r>
              <a:rPr sz="1050" b="0" i="0">
                <a:solidFill>
                  <a:srgbClr val="98A4B3"/>
                </a:solidFill>
                <a:latin typeface="Calibri"/>
              </a:rPr>
              <a:t>integration</a:t>
            </a:r>
          </a:p>
          <a:p>
            <a:pPr algn="ctr">
              <a:lnSpc>
                <a:spcPct val="115000"/>
              </a:lnSpc>
              <a:spcAft>
                <a:spcPts val="200"/>
              </a:spcAft>
            </a:pPr>
            <a:r>
              <a:rPr sz="1050" b="0" i="0">
                <a:solidFill>
                  <a:srgbClr val="98A4B3"/>
                </a:solidFill>
                <a:latin typeface="Calibri"/>
              </a:rPr>
              <a:t>manifest</a:t>
            </a:r>
          </a:p>
        </p:txBody>
      </p:sp>
      <p:sp>
        <p:nvSpPr>
          <p:cNvPr id="13" name="TextBox 12"/>
          <p:cNvSpPr txBox="1"/>
          <p:nvPr/>
        </p:nvSpPr>
        <p:spPr>
          <a:xfrm>
            <a:off x="3776472" y="1874519"/>
            <a:ext cx="1417320" cy="228600"/>
          </a:xfrm>
          <a:prstGeom prst="rect">
            <a:avLst/>
          </a:prstGeom>
          <a:noFill/>
        </p:spPr>
        <p:txBody>
          <a:bodyPr wrap="square" lIns="0" rIns="0" tIns="0" bIns="0" anchor="t">
            <a:spAutoFit/>
          </a:bodyPr>
          <a:lstStyle/>
          <a:p>
            <a:pPr algn="ctr">
              <a:lnSpc>
                <a:spcPct val="115000"/>
              </a:lnSpc>
              <a:spcAft>
                <a:spcPts val="0"/>
              </a:spcAft>
            </a:pPr>
            <a:r>
              <a:rPr sz="1050" b="1" i="0">
                <a:solidFill>
                  <a:srgbClr val="98A4B3"/>
                </a:solidFill>
                <a:latin typeface="Calibri"/>
              </a:rPr>
              <a:t>3</a:t>
            </a:r>
          </a:p>
        </p:txBody>
      </p:sp>
      <p:cxnSp>
        <p:nvCxnSpPr>
          <p:cNvPr id="14" name="Connector 13"/>
          <p:cNvCxnSpPr/>
          <p:nvPr/>
        </p:nvCxnSpPr>
        <p:spPr>
          <a:xfrm>
            <a:off x="5202936" y="2715768"/>
            <a:ext cx="109728" cy="0"/>
          </a:xfrm>
          <a:prstGeom prst="line">
            <a:avLst/>
          </a:prstGeom>
          <a:ln w="19050">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321808" y="2103120"/>
            <a:ext cx="1417320" cy="123444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1" i="0">
                <a:solidFill>
                  <a:srgbClr val="E8ECF2"/>
                </a:solidFill>
                <a:latin typeface="Calibri"/>
              </a:rPr>
              <a:t>Install</a:t>
            </a:r>
          </a:p>
          <a:p>
            <a:pPr algn="ctr">
              <a:lnSpc>
                <a:spcPct val="115000"/>
              </a:lnSpc>
              <a:spcAft>
                <a:spcPts val="200"/>
              </a:spcAft>
            </a:pPr>
            <a:r>
              <a:rPr sz="1050" b="0" i="0">
                <a:solidFill>
                  <a:srgbClr val="98A4B3"/>
                </a:solidFill>
                <a:latin typeface="Calibri"/>
              </a:rPr>
              <a:t>connector</a:t>
            </a:r>
          </a:p>
        </p:txBody>
      </p:sp>
      <p:sp>
        <p:nvSpPr>
          <p:cNvPr id="16" name="TextBox 15"/>
          <p:cNvSpPr txBox="1"/>
          <p:nvPr/>
        </p:nvSpPr>
        <p:spPr>
          <a:xfrm>
            <a:off x="5321808" y="1874519"/>
            <a:ext cx="1417320" cy="228600"/>
          </a:xfrm>
          <a:prstGeom prst="rect">
            <a:avLst/>
          </a:prstGeom>
          <a:noFill/>
        </p:spPr>
        <p:txBody>
          <a:bodyPr wrap="square" lIns="0" rIns="0" tIns="0" bIns="0" anchor="t">
            <a:spAutoFit/>
          </a:bodyPr>
          <a:lstStyle/>
          <a:p>
            <a:pPr algn="ctr">
              <a:lnSpc>
                <a:spcPct val="115000"/>
              </a:lnSpc>
              <a:spcAft>
                <a:spcPts val="0"/>
              </a:spcAft>
            </a:pPr>
            <a:r>
              <a:rPr sz="1050" b="1" i="0">
                <a:solidFill>
                  <a:srgbClr val="98A4B3"/>
                </a:solidFill>
                <a:latin typeface="Calibri"/>
              </a:rPr>
              <a:t>4</a:t>
            </a:r>
          </a:p>
        </p:txBody>
      </p:sp>
      <p:cxnSp>
        <p:nvCxnSpPr>
          <p:cNvPr id="17" name="Connector 16"/>
          <p:cNvCxnSpPr/>
          <p:nvPr/>
        </p:nvCxnSpPr>
        <p:spPr>
          <a:xfrm>
            <a:off x="6748272" y="2715768"/>
            <a:ext cx="109728" cy="0"/>
          </a:xfrm>
          <a:prstGeom prst="line">
            <a:avLst/>
          </a:prstGeom>
          <a:ln w="19050">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867144" y="2103120"/>
            <a:ext cx="1417320" cy="123444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1" i="0">
                <a:solidFill>
                  <a:srgbClr val="E8ECF2"/>
                </a:solidFill>
                <a:latin typeface="Calibri"/>
              </a:rPr>
              <a:t>Run in</a:t>
            </a:r>
          </a:p>
          <a:p>
            <a:pPr algn="ctr">
              <a:lnSpc>
                <a:spcPct val="115000"/>
              </a:lnSpc>
              <a:spcAft>
                <a:spcPts val="200"/>
              </a:spcAft>
            </a:pPr>
            <a:r>
              <a:rPr sz="1050" b="0" i="0">
                <a:solidFill>
                  <a:srgbClr val="98A4B3"/>
                </a:solidFill>
                <a:latin typeface="Calibri"/>
              </a:rPr>
              <a:t>observe mode</a:t>
            </a:r>
          </a:p>
        </p:txBody>
      </p:sp>
      <p:sp>
        <p:nvSpPr>
          <p:cNvPr id="19" name="TextBox 18"/>
          <p:cNvSpPr txBox="1"/>
          <p:nvPr/>
        </p:nvSpPr>
        <p:spPr>
          <a:xfrm>
            <a:off x="6867144" y="1874519"/>
            <a:ext cx="1417320" cy="228600"/>
          </a:xfrm>
          <a:prstGeom prst="rect">
            <a:avLst/>
          </a:prstGeom>
          <a:noFill/>
        </p:spPr>
        <p:txBody>
          <a:bodyPr wrap="square" lIns="0" rIns="0" tIns="0" bIns="0" anchor="t">
            <a:spAutoFit/>
          </a:bodyPr>
          <a:lstStyle/>
          <a:p>
            <a:pPr algn="ctr">
              <a:lnSpc>
                <a:spcPct val="115000"/>
              </a:lnSpc>
              <a:spcAft>
                <a:spcPts val="0"/>
              </a:spcAft>
            </a:pPr>
            <a:r>
              <a:rPr sz="1050" b="1" i="0">
                <a:solidFill>
                  <a:srgbClr val="98A4B3"/>
                </a:solidFill>
                <a:latin typeface="Calibri"/>
              </a:rPr>
              <a:t>5</a:t>
            </a:r>
          </a:p>
        </p:txBody>
      </p:sp>
      <p:cxnSp>
        <p:nvCxnSpPr>
          <p:cNvPr id="20" name="Connector 19"/>
          <p:cNvCxnSpPr/>
          <p:nvPr/>
        </p:nvCxnSpPr>
        <p:spPr>
          <a:xfrm>
            <a:off x="8293608" y="2715768"/>
            <a:ext cx="109728" cy="0"/>
          </a:xfrm>
          <a:prstGeom prst="line">
            <a:avLst/>
          </a:prstGeom>
          <a:ln w="19050">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412480" y="2103120"/>
            <a:ext cx="1417320" cy="1234440"/>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1" i="0">
                <a:solidFill>
                  <a:srgbClr val="E8ECF2"/>
                </a:solidFill>
                <a:latin typeface="Calibri"/>
              </a:rPr>
              <a:t>Review</a:t>
            </a:r>
          </a:p>
          <a:p>
            <a:pPr algn="ctr">
              <a:lnSpc>
                <a:spcPct val="115000"/>
              </a:lnSpc>
              <a:spcAft>
                <a:spcPts val="200"/>
              </a:spcAft>
            </a:pPr>
            <a:r>
              <a:rPr sz="1050" b="0" i="0">
                <a:solidFill>
                  <a:srgbClr val="98A4B3"/>
                </a:solidFill>
                <a:latin typeface="Calibri"/>
              </a:rPr>
              <a:t>evaluation</a:t>
            </a:r>
          </a:p>
          <a:p>
            <a:pPr algn="ctr">
              <a:lnSpc>
                <a:spcPct val="115000"/>
              </a:lnSpc>
              <a:spcAft>
                <a:spcPts val="200"/>
              </a:spcAft>
            </a:pPr>
            <a:r>
              <a:rPr sz="1050" b="0" i="0">
                <a:solidFill>
                  <a:srgbClr val="98A4B3"/>
                </a:solidFill>
                <a:latin typeface="Calibri"/>
              </a:rPr>
              <a:t>results</a:t>
            </a:r>
          </a:p>
        </p:txBody>
      </p:sp>
      <p:sp>
        <p:nvSpPr>
          <p:cNvPr id="22" name="TextBox 21"/>
          <p:cNvSpPr txBox="1"/>
          <p:nvPr/>
        </p:nvSpPr>
        <p:spPr>
          <a:xfrm>
            <a:off x="8412480" y="1874519"/>
            <a:ext cx="1417320" cy="228600"/>
          </a:xfrm>
          <a:prstGeom prst="rect">
            <a:avLst/>
          </a:prstGeom>
          <a:noFill/>
        </p:spPr>
        <p:txBody>
          <a:bodyPr wrap="square" lIns="0" rIns="0" tIns="0" bIns="0" anchor="t">
            <a:spAutoFit/>
          </a:bodyPr>
          <a:lstStyle/>
          <a:p>
            <a:pPr algn="ctr">
              <a:lnSpc>
                <a:spcPct val="115000"/>
              </a:lnSpc>
              <a:spcAft>
                <a:spcPts val="0"/>
              </a:spcAft>
            </a:pPr>
            <a:r>
              <a:rPr sz="1050" b="1" i="0">
                <a:solidFill>
                  <a:srgbClr val="98A4B3"/>
                </a:solidFill>
                <a:latin typeface="Calibri"/>
              </a:rPr>
              <a:t>6</a:t>
            </a:r>
          </a:p>
        </p:txBody>
      </p:sp>
      <p:cxnSp>
        <p:nvCxnSpPr>
          <p:cNvPr id="23" name="Connector 22"/>
          <p:cNvCxnSpPr/>
          <p:nvPr/>
        </p:nvCxnSpPr>
        <p:spPr>
          <a:xfrm>
            <a:off x="9838944" y="2715768"/>
            <a:ext cx="109728" cy="0"/>
          </a:xfrm>
          <a:prstGeom prst="line">
            <a:avLst/>
          </a:prstGeom>
          <a:ln w="19050">
            <a:solidFill>
              <a:srgbClr val="2E39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957816" y="2103120"/>
            <a:ext cx="1417320" cy="1234440"/>
          </a:xfrm>
          <a:prstGeom prst="roundRect">
            <a:avLst>
              <a:gd name="adj" fmla="val 8000"/>
            </a:avLst>
          </a:prstGeom>
          <a:solidFill>
            <a:srgbClr val="1D242C"/>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00" b="1" i="0">
                <a:solidFill>
                  <a:srgbClr val="E8ECF2"/>
                </a:solidFill>
                <a:latin typeface="Calibri"/>
              </a:rPr>
              <a:t>Enable</a:t>
            </a:r>
          </a:p>
          <a:p>
            <a:pPr algn="ctr">
              <a:lnSpc>
                <a:spcPct val="115000"/>
              </a:lnSpc>
              <a:spcAft>
                <a:spcPts val="200"/>
              </a:spcAft>
            </a:pPr>
            <a:r>
              <a:rPr sz="1050" b="0" i="0">
                <a:solidFill>
                  <a:srgbClr val="98A4B3"/>
                </a:solidFill>
                <a:latin typeface="Calibri"/>
              </a:rPr>
              <a:t>enforcement</a:t>
            </a:r>
          </a:p>
        </p:txBody>
      </p:sp>
      <p:sp>
        <p:nvSpPr>
          <p:cNvPr id="25" name="TextBox 24"/>
          <p:cNvSpPr txBox="1"/>
          <p:nvPr/>
        </p:nvSpPr>
        <p:spPr>
          <a:xfrm>
            <a:off x="9957816" y="1874519"/>
            <a:ext cx="1417320" cy="228600"/>
          </a:xfrm>
          <a:prstGeom prst="rect">
            <a:avLst/>
          </a:prstGeom>
          <a:noFill/>
        </p:spPr>
        <p:txBody>
          <a:bodyPr wrap="square" lIns="0" rIns="0" tIns="0" bIns="0" anchor="t">
            <a:spAutoFit/>
          </a:bodyPr>
          <a:lstStyle/>
          <a:p>
            <a:pPr algn="ctr">
              <a:lnSpc>
                <a:spcPct val="115000"/>
              </a:lnSpc>
              <a:spcAft>
                <a:spcPts val="0"/>
              </a:spcAft>
            </a:pPr>
            <a:r>
              <a:rPr sz="1050" b="1" i="0">
                <a:solidFill>
                  <a:srgbClr val="98A4B3"/>
                </a:solidFill>
                <a:latin typeface="Calibri"/>
              </a:rPr>
              <a:t>7</a:t>
            </a:r>
          </a:p>
        </p:txBody>
      </p:sp>
      <p:sp>
        <p:nvSpPr>
          <p:cNvPr id="26" name="Rounded Rectangle 25"/>
          <p:cNvSpPr/>
          <p:nvPr/>
        </p:nvSpPr>
        <p:spPr>
          <a:xfrm>
            <a:off x="685800" y="3703320"/>
            <a:ext cx="10820095" cy="1783080"/>
          </a:xfrm>
          <a:prstGeom prst="roundRect">
            <a:avLst>
              <a:gd name="adj" fmla="val 4000"/>
            </a:avLst>
          </a:prstGeom>
          <a:solidFill>
            <a:srgbClr val="161C23"/>
          </a:solidFill>
          <a:ln w="12700">
            <a:solidFill>
              <a:srgbClr val="E06C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 y="3904487"/>
            <a:ext cx="10180015" cy="1463040"/>
          </a:xfrm>
          <a:prstGeom prst="rect">
            <a:avLst/>
          </a:prstGeom>
          <a:noFill/>
        </p:spPr>
        <p:txBody>
          <a:bodyPr wrap="square" lIns="0" rIns="0" tIns="0" bIns="0" anchor="t">
            <a:spAutoFit/>
          </a:bodyPr>
          <a:lstStyle/>
          <a:p>
            <a:pPr algn="l">
              <a:lnSpc>
                <a:spcPct val="115000"/>
              </a:lnSpc>
              <a:spcAft>
                <a:spcPts val="800"/>
              </a:spcAft>
            </a:pPr>
            <a:r>
              <a:rPr sz="1400" b="1" i="0">
                <a:solidFill>
                  <a:srgbClr val="E8ECF2"/>
                </a:solidFill>
                <a:latin typeface="Calibri"/>
              </a:rPr>
              <a:t>None of these steps requires:</a:t>
            </a:r>
          </a:p>
          <a:p>
            <a:pPr algn="l">
              <a:lnSpc>
                <a:spcPct val="130000"/>
              </a:lnSpc>
              <a:spcAft>
                <a:spcPts val="800"/>
              </a:spcAft>
            </a:pPr>
            <a:r>
              <a:rPr sz="1300" b="0" i="0">
                <a:solidFill>
                  <a:srgbClr val="98A4B3"/>
                </a:solidFill>
                <a:latin typeface="Calibri"/>
              </a:rPr>
              <a:t>copying another team's LiteLLM database  ·  transferring model-provider credentials  ·  exposing gateway administration endpoints  ·  replacing model-routing configuration  ·  granting the guardrail provider administrative access to the team's gateway</a:t>
            </a:r>
          </a:p>
          <a:p>
            <a:pPr algn="l">
              <a:lnSpc>
                <a:spcPct val="115000"/>
              </a:lnSpc>
              <a:spcAft>
                <a:spcPts val="0"/>
              </a:spcAft>
            </a:pPr>
            <a:r>
              <a:rPr sz="1250" b="0" i="0">
                <a:solidFill>
                  <a:srgbClr val="E8ECF2"/>
                </a:solidFill>
                <a:latin typeface="Calibri"/>
              </a:rPr>
              <a:t>Between installing and observing sits a verification state: a policy declaring input and output whose workload has only ever produced input evaluations is a half-wired installation, and it shows up as one rather than as a quiet success.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You start in observe — and stay there</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Evaluations run and are recorded. Nothing is blocked, redacted, or changed in what your users receive.</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Chevron 5"/>
          <p:cNvSpPr/>
          <p:nvPr/>
        </p:nvSpPr>
        <p:spPr>
          <a:xfrm>
            <a:off x="685800" y="2057400"/>
            <a:ext cx="2331720" cy="960120"/>
          </a:xfrm>
          <a:prstGeom prst="chevron">
            <a:avLst/>
          </a:prstGeom>
          <a:solidFill>
            <a:srgbClr val="1D242C"/>
          </a:solidFill>
          <a:ln w="12700">
            <a:solidFill>
              <a:srgbClr val="98A4B3"/>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lnSpc>
                <a:spcPct val="115000"/>
              </a:lnSpc>
              <a:spcAft>
                <a:spcPts val="200"/>
              </a:spcAft>
            </a:pPr>
            <a:r>
              <a:rPr sz="1500" b="1" i="0">
                <a:solidFill>
                  <a:srgbClr val="E8ECF2"/>
                </a:solidFill>
                <a:latin typeface="Calibri"/>
              </a:rPr>
              <a:t>Disabled</a:t>
            </a:r>
          </a:p>
        </p:txBody>
      </p:sp>
      <p:sp>
        <p:nvSpPr>
          <p:cNvPr id="7" name="TextBox 6"/>
          <p:cNvSpPr txBox="1"/>
          <p:nvPr/>
        </p:nvSpPr>
        <p:spPr>
          <a:xfrm>
            <a:off x="1069848" y="3200400"/>
            <a:ext cx="1645919" cy="914400"/>
          </a:xfrm>
          <a:prstGeom prst="rect">
            <a:avLst/>
          </a:prstGeom>
          <a:noFill/>
        </p:spPr>
        <p:txBody>
          <a:bodyPr wrap="square" lIns="0" rIns="0" tIns="0" bIns="0" anchor="t">
            <a:spAutoFit/>
          </a:bodyPr>
          <a:lstStyle/>
          <a:p>
            <a:pPr algn="ctr">
              <a:lnSpc>
                <a:spcPct val="120000"/>
              </a:lnSpc>
              <a:spcAft>
                <a:spcPts val="0"/>
              </a:spcAft>
            </a:pPr>
            <a:r>
              <a:rPr sz="1150" b="0" i="0">
                <a:solidFill>
                  <a:srgbClr val="98A4B3"/>
                </a:solidFill>
                <a:latin typeface="Calibri"/>
              </a:rPr>
              <a:t>Bound, not
evaluating</a:t>
            </a:r>
          </a:p>
        </p:txBody>
      </p:sp>
      <p:sp>
        <p:nvSpPr>
          <p:cNvPr id="8" name="Chevron 7"/>
          <p:cNvSpPr/>
          <p:nvPr/>
        </p:nvSpPr>
        <p:spPr>
          <a:xfrm>
            <a:off x="2743200" y="2057400"/>
            <a:ext cx="2331720" cy="960120"/>
          </a:xfrm>
          <a:prstGeom prst="chevron">
            <a:avLst/>
          </a:prstGeom>
          <a:solidFill>
            <a:srgbClr val="2B4A69"/>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lnSpc>
                <a:spcPct val="115000"/>
              </a:lnSpc>
              <a:spcAft>
                <a:spcPts val="200"/>
              </a:spcAft>
            </a:pPr>
            <a:r>
              <a:rPr sz="1500" b="1" i="0">
                <a:solidFill>
                  <a:srgbClr val="E8ECF2"/>
                </a:solidFill>
                <a:latin typeface="Calibri"/>
              </a:rPr>
              <a:t>Observe</a:t>
            </a:r>
          </a:p>
        </p:txBody>
      </p:sp>
      <p:sp>
        <p:nvSpPr>
          <p:cNvPr id="9" name="TextBox 8"/>
          <p:cNvSpPr txBox="1"/>
          <p:nvPr/>
        </p:nvSpPr>
        <p:spPr>
          <a:xfrm>
            <a:off x="3127248" y="3200400"/>
            <a:ext cx="1645919" cy="914400"/>
          </a:xfrm>
          <a:prstGeom prst="rect">
            <a:avLst/>
          </a:prstGeom>
          <a:noFill/>
        </p:spPr>
        <p:txBody>
          <a:bodyPr wrap="square" lIns="0" rIns="0" tIns="0" bIns="0" anchor="t">
            <a:spAutoFit/>
          </a:bodyPr>
          <a:lstStyle/>
          <a:p>
            <a:pPr algn="ctr">
              <a:lnSpc>
                <a:spcPct val="120000"/>
              </a:lnSpc>
              <a:spcAft>
                <a:spcPts val="0"/>
              </a:spcAft>
            </a:pPr>
            <a:r>
              <a:rPr sz="1150" b="0" i="0">
                <a:solidFill>
                  <a:srgbClr val="98A4B3"/>
                </a:solidFill>
                <a:latin typeface="Calibri"/>
              </a:rPr>
              <a:t>Evaluates and
records. Never
acts on traffic.</a:t>
            </a:r>
          </a:p>
        </p:txBody>
      </p:sp>
      <p:sp>
        <p:nvSpPr>
          <p:cNvPr id="10" name="Chevron 9"/>
          <p:cNvSpPr/>
          <p:nvPr/>
        </p:nvSpPr>
        <p:spPr>
          <a:xfrm>
            <a:off x="4800600" y="2057400"/>
            <a:ext cx="2331720" cy="960120"/>
          </a:xfrm>
          <a:prstGeom prst="chevron">
            <a:avLst/>
          </a:prstGeom>
          <a:solidFill>
            <a:srgbClr val="1D242C"/>
          </a:solidFill>
          <a:ln w="12700">
            <a:solidFill>
              <a:srgbClr val="E0B341"/>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lnSpc>
                <a:spcPct val="115000"/>
              </a:lnSpc>
              <a:spcAft>
                <a:spcPts val="200"/>
              </a:spcAft>
            </a:pPr>
            <a:r>
              <a:rPr sz="1500" b="1" i="0">
                <a:solidFill>
                  <a:srgbClr val="E8ECF2"/>
                </a:solidFill>
                <a:latin typeface="Calibri"/>
              </a:rPr>
              <a:t>Warn</a:t>
            </a:r>
          </a:p>
        </p:txBody>
      </p:sp>
      <p:sp>
        <p:nvSpPr>
          <p:cNvPr id="11" name="TextBox 10"/>
          <p:cNvSpPr txBox="1"/>
          <p:nvPr/>
        </p:nvSpPr>
        <p:spPr>
          <a:xfrm>
            <a:off x="5184648" y="3200400"/>
            <a:ext cx="1645919" cy="914400"/>
          </a:xfrm>
          <a:prstGeom prst="rect">
            <a:avLst/>
          </a:prstGeom>
          <a:noFill/>
        </p:spPr>
        <p:txBody>
          <a:bodyPr wrap="square" lIns="0" rIns="0" tIns="0" bIns="0" anchor="t">
            <a:spAutoFit/>
          </a:bodyPr>
          <a:lstStyle/>
          <a:p>
            <a:pPr algn="ctr">
              <a:lnSpc>
                <a:spcPct val="120000"/>
              </a:lnSpc>
              <a:spcAft>
                <a:spcPts val="0"/>
              </a:spcAft>
            </a:pPr>
            <a:r>
              <a:rPr sz="1150" b="0" i="0">
                <a:solidFill>
                  <a:srgbClr val="98A4B3"/>
                </a:solidFill>
                <a:latin typeface="Calibri"/>
              </a:rPr>
              <a:t>Surfaces a
violation without
stopping it</a:t>
            </a:r>
          </a:p>
        </p:txBody>
      </p:sp>
      <p:sp>
        <p:nvSpPr>
          <p:cNvPr id="12" name="Chevron 11"/>
          <p:cNvSpPr/>
          <p:nvPr/>
        </p:nvSpPr>
        <p:spPr>
          <a:xfrm>
            <a:off x="6858000" y="2057400"/>
            <a:ext cx="2331720" cy="960120"/>
          </a:xfrm>
          <a:prstGeom prst="chevron">
            <a:avLst/>
          </a:prstGeom>
          <a:solidFill>
            <a:srgbClr val="1D242C"/>
          </a:solidFill>
          <a:ln w="12700">
            <a:solidFill>
              <a:srgbClr val="E0B341"/>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lnSpc>
                <a:spcPct val="115000"/>
              </a:lnSpc>
              <a:spcAft>
                <a:spcPts val="200"/>
              </a:spcAft>
            </a:pPr>
            <a:r>
              <a:rPr sz="1500" b="1" i="0">
                <a:solidFill>
                  <a:srgbClr val="E8ECF2"/>
                </a:solidFill>
                <a:latin typeface="Calibri"/>
              </a:rPr>
              <a:t>Redact</a:t>
            </a:r>
          </a:p>
        </p:txBody>
      </p:sp>
      <p:sp>
        <p:nvSpPr>
          <p:cNvPr id="13" name="TextBox 12"/>
          <p:cNvSpPr txBox="1"/>
          <p:nvPr/>
        </p:nvSpPr>
        <p:spPr>
          <a:xfrm>
            <a:off x="7242048" y="3200400"/>
            <a:ext cx="1645919" cy="914400"/>
          </a:xfrm>
          <a:prstGeom prst="rect">
            <a:avLst/>
          </a:prstGeom>
          <a:noFill/>
        </p:spPr>
        <p:txBody>
          <a:bodyPr wrap="square" lIns="0" rIns="0" tIns="0" bIns="0" anchor="t">
            <a:spAutoFit/>
          </a:bodyPr>
          <a:lstStyle/>
          <a:p>
            <a:pPr algn="ctr">
              <a:lnSpc>
                <a:spcPct val="120000"/>
              </a:lnSpc>
              <a:spcAft>
                <a:spcPts val="0"/>
              </a:spcAft>
            </a:pPr>
            <a:r>
              <a:rPr sz="1150" b="0" i="0">
                <a:solidFill>
                  <a:srgbClr val="98A4B3"/>
                </a:solidFill>
                <a:latin typeface="Calibri"/>
              </a:rPr>
              <a:t>Transforms the
content it
must remove</a:t>
            </a:r>
          </a:p>
        </p:txBody>
      </p:sp>
      <p:sp>
        <p:nvSpPr>
          <p:cNvPr id="14" name="Chevron 13"/>
          <p:cNvSpPr/>
          <p:nvPr/>
        </p:nvSpPr>
        <p:spPr>
          <a:xfrm>
            <a:off x="8915400" y="2057400"/>
            <a:ext cx="2331720" cy="960120"/>
          </a:xfrm>
          <a:prstGeom prst="chevron">
            <a:avLst/>
          </a:prstGeom>
          <a:solidFill>
            <a:srgbClr val="1D242C"/>
          </a:solidFill>
          <a:ln w="12700">
            <a:solidFill>
              <a:srgbClr val="E06C5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36576" bIns="36576"/>
          <a:lstStyle/>
          <a:p>
            <a:pPr algn="ctr">
              <a:lnSpc>
                <a:spcPct val="115000"/>
              </a:lnSpc>
              <a:spcAft>
                <a:spcPts val="200"/>
              </a:spcAft>
            </a:pPr>
            <a:r>
              <a:rPr sz="1500" b="1" i="0">
                <a:solidFill>
                  <a:srgbClr val="E8ECF2"/>
                </a:solidFill>
                <a:latin typeface="Calibri"/>
              </a:rPr>
              <a:t>Block</a:t>
            </a:r>
          </a:p>
        </p:txBody>
      </p:sp>
      <p:sp>
        <p:nvSpPr>
          <p:cNvPr id="15" name="TextBox 14"/>
          <p:cNvSpPr txBox="1"/>
          <p:nvPr/>
        </p:nvSpPr>
        <p:spPr>
          <a:xfrm>
            <a:off x="9299448" y="3200400"/>
            <a:ext cx="1645919" cy="914400"/>
          </a:xfrm>
          <a:prstGeom prst="rect">
            <a:avLst/>
          </a:prstGeom>
          <a:noFill/>
        </p:spPr>
        <p:txBody>
          <a:bodyPr wrap="square" lIns="0" rIns="0" tIns="0" bIns="0" anchor="t">
            <a:spAutoFit/>
          </a:bodyPr>
          <a:lstStyle/>
          <a:p>
            <a:pPr algn="ctr">
              <a:lnSpc>
                <a:spcPct val="120000"/>
              </a:lnSpc>
              <a:spcAft>
                <a:spcPts val="0"/>
              </a:spcAft>
            </a:pPr>
            <a:r>
              <a:rPr sz="1150" b="0" i="0">
                <a:solidFill>
                  <a:srgbClr val="98A4B3"/>
                </a:solidFill>
                <a:latin typeface="Calibri"/>
              </a:rPr>
              <a:t>Stops the
request or
response</a:t>
            </a:r>
          </a:p>
        </p:txBody>
      </p:sp>
      <p:sp>
        <p:nvSpPr>
          <p:cNvPr id="16" name="Rounded Rectangle 15"/>
          <p:cNvSpPr/>
          <p:nvPr/>
        </p:nvSpPr>
        <p:spPr>
          <a:xfrm>
            <a:off x="685800" y="4389120"/>
            <a:ext cx="10820095" cy="123444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572000"/>
            <a:ext cx="10180015" cy="914400"/>
          </a:xfrm>
          <a:prstGeom prst="rect">
            <a:avLst/>
          </a:prstGeom>
          <a:noFill/>
        </p:spPr>
        <p:txBody>
          <a:bodyPr wrap="square" lIns="0" rIns="0" tIns="0" bIns="0" anchor="t">
            <a:spAutoFit/>
          </a:bodyPr>
          <a:lstStyle/>
          <a:p>
            <a:pPr algn="l">
              <a:lnSpc>
                <a:spcPct val="115000"/>
              </a:lnSpc>
              <a:spcAft>
                <a:spcPts val="700"/>
              </a:spcAft>
            </a:pPr>
            <a:r>
              <a:rPr sz="1600" b="1" i="0">
                <a:solidFill>
                  <a:srgbClr val="5AA0E0"/>
                </a:solidFill>
                <a:latin typeface="Calibri"/>
              </a:rPr>
              <a:t>The state belongs to your binding, not to the policy.</a:t>
            </a:r>
          </a:p>
          <a:p>
            <a:pPr algn="l">
              <a:lnSpc>
                <a:spcPct val="125000"/>
              </a:lnSpc>
              <a:spcAft>
                <a:spcPts val="0"/>
              </a:spcAft>
            </a:pPr>
            <a:r>
              <a:rPr sz="1250" b="0" i="0">
                <a:solidFill>
                  <a:srgbClr val="98A4B3"/>
                </a:solidFill>
                <a:latin typeface="Calibri"/>
              </a:rPr>
              <a:t>Another team can run the same approved policy version in enforce mode while you sit in observe — that is the whole point of the demonstration. The state caps the action and never escalates it, and it changes the action only: the findings and reason codes you see in observe are exactly the ones you would have acted on. Promotion is an explicit, audited action that you accept.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Reading what observe mode gives you</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Every evaluation returns this, and records it. This is what you will be reviewing.</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graphicFrame>
        <p:nvGraphicFramePr>
          <p:cNvPr id="6" name="Table 5"/>
          <p:cNvGraphicFramePr>
            <a:graphicFrameLocks noGrp="1"/>
          </p:cNvGraphicFramePr>
          <p:nvPr/>
        </p:nvGraphicFramePr>
        <p:xfrm>
          <a:off x="685800" y="1828800"/>
          <a:ext cx="10820094" cy="2816352"/>
        </p:xfrm>
        <a:graphic>
          <a:graphicData uri="http://schemas.openxmlformats.org/drawingml/2006/table">
            <a:tbl>
              <a:tblPr firstRow="1">
                <a:tableStyleId>{5C22544A-7EE6-4342-B048-85BDC9FD1C3A}</a:tableStyleId>
              </a:tblPr>
              <a:tblGrid>
                <a:gridCol w="3137827"/>
                <a:gridCol w="7682267"/>
              </a:tblGrid>
              <a:tr h="292608">
                <a:tc>
                  <a:txBody>
                    <a:bodyPr wrap="square"/>
                    <a:lstStyle/>
                    <a:p>
                      <a:pPr algn="l">
                        <a:lnSpc>
                          <a:spcPct val="105000"/>
                        </a:lnSpc>
                        <a:spcAft>
                          <a:spcPts val="0"/>
                        </a:spcAft>
                      </a:pPr>
                      <a:r>
                        <a:rPr sz="1100" b="1" i="0">
                          <a:solidFill>
                            <a:srgbClr val="5AA0E0"/>
                          </a:solidFill>
                          <a:latin typeface="Calibri"/>
                        </a:rPr>
                        <a:t>Field</a:t>
                      </a:r>
                    </a:p>
                  </a:txBody>
                  <a:tcPr marL="91440" marR="91440" marT="45720" marB="45720" anchor="ctr">
                    <a:solidFill>
                      <a:srgbClr val="1D242C"/>
                    </a:solidFill>
                  </a:tcPr>
                </a:tc>
                <a:tc>
                  <a:txBody>
                    <a:bodyPr wrap="square"/>
                    <a:lstStyle/>
                    <a:p>
                      <a:pPr algn="l">
                        <a:lnSpc>
                          <a:spcPct val="105000"/>
                        </a:lnSpc>
                        <a:spcAft>
                          <a:spcPts val="0"/>
                        </a:spcAft>
                      </a:pPr>
                      <a:r>
                        <a:rPr sz="1100" b="1" i="0">
                          <a:solidFill>
                            <a:srgbClr val="5AA0E0"/>
                          </a:solidFill>
                          <a:latin typeface="Calibri"/>
                        </a:rPr>
                        <a:t>What you do with it</a:t>
                      </a:r>
                    </a:p>
                  </a:txBody>
                  <a:tcPr marL="91440" marR="91440" marT="45720" marB="45720" anchor="ctr">
                    <a:solidFill>
                      <a:srgbClr val="1D242C"/>
                    </a:solidFill>
                  </a:tcPr>
                </a:tc>
              </a:tr>
              <a:tr h="457200">
                <a:tc>
                  <a:txBody>
                    <a:bodyPr wrap="square"/>
                    <a:lstStyle/>
                    <a:p>
                      <a:pPr algn="l">
                        <a:lnSpc>
                          <a:spcPct val="105000"/>
                        </a:lnSpc>
                        <a:spcAft>
                          <a:spcPts val="0"/>
                        </a:spcAft>
                      </a:pPr>
                      <a:r>
                        <a:rPr sz="1050" b="1" i="0">
                          <a:solidFill>
                            <a:srgbClr val="E8ECF2"/>
                          </a:solidFill>
                          <a:latin typeface="Calibri"/>
                        </a:rPr>
                        <a:t>action · allowed</a:t>
                      </a:r>
                    </a:p>
                  </a:txBody>
                  <a:tcPr marL="91440" marR="91440" marT="45720" marB="45720" anchor="ctr">
                    <a:solidFill>
                      <a:srgbClr val="161C23"/>
                    </a:solidFill>
                  </a:tcPr>
                </a:tc>
                <a:tc>
                  <a:txBody>
                    <a:bodyPr wrap="square"/>
                    <a:lstStyle/>
                    <a:p>
                      <a:pPr algn="l">
                        <a:lnSpc>
                          <a:spcPct val="105000"/>
                        </a:lnSpc>
                        <a:spcAft>
                          <a:spcPts val="0"/>
                        </a:spcAft>
                      </a:pPr>
                      <a:r>
                        <a:rPr sz="1050" b="0" i="0">
                          <a:solidFill>
                            <a:srgbClr val="E8ECF2"/>
                          </a:solidFill>
                          <a:latin typeface="Calibri"/>
                        </a:rPr>
                        <a:t>allow · block · redact · log_only. In observe every action arrives as log_only — the field tells you what would have happened.</a:t>
                      </a:r>
                    </a:p>
                  </a:txBody>
                  <a:tcPr marL="91440" marR="91440" marT="45720" marB="45720" anchor="ctr">
                    <a:solidFill>
                      <a:srgbClr val="161C23"/>
                    </a:solidFill>
                  </a:tcPr>
                </a:tc>
              </a:tr>
              <a:tr h="384048">
                <a:tc>
                  <a:txBody>
                    <a:bodyPr wrap="square"/>
                    <a:lstStyle/>
                    <a:p>
                      <a:pPr algn="l">
                        <a:lnSpc>
                          <a:spcPct val="105000"/>
                        </a:lnSpc>
                        <a:spcAft>
                          <a:spcPts val="0"/>
                        </a:spcAft>
                      </a:pPr>
                      <a:r>
                        <a:rPr sz="1050" b="1" i="0">
                          <a:solidFill>
                            <a:srgbClr val="E8ECF2"/>
                          </a:solidFill>
                          <a:latin typeface="Calibri"/>
                        </a:rPr>
                        <a:t>enforcement_state</a:t>
                      </a:r>
                    </a:p>
                  </a:txBody>
                  <a:tcPr marL="91440" marR="91440" marT="45720" marB="45720" anchor="ctr">
                    <a:solidFill>
                      <a:srgbClr val="12161B"/>
                    </a:solidFill>
                  </a:tcPr>
                </a:tc>
                <a:tc>
                  <a:txBody>
                    <a:bodyPr wrap="square"/>
                    <a:lstStyle/>
                    <a:p>
                      <a:pPr algn="l">
                        <a:lnSpc>
                          <a:spcPct val="105000"/>
                        </a:lnSpc>
                        <a:spcAft>
                          <a:spcPts val="0"/>
                        </a:spcAft>
                      </a:pPr>
                      <a:r>
                        <a:rPr sz="1050" b="0" i="0">
                          <a:solidFill>
                            <a:srgbClr val="E8ECF2"/>
                          </a:solidFill>
                          <a:latin typeface="Calibri"/>
                        </a:rPr>
                        <a:t>The state that produced this decision, so a log_only in observe is distinguishable from a log_only in warn.</a:t>
                      </a:r>
                    </a:p>
                  </a:txBody>
                  <a:tcPr marL="91440" marR="91440" marT="45720" marB="45720" anchor="ctr">
                    <a:solidFill>
                      <a:srgbClr val="12161B"/>
                    </a:solidFill>
                  </a:tcPr>
                </a:tc>
              </a:tr>
              <a:tr h="548640">
                <a:tc>
                  <a:txBody>
                    <a:bodyPr wrap="square"/>
                    <a:lstStyle/>
                    <a:p>
                      <a:pPr algn="l">
                        <a:lnSpc>
                          <a:spcPct val="105000"/>
                        </a:lnSpc>
                        <a:spcAft>
                          <a:spcPts val="0"/>
                        </a:spcAft>
                      </a:pPr>
                      <a:r>
                        <a:rPr sz="1050" b="1" i="0">
                          <a:solidFill>
                            <a:srgbClr val="E8ECF2"/>
                          </a:solidFill>
                          <a:latin typeface="Calibri"/>
                        </a:rPr>
                        <a:t>reason_codes · guardrail_category</a:t>
                      </a:r>
                    </a:p>
                  </a:txBody>
                  <a:tcPr marL="91440" marR="91440" marT="45720" marB="45720" anchor="ctr">
                    <a:solidFill>
                      <a:srgbClr val="161C23"/>
                    </a:solidFill>
                  </a:tcPr>
                </a:tc>
                <a:tc>
                  <a:txBody>
                    <a:bodyPr wrap="square"/>
                    <a:lstStyle/>
                    <a:p>
                      <a:pPr algn="l">
                        <a:lnSpc>
                          <a:spcPct val="105000"/>
                        </a:lnSpc>
                        <a:spcAft>
                          <a:spcPts val="0"/>
                        </a:spcAft>
                      </a:pPr>
                      <a:r>
                        <a:rPr sz="1050" b="0" i="0">
                          <a:solidFill>
                            <a:srgbClr val="E8ECF2"/>
                          </a:solidFill>
                          <a:latin typeface="Calibri"/>
                        </a:rPr>
                        <a:t>Why it decided, in a form that does not change if the detection engine behind it changes. Category is its own field, so you can count findings by category without parsing strings.</a:t>
                      </a:r>
                    </a:p>
                  </a:txBody>
                  <a:tcPr marL="91440" marR="91440" marT="45720" marB="45720" anchor="ctr">
                    <a:solidFill>
                      <a:srgbClr val="161C23"/>
                    </a:solidFill>
                  </a:tcPr>
                </a:tc>
              </a:tr>
              <a:tr h="457200">
                <a:tc>
                  <a:txBody>
                    <a:bodyPr wrap="square"/>
                    <a:lstStyle/>
                    <a:p>
                      <a:pPr algn="l">
                        <a:lnSpc>
                          <a:spcPct val="105000"/>
                        </a:lnSpc>
                        <a:spcAft>
                          <a:spcPts val="0"/>
                        </a:spcAft>
                      </a:pPr>
                      <a:r>
                        <a:rPr sz="1050" b="1" i="0">
                          <a:solidFill>
                            <a:srgbClr val="E8ECF2"/>
                          </a:solidFill>
                          <a:latin typeface="Calibri"/>
                        </a:rPr>
                        <a:t>policy_name · policy_version</a:t>
                      </a:r>
                    </a:p>
                  </a:txBody>
                  <a:tcPr marL="91440" marR="91440" marT="45720" marB="45720" anchor="ctr">
                    <a:solidFill>
                      <a:srgbClr val="12161B"/>
                    </a:solidFill>
                  </a:tcPr>
                </a:tc>
                <a:tc>
                  <a:txBody>
                    <a:bodyPr wrap="square"/>
                    <a:lstStyle/>
                    <a:p>
                      <a:pPr algn="l">
                        <a:lnSpc>
                          <a:spcPct val="105000"/>
                        </a:lnSpc>
                        <a:spcAft>
                          <a:spcPts val="0"/>
                        </a:spcAft>
                      </a:pPr>
                      <a:r>
                        <a:rPr sz="1050" b="0" i="0">
                          <a:solidFill>
                            <a:srgbClr val="E8ECF2"/>
                          </a:solidFill>
                          <a:latin typeface="Calibri"/>
                        </a:rPr>
                        <a:t>Which immutable version decided. If behaviour changes between reviews, this is what tells you whether the policy moved or your traffic did.</a:t>
                      </a:r>
                    </a:p>
                  </a:txBody>
                  <a:tcPr marL="91440" marR="91440" marT="45720" marB="45720" anchor="ctr">
                    <a:solidFill>
                      <a:srgbClr val="12161B"/>
                    </a:solidFill>
                  </a:tcPr>
                </a:tc>
              </a:tr>
              <a:tr h="256032">
                <a:tc>
                  <a:txBody>
                    <a:bodyPr wrap="square"/>
                    <a:lstStyle/>
                    <a:p>
                      <a:pPr algn="l">
                        <a:lnSpc>
                          <a:spcPct val="105000"/>
                        </a:lnSpc>
                        <a:spcAft>
                          <a:spcPts val="0"/>
                        </a:spcAft>
                      </a:pPr>
                      <a:r>
                        <a:rPr sz="1050" b="1" i="0">
                          <a:solidFill>
                            <a:srgbClr val="E8ECF2"/>
                          </a:solidFill>
                          <a:latin typeface="Calibri"/>
                        </a:rPr>
                        <a:t>evaluator_metadata</a:t>
                      </a:r>
                    </a:p>
                  </a:txBody>
                  <a:tcPr marL="91440" marR="91440" marT="45720" marB="45720" anchor="ctr">
                    <a:solidFill>
                      <a:srgbClr val="161C23"/>
                    </a:solidFill>
                  </a:tcPr>
                </a:tc>
                <a:tc>
                  <a:txBody>
                    <a:bodyPr wrap="square"/>
                    <a:lstStyle/>
                    <a:p>
                      <a:pPr algn="l">
                        <a:lnSpc>
                          <a:spcPct val="105000"/>
                        </a:lnSpc>
                        <a:spcAft>
                          <a:spcPts val="0"/>
                        </a:spcAft>
                      </a:pPr>
                      <a:r>
                        <a:rPr sz="1050" b="0" i="0">
                          <a:solidFill>
                            <a:srgbClr val="E8ECF2"/>
                          </a:solidFill>
                          <a:latin typeface="Calibri"/>
                        </a:rPr>
                        <a:t>Which engines and versions ran.</a:t>
                      </a:r>
                    </a:p>
                  </a:txBody>
                  <a:tcPr marL="91440" marR="91440" marT="45720" marB="45720" anchor="ctr">
                    <a:solidFill>
                      <a:srgbClr val="161C23"/>
                    </a:solidFill>
                  </a:tcPr>
                </a:tc>
              </a:tr>
              <a:tr h="420624">
                <a:tc>
                  <a:txBody>
                    <a:bodyPr wrap="square"/>
                    <a:lstStyle/>
                    <a:p>
                      <a:pPr algn="l">
                        <a:lnSpc>
                          <a:spcPct val="105000"/>
                        </a:lnSpc>
                        <a:spcAft>
                          <a:spcPts val="0"/>
                        </a:spcAft>
                      </a:pPr>
                      <a:r>
                        <a:rPr sz="1050" b="1" i="0">
                          <a:solidFill>
                            <a:srgbClr val="E8ECF2"/>
                          </a:solidFill>
                          <a:latin typeface="Calibri"/>
                        </a:rPr>
                        <a:t>correlation_id · audit_id · latency</a:t>
                      </a:r>
                    </a:p>
                  </a:txBody>
                  <a:tcPr marL="91440" marR="91440" marT="45720" marB="45720" anchor="ctr">
                    <a:solidFill>
                      <a:srgbClr val="12161B"/>
                    </a:solidFill>
                  </a:tcPr>
                </a:tc>
                <a:tc>
                  <a:txBody>
                    <a:bodyPr wrap="square"/>
                    <a:lstStyle/>
                    <a:p>
                      <a:pPr algn="l">
                        <a:lnSpc>
                          <a:spcPct val="105000"/>
                        </a:lnSpc>
                        <a:spcAft>
                          <a:spcPts val="0"/>
                        </a:spcAft>
                      </a:pPr>
                      <a:r>
                        <a:rPr sz="1050" b="0" i="0">
                          <a:solidFill>
                            <a:srgbClr val="E8ECF2"/>
                          </a:solidFill>
                          <a:latin typeface="Calibri"/>
                        </a:rPr>
                        <a:t>Join to your own request logs; find the durable record; see what the call cost you.</a:t>
                      </a:r>
                    </a:p>
                  </a:txBody>
                  <a:tcPr marL="91440" marR="91440" marT="45720" marB="45720" anchor="ctr">
                    <a:solidFill>
                      <a:srgbClr val="12161B"/>
                    </a:solidFill>
                  </a:tcPr>
                </a:tc>
              </a:tr>
            </a:tbl>
          </a:graphicData>
        </a:graphic>
      </p:graphicFrame>
      <p:sp>
        <p:nvSpPr>
          <p:cNvPr id="7" name="TextBox 6"/>
          <p:cNvSpPr txBox="1"/>
          <p:nvPr/>
        </p:nvSpPr>
        <p:spPr>
          <a:xfrm>
            <a:off x="685800" y="4818888"/>
            <a:ext cx="10820095" cy="457200"/>
          </a:xfrm>
          <a:prstGeom prst="rect">
            <a:avLst/>
          </a:prstGeom>
          <a:noFill/>
        </p:spPr>
        <p:txBody>
          <a:bodyPr wrap="square" lIns="0" rIns="0" tIns="0" bIns="0" anchor="t">
            <a:spAutoFit/>
          </a:bodyPr>
          <a:lstStyle/>
          <a:p>
            <a:pPr algn="l">
              <a:lnSpc>
                <a:spcPct val="115000"/>
              </a:lnSpc>
              <a:spcAft>
                <a:spcPts val="0"/>
              </a:spcAft>
            </a:pPr>
            <a:r>
              <a:rPr sz="1100" b="0" i="0">
                <a:solidFill>
                  <a:srgbClr val="98A4B3"/>
                </a:solidFill>
                <a:latin typeface="Calibri"/>
              </a:rPr>
              <a:t>A reason code looks like a category, then the evaluator family, then that evaluator's own code — so a finding from today's engine and the same finding from a future one group together rather than becoming two different things you have to reconcile.</a:t>
            </a:r>
          </a:p>
        </p:txBody>
      </p:sp>
      <p:sp>
        <p:nvSpPr>
          <p:cNvPr id="8" name="Rounded Rectangle 7"/>
          <p:cNvSpPr/>
          <p:nvPr/>
        </p:nvSpPr>
        <p:spPr>
          <a:xfrm>
            <a:off x="685800" y="5239512"/>
            <a:ext cx="10820095" cy="82296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358384"/>
            <a:ext cx="10271455" cy="640080"/>
          </a:xfrm>
          <a:prstGeom prst="rect">
            <a:avLst/>
          </a:prstGeom>
          <a:noFill/>
        </p:spPr>
        <p:txBody>
          <a:bodyPr wrap="square" lIns="0" rIns="0" tIns="0" bIns="0" anchor="t">
            <a:spAutoFit/>
          </a:bodyPr>
          <a:lstStyle/>
          <a:p>
            <a:pPr algn="l">
              <a:lnSpc>
                <a:spcPct val="115000"/>
              </a:lnSpc>
              <a:spcAft>
                <a:spcPts val="400"/>
              </a:spcAft>
            </a:pPr>
            <a:r>
              <a:rPr sz="1100" b="1" i="0">
                <a:solidFill>
                  <a:srgbClr val="5AA0E0"/>
                </a:solidFill>
                <a:latin typeface="Calibri"/>
              </a:rPr>
              <a:t>Who else sees these findings</a:t>
            </a:r>
          </a:p>
          <a:p>
            <a:pPr algn="l">
              <a:lnSpc>
                <a:spcPct val="120000"/>
              </a:lnSpc>
              <a:spcAft>
                <a:spcPts val="0"/>
              </a:spcAft>
            </a:pPr>
            <a:r>
              <a:rPr sz="1150" b="0" i="0">
                <a:solidFill>
                  <a:srgbClr val="E8ECF2"/>
                </a:solidFill>
                <a:latin typeface="Calibri"/>
              </a:rPr>
              <a:t>The consuming team owns the review of its own observe-mode findings and is accountable for it; the guardrail team and security and governance are consulted, and platform operations are informed. Decision metadata also lands in the provider-operated audit archive, scoped per tenant. What is not defined anywhere yet: who else inside a consuming organization receives a per-workload findings report, and what tooling produces one.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What happens when evaluation cannot complete</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Configured per failure mode, before anything runs. There is no default and no silent fallback.</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graphicFrame>
        <p:nvGraphicFramePr>
          <p:cNvPr id="6" name="Table 5"/>
          <p:cNvGraphicFramePr>
            <a:graphicFrameLocks noGrp="1"/>
          </p:cNvGraphicFramePr>
          <p:nvPr/>
        </p:nvGraphicFramePr>
        <p:xfrm>
          <a:off x="685800" y="1828800"/>
          <a:ext cx="10820094" cy="1883664"/>
        </p:xfrm>
        <a:graphic>
          <a:graphicData uri="http://schemas.openxmlformats.org/drawingml/2006/table">
            <a:tbl>
              <a:tblPr firstRow="1">
                <a:tableStyleId>{5C22544A-7EE6-4342-B048-85BDC9FD1C3A}</a:tableStyleId>
              </a:tblPr>
              <a:tblGrid>
                <a:gridCol w="3895234"/>
                <a:gridCol w="6924860"/>
              </a:tblGrid>
              <a:tr h="329184">
                <a:tc>
                  <a:txBody>
                    <a:bodyPr wrap="square"/>
                    <a:lstStyle/>
                    <a:p>
                      <a:pPr algn="l">
                        <a:lnSpc>
                          <a:spcPct val="105000"/>
                        </a:lnSpc>
                        <a:spcAft>
                          <a:spcPts val="0"/>
                        </a:spcAft>
                      </a:pPr>
                      <a:r>
                        <a:rPr sz="1100" b="1" i="0">
                          <a:solidFill>
                            <a:srgbClr val="5AA0E0"/>
                          </a:solidFill>
                          <a:latin typeface="Calibri"/>
                        </a:rPr>
                        <a:t>If this happens</a:t>
                      </a:r>
                    </a:p>
                  </a:txBody>
                  <a:tcPr marL="91440" marR="91440" marT="45720" marB="45720" anchor="ctr">
                    <a:solidFill>
                      <a:srgbClr val="1D242C"/>
                    </a:solidFill>
                  </a:tcPr>
                </a:tc>
                <a:tc>
                  <a:txBody>
                    <a:bodyPr wrap="square"/>
                    <a:lstStyle/>
                    <a:p>
                      <a:pPr algn="l">
                        <a:lnSpc>
                          <a:spcPct val="105000"/>
                        </a:lnSpc>
                        <a:spcAft>
                          <a:spcPts val="0"/>
                        </a:spcAft>
                      </a:pPr>
                      <a:r>
                        <a:rPr sz="1100" b="1" i="0">
                          <a:solidFill>
                            <a:srgbClr val="5AA0E0"/>
                          </a:solidFill>
                          <a:latin typeface="Calibri"/>
                        </a:rPr>
                        <a:t>Your policy says which of these happens</a:t>
                      </a:r>
                    </a:p>
                  </a:txBody>
                  <a:tcPr marL="91440" marR="91440" marT="45720" marB="45720" anchor="ctr">
                    <a:solidFill>
                      <a:srgbClr val="1D242C"/>
                    </a:solidFill>
                  </a:tcPr>
                </a:tc>
              </a:tr>
              <a:tr h="384048">
                <a:tc>
                  <a:txBody>
                    <a:bodyPr wrap="square"/>
                    <a:lstStyle/>
                    <a:p>
                      <a:pPr algn="l">
                        <a:lnSpc>
                          <a:spcPct val="105000"/>
                        </a:lnSpc>
                        <a:spcAft>
                          <a:spcPts val="0"/>
                        </a:spcAft>
                      </a:pPr>
                      <a:r>
                        <a:rPr sz="1150" b="1" i="0">
                          <a:solidFill>
                            <a:srgbClr val="E8ECF2"/>
                          </a:solidFill>
                          <a:latin typeface="Calibri"/>
                        </a:rPr>
                        <a:t>The evaluation call times out</a:t>
                      </a:r>
                    </a:p>
                  </a:txBody>
                  <a:tcPr marL="91440" marR="91440" marT="45720" marB="45720" anchor="ctr">
                    <a:solidFill>
                      <a:srgbClr val="161C23"/>
                    </a:solidFill>
                  </a:tcPr>
                </a:tc>
                <a:tc>
                  <a:txBody>
                    <a:bodyPr wrap="square"/>
                    <a:lstStyle/>
                    <a:p>
                      <a:pPr algn="l">
                        <a:lnSpc>
                          <a:spcPct val="105000"/>
                        </a:lnSpc>
                        <a:spcAft>
                          <a:spcPts val="0"/>
                        </a:spcAft>
                      </a:pPr>
                      <a:r>
                        <a:rPr sz="1150" b="0" i="0">
                          <a:solidFill>
                            <a:srgbClr val="E8ECF2"/>
                          </a:solidFill>
                          <a:latin typeface="Calibri"/>
                        </a:rPr>
                        <a:t>Allow and log · return a safe fallback · block the request</a:t>
                      </a:r>
                    </a:p>
                  </a:txBody>
                  <a:tcPr marL="91440" marR="91440" marT="45720" marB="45720" anchor="ctr">
                    <a:solidFill>
                      <a:srgbClr val="161C23"/>
                    </a:solidFill>
                  </a:tcPr>
                </a:tc>
              </a:tr>
              <a:tr h="420624">
                <a:tc>
                  <a:txBody>
                    <a:bodyPr wrap="square"/>
                    <a:lstStyle/>
                    <a:p>
                      <a:pPr algn="l">
                        <a:lnSpc>
                          <a:spcPct val="105000"/>
                        </a:lnSpc>
                        <a:spcAft>
                          <a:spcPts val="0"/>
                        </a:spcAft>
                      </a:pPr>
                      <a:r>
                        <a:rPr sz="1150" b="1" i="0">
                          <a:solidFill>
                            <a:srgbClr val="E8ECF2"/>
                          </a:solidFill>
                          <a:latin typeface="Calibri"/>
                        </a:rPr>
                        <a:t>A detector is unavailable</a:t>
                      </a:r>
                    </a:p>
                  </a:txBody>
                  <a:tcPr marL="91440" marR="91440" marT="45720" marB="45720" anchor="ctr">
                    <a:solidFill>
                      <a:srgbClr val="12161B"/>
                    </a:solidFill>
                  </a:tcPr>
                </a:tc>
                <a:tc>
                  <a:txBody>
                    <a:bodyPr wrap="square"/>
                    <a:lstStyle/>
                    <a:p>
                      <a:pPr algn="l">
                        <a:lnSpc>
                          <a:spcPct val="105000"/>
                        </a:lnSpc>
                        <a:spcAft>
                          <a:spcPts val="0"/>
                        </a:spcAft>
                      </a:pPr>
                      <a:r>
                        <a:rPr sz="1150" b="0" i="0">
                          <a:solidFill>
                            <a:srgbClr val="E8ECF2"/>
                          </a:solidFill>
                          <a:latin typeface="Calibri"/>
                        </a:rPr>
                        <a:t>Continue on the remaining detectors and log · use a cached decision · block</a:t>
                      </a:r>
                    </a:p>
                  </a:txBody>
                  <a:tcPr marL="91440" marR="91440" marT="45720" marB="45720" anchor="ctr">
                    <a:solidFill>
                      <a:srgbClr val="12161B"/>
                    </a:solidFill>
                  </a:tcPr>
                </a:tc>
              </a:tr>
              <a:tr h="329184">
                <a:tc>
                  <a:txBody>
                    <a:bodyPr wrap="square"/>
                    <a:lstStyle/>
                    <a:p>
                      <a:pPr algn="l">
                        <a:lnSpc>
                          <a:spcPct val="105000"/>
                        </a:lnSpc>
                        <a:spcAft>
                          <a:spcPts val="0"/>
                        </a:spcAft>
                      </a:pPr>
                      <a:r>
                        <a:rPr sz="1150" b="1" i="0">
                          <a:solidFill>
                            <a:srgbClr val="E8ECF2"/>
                          </a:solidFill>
                          <a:latin typeface="Calibri"/>
                        </a:rPr>
                        <a:t>Your policy cannot be resolved</a:t>
                      </a:r>
                    </a:p>
                  </a:txBody>
                  <a:tcPr marL="91440" marR="91440" marT="45720" marB="45720" anchor="ctr">
                    <a:solidFill>
                      <a:srgbClr val="161C23"/>
                    </a:solidFill>
                  </a:tcPr>
                </a:tc>
                <a:tc>
                  <a:txBody>
                    <a:bodyPr wrap="square"/>
                    <a:lstStyle/>
                    <a:p>
                      <a:pPr algn="l">
                        <a:lnSpc>
                          <a:spcPct val="105000"/>
                        </a:lnSpc>
                        <a:spcAft>
                          <a:spcPts val="0"/>
                        </a:spcAft>
                      </a:pPr>
                      <a:r>
                        <a:rPr sz="1150" b="0" i="0">
                          <a:solidFill>
                            <a:srgbClr val="E8ECF2"/>
                          </a:solidFill>
                          <a:latin typeface="Calibri"/>
                        </a:rPr>
                        <a:t>Block · require manual approval</a:t>
                      </a:r>
                    </a:p>
                  </a:txBody>
                  <a:tcPr marL="91440" marR="91440" marT="45720" marB="45720" anchor="ctr">
                    <a:solidFill>
                      <a:srgbClr val="161C23"/>
                    </a:solidFill>
                  </a:tcPr>
                </a:tc>
              </a:tr>
              <a:tr h="420624">
                <a:tc>
                  <a:txBody>
                    <a:bodyPr wrap="square"/>
                    <a:lstStyle/>
                    <a:p>
                      <a:pPr algn="l">
                        <a:lnSpc>
                          <a:spcPct val="105000"/>
                        </a:lnSpc>
                        <a:spcAft>
                          <a:spcPts val="0"/>
                        </a:spcAft>
                      </a:pPr>
                      <a:r>
                        <a:rPr sz="1150" b="1" i="0">
                          <a:solidFill>
                            <a:srgbClr val="E8ECF2"/>
                          </a:solidFill>
                          <a:latin typeface="Calibri"/>
                        </a:rPr>
                        <a:t>Audit delivery fails</a:t>
                      </a:r>
                    </a:p>
                  </a:txBody>
                  <a:tcPr marL="91440" marR="91440" marT="45720" marB="45720" anchor="ctr">
                    <a:solidFill>
                      <a:srgbClr val="12161B"/>
                    </a:solidFill>
                  </a:tcPr>
                </a:tc>
                <a:tc>
                  <a:txBody>
                    <a:bodyPr wrap="square"/>
                    <a:lstStyle/>
                    <a:p>
                      <a:pPr algn="l">
                        <a:lnSpc>
                          <a:spcPct val="105000"/>
                        </a:lnSpc>
                        <a:spcAft>
                          <a:spcPts val="0"/>
                        </a:spcAft>
                      </a:pPr>
                      <a:r>
                        <a:rPr sz="1150" b="0" i="0">
                          <a:solidFill>
                            <a:srgbClr val="E8ECF2"/>
                          </a:solidFill>
                          <a:latin typeface="Calibri"/>
                        </a:rPr>
                        <a:t>Allow and log locally for later reconciliation · block, if audit is critical</a:t>
                      </a:r>
                    </a:p>
                  </a:txBody>
                  <a:tcPr marL="91440" marR="91440" marT="45720" marB="45720" anchor="ctr">
                    <a:solidFill>
                      <a:srgbClr val="12161B"/>
                    </a:solidFill>
                  </a:tcPr>
                </a:tc>
              </a:tr>
            </a:tbl>
          </a:graphicData>
        </a:graphic>
      </p:graphicFrame>
      <p:sp>
        <p:nvSpPr>
          <p:cNvPr id="7" name="Rectangle 6"/>
          <p:cNvSpPr/>
          <p:nvPr/>
        </p:nvSpPr>
        <p:spPr>
          <a:xfrm>
            <a:off x="685800" y="4466844"/>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4389120"/>
            <a:ext cx="10545775" cy="365760"/>
          </a:xfrm>
          <a:prstGeom prst="rect">
            <a:avLst/>
          </a:prstGeom>
          <a:noFill/>
        </p:spPr>
        <p:txBody>
          <a:bodyPr wrap="square" lIns="0" rIns="0" tIns="0" bIns="0" anchor="t">
            <a:spAutoFit/>
          </a:bodyPr>
          <a:lstStyle/>
          <a:p>
            <a:pPr algn="l">
              <a:lnSpc>
                <a:spcPct val="115000"/>
              </a:lnSpc>
              <a:spcAft>
                <a:spcPts val="100"/>
              </a:spcAft>
            </a:pPr>
            <a:r>
              <a:rPr sz="1250" b="1" i="0">
                <a:solidFill>
                  <a:srgbClr val="E8ECF2"/>
                </a:solidFill>
                <a:latin typeface="Calibri"/>
              </a:rPr>
              <a:t>Losing contact with us never un-configures your connector</a:t>
            </a:r>
          </a:p>
          <a:p>
            <a:pPr algn="l">
              <a:lnSpc>
                <a:spcPct val="115000"/>
              </a:lnSpc>
              <a:spcAft>
                <a:spcPts val="0"/>
              </a:spcAft>
            </a:pPr>
            <a:r>
              <a:rPr sz="1050" b="0" i="0">
                <a:solidFill>
                  <a:srgbClr val="98A4B3"/>
                </a:solidFill>
                <a:latin typeface="Calibri"/>
              </a:rPr>
              <a:t>It keeps applying the configuration it last retrieved. A platform outage does not turn your working gateway into a refusing one.</a:t>
            </a:r>
          </a:p>
        </p:txBody>
      </p:sp>
      <p:sp>
        <p:nvSpPr>
          <p:cNvPr id="9" name="Rectangle 8"/>
          <p:cNvSpPr/>
          <p:nvPr/>
        </p:nvSpPr>
        <p:spPr>
          <a:xfrm>
            <a:off x="685800" y="5253228"/>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5175504"/>
            <a:ext cx="10545775" cy="365760"/>
          </a:xfrm>
          <a:prstGeom prst="rect">
            <a:avLst/>
          </a:prstGeom>
          <a:noFill/>
        </p:spPr>
        <p:txBody>
          <a:bodyPr wrap="square" lIns="0" rIns="0" tIns="0" bIns="0" anchor="t">
            <a:spAutoFit/>
          </a:bodyPr>
          <a:lstStyle/>
          <a:p>
            <a:pPr algn="l">
              <a:lnSpc>
                <a:spcPct val="115000"/>
              </a:lnSpc>
              <a:spcAft>
                <a:spcPts val="100"/>
              </a:spcAft>
            </a:pPr>
            <a:r>
              <a:rPr sz="1250" b="1" i="0">
                <a:solidFill>
                  <a:srgbClr val="E8ECF2"/>
                </a:solidFill>
                <a:latin typeface="Calibri"/>
              </a:rPr>
              <a:t>Decisions your connector makes during an outage are recorded locally and delivered later</a:t>
            </a:r>
          </a:p>
          <a:p>
            <a:pPr algn="l">
              <a:lnSpc>
                <a:spcPct val="115000"/>
              </a:lnSpc>
              <a:spcAft>
                <a:spcPts val="0"/>
              </a:spcAft>
            </a:pPr>
            <a:r>
              <a:rPr sz="1050" b="0" i="0">
                <a:solidFill>
                  <a:srgbClr val="98A4B3"/>
                </a:solidFill>
                <a:latin typeface="Calibri"/>
              </a:rPr>
              <a:t>That local store is bounded, discards oldest first when full, and reports how many it discarded — so an outage is not quietly understated. It holds reasons and identifiers only, never your content.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What you own, and what you do not</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The recurring cost is small and specific. It is also real, and it does not go away after setup.</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ounded Rectangle 5"/>
          <p:cNvSpPr/>
          <p:nvPr/>
        </p:nvSpPr>
        <p:spPr>
          <a:xfrm>
            <a:off x="685800" y="1828800"/>
            <a:ext cx="5760720" cy="34290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828800"/>
            <a:ext cx="5760720" cy="475488"/>
          </a:xfrm>
          <a:prstGeom prst="roundRect">
            <a:avLst>
              <a:gd name="adj" fmla="val 8000"/>
            </a:avLst>
          </a:prstGeom>
          <a:solidFill>
            <a:srgbClr val="2B4A69"/>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50" b="1" i="0">
                <a:solidFill>
                  <a:srgbClr val="E8ECF2"/>
                </a:solidFill>
                <a:latin typeface="Calibri"/>
              </a:rPr>
              <a:t>YOURS</a:t>
            </a:r>
          </a:p>
        </p:txBody>
      </p:sp>
      <p:sp>
        <p:nvSpPr>
          <p:cNvPr id="8" name="Rectangle 7"/>
          <p:cNvSpPr/>
          <p:nvPr/>
        </p:nvSpPr>
        <p:spPr>
          <a:xfrm>
            <a:off x="941832" y="2647188"/>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16152" y="2569464"/>
            <a:ext cx="5029200" cy="365760"/>
          </a:xfrm>
          <a:prstGeom prst="rect">
            <a:avLst/>
          </a:prstGeom>
          <a:noFill/>
        </p:spPr>
        <p:txBody>
          <a:bodyPr wrap="square" lIns="0" rIns="0" tIns="0" bIns="0" anchor="t">
            <a:spAutoFit/>
          </a:bodyPr>
          <a:lstStyle/>
          <a:p>
            <a:pPr algn="l">
              <a:lnSpc>
                <a:spcPct val="115000"/>
              </a:lnSpc>
              <a:spcAft>
                <a:spcPts val="100"/>
              </a:spcAft>
            </a:pPr>
            <a:r>
              <a:rPr sz="1200" b="0" i="0">
                <a:solidFill>
                  <a:srgbClr val="E8ECF2"/>
                </a:solidFill>
                <a:latin typeface="Calibri"/>
              </a:rPr>
              <a:t>Installing the connector and keeping it healthy</a:t>
            </a:r>
          </a:p>
        </p:txBody>
      </p:sp>
      <p:sp>
        <p:nvSpPr>
          <p:cNvPr id="10" name="Rectangle 9"/>
          <p:cNvSpPr/>
          <p:nvPr/>
        </p:nvSpPr>
        <p:spPr>
          <a:xfrm>
            <a:off x="941832" y="3159252"/>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16152" y="3081528"/>
            <a:ext cx="5029200" cy="365760"/>
          </a:xfrm>
          <a:prstGeom prst="rect">
            <a:avLst/>
          </a:prstGeom>
          <a:noFill/>
        </p:spPr>
        <p:txBody>
          <a:bodyPr wrap="square" lIns="0" rIns="0" tIns="0" bIns="0" anchor="t">
            <a:spAutoFit/>
          </a:bodyPr>
          <a:lstStyle/>
          <a:p>
            <a:pPr algn="l">
              <a:lnSpc>
                <a:spcPct val="115000"/>
              </a:lnSpc>
              <a:spcAft>
                <a:spcPts val="100"/>
              </a:spcAft>
            </a:pPr>
            <a:r>
              <a:rPr sz="1200" b="1" i="0">
                <a:solidFill>
                  <a:srgbClr val="E8ECF2"/>
                </a:solidFill>
                <a:latin typeface="Calibri"/>
              </a:rPr>
              <a:t>Registering the workload accurately</a:t>
            </a:r>
          </a:p>
          <a:p>
            <a:pPr algn="l">
              <a:lnSpc>
                <a:spcPct val="115000"/>
              </a:lnSpc>
              <a:spcAft>
                <a:spcPts val="0"/>
              </a:spcAft>
            </a:pPr>
            <a:r>
              <a:rPr sz="1000" b="0" i="0">
                <a:solidFill>
                  <a:srgbClr val="98A4B3"/>
                </a:solidFill>
                <a:latin typeface="Calibri"/>
              </a:rPr>
              <a:t>Environment, risk classification, gateway type, expected throughput — the platform reasons about your workload from what you declare.</a:t>
            </a:r>
          </a:p>
        </p:txBody>
      </p:sp>
      <p:sp>
        <p:nvSpPr>
          <p:cNvPr id="12" name="Rectangle 11"/>
          <p:cNvSpPr/>
          <p:nvPr/>
        </p:nvSpPr>
        <p:spPr>
          <a:xfrm>
            <a:off x="941832" y="3890772"/>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16152" y="3813048"/>
            <a:ext cx="5029200" cy="365760"/>
          </a:xfrm>
          <a:prstGeom prst="rect">
            <a:avLst/>
          </a:prstGeom>
          <a:noFill/>
        </p:spPr>
        <p:txBody>
          <a:bodyPr wrap="square" lIns="0" rIns="0" tIns="0" bIns="0" anchor="t">
            <a:spAutoFit/>
          </a:bodyPr>
          <a:lstStyle/>
          <a:p>
            <a:pPr algn="l">
              <a:lnSpc>
                <a:spcPct val="115000"/>
              </a:lnSpc>
              <a:spcAft>
                <a:spcPts val="100"/>
              </a:spcAft>
            </a:pPr>
            <a:r>
              <a:rPr sz="1200" b="0" i="0">
                <a:solidFill>
                  <a:srgbClr val="E8ECF2"/>
                </a:solidFill>
                <a:latin typeface="Calibri"/>
              </a:rPr>
              <a:t>Reviewing observe-mode findings before accepting enforcement</a:t>
            </a:r>
          </a:p>
        </p:txBody>
      </p:sp>
      <p:sp>
        <p:nvSpPr>
          <p:cNvPr id="14" name="Rectangle 13"/>
          <p:cNvSpPr/>
          <p:nvPr/>
        </p:nvSpPr>
        <p:spPr>
          <a:xfrm>
            <a:off x="941832" y="4402836"/>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16152" y="4325112"/>
            <a:ext cx="5029200" cy="365760"/>
          </a:xfrm>
          <a:prstGeom prst="rect">
            <a:avLst/>
          </a:prstGeom>
          <a:noFill/>
        </p:spPr>
        <p:txBody>
          <a:bodyPr wrap="square" lIns="0" rIns="0" tIns="0" bIns="0" anchor="t">
            <a:spAutoFit/>
          </a:bodyPr>
          <a:lstStyle/>
          <a:p>
            <a:pPr algn="l">
              <a:lnSpc>
                <a:spcPct val="115000"/>
              </a:lnSpc>
              <a:spcAft>
                <a:spcPts val="100"/>
              </a:spcAft>
            </a:pPr>
            <a:r>
              <a:rPr sz="1200" b="1" i="0">
                <a:solidFill>
                  <a:srgbClr val="E8ECF2"/>
                </a:solidFill>
                <a:latin typeface="Calibri"/>
              </a:rPr>
              <a:t>Everything about your application that was already yours</a:t>
            </a:r>
          </a:p>
          <a:p>
            <a:pPr algn="l">
              <a:lnSpc>
                <a:spcPct val="115000"/>
              </a:lnSpc>
              <a:spcAft>
                <a:spcPts val="0"/>
              </a:spcAft>
            </a:pPr>
            <a:r>
              <a:rPr sz="1000" b="0" i="0">
                <a:solidFill>
                  <a:srgbClr val="98A4B3"/>
                </a:solidFill>
                <a:latin typeface="Calibri"/>
              </a:rPr>
              <a:t>End-user authentication, business authorization, tenant isolation in your own data, and your retry and fallback behaviour for the model call itself.</a:t>
            </a:r>
          </a:p>
        </p:txBody>
      </p:sp>
      <p:sp>
        <p:nvSpPr>
          <p:cNvPr id="16" name="Rounded Rectangle 15"/>
          <p:cNvSpPr/>
          <p:nvPr/>
        </p:nvSpPr>
        <p:spPr>
          <a:xfrm>
            <a:off x="6519672" y="1828800"/>
            <a:ext cx="4983480" cy="34290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19672" y="1828800"/>
            <a:ext cx="4983480" cy="475488"/>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250" b="1" i="0">
                <a:solidFill>
                  <a:srgbClr val="E8ECF2"/>
                </a:solidFill>
                <a:latin typeface="Calibri"/>
              </a:rPr>
              <a:t>OURS</a:t>
            </a:r>
          </a:p>
        </p:txBody>
      </p:sp>
      <p:sp>
        <p:nvSpPr>
          <p:cNvPr id="18" name="Rectangle 17"/>
          <p:cNvSpPr/>
          <p:nvPr/>
        </p:nvSpPr>
        <p:spPr>
          <a:xfrm>
            <a:off x="6775704" y="2647188"/>
            <a:ext cx="77724" cy="77724"/>
          </a:xfrm>
          <a:prstGeom prst="rect">
            <a:avLst/>
          </a:prstGeom>
          <a:solidFill>
            <a:srgbClr val="98A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50024" y="2569464"/>
            <a:ext cx="4251960" cy="365760"/>
          </a:xfrm>
          <a:prstGeom prst="rect">
            <a:avLst/>
          </a:prstGeom>
          <a:noFill/>
        </p:spPr>
        <p:txBody>
          <a:bodyPr wrap="square" lIns="0" rIns="0" tIns="0" bIns="0" anchor="t">
            <a:spAutoFit/>
          </a:bodyPr>
          <a:lstStyle/>
          <a:p>
            <a:pPr algn="l">
              <a:lnSpc>
                <a:spcPct val="115000"/>
              </a:lnSpc>
              <a:spcAft>
                <a:spcPts val="100"/>
              </a:spcAft>
            </a:pPr>
            <a:r>
              <a:rPr sz="1200" b="0" i="0">
                <a:solidFill>
                  <a:srgbClr val="E8ECF2"/>
                </a:solidFill>
                <a:latin typeface="Calibri"/>
              </a:rPr>
              <a:t>The evaluation contract, the runtime, and the connector itself</a:t>
            </a:r>
          </a:p>
        </p:txBody>
      </p:sp>
      <p:sp>
        <p:nvSpPr>
          <p:cNvPr id="20" name="Rectangle 19"/>
          <p:cNvSpPr/>
          <p:nvPr/>
        </p:nvSpPr>
        <p:spPr>
          <a:xfrm>
            <a:off x="6775704" y="3159252"/>
            <a:ext cx="77724" cy="77724"/>
          </a:xfrm>
          <a:prstGeom prst="rect">
            <a:avLst/>
          </a:prstGeom>
          <a:solidFill>
            <a:srgbClr val="98A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50024" y="3081528"/>
            <a:ext cx="4251960" cy="365760"/>
          </a:xfrm>
          <a:prstGeom prst="rect">
            <a:avLst/>
          </a:prstGeom>
          <a:noFill/>
        </p:spPr>
        <p:txBody>
          <a:bodyPr wrap="square" lIns="0" rIns="0" tIns="0" bIns="0" anchor="t">
            <a:spAutoFit/>
          </a:bodyPr>
          <a:lstStyle/>
          <a:p>
            <a:pPr algn="l">
              <a:lnSpc>
                <a:spcPct val="115000"/>
              </a:lnSpc>
              <a:spcAft>
                <a:spcPts val="100"/>
              </a:spcAft>
            </a:pPr>
            <a:r>
              <a:rPr sz="1200" b="0" i="0">
                <a:solidFill>
                  <a:srgbClr val="E8ECF2"/>
                </a:solidFill>
                <a:latin typeface="Calibri"/>
              </a:rPr>
              <a:t>Policy schemas, detection integration, and compatibility across versions</a:t>
            </a:r>
          </a:p>
        </p:txBody>
      </p:sp>
      <p:sp>
        <p:nvSpPr>
          <p:cNvPr id="22" name="Rectangle 21"/>
          <p:cNvSpPr/>
          <p:nvPr/>
        </p:nvSpPr>
        <p:spPr>
          <a:xfrm>
            <a:off x="6775704" y="3671316"/>
            <a:ext cx="77724" cy="77724"/>
          </a:xfrm>
          <a:prstGeom prst="rect">
            <a:avLst/>
          </a:prstGeom>
          <a:solidFill>
            <a:srgbClr val="98A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50024" y="3593592"/>
            <a:ext cx="4251960" cy="365760"/>
          </a:xfrm>
          <a:prstGeom prst="rect">
            <a:avLst/>
          </a:prstGeom>
          <a:noFill/>
        </p:spPr>
        <p:txBody>
          <a:bodyPr wrap="square" lIns="0" rIns="0" tIns="0" bIns="0" anchor="t">
            <a:spAutoFit/>
          </a:bodyPr>
          <a:lstStyle/>
          <a:p>
            <a:pPr algn="l">
              <a:lnSpc>
                <a:spcPct val="115000"/>
              </a:lnSpc>
              <a:spcAft>
                <a:spcPts val="100"/>
              </a:spcAft>
            </a:pPr>
            <a:r>
              <a:rPr sz="1200" b="0" i="0">
                <a:solidFill>
                  <a:srgbClr val="E8ECF2"/>
                </a:solidFill>
                <a:latin typeface="Calibri"/>
              </a:rPr>
              <a:t>The hosted service's availability, capacity and incident response</a:t>
            </a:r>
          </a:p>
        </p:txBody>
      </p:sp>
      <p:sp>
        <p:nvSpPr>
          <p:cNvPr id="24" name="Rectangle 23"/>
          <p:cNvSpPr/>
          <p:nvPr/>
        </p:nvSpPr>
        <p:spPr>
          <a:xfrm>
            <a:off x="6775704" y="4183380"/>
            <a:ext cx="77724" cy="77724"/>
          </a:xfrm>
          <a:prstGeom prst="rect">
            <a:avLst/>
          </a:prstGeom>
          <a:solidFill>
            <a:srgbClr val="98A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50024" y="4105656"/>
            <a:ext cx="4251960" cy="365760"/>
          </a:xfrm>
          <a:prstGeom prst="rect">
            <a:avLst/>
          </a:prstGeom>
          <a:noFill/>
        </p:spPr>
        <p:txBody>
          <a:bodyPr wrap="square" lIns="0" rIns="0" tIns="0" bIns="0" anchor="t">
            <a:spAutoFit/>
          </a:bodyPr>
          <a:lstStyle/>
          <a:p>
            <a:pPr algn="l">
              <a:lnSpc>
                <a:spcPct val="115000"/>
              </a:lnSpc>
              <a:spcAft>
                <a:spcPts val="100"/>
              </a:spcAft>
            </a:pPr>
            <a:r>
              <a:rPr sz="1200" b="0" i="0">
                <a:solidFill>
                  <a:srgbClr val="E8ECF2"/>
                </a:solidFill>
                <a:latin typeface="Calibri"/>
              </a:rPr>
              <a:t>Deployment artifacts and documentation</a:t>
            </a:r>
          </a:p>
        </p:txBody>
      </p:sp>
      <p:sp>
        <p:nvSpPr>
          <p:cNvPr id="26" name="TextBox 25"/>
          <p:cNvSpPr txBox="1"/>
          <p:nvPr/>
        </p:nvSpPr>
        <p:spPr>
          <a:xfrm>
            <a:off x="685800" y="5833872"/>
            <a:ext cx="10820095" cy="457200"/>
          </a:xfrm>
          <a:prstGeom prst="rect">
            <a:avLst/>
          </a:prstGeom>
          <a:noFill/>
        </p:spPr>
        <p:txBody>
          <a:bodyPr wrap="square" lIns="0" rIns="0" tIns="0" bIns="0" anchor="t">
            <a:spAutoFit/>
          </a:bodyPr>
          <a:lstStyle/>
          <a:p>
            <a:pPr algn="l">
              <a:lnSpc>
                <a:spcPct val="115000"/>
              </a:lnSpc>
              <a:spcAft>
                <a:spcPts val="0"/>
              </a:spcAft>
            </a:pPr>
            <a:r>
              <a:rPr sz="1150" b="0" i="0">
                <a:solidFill>
                  <a:srgbClr val="98A4B3"/>
                </a:solidFill>
                <a:latin typeface="Calibri"/>
              </a:rPr>
              <a:t>Policy content itself is neither of ours: organization-level policy requirements, risk classification, approval and exception criteria belong to security and governance.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What this pilot has to demonstrate</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Your instance is half of the evidence. These are the criteria your participation actually satisfies.</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ectangle 5"/>
          <p:cNvSpPr/>
          <p:nvPr/>
        </p:nvSpPr>
        <p:spPr>
          <a:xfrm>
            <a:off x="685800" y="1952243"/>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19"/>
            <a:ext cx="6263640" cy="365760"/>
          </a:xfrm>
          <a:prstGeom prst="rect">
            <a:avLst/>
          </a:prstGeom>
          <a:noFill/>
        </p:spPr>
        <p:txBody>
          <a:bodyPr wrap="square" lIns="0" rIns="0" tIns="0" bIns="0" anchor="t">
            <a:spAutoFit/>
          </a:bodyPr>
          <a:lstStyle/>
          <a:p>
            <a:pPr algn="l">
              <a:lnSpc>
                <a:spcPct val="115000"/>
              </a:lnSpc>
              <a:spcAft>
                <a:spcPts val="100"/>
              </a:spcAft>
            </a:pPr>
            <a:r>
              <a:rPr sz="1250" b="1" i="0">
                <a:solidFill>
                  <a:srgbClr val="E8ECF2"/>
                </a:solidFill>
                <a:latin typeface="Calibri"/>
              </a:rPr>
              <a:t>Two independent instances consume the same policy version</a:t>
            </a:r>
          </a:p>
          <a:p>
            <a:pPr algn="l">
              <a:lnSpc>
                <a:spcPct val="115000"/>
              </a:lnSpc>
              <a:spcAft>
                <a:spcPts val="0"/>
              </a:spcAft>
            </a:pPr>
            <a:r>
              <a:rPr sz="1050" b="0" i="0">
                <a:solidFill>
                  <a:srgbClr val="98A4B3"/>
                </a:solidFill>
                <a:latin typeface="Calibri"/>
              </a:rPr>
              <a:t>Yours and theirs, both bound to the identical policy name and version, both verified to resolve the same content.</a:t>
            </a:r>
          </a:p>
        </p:txBody>
      </p:sp>
      <p:sp>
        <p:nvSpPr>
          <p:cNvPr id="8" name="Rectangle 7"/>
          <p:cNvSpPr/>
          <p:nvPr/>
        </p:nvSpPr>
        <p:spPr>
          <a:xfrm>
            <a:off x="685800" y="2720339"/>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642615"/>
            <a:ext cx="6263640" cy="365760"/>
          </a:xfrm>
          <a:prstGeom prst="rect">
            <a:avLst/>
          </a:prstGeom>
          <a:noFill/>
        </p:spPr>
        <p:txBody>
          <a:bodyPr wrap="square" lIns="0" rIns="0" tIns="0" bIns="0" anchor="t">
            <a:spAutoFit/>
          </a:bodyPr>
          <a:lstStyle/>
          <a:p>
            <a:pPr algn="l">
              <a:lnSpc>
                <a:spcPct val="115000"/>
              </a:lnSpc>
              <a:spcAft>
                <a:spcPts val="100"/>
              </a:spcAft>
            </a:pPr>
            <a:r>
              <a:rPr sz="1250" b="1" i="0">
                <a:solidFill>
                  <a:srgbClr val="E8ECF2"/>
                </a:solidFill>
                <a:latin typeface="Calibri"/>
              </a:rPr>
              <a:t>Neither instance shares model-provider credentials with the platform</a:t>
            </a:r>
          </a:p>
          <a:p>
            <a:pPr algn="l">
              <a:lnSpc>
                <a:spcPct val="115000"/>
              </a:lnSpc>
              <a:spcAft>
                <a:spcPts val="0"/>
              </a:spcAft>
            </a:pPr>
            <a:r>
              <a:rPr sz="1050" b="0" i="0">
                <a:solidFill>
                  <a:srgbClr val="98A4B3"/>
                </a:solidFill>
                <a:latin typeface="Calibri"/>
              </a:rPr>
              <a:t>Audited against the platform's own stored secrets. Yours never leave your environment.</a:t>
            </a:r>
          </a:p>
        </p:txBody>
      </p:sp>
      <p:sp>
        <p:nvSpPr>
          <p:cNvPr id="10" name="Rectangle 9"/>
          <p:cNvSpPr/>
          <p:nvPr/>
        </p:nvSpPr>
        <p:spPr>
          <a:xfrm>
            <a:off x="685800" y="3488435"/>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410711"/>
            <a:ext cx="6263640" cy="365760"/>
          </a:xfrm>
          <a:prstGeom prst="rect">
            <a:avLst/>
          </a:prstGeom>
          <a:noFill/>
        </p:spPr>
        <p:txBody>
          <a:bodyPr wrap="square" lIns="0" rIns="0" tIns="0" bIns="0" anchor="t">
            <a:spAutoFit/>
          </a:bodyPr>
          <a:lstStyle/>
          <a:p>
            <a:pPr algn="l">
              <a:lnSpc>
                <a:spcPct val="115000"/>
              </a:lnSpc>
              <a:spcAft>
                <a:spcPts val="100"/>
              </a:spcAft>
            </a:pPr>
            <a:r>
              <a:rPr sz="1250" b="1" i="0">
                <a:solidFill>
                  <a:srgbClr val="E8ECF2"/>
                </a:solidFill>
                <a:latin typeface="Calibri"/>
              </a:rPr>
              <a:t>Both receive consistent normalized decisions</a:t>
            </a:r>
          </a:p>
          <a:p>
            <a:pPr algn="l">
              <a:lnSpc>
                <a:spcPct val="115000"/>
              </a:lnSpc>
              <a:spcAft>
                <a:spcPts val="0"/>
              </a:spcAft>
            </a:pPr>
            <a:r>
              <a:rPr sz="1050" b="0" i="0">
                <a:solidFill>
                  <a:srgbClr val="98A4B3"/>
                </a:solidFill>
                <a:latin typeface="Calibri"/>
              </a:rPr>
              <a:t>The same schema, actions, reason codes, policy version and correlation identifier — regardless of which instance asked.</a:t>
            </a:r>
          </a:p>
        </p:txBody>
      </p:sp>
      <p:sp>
        <p:nvSpPr>
          <p:cNvPr id="12" name="Rectangle 11"/>
          <p:cNvSpPr/>
          <p:nvPr/>
        </p:nvSpPr>
        <p:spPr>
          <a:xfrm>
            <a:off x="685800" y="4256531"/>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178807"/>
            <a:ext cx="6263640" cy="365760"/>
          </a:xfrm>
          <a:prstGeom prst="rect">
            <a:avLst/>
          </a:prstGeom>
          <a:noFill/>
        </p:spPr>
        <p:txBody>
          <a:bodyPr wrap="square" lIns="0" rIns="0" tIns="0" bIns="0" anchor="t">
            <a:spAutoFit/>
          </a:bodyPr>
          <a:lstStyle/>
          <a:p>
            <a:pPr algn="l">
              <a:lnSpc>
                <a:spcPct val="115000"/>
              </a:lnSpc>
              <a:spcAft>
                <a:spcPts val="100"/>
              </a:spcAft>
            </a:pPr>
            <a:r>
              <a:rPr sz="1250" b="1" i="0">
                <a:solidFill>
                  <a:srgbClr val="E8ECF2"/>
                </a:solidFill>
                <a:latin typeface="Calibri"/>
              </a:rPr>
              <a:t>One workload runs in observe while another runs in enforce</a:t>
            </a:r>
          </a:p>
          <a:p>
            <a:pPr algn="l">
              <a:lnSpc>
                <a:spcPct val="115000"/>
              </a:lnSpc>
              <a:spcAft>
                <a:spcPts val="0"/>
              </a:spcAft>
            </a:pPr>
            <a:r>
              <a:rPr sz="1050" b="0" i="0">
                <a:solidFill>
                  <a:srgbClr val="98A4B3"/>
                </a:solidFill>
                <a:latin typeface="Calibri"/>
              </a:rPr>
              <a:t>Against the same policy version. That is the property that makes one policy usable by teams at different maturity levels.</a:t>
            </a:r>
          </a:p>
        </p:txBody>
      </p:sp>
      <p:sp>
        <p:nvSpPr>
          <p:cNvPr id="14" name="Rounded Rectangle 13"/>
          <p:cNvSpPr/>
          <p:nvPr/>
        </p:nvSpPr>
        <p:spPr>
          <a:xfrm>
            <a:off x="685800" y="4709160"/>
            <a:ext cx="6537960" cy="1005840"/>
          </a:xfrm>
          <a:prstGeom prst="roundRect">
            <a:avLst>
              <a:gd name="adj" fmla="val 4000"/>
            </a:avLst>
          </a:prstGeom>
          <a:solidFill>
            <a:srgbClr val="1D242C"/>
          </a:solidFill>
          <a:ln w="12700">
            <a:solidFill>
              <a:srgbClr val="4FB4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4837176"/>
            <a:ext cx="6035040" cy="804672"/>
          </a:xfrm>
          <a:prstGeom prst="rect">
            <a:avLst/>
          </a:prstGeom>
          <a:noFill/>
        </p:spPr>
        <p:txBody>
          <a:bodyPr wrap="square" lIns="0" rIns="0" tIns="0" bIns="0" anchor="t">
            <a:spAutoFit/>
          </a:bodyPr>
          <a:lstStyle/>
          <a:p>
            <a:pPr algn="l">
              <a:lnSpc>
                <a:spcPct val="115000"/>
              </a:lnSpc>
              <a:spcAft>
                <a:spcPts val="400"/>
              </a:spcAft>
            </a:pPr>
            <a:r>
              <a:rPr sz="1200" b="1" i="0">
                <a:solidFill>
                  <a:srgbClr val="4FB477"/>
                </a:solidFill>
                <a:latin typeface="Calibri"/>
              </a:rPr>
              <a:t>And what a good outcome looks like for you</a:t>
            </a:r>
          </a:p>
          <a:p>
            <a:pPr algn="l">
              <a:lnSpc>
                <a:spcPct val="120000"/>
              </a:lnSpc>
              <a:spcAft>
                <a:spcPts val="0"/>
              </a:spcAft>
            </a:pPr>
            <a:r>
              <a:rPr sz="1150" b="0" i="0">
                <a:solidFill>
                  <a:srgbClr val="E8ECF2"/>
                </a:solidFill>
                <a:latin typeface="Calibri"/>
              </a:rPr>
              <a:t>You can state, from your own traffic, what your workload trips and what acting on it would have cost — and you make the promotion decision on that evidence. Deciding not to promote is a good outcome too.</a:t>
            </a:r>
          </a:p>
        </p:txBody>
      </p:sp>
      <p:sp>
        <p:nvSpPr>
          <p:cNvPr id="16" name="Rounded Rectangle 15"/>
          <p:cNvSpPr/>
          <p:nvPr/>
        </p:nvSpPr>
        <p:spPr>
          <a:xfrm>
            <a:off x="7635240" y="1828800"/>
            <a:ext cx="3867912" cy="3611880"/>
          </a:xfrm>
          <a:prstGeom prst="roundRect">
            <a:avLst>
              <a:gd name="adj" fmla="val 4000"/>
            </a:avLst>
          </a:prstGeom>
          <a:solidFill>
            <a:srgbClr val="161C23"/>
          </a:solidFill>
          <a:ln w="12700">
            <a:solidFill>
              <a:srgbClr val="E0B3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82127" y="2057400"/>
            <a:ext cx="3383280" cy="3154680"/>
          </a:xfrm>
          <a:prstGeom prst="rect">
            <a:avLst/>
          </a:prstGeom>
          <a:noFill/>
        </p:spPr>
        <p:txBody>
          <a:bodyPr wrap="square" lIns="0" rIns="0" tIns="0" bIns="0" anchor="t">
            <a:spAutoFit/>
          </a:bodyPr>
          <a:lstStyle/>
          <a:p>
            <a:pPr algn="l">
              <a:lnSpc>
                <a:spcPct val="115000"/>
              </a:lnSpc>
              <a:spcAft>
                <a:spcPts val="600"/>
              </a:spcAft>
            </a:pPr>
            <a:r>
              <a:rPr sz="1300" b="1" i="0">
                <a:solidFill>
                  <a:srgbClr val="E0B341"/>
                </a:solidFill>
                <a:latin typeface="Calibri"/>
              </a:rPr>
              <a:t>The gating rule</a:t>
            </a:r>
          </a:p>
          <a:p>
            <a:pPr algn="l">
              <a:lnSpc>
                <a:spcPct val="115000"/>
              </a:lnSpc>
              <a:spcAft>
                <a:spcPts val="1200"/>
              </a:spcAft>
            </a:pPr>
            <a:r>
              <a:rPr sz="1200" b="0" i="0">
                <a:solidFill>
                  <a:srgbClr val="E8ECF2"/>
                </a:solidFill>
                <a:latin typeface="Calibri"/>
              </a:rPr>
              <a:t>All nine criteria must be demonstrated together. A subset passing does not satisfy the demonstration, and neither does one deployment exercised twice.</a:t>
            </a:r>
          </a:p>
          <a:p>
            <a:pPr algn="l">
              <a:lnSpc>
                <a:spcPct val="115000"/>
              </a:lnSpc>
              <a:spcAft>
                <a:spcPts val="1200"/>
              </a:spcAft>
            </a:pPr>
            <a:r>
              <a:rPr sz="1200" b="0" i="0">
                <a:solidFill>
                  <a:srgbClr val="98A4B3"/>
                </a:solidFill>
                <a:latin typeface="Calibri"/>
              </a:rPr>
              <a:t>Five more criteria cover upgrade and rollback, disabling raw-content persistence, failure behaviour under an injected fault, and packaging the runtime for customer-managed deployment. Those exercise the platform rather than your instance.</a:t>
            </a:r>
          </a:p>
          <a:p>
            <a:pPr algn="l">
              <a:lnSpc>
                <a:spcPct val="115000"/>
              </a:lnSpc>
              <a:spcAft>
                <a:spcPts val="0"/>
              </a:spcAft>
            </a:pPr>
            <a:r>
              <a:rPr sz="1150" b="0" i="1">
                <a:solidFill>
                  <a:srgbClr val="98A4B3"/>
                </a:solidFill>
                <a:latin typeface="Calibri"/>
              </a:rPr>
              <a:t>These are targets in a plan. The demonstration has not been run, and how each criterion gets verified and who signs it off is not yet assigned.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The rough edges, before you find them</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Six things that are genuinely unresolved. None of them is a reason not to pilot; all of them are things you would hit.</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graphicFrame>
        <p:nvGraphicFramePr>
          <p:cNvPr id="6" name="Table 5"/>
          <p:cNvGraphicFramePr>
            <a:graphicFrameLocks noGrp="1"/>
          </p:cNvGraphicFramePr>
          <p:nvPr/>
        </p:nvGraphicFramePr>
        <p:xfrm>
          <a:off x="685800" y="1828800"/>
          <a:ext cx="10820094" cy="3657600"/>
        </p:xfrm>
        <a:graphic>
          <a:graphicData uri="http://schemas.openxmlformats.org/drawingml/2006/table">
            <a:tbl>
              <a:tblPr firstRow="1">
                <a:tableStyleId>{5C22544A-7EE6-4342-B048-85BDC9FD1C3A}</a:tableStyleId>
              </a:tblPr>
              <a:tblGrid>
                <a:gridCol w="3246028"/>
                <a:gridCol w="7574066"/>
              </a:tblGrid>
              <a:tr h="292608">
                <a:tc>
                  <a:txBody>
                    <a:bodyPr wrap="square"/>
                    <a:lstStyle/>
                    <a:p>
                      <a:pPr algn="l">
                        <a:lnSpc>
                          <a:spcPct val="105000"/>
                        </a:lnSpc>
                        <a:spcAft>
                          <a:spcPts val="0"/>
                        </a:spcAft>
                      </a:pPr>
                      <a:r>
                        <a:rPr sz="1050" b="1" i="0">
                          <a:solidFill>
                            <a:srgbClr val="5AA0E0"/>
                          </a:solidFill>
                          <a:latin typeface="Calibri"/>
                        </a:rPr>
                        <a:t>What is unresolved</a:t>
                      </a:r>
                    </a:p>
                  </a:txBody>
                  <a:tcPr marL="91440" marR="91440" marT="45720" marB="45720" anchor="ctr">
                    <a:solidFill>
                      <a:srgbClr val="1D242C"/>
                    </a:solidFill>
                  </a:tcPr>
                </a:tc>
                <a:tc>
                  <a:txBody>
                    <a:bodyPr wrap="square"/>
                    <a:lstStyle/>
                    <a:p>
                      <a:pPr algn="l">
                        <a:lnSpc>
                          <a:spcPct val="105000"/>
                        </a:lnSpc>
                        <a:spcAft>
                          <a:spcPts val="0"/>
                        </a:spcAft>
                      </a:pPr>
                      <a:r>
                        <a:rPr sz="1050" b="1" i="0">
                          <a:solidFill>
                            <a:srgbClr val="5AA0E0"/>
                          </a:solidFill>
                          <a:latin typeface="Calibri"/>
                        </a:rPr>
                        <a:t>What it means for you</a:t>
                      </a:r>
                    </a:p>
                  </a:txBody>
                  <a:tcPr marL="91440" marR="91440" marT="45720" marB="45720" anchor="ctr">
                    <a:solidFill>
                      <a:srgbClr val="1D242C"/>
                    </a:solidFill>
                  </a:tcPr>
                </a:tc>
              </a:tr>
              <a:tr h="566928">
                <a:tc>
                  <a:txBody>
                    <a:bodyPr wrap="square"/>
                    <a:lstStyle/>
                    <a:p>
                      <a:pPr algn="l">
                        <a:lnSpc>
                          <a:spcPct val="105000"/>
                        </a:lnSpc>
                        <a:spcAft>
                          <a:spcPts val="0"/>
                        </a:spcAft>
                      </a:pPr>
                      <a:r>
                        <a:rPr sz="1000" b="1" i="0">
                          <a:solidFill>
                            <a:srgbClr val="E8ECF2"/>
                          </a:solidFill>
                          <a:latin typeface="Calibri"/>
                        </a:rPr>
                        <a:t>No latency target exists</a:t>
                      </a:r>
                    </a:p>
                  </a:txBody>
                  <a:tcPr marL="91440" marR="91440" marT="45720" marB="45720" anchor="ctr">
                    <a:solidFill>
                      <a:srgbClr val="161C23"/>
                    </a:solidFill>
                  </a:tcPr>
                </a:tc>
                <a:tc>
                  <a:txBody>
                    <a:bodyPr wrap="square"/>
                    <a:lstStyle/>
                    <a:p>
                      <a:pPr algn="l">
                        <a:lnSpc>
                          <a:spcPct val="105000"/>
                        </a:lnSpc>
                        <a:spcAft>
                          <a:spcPts val="0"/>
                        </a:spcAft>
                      </a:pPr>
                      <a:r>
                        <a:rPr sz="1000" b="0" i="0">
                          <a:solidFill>
                            <a:srgbClr val="E8ECF2"/>
                          </a:solidFill>
                          <a:latin typeface="Calibri"/>
                        </a:rPr>
                        <a:t>Two synchronous calls are added to your request path and nobody can tell you what they cost yet. Instrumentation lands with the first phase; your traffic is how the target gets set.</a:t>
                      </a:r>
                    </a:p>
                  </a:txBody>
                  <a:tcPr marL="91440" marR="91440" marT="45720" marB="45720" anchor="ctr">
                    <a:solidFill>
                      <a:srgbClr val="161C23"/>
                    </a:solidFill>
                  </a:tcPr>
                </a:tc>
              </a:tr>
              <a:tr h="694944">
                <a:tc>
                  <a:txBody>
                    <a:bodyPr wrap="square"/>
                    <a:lstStyle/>
                    <a:p>
                      <a:pPr algn="l">
                        <a:lnSpc>
                          <a:spcPct val="105000"/>
                        </a:lnSpc>
                        <a:spcAft>
                          <a:spcPts val="0"/>
                        </a:spcAft>
                      </a:pPr>
                      <a:r>
                        <a:rPr sz="1000" b="1" i="0">
                          <a:solidFill>
                            <a:srgbClr val="E8ECF2"/>
                          </a:solidFill>
                          <a:latin typeface="Calibri"/>
                        </a:rPr>
                        <a:t>Observe costs the full latency and returns nothing operational</a:t>
                      </a:r>
                    </a:p>
                  </a:txBody>
                  <a:tcPr marL="91440" marR="91440" marT="45720" marB="45720" anchor="ctr">
                    <a:solidFill>
                      <a:srgbClr val="12161B"/>
                    </a:solidFill>
                  </a:tcPr>
                </a:tc>
                <a:tc>
                  <a:txBody>
                    <a:bodyPr wrap="square"/>
                    <a:lstStyle/>
                    <a:p>
                      <a:pPr algn="l">
                        <a:lnSpc>
                          <a:spcPct val="105000"/>
                        </a:lnSpc>
                        <a:spcAft>
                          <a:spcPts val="0"/>
                        </a:spcAft>
                      </a:pPr>
                      <a:r>
                        <a:rPr sz="1000" b="0" i="0">
                          <a:solidFill>
                            <a:srgbClr val="E8ECF2"/>
                          </a:solidFill>
                          <a:latin typeface="Calibri"/>
                        </a:rPr>
                        <a:t>Both calls are synchronous in observe exactly as in enforce — nothing is blocked, so during the pilot you pay the whole cost for measurement alone. No sampled, shadow, or asynchronous evaluation path is designed. If one is what makes this affordable on your traffic, say so and it becomes a design input.</a:t>
                      </a:r>
                    </a:p>
                  </a:txBody>
                  <a:tcPr marL="91440" marR="91440" marT="45720" marB="45720" anchor="ctr">
                    <a:solidFill>
                      <a:srgbClr val="12161B"/>
                    </a:solidFill>
                  </a:tcPr>
                </a:tc>
              </a:tr>
              <a:tr h="512064">
                <a:tc>
                  <a:txBody>
                    <a:bodyPr wrap="square"/>
                    <a:lstStyle/>
                    <a:p>
                      <a:pPr algn="l">
                        <a:lnSpc>
                          <a:spcPct val="105000"/>
                        </a:lnSpc>
                        <a:spcAft>
                          <a:spcPts val="0"/>
                        </a:spcAft>
                      </a:pPr>
                      <a:r>
                        <a:rPr sz="1000" b="1" i="0">
                          <a:solidFill>
                            <a:srgbClr val="E8ECF2"/>
                          </a:solidFill>
                          <a:latin typeface="Calibri"/>
                        </a:rPr>
                        <a:t>No availability objective exists</a:t>
                      </a:r>
                    </a:p>
                  </a:txBody>
                  <a:tcPr marL="91440" marR="91440" marT="45720" marB="45720" anchor="ctr">
                    <a:solidFill>
                      <a:srgbClr val="161C23"/>
                    </a:solidFill>
                  </a:tcPr>
                </a:tc>
                <a:tc>
                  <a:txBody>
                    <a:bodyPr wrap="square"/>
                    <a:lstStyle/>
                    <a:p>
                      <a:pPr algn="l">
                        <a:lnSpc>
                          <a:spcPct val="105000"/>
                        </a:lnSpc>
                        <a:spcAft>
                          <a:spcPts val="0"/>
                        </a:spcAft>
                      </a:pPr>
                      <a:r>
                        <a:rPr sz="1000" b="0" i="0">
                          <a:solidFill>
                            <a:srgbClr val="E8ECF2"/>
                          </a:solidFill>
                          <a:latin typeface="Calibri"/>
                        </a:rPr>
                        <a:t>The service you are calling has no published objective yet. Your policy's configured timeout behaviour is the thing that protects you in the meantime.</a:t>
                      </a:r>
                    </a:p>
                  </a:txBody>
                  <a:tcPr marL="91440" marR="91440" marT="45720" marB="45720" anchor="ctr">
                    <a:solidFill>
                      <a:srgbClr val="161C23"/>
                    </a:solidFill>
                  </a:tcPr>
                </a:tc>
              </a:tr>
              <a:tr h="512064">
                <a:tc>
                  <a:txBody>
                    <a:bodyPr wrap="square"/>
                    <a:lstStyle/>
                    <a:p>
                      <a:pPr algn="l">
                        <a:lnSpc>
                          <a:spcPct val="105000"/>
                        </a:lnSpc>
                        <a:spcAft>
                          <a:spcPts val="0"/>
                        </a:spcAft>
                      </a:pPr>
                      <a:r>
                        <a:rPr sz="1000" b="1" i="0">
                          <a:solidFill>
                            <a:srgbClr val="E8ECF2"/>
                          </a:solidFill>
                          <a:latin typeface="Calibri"/>
                        </a:rPr>
                        <a:t>Promotion criteria are undefined</a:t>
                      </a:r>
                    </a:p>
                  </a:txBody>
                  <a:tcPr marL="91440" marR="91440" marT="45720" marB="45720" anchor="ctr">
                    <a:solidFill>
                      <a:srgbClr val="12161B"/>
                    </a:solidFill>
                  </a:tcPr>
                </a:tc>
                <a:tc>
                  <a:txBody>
                    <a:bodyPr wrap="square"/>
                    <a:lstStyle/>
                    <a:p>
                      <a:pPr algn="l">
                        <a:lnSpc>
                          <a:spcPct val="105000"/>
                        </a:lnSpc>
                        <a:spcAft>
                          <a:spcPts val="0"/>
                        </a:spcAft>
                      </a:pPr>
                      <a:r>
                        <a:rPr sz="1000" b="0" i="0">
                          <a:solidFill>
                            <a:srgbClr val="E8ECF2"/>
                          </a:solidFill>
                          <a:latin typeface="Calibri"/>
                        </a:rPr>
                        <a:t>There is no agreed answer to what evidence justifies moving from observe to enforce. You would be helping define it rather than following it.</a:t>
                      </a:r>
                    </a:p>
                  </a:txBody>
                  <a:tcPr marL="91440" marR="91440" marT="45720" marB="45720" anchor="ctr">
                    <a:solidFill>
                      <a:srgbClr val="12161B"/>
                    </a:solidFill>
                  </a:tcPr>
                </a:tc>
              </a:tr>
              <a:tr h="512064">
                <a:tc>
                  <a:txBody>
                    <a:bodyPr wrap="square"/>
                    <a:lstStyle/>
                    <a:p>
                      <a:pPr algn="l">
                        <a:lnSpc>
                          <a:spcPct val="105000"/>
                        </a:lnSpc>
                        <a:spcAft>
                          <a:spcPts val="0"/>
                        </a:spcAft>
                      </a:pPr>
                      <a:r>
                        <a:rPr sz="1000" b="1" i="0">
                          <a:solidFill>
                            <a:srgbClr val="E8ECF2"/>
                          </a:solidFill>
                          <a:latin typeface="Calibri"/>
                        </a:rPr>
                        <a:t>The connector support window is undefined</a:t>
                      </a:r>
                    </a:p>
                  </a:txBody>
                  <a:tcPr marL="91440" marR="91440" marT="45720" marB="45720" anchor="ctr">
                    <a:solidFill>
                      <a:srgbClr val="161C23"/>
                    </a:solidFill>
                  </a:tcPr>
                </a:tc>
                <a:tc>
                  <a:txBody>
                    <a:bodyPr wrap="square"/>
                    <a:lstStyle/>
                    <a:p>
                      <a:pPr algn="l">
                        <a:lnSpc>
                          <a:spcPct val="105000"/>
                        </a:lnSpc>
                        <a:spcAft>
                          <a:spcPts val="0"/>
                        </a:spcAft>
                      </a:pPr>
                      <a:r>
                        <a:rPr sz="1000" b="0" i="0">
                          <a:solidFill>
                            <a:srgbClr val="E8ECF2"/>
                          </a:solidFill>
                          <a:latin typeface="Calibri"/>
                        </a:rPr>
                        <a:t>How long a connector version stays supported, and the deprecation policy, are not set. Upgrade cadence is therefore not something we can commit to yet.</a:t>
                      </a:r>
                    </a:p>
                  </a:txBody>
                  <a:tcPr marL="91440" marR="91440" marT="45720" marB="45720" anchor="ctr">
                    <a:solidFill>
                      <a:srgbClr val="161C23"/>
                    </a:solidFill>
                  </a:tcPr>
                </a:tc>
              </a:tr>
              <a:tr h="566928">
                <a:tc>
                  <a:txBody>
                    <a:bodyPr wrap="square"/>
                    <a:lstStyle/>
                    <a:p>
                      <a:pPr algn="l">
                        <a:lnSpc>
                          <a:spcPct val="105000"/>
                        </a:lnSpc>
                        <a:spcAft>
                          <a:spcPts val="0"/>
                        </a:spcAft>
                      </a:pPr>
                      <a:r>
                        <a:rPr sz="1000" b="1" i="0">
                          <a:solidFill>
                            <a:srgbClr val="E8ECF2"/>
                          </a:solidFill>
                          <a:latin typeface="Calibri"/>
                        </a:rPr>
                        <a:t>Bypass is possible, by you</a:t>
                      </a:r>
                    </a:p>
                  </a:txBody>
                  <a:tcPr marL="91440" marR="91440" marT="45720" marB="45720" anchor="ctr">
                    <a:solidFill>
                      <a:srgbClr val="12161B"/>
                    </a:solidFill>
                  </a:tcPr>
                </a:tc>
                <a:tc>
                  <a:txBody>
                    <a:bodyPr wrap="square"/>
                    <a:lstStyle/>
                    <a:p>
                      <a:pPr algn="l">
                        <a:lnSpc>
                          <a:spcPct val="105000"/>
                        </a:lnSpc>
                        <a:spcAft>
                          <a:spcPts val="0"/>
                        </a:spcAft>
                      </a:pPr>
                      <a:r>
                        <a:rPr sz="1000" b="0" i="0">
                          <a:solidFill>
                            <a:srgbClr val="E8ECF2"/>
                          </a:solidFill>
                          <a:latin typeface="Calibri"/>
                        </a:rPr>
                        <a:t>The cooperative posture means the connector can be disabled, removed or misconfigured by your team. That is accepted for this phase — but it also means coverage depends on you, not on a control.</a:t>
                      </a:r>
                    </a:p>
                  </a:txBody>
                  <a:tcPr marL="91440" marR="91440" marT="45720" marB="45720" anchor="ctr">
                    <a:solidFill>
                      <a:srgbClr val="12161B"/>
                    </a:solidFill>
                  </a:tcPr>
                </a:tc>
              </a:tr>
            </a:tbl>
          </a:graphicData>
        </a:graphic>
      </p:graphicFrame>
      <p:sp>
        <p:nvSpPr>
          <p:cNvPr id="7" name="TextBox 6"/>
          <p:cNvSpPr txBox="1"/>
          <p:nvPr/>
        </p:nvSpPr>
        <p:spPr>
          <a:xfrm>
            <a:off x="685800" y="5779008"/>
            <a:ext cx="10820095" cy="457200"/>
          </a:xfrm>
          <a:prstGeom prst="rect">
            <a:avLst/>
          </a:prstGeom>
          <a:noFill/>
        </p:spPr>
        <p:txBody>
          <a:bodyPr wrap="square" lIns="0" rIns="0" tIns="0" bIns="0" anchor="t">
            <a:spAutoFit/>
          </a:bodyPr>
          <a:lstStyle/>
          <a:p>
            <a:pPr algn="l">
              <a:lnSpc>
                <a:spcPct val="115000"/>
              </a:lnSpc>
              <a:spcAft>
                <a:spcPts val="0"/>
              </a:spcAft>
            </a:pPr>
            <a:r>
              <a:rPr sz="1100" b="0" i="0">
                <a:solidFill>
                  <a:srgbClr val="98A4B3"/>
                </a:solidFill>
                <a:latin typeface="Calibri"/>
              </a:rPr>
              <a:t>These are on the register with owners where owners exist. They are stated here because a pilot team that meets them unannounced stops trusting everything else on the slides.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What actually happens after you say yes</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Four steps, each triggered by the one before it. No dates exist in the plan, so none are given here.</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ectangle 5"/>
          <p:cNvSpPr/>
          <p:nvPr/>
        </p:nvSpPr>
        <p:spPr>
          <a:xfrm>
            <a:off x="685800" y="1952243"/>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19"/>
            <a:ext cx="10545775" cy="365760"/>
          </a:xfrm>
          <a:prstGeom prst="rect">
            <a:avLst/>
          </a:prstGeom>
          <a:noFill/>
        </p:spPr>
        <p:txBody>
          <a:bodyPr wrap="square" lIns="0" rIns="0" tIns="0" bIns="0" anchor="t">
            <a:spAutoFit/>
          </a:bodyPr>
          <a:lstStyle/>
          <a:p>
            <a:pPr algn="l">
              <a:lnSpc>
                <a:spcPct val="115000"/>
              </a:lnSpc>
              <a:spcAft>
                <a:spcPts val="100"/>
              </a:spcAft>
            </a:pPr>
            <a:r>
              <a:rPr sz="1300" b="1" i="0">
                <a:solidFill>
                  <a:srgbClr val="E8ECF2"/>
                </a:solidFill>
                <a:latin typeface="Calibri"/>
              </a:rPr>
              <a:t>The contract and the connector get shaken out without you</a:t>
            </a:r>
          </a:p>
          <a:p>
            <a:pPr algn="l">
              <a:lnSpc>
                <a:spcPct val="115000"/>
              </a:lnSpc>
              <a:spcAft>
                <a:spcPts val="0"/>
              </a:spcAft>
            </a:pPr>
            <a:r>
              <a:rPr sz="1100" b="0" i="0">
                <a:solidFill>
                  <a:srgbClr val="98A4B3"/>
                </a:solidFill>
                <a:latin typeface="Calibri"/>
              </a:rPr>
              <a:t>The two-instance integration test can run first against a stand-in rig the guardrail team owns. You are not the thing that finds the first defects, and your name is not on that step.</a:t>
            </a:r>
          </a:p>
        </p:txBody>
      </p:sp>
      <p:sp>
        <p:nvSpPr>
          <p:cNvPr id="8" name="Rectangle 7"/>
          <p:cNvSpPr/>
          <p:nvPr/>
        </p:nvSpPr>
        <p:spPr>
          <a:xfrm>
            <a:off x="685800" y="2793491"/>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715768"/>
            <a:ext cx="10545775" cy="365760"/>
          </a:xfrm>
          <a:prstGeom prst="rect">
            <a:avLst/>
          </a:prstGeom>
          <a:noFill/>
        </p:spPr>
        <p:txBody>
          <a:bodyPr wrap="square" lIns="0" rIns="0" tIns="0" bIns="0" anchor="t">
            <a:spAutoFit/>
          </a:bodyPr>
          <a:lstStyle/>
          <a:p>
            <a:pPr algn="l">
              <a:lnSpc>
                <a:spcPct val="115000"/>
              </a:lnSpc>
              <a:spcAft>
                <a:spcPts val="100"/>
              </a:spcAft>
            </a:pPr>
            <a:r>
              <a:rPr sz="1300" b="1" i="0">
                <a:solidFill>
                  <a:srgbClr val="E8ECF2"/>
                </a:solidFill>
                <a:latin typeface="Calibri"/>
              </a:rPr>
              <a:t>The connector artifact is published, and your security review begins</a:t>
            </a:r>
          </a:p>
          <a:p>
            <a:pPr algn="l">
              <a:lnSpc>
                <a:spcPct val="115000"/>
              </a:lnSpc>
              <a:spcAft>
                <a:spcPts val="0"/>
              </a:spcAft>
            </a:pPr>
            <a:r>
              <a:rPr sz="1100" b="0" i="0">
                <a:solidFill>
                  <a:srgbClr val="98A4B3"/>
                </a:solidFill>
                <a:latin typeface="Calibri"/>
              </a:rPr>
              <a:t>Trigger: the artifact existing. It runs on your timeline, and nothing is installed in your environment before it concludes.</a:t>
            </a:r>
          </a:p>
        </p:txBody>
      </p:sp>
      <p:sp>
        <p:nvSpPr>
          <p:cNvPr id="10" name="Rectangle 9"/>
          <p:cNvSpPr/>
          <p:nvPr/>
        </p:nvSpPr>
        <p:spPr>
          <a:xfrm>
            <a:off x="685800" y="3634739"/>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557015"/>
            <a:ext cx="10545775" cy="365760"/>
          </a:xfrm>
          <a:prstGeom prst="rect">
            <a:avLst/>
          </a:prstGeom>
          <a:noFill/>
        </p:spPr>
        <p:txBody>
          <a:bodyPr wrap="square" lIns="0" rIns="0" tIns="0" bIns="0" anchor="t">
            <a:spAutoFit/>
          </a:bodyPr>
          <a:lstStyle/>
          <a:p>
            <a:pPr algn="l">
              <a:lnSpc>
                <a:spcPct val="115000"/>
              </a:lnSpc>
              <a:spcAft>
                <a:spcPts val="100"/>
              </a:spcAft>
            </a:pPr>
            <a:r>
              <a:rPr sz="1300" b="1" i="0">
                <a:solidFill>
                  <a:srgbClr val="E8ECF2"/>
                </a:solidFill>
                <a:latin typeface="Calibri"/>
              </a:rPr>
              <a:t>You register one workload and install into it</a:t>
            </a:r>
          </a:p>
          <a:p>
            <a:pPr algn="l">
              <a:lnSpc>
                <a:spcPct val="115000"/>
              </a:lnSpc>
              <a:spcAft>
                <a:spcPts val="0"/>
              </a:spcAft>
            </a:pPr>
            <a:r>
              <a:rPr sz="1100" b="0" i="0">
                <a:solidFill>
                  <a:srgbClr val="98A4B3"/>
                </a:solidFill>
                <a:latin typeface="Calibri"/>
              </a:rPr>
              <a:t>A non-production workload first if that is what you prefer. Onboarding is not complete until evaluations appear at every stage your policy declares.</a:t>
            </a:r>
          </a:p>
        </p:txBody>
      </p:sp>
      <p:sp>
        <p:nvSpPr>
          <p:cNvPr id="12" name="Rectangle 11"/>
          <p:cNvSpPr/>
          <p:nvPr/>
        </p:nvSpPr>
        <p:spPr>
          <a:xfrm>
            <a:off x="685800" y="4475988"/>
            <a:ext cx="77724" cy="77724"/>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398264"/>
            <a:ext cx="10545775" cy="365760"/>
          </a:xfrm>
          <a:prstGeom prst="rect">
            <a:avLst/>
          </a:prstGeom>
          <a:noFill/>
        </p:spPr>
        <p:txBody>
          <a:bodyPr wrap="square" lIns="0" rIns="0" tIns="0" bIns="0" anchor="t">
            <a:spAutoFit/>
          </a:bodyPr>
          <a:lstStyle/>
          <a:p>
            <a:pPr algn="l">
              <a:lnSpc>
                <a:spcPct val="115000"/>
              </a:lnSpc>
              <a:spcAft>
                <a:spcPts val="100"/>
              </a:spcAft>
            </a:pPr>
            <a:r>
              <a:rPr sz="1300" b="1" i="0">
                <a:solidFill>
                  <a:srgbClr val="E8ECF2"/>
                </a:solidFill>
                <a:latin typeface="Calibri"/>
              </a:rPr>
              <a:t>Observe runs, you review it, and then you decide</a:t>
            </a:r>
          </a:p>
          <a:p>
            <a:pPr algn="l">
              <a:lnSpc>
                <a:spcPct val="115000"/>
              </a:lnSpc>
              <a:spcAft>
                <a:spcPts val="0"/>
              </a:spcAft>
            </a:pPr>
            <a:r>
              <a:rPr sz="1100" b="0" i="0">
                <a:solidFill>
                  <a:srgbClr val="98A4B3"/>
                </a:solidFill>
                <a:latin typeface="Calibri"/>
              </a:rPr>
              <a:t>Promotion to enforcement is a separate decision, made on your own findings, with security and governance consulted and you accepting it. There is no step after this one that happens automatically.</a:t>
            </a:r>
          </a:p>
        </p:txBody>
      </p:sp>
      <p:sp>
        <p:nvSpPr>
          <p:cNvPr id="14" name="TextBox 13"/>
          <p:cNvSpPr txBox="1"/>
          <p:nvPr/>
        </p:nvSpPr>
        <p:spPr>
          <a:xfrm>
            <a:off x="685800" y="5687568"/>
            <a:ext cx="10820095" cy="457200"/>
          </a:xfrm>
          <a:prstGeom prst="rect">
            <a:avLst/>
          </a:prstGeom>
          <a:noFill/>
        </p:spPr>
        <p:txBody>
          <a:bodyPr wrap="square" lIns="0" rIns="0" tIns="0" bIns="0" anchor="t">
            <a:spAutoFit/>
          </a:bodyPr>
          <a:lstStyle/>
          <a:p>
            <a:pPr algn="l">
              <a:lnSpc>
                <a:spcPct val="115000"/>
              </a:lnSpc>
              <a:spcAft>
                <a:spcPts val="0"/>
              </a:spcAft>
            </a:pPr>
            <a:r>
              <a:rPr sz="1150" b="0" i="0">
                <a:solidFill>
                  <a:srgbClr val="98A4B3"/>
                </a:solidFill>
                <a:latin typeface="Calibri"/>
              </a:rPr>
              <a:t>Saying yes today commits you to this sequence, not to a quarter. If you ask when step two happens, the honest answer is that the plan carries no date for it — and if that makes a commitment impossible for you now, the useful thing to say is what date-shaped certainty you would need.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What we need from you</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5" name="Rounded Rectangle 4"/>
          <p:cNvSpPr/>
          <p:nvPr/>
        </p:nvSpPr>
        <p:spPr>
          <a:xfrm>
            <a:off x="685800" y="1737360"/>
            <a:ext cx="10820095" cy="1170432"/>
          </a:xfrm>
          <a:prstGeom prst="roundRect">
            <a:avLst>
              <a:gd name="adj" fmla="val 4000"/>
            </a:avLst>
          </a:prstGeom>
          <a:solidFill>
            <a:srgbClr val="1D242C"/>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901952"/>
            <a:ext cx="10088575" cy="914400"/>
          </a:xfrm>
          <a:prstGeom prst="rect">
            <a:avLst/>
          </a:prstGeom>
          <a:noFill/>
        </p:spPr>
        <p:txBody>
          <a:bodyPr wrap="square" lIns="0" rIns="0" tIns="0" bIns="0" anchor="t">
            <a:spAutoFit/>
          </a:bodyPr>
          <a:lstStyle/>
          <a:p>
            <a:pPr algn="l">
              <a:lnSpc>
                <a:spcPct val="118000"/>
              </a:lnSpc>
              <a:spcAft>
                <a:spcPts val="500"/>
              </a:spcAft>
            </a:pPr>
            <a:r>
              <a:rPr sz="1800" b="1" i="0">
                <a:solidFill>
                  <a:srgbClr val="E8ECF2"/>
                </a:solidFill>
                <a:latin typeface="Calibri"/>
              </a:rPr>
              <a:t>Agree to run your gateway as the second independent instance, with the connector installed and the workload in observe mode.</a:t>
            </a:r>
          </a:p>
          <a:p>
            <a:pPr algn="l">
              <a:lnSpc>
                <a:spcPct val="115000"/>
              </a:lnSpc>
              <a:spcAft>
                <a:spcPts val="0"/>
              </a:spcAft>
            </a:pPr>
            <a:r>
              <a:rPr sz="1200" b="0" i="0">
                <a:solidFill>
                  <a:srgbClr val="98A4B3"/>
                </a:solidFill>
                <a:latin typeface="Calibri"/>
              </a:rPr>
              <a:t>Nothing you own gets blocked, and no commitment to enforcement is implied by saying yes to this.</a:t>
            </a:r>
          </a:p>
        </p:txBody>
      </p:sp>
      <p:sp>
        <p:nvSpPr>
          <p:cNvPr id="7" name="TextBox 6"/>
          <p:cNvSpPr txBox="1"/>
          <p:nvPr/>
        </p:nvSpPr>
        <p:spPr>
          <a:xfrm>
            <a:off x="685800" y="3026664"/>
            <a:ext cx="5532120" cy="365760"/>
          </a:xfrm>
          <a:prstGeom prst="rect">
            <a:avLst/>
          </a:prstGeom>
          <a:noFill/>
        </p:spPr>
        <p:txBody>
          <a:bodyPr wrap="square" lIns="0" rIns="0" tIns="0" bIns="0" anchor="t">
            <a:spAutoFit/>
          </a:bodyPr>
          <a:lstStyle/>
          <a:p>
            <a:pPr algn="l">
              <a:lnSpc>
                <a:spcPct val="115000"/>
              </a:lnSpc>
              <a:spcAft>
                <a:spcPts val="0"/>
              </a:spcAft>
            </a:pPr>
            <a:r>
              <a:rPr sz="1250" b="1" i="0">
                <a:solidFill>
                  <a:srgbClr val="5AA0E0"/>
                </a:solidFill>
                <a:latin typeface="Calibri"/>
              </a:rPr>
              <a:t>Specifically, from you</a:t>
            </a:r>
          </a:p>
        </p:txBody>
      </p:sp>
      <p:sp>
        <p:nvSpPr>
          <p:cNvPr id="8" name="Rectangle 7"/>
          <p:cNvSpPr/>
          <p:nvPr/>
        </p:nvSpPr>
        <p:spPr>
          <a:xfrm>
            <a:off x="685800" y="3470148"/>
            <a:ext cx="77724" cy="77724"/>
          </a:xfrm>
          <a:prstGeom prst="rect">
            <a:avLst/>
          </a:prstGeom>
          <a:solidFill>
            <a:srgbClr val="4FB4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3392424"/>
            <a:ext cx="5257800" cy="365760"/>
          </a:xfrm>
          <a:prstGeom prst="rect">
            <a:avLst/>
          </a:prstGeom>
          <a:noFill/>
        </p:spPr>
        <p:txBody>
          <a:bodyPr wrap="square" lIns="0" rIns="0" tIns="0" bIns="0" anchor="t">
            <a:spAutoFit/>
          </a:bodyPr>
          <a:lstStyle/>
          <a:p>
            <a:pPr algn="l">
              <a:lnSpc>
                <a:spcPct val="115000"/>
              </a:lnSpc>
              <a:spcAft>
                <a:spcPts val="100"/>
              </a:spcAft>
            </a:pPr>
            <a:r>
              <a:rPr sz="1200" b="0" i="0">
                <a:solidFill>
                  <a:srgbClr val="E8ECF2"/>
                </a:solidFill>
                <a:latin typeface="Calibri"/>
              </a:rPr>
              <a:t>A named engineering contact who owns the integration</a:t>
            </a:r>
          </a:p>
        </p:txBody>
      </p:sp>
      <p:sp>
        <p:nvSpPr>
          <p:cNvPr id="10" name="Rectangle 9"/>
          <p:cNvSpPr/>
          <p:nvPr/>
        </p:nvSpPr>
        <p:spPr>
          <a:xfrm>
            <a:off x="685800" y="3927348"/>
            <a:ext cx="77724" cy="77724"/>
          </a:xfrm>
          <a:prstGeom prst="rect">
            <a:avLst/>
          </a:prstGeom>
          <a:solidFill>
            <a:srgbClr val="4FB4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849624"/>
            <a:ext cx="5257800" cy="365760"/>
          </a:xfrm>
          <a:prstGeom prst="rect">
            <a:avLst/>
          </a:prstGeom>
          <a:noFill/>
        </p:spPr>
        <p:txBody>
          <a:bodyPr wrap="square" lIns="0" rIns="0" tIns="0" bIns="0" anchor="t">
            <a:spAutoFit/>
          </a:bodyPr>
          <a:lstStyle/>
          <a:p>
            <a:pPr algn="l">
              <a:lnSpc>
                <a:spcPct val="115000"/>
              </a:lnSpc>
              <a:spcAft>
                <a:spcPts val="100"/>
              </a:spcAft>
            </a:pPr>
            <a:r>
              <a:rPr sz="1200" b="0" i="0">
                <a:solidFill>
                  <a:srgbClr val="E8ECF2"/>
                </a:solidFill>
                <a:latin typeface="Calibri"/>
              </a:rPr>
              <a:t>A workload you are willing to put on it, and its accurate registration details</a:t>
            </a:r>
          </a:p>
        </p:txBody>
      </p:sp>
      <p:sp>
        <p:nvSpPr>
          <p:cNvPr id="12" name="Rectangle 11"/>
          <p:cNvSpPr/>
          <p:nvPr/>
        </p:nvSpPr>
        <p:spPr>
          <a:xfrm>
            <a:off x="685800" y="4384548"/>
            <a:ext cx="77724" cy="77724"/>
          </a:xfrm>
          <a:prstGeom prst="rect">
            <a:avLst/>
          </a:prstGeom>
          <a:solidFill>
            <a:srgbClr val="4FB4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306824"/>
            <a:ext cx="5257800" cy="365760"/>
          </a:xfrm>
          <a:prstGeom prst="rect">
            <a:avLst/>
          </a:prstGeom>
          <a:noFill/>
        </p:spPr>
        <p:txBody>
          <a:bodyPr wrap="square" lIns="0" rIns="0" tIns="0" bIns="0" anchor="t">
            <a:spAutoFit/>
          </a:bodyPr>
          <a:lstStyle/>
          <a:p>
            <a:pPr algn="l">
              <a:lnSpc>
                <a:spcPct val="115000"/>
              </a:lnSpc>
              <a:spcAft>
                <a:spcPts val="100"/>
              </a:spcAft>
            </a:pPr>
            <a:r>
              <a:rPr sz="1200" b="0" i="0">
                <a:solidFill>
                  <a:srgbClr val="E8ECF2"/>
                </a:solidFill>
                <a:latin typeface="Calibri"/>
              </a:rPr>
              <a:t>A security review of the connector artifact on your side, on your timeline</a:t>
            </a:r>
          </a:p>
        </p:txBody>
      </p:sp>
      <p:sp>
        <p:nvSpPr>
          <p:cNvPr id="14" name="Rectangle 13"/>
          <p:cNvSpPr/>
          <p:nvPr/>
        </p:nvSpPr>
        <p:spPr>
          <a:xfrm>
            <a:off x="685800" y="4841748"/>
            <a:ext cx="77724" cy="77724"/>
          </a:xfrm>
          <a:prstGeom prst="rect">
            <a:avLst/>
          </a:prstGeom>
          <a:solidFill>
            <a:srgbClr val="4FB4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764024"/>
            <a:ext cx="5257800" cy="365760"/>
          </a:xfrm>
          <a:prstGeom prst="rect">
            <a:avLst/>
          </a:prstGeom>
          <a:noFill/>
        </p:spPr>
        <p:txBody>
          <a:bodyPr wrap="square" lIns="0" rIns="0" tIns="0" bIns="0" anchor="t">
            <a:spAutoFit/>
          </a:bodyPr>
          <a:lstStyle/>
          <a:p>
            <a:pPr algn="l">
              <a:lnSpc>
                <a:spcPct val="115000"/>
              </a:lnSpc>
              <a:spcAft>
                <a:spcPts val="100"/>
              </a:spcAft>
            </a:pPr>
            <a:r>
              <a:rPr sz="1200" b="0" i="0">
                <a:solidFill>
                  <a:srgbClr val="E8ECF2"/>
                </a:solidFill>
                <a:latin typeface="Calibri"/>
              </a:rPr>
              <a:t>The observe-mode review, once there is something to review</a:t>
            </a:r>
          </a:p>
        </p:txBody>
      </p:sp>
      <p:sp>
        <p:nvSpPr>
          <p:cNvPr id="16" name="TextBox 15"/>
          <p:cNvSpPr txBox="1"/>
          <p:nvPr/>
        </p:nvSpPr>
        <p:spPr>
          <a:xfrm>
            <a:off x="6428232" y="3026664"/>
            <a:ext cx="5074920" cy="365760"/>
          </a:xfrm>
          <a:prstGeom prst="rect">
            <a:avLst/>
          </a:prstGeom>
          <a:noFill/>
        </p:spPr>
        <p:txBody>
          <a:bodyPr wrap="square" lIns="0" rIns="0" tIns="0" bIns="0" anchor="t">
            <a:spAutoFit/>
          </a:bodyPr>
          <a:lstStyle/>
          <a:p>
            <a:pPr algn="l">
              <a:lnSpc>
                <a:spcPct val="115000"/>
              </a:lnSpc>
              <a:spcAft>
                <a:spcPts val="0"/>
              </a:spcAft>
            </a:pPr>
            <a:r>
              <a:rPr sz="1250" b="1" i="0">
                <a:solidFill>
                  <a:srgbClr val="98A4B3"/>
                </a:solidFill>
                <a:latin typeface="Calibri"/>
              </a:rPr>
              <a:t>What you are not agreeing to</a:t>
            </a:r>
          </a:p>
        </p:txBody>
      </p:sp>
      <p:sp>
        <p:nvSpPr>
          <p:cNvPr id="17" name="Rectangle 16"/>
          <p:cNvSpPr/>
          <p:nvPr/>
        </p:nvSpPr>
        <p:spPr>
          <a:xfrm>
            <a:off x="6428232" y="3470148"/>
            <a:ext cx="77724" cy="77724"/>
          </a:xfrm>
          <a:prstGeom prst="rect">
            <a:avLst/>
          </a:prstGeom>
          <a:solidFill>
            <a:srgbClr val="98A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02552" y="3392424"/>
            <a:ext cx="4800600" cy="365760"/>
          </a:xfrm>
          <a:prstGeom prst="rect">
            <a:avLst/>
          </a:prstGeom>
          <a:noFill/>
        </p:spPr>
        <p:txBody>
          <a:bodyPr wrap="square" lIns="0" rIns="0" tIns="0" bIns="0" anchor="t">
            <a:spAutoFit/>
          </a:bodyPr>
          <a:lstStyle/>
          <a:p>
            <a:pPr algn="l">
              <a:lnSpc>
                <a:spcPct val="115000"/>
              </a:lnSpc>
              <a:spcAft>
                <a:spcPts val="100"/>
              </a:spcAft>
            </a:pPr>
            <a:r>
              <a:rPr sz="1200" b="0" i="0">
                <a:solidFill>
                  <a:srgbClr val="E8ECF2"/>
                </a:solidFill>
                <a:latin typeface="Calibri"/>
              </a:rPr>
              <a:t>Enforcement, on any timeline — that is a separate decision you make later</a:t>
            </a:r>
          </a:p>
        </p:txBody>
      </p:sp>
      <p:sp>
        <p:nvSpPr>
          <p:cNvPr id="19" name="Rectangle 18"/>
          <p:cNvSpPr/>
          <p:nvPr/>
        </p:nvSpPr>
        <p:spPr>
          <a:xfrm>
            <a:off x="6428232" y="3927348"/>
            <a:ext cx="77724" cy="77724"/>
          </a:xfrm>
          <a:prstGeom prst="rect">
            <a:avLst/>
          </a:prstGeom>
          <a:solidFill>
            <a:srgbClr val="98A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02552" y="3849624"/>
            <a:ext cx="4800600" cy="365760"/>
          </a:xfrm>
          <a:prstGeom prst="rect">
            <a:avLst/>
          </a:prstGeom>
          <a:noFill/>
        </p:spPr>
        <p:txBody>
          <a:bodyPr wrap="square" lIns="0" rIns="0" tIns="0" bIns="0" anchor="t">
            <a:spAutoFit/>
          </a:bodyPr>
          <a:lstStyle/>
          <a:p>
            <a:pPr algn="l">
              <a:lnSpc>
                <a:spcPct val="115000"/>
              </a:lnSpc>
              <a:spcAft>
                <a:spcPts val="100"/>
              </a:spcAft>
            </a:pPr>
            <a:r>
              <a:rPr sz="1200" b="0" i="0">
                <a:solidFill>
                  <a:srgbClr val="E8ECF2"/>
                </a:solidFill>
                <a:latin typeface="Calibri"/>
              </a:rPr>
              <a:t>Handing over credentials, gateway administration, or configuration</a:t>
            </a:r>
          </a:p>
        </p:txBody>
      </p:sp>
      <p:sp>
        <p:nvSpPr>
          <p:cNvPr id="21" name="Rectangle 20"/>
          <p:cNvSpPr/>
          <p:nvPr/>
        </p:nvSpPr>
        <p:spPr>
          <a:xfrm>
            <a:off x="6428232" y="4384548"/>
            <a:ext cx="77724" cy="77724"/>
          </a:xfrm>
          <a:prstGeom prst="rect">
            <a:avLst/>
          </a:prstGeom>
          <a:solidFill>
            <a:srgbClr val="98A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02552" y="4306824"/>
            <a:ext cx="4800600" cy="365760"/>
          </a:xfrm>
          <a:prstGeom prst="rect">
            <a:avLst/>
          </a:prstGeom>
          <a:noFill/>
        </p:spPr>
        <p:txBody>
          <a:bodyPr wrap="square" lIns="0" rIns="0" tIns="0" bIns="0" anchor="t">
            <a:spAutoFit/>
          </a:bodyPr>
          <a:lstStyle/>
          <a:p>
            <a:pPr algn="l">
              <a:lnSpc>
                <a:spcPct val="115000"/>
              </a:lnSpc>
              <a:spcAft>
                <a:spcPts val="100"/>
              </a:spcAft>
            </a:pPr>
            <a:r>
              <a:rPr sz="1200" b="0" i="0">
                <a:solidFill>
                  <a:srgbClr val="E8ECF2"/>
                </a:solidFill>
                <a:latin typeface="Calibri"/>
              </a:rPr>
              <a:t>A migration off your current gateway, now or ever</a:t>
            </a:r>
          </a:p>
        </p:txBody>
      </p:sp>
      <p:sp>
        <p:nvSpPr>
          <p:cNvPr id="23" name="Rectangle 22"/>
          <p:cNvSpPr/>
          <p:nvPr/>
        </p:nvSpPr>
        <p:spPr>
          <a:xfrm>
            <a:off x="6428232" y="4841748"/>
            <a:ext cx="77724" cy="77724"/>
          </a:xfrm>
          <a:prstGeom prst="rect">
            <a:avLst/>
          </a:prstGeom>
          <a:solidFill>
            <a:srgbClr val="98A4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02552" y="4764024"/>
            <a:ext cx="4800600" cy="365760"/>
          </a:xfrm>
          <a:prstGeom prst="rect">
            <a:avLst/>
          </a:prstGeom>
          <a:noFill/>
        </p:spPr>
        <p:txBody>
          <a:bodyPr wrap="square" lIns="0" rIns="0" tIns="0" bIns="0" anchor="t">
            <a:spAutoFit/>
          </a:bodyPr>
          <a:lstStyle/>
          <a:p>
            <a:pPr algn="l">
              <a:lnSpc>
                <a:spcPct val="115000"/>
              </a:lnSpc>
              <a:spcAft>
                <a:spcPts val="100"/>
              </a:spcAft>
            </a:pPr>
            <a:r>
              <a:rPr sz="1200" b="0" i="0">
                <a:solidFill>
                  <a:srgbClr val="E8ECF2"/>
                </a:solidFill>
                <a:latin typeface="Calibri"/>
              </a:rPr>
              <a:t>A delivery date — none exists in the plan yet</a:t>
            </a:r>
          </a:p>
        </p:txBody>
      </p:sp>
      <p:sp>
        <p:nvSpPr>
          <p:cNvPr id="25" name="Rounded Rectangle 24"/>
          <p:cNvSpPr/>
          <p:nvPr/>
        </p:nvSpPr>
        <p:spPr>
          <a:xfrm>
            <a:off x="685800" y="5239512"/>
            <a:ext cx="10820095" cy="822960"/>
          </a:xfrm>
          <a:prstGeom prst="roundRect">
            <a:avLst>
              <a:gd name="adj" fmla="val 4000"/>
            </a:avLst>
          </a:prstGeom>
          <a:solidFill>
            <a:srgbClr val="161C23"/>
          </a:solidFill>
          <a:ln w="12700">
            <a:solidFill>
              <a:srgbClr val="4FB4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349240"/>
            <a:ext cx="10271455" cy="640080"/>
          </a:xfrm>
          <a:prstGeom prst="rect">
            <a:avLst/>
          </a:prstGeom>
          <a:noFill/>
        </p:spPr>
        <p:txBody>
          <a:bodyPr wrap="square" lIns="0" rIns="0" tIns="0" bIns="0" anchor="t">
            <a:spAutoFit/>
          </a:bodyPr>
          <a:lstStyle/>
          <a:p>
            <a:pPr algn="l">
              <a:lnSpc>
                <a:spcPct val="115000"/>
              </a:lnSpc>
              <a:spcAft>
                <a:spcPts val="300"/>
              </a:spcAft>
            </a:pPr>
            <a:r>
              <a:rPr sz="1150" b="1" i="0">
                <a:solidFill>
                  <a:srgbClr val="4FB477"/>
                </a:solidFill>
                <a:latin typeface="Calibri"/>
              </a:rPr>
              <a:t>And how you get out</a:t>
            </a:r>
          </a:p>
          <a:p>
            <a:pPr algn="l">
              <a:lnSpc>
                <a:spcPct val="118000"/>
              </a:lnSpc>
              <a:spcAft>
                <a:spcPts val="0"/>
              </a:spcAft>
            </a:pPr>
            <a:r>
              <a:rPr sz="1100" b="0" i="0">
                <a:solidFill>
                  <a:srgbClr val="E8ECF2"/>
                </a:solidFill>
                <a:latin typeface="Calibri"/>
              </a:rPr>
              <a:t>Removing the connector is a configuration change and a deploy you make yourself — nothing on our side has to agree to it, and withdrawing is a finding we record, not a breach. If you would rather not commit today, the useful outcome is the list of what would have to be true first: that becomes a delivery requirement rather than an objection we work around.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2788920"/>
            <a:ext cx="10820095" cy="1463040"/>
          </a:xfrm>
          <a:prstGeom prst="rect">
            <a:avLst/>
          </a:prstGeom>
          <a:noFill/>
        </p:spPr>
        <p:txBody>
          <a:bodyPr wrap="square" lIns="0" rIns="0" tIns="0" bIns="0" anchor="t">
            <a:spAutoFit/>
          </a:bodyPr>
          <a:lstStyle/>
          <a:p>
            <a:pPr algn="l">
              <a:lnSpc>
                <a:spcPct val="115000"/>
              </a:lnSpc>
              <a:spcAft>
                <a:spcPts val="1000"/>
              </a:spcAft>
            </a:pPr>
            <a:r>
              <a:rPr sz="4400" b="1" i="0">
                <a:solidFill>
                  <a:srgbClr val="E8ECF2"/>
                </a:solidFill>
                <a:latin typeface="Calibri"/>
              </a:rPr>
              <a:t>Appendix</a:t>
            </a:r>
          </a:p>
          <a:p>
            <a:pPr algn="l">
              <a:lnSpc>
                <a:spcPct val="115000"/>
              </a:lnSpc>
              <a:spcAft>
                <a:spcPts val="0"/>
              </a:spcAft>
            </a:pPr>
            <a:r>
              <a:rPr sz="1500" b="0" i="0">
                <a:solidFill>
                  <a:srgbClr val="98A4B3"/>
                </a:solidFill>
                <a:latin typeface="Calibri"/>
              </a:rPr>
              <a:t>Reference material. Use only if raised.</a:t>
            </a:r>
          </a:p>
        </p:txBody>
      </p:sp>
      <p:sp>
        <p:nvSpPr>
          <p:cNvPr id="3" name="Rectangle 2"/>
          <p:cNvSpPr/>
          <p:nvPr/>
        </p:nvSpPr>
        <p:spPr>
          <a:xfrm>
            <a:off x="685800" y="260604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892040"/>
            <a:ext cx="10820095" cy="457200"/>
          </a:xfrm>
          <a:prstGeom prst="rect">
            <a:avLst/>
          </a:prstGeom>
          <a:noFill/>
        </p:spPr>
        <p:txBody>
          <a:bodyPr wrap="square" lIns="0" rIns="0" tIns="0" bIns="0" anchor="t">
            <a:spAutoFit/>
          </a:bodyPr>
          <a:lstStyle/>
          <a:p>
            <a:pPr algn="l">
              <a:lnSpc>
                <a:spcPct val="115000"/>
              </a:lnSpc>
              <a:spcAft>
                <a:spcPts val="0"/>
              </a:spcAft>
            </a:pPr>
            <a:r>
              <a:rPr sz="1150" b="0" i="0">
                <a:solidFill>
                  <a:srgbClr val="98A4B3"/>
                </a:solidFill>
                <a:latin typeface="Calibri"/>
              </a:rPr>
              <a:t>The three deployment modes  ·  Vocabulary  ·  The questions teams ask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Appendix — The three modes, and why you are on the first</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A choice about ownership and residency. Not a maturity ladder, and not equally available.</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ounded Rectangle 5"/>
          <p:cNvSpPr/>
          <p:nvPr/>
        </p:nvSpPr>
        <p:spPr>
          <a:xfrm>
            <a:off x="685800" y="1828800"/>
            <a:ext cx="3465576" cy="37033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828800"/>
            <a:ext cx="3465576" cy="475488"/>
          </a:xfrm>
          <a:prstGeom prst="roundRect">
            <a:avLst>
              <a:gd name="adj" fmla="val 8000"/>
            </a:avLst>
          </a:prstGeom>
          <a:solidFill>
            <a:srgbClr val="2B4A69"/>
          </a:solidFill>
          <a:ln w="12700">
            <a:solidFill>
              <a:srgbClr val="5AA0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Mode A — Remote Evaluation</a:t>
            </a:r>
          </a:p>
        </p:txBody>
      </p:sp>
      <p:sp>
        <p:nvSpPr>
          <p:cNvPr id="8" name="TextBox 7"/>
          <p:cNvSpPr txBox="1"/>
          <p:nvPr/>
        </p:nvSpPr>
        <p:spPr>
          <a:xfrm>
            <a:off x="886968" y="2441448"/>
            <a:ext cx="3063240" cy="2926080"/>
          </a:xfrm>
          <a:prstGeom prst="rect">
            <a:avLst/>
          </a:prstGeom>
          <a:noFill/>
        </p:spPr>
        <p:txBody>
          <a:bodyPr wrap="square" lIns="0" rIns="0" tIns="0" bIns="0" anchor="t">
            <a:spAutoFit/>
          </a:bodyPr>
          <a:lstStyle/>
          <a:p>
            <a:pPr algn="l">
              <a:lnSpc>
                <a:spcPct val="120000"/>
              </a:lnSpc>
              <a:spcAft>
                <a:spcPts val="1000"/>
              </a:spcAft>
            </a:pPr>
            <a:r>
              <a:rPr sz="1400" b="1" i="0">
                <a:solidFill>
                  <a:srgbClr val="E8ECF2"/>
                </a:solidFill>
                <a:latin typeface="Calibri"/>
              </a:rPr>
              <a:t>You run the gateway.
We run the guardrail runtime.</a:t>
            </a:r>
          </a:p>
          <a:p>
            <a:pPr algn="l">
              <a:lnSpc>
                <a:spcPct val="115000"/>
              </a:lnSpc>
              <a:spcAft>
                <a:spcPts val="1000"/>
              </a:spcAft>
            </a:pPr>
            <a:r>
              <a:rPr sz="1150" b="0" i="0">
                <a:solidFill>
                  <a:srgbClr val="98A4B3"/>
                </a:solidFill>
                <a:latin typeface="Calibri"/>
              </a:rPr>
              <a:t>Team-owned LiteLLM calls our hosted Evaluation API before and after each model invocation.</a:t>
            </a:r>
          </a:p>
          <a:p>
            <a:pPr algn="l">
              <a:lnSpc>
                <a:spcPct val="115000"/>
              </a:lnSpc>
              <a:spcAft>
                <a:spcPts val="300"/>
              </a:spcAft>
            </a:pPr>
            <a:r>
              <a:rPr sz="1000" b="1" i="0">
                <a:solidFill>
                  <a:srgbClr val="5AA0E0"/>
                </a:solidFill>
                <a:latin typeface="Calibri"/>
              </a:rPr>
              <a:t>Best fit</a:t>
            </a:r>
          </a:p>
          <a:p>
            <a:pPr algn="l">
              <a:lnSpc>
                <a:spcPct val="115000"/>
              </a:lnSpc>
              <a:spcAft>
                <a:spcPts val="0"/>
              </a:spcAft>
            </a:pPr>
            <a:r>
              <a:rPr sz="1150" b="0" i="0">
                <a:solidFill>
                  <a:srgbClr val="98A4B3"/>
                </a:solidFill>
                <a:latin typeface="Calibri"/>
              </a:rPr>
              <a:t>Already operate a gateway; want to offload guardrail operations.</a:t>
            </a:r>
          </a:p>
        </p:txBody>
      </p:sp>
      <p:sp>
        <p:nvSpPr>
          <p:cNvPr id="9" name="Rounded Rectangle 8"/>
          <p:cNvSpPr/>
          <p:nvPr/>
        </p:nvSpPr>
        <p:spPr>
          <a:xfrm>
            <a:off x="4352544" y="1828800"/>
            <a:ext cx="3465576" cy="37033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52544" y="1828800"/>
            <a:ext cx="3465576" cy="475488"/>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Mode B — Guarded Gateway</a:t>
            </a:r>
          </a:p>
        </p:txBody>
      </p:sp>
      <p:sp>
        <p:nvSpPr>
          <p:cNvPr id="11" name="TextBox 10"/>
          <p:cNvSpPr txBox="1"/>
          <p:nvPr/>
        </p:nvSpPr>
        <p:spPr>
          <a:xfrm>
            <a:off x="4553712" y="2441448"/>
            <a:ext cx="3063240" cy="2926080"/>
          </a:xfrm>
          <a:prstGeom prst="rect">
            <a:avLst/>
          </a:prstGeom>
          <a:noFill/>
        </p:spPr>
        <p:txBody>
          <a:bodyPr wrap="square" lIns="0" rIns="0" tIns="0" bIns="0" anchor="t">
            <a:spAutoFit/>
          </a:bodyPr>
          <a:lstStyle/>
          <a:p>
            <a:pPr algn="l">
              <a:lnSpc>
                <a:spcPct val="120000"/>
              </a:lnSpc>
              <a:spcAft>
                <a:spcPts val="1000"/>
              </a:spcAft>
            </a:pPr>
            <a:r>
              <a:rPr sz="1400" b="1" i="0">
                <a:solidFill>
                  <a:srgbClr val="E8ECF2"/>
                </a:solidFill>
                <a:latin typeface="Calibri"/>
              </a:rPr>
              <a:t>We run the gateway
and the guardrail runtime.</a:t>
            </a:r>
          </a:p>
          <a:p>
            <a:pPr algn="l">
              <a:lnSpc>
                <a:spcPct val="115000"/>
              </a:lnSpc>
              <a:spcAft>
                <a:spcPts val="1000"/>
              </a:spcAft>
            </a:pPr>
            <a:r>
              <a:rPr sz="1150" b="0" i="0">
                <a:solidFill>
                  <a:srgbClr val="98A4B3"/>
                </a:solidFill>
                <a:latin typeface="Calibri"/>
              </a:rPr>
              <a:t>One provider-operated endpoint: guardrails, routing, invocation, and audit inside our boundary.</a:t>
            </a:r>
          </a:p>
          <a:p>
            <a:pPr algn="l">
              <a:lnSpc>
                <a:spcPct val="115000"/>
              </a:lnSpc>
              <a:spcAft>
                <a:spcPts val="300"/>
              </a:spcAft>
            </a:pPr>
            <a:r>
              <a:rPr sz="1000" b="1" i="0">
                <a:solidFill>
                  <a:srgbClr val="5AA0E0"/>
                </a:solidFill>
                <a:latin typeface="Calibri"/>
              </a:rPr>
              <a:t>Best fit</a:t>
            </a:r>
          </a:p>
          <a:p>
            <a:pPr algn="l">
              <a:lnSpc>
                <a:spcPct val="115000"/>
              </a:lnSpc>
              <a:spcAft>
                <a:spcPts val="0"/>
              </a:spcAft>
            </a:pPr>
            <a:r>
              <a:rPr sz="1150" b="0" i="0">
                <a:solidFill>
                  <a:srgbClr val="98A4B3"/>
                </a:solidFill>
                <a:latin typeface="Calibri"/>
              </a:rPr>
              <a:t>No gateway of your own; want a managed, OpenAI-compatible path.</a:t>
            </a:r>
          </a:p>
        </p:txBody>
      </p:sp>
      <p:sp>
        <p:nvSpPr>
          <p:cNvPr id="12" name="Rounded Rectangle 11"/>
          <p:cNvSpPr/>
          <p:nvPr/>
        </p:nvSpPr>
        <p:spPr>
          <a:xfrm>
            <a:off x="8019288" y="1828800"/>
            <a:ext cx="3465576" cy="370332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19288" y="1828800"/>
            <a:ext cx="3465576" cy="475488"/>
          </a:xfrm>
          <a:prstGeom prst="roundRect">
            <a:avLst>
              <a:gd name="adj" fmla="val 8000"/>
            </a:avLst>
          </a:prstGeom>
          <a:solidFill>
            <a:srgbClr val="1D242C"/>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lnSpc>
                <a:spcPct val="115000"/>
              </a:lnSpc>
              <a:spcAft>
                <a:spcPts val="200"/>
              </a:spcAft>
            </a:pPr>
            <a:r>
              <a:rPr sz="1300" b="1" i="0">
                <a:solidFill>
                  <a:srgbClr val="E8ECF2"/>
                </a:solidFill>
                <a:latin typeface="Calibri"/>
              </a:rPr>
              <a:t>Mode C — Customer-Managed Runtime</a:t>
            </a:r>
          </a:p>
        </p:txBody>
      </p:sp>
      <p:sp>
        <p:nvSpPr>
          <p:cNvPr id="14" name="TextBox 13"/>
          <p:cNvSpPr txBox="1"/>
          <p:nvPr/>
        </p:nvSpPr>
        <p:spPr>
          <a:xfrm>
            <a:off x="8220456" y="2441448"/>
            <a:ext cx="3063240" cy="2926080"/>
          </a:xfrm>
          <a:prstGeom prst="rect">
            <a:avLst/>
          </a:prstGeom>
          <a:noFill/>
        </p:spPr>
        <p:txBody>
          <a:bodyPr wrap="square" lIns="0" rIns="0" tIns="0" bIns="0" anchor="t">
            <a:spAutoFit/>
          </a:bodyPr>
          <a:lstStyle/>
          <a:p>
            <a:pPr algn="l">
              <a:lnSpc>
                <a:spcPct val="120000"/>
              </a:lnSpc>
              <a:spcAft>
                <a:spcPts val="1000"/>
              </a:spcAft>
            </a:pPr>
            <a:r>
              <a:rPr sz="1400" b="1" i="0">
                <a:solidFill>
                  <a:srgbClr val="E8ECF2"/>
                </a:solidFill>
                <a:latin typeface="Calibri"/>
              </a:rPr>
              <a:t>You run both, in your
own AWS account.</a:t>
            </a:r>
          </a:p>
          <a:p>
            <a:pPr algn="l">
              <a:lnSpc>
                <a:spcPct val="115000"/>
              </a:lnSpc>
              <a:spcAft>
                <a:spcPts val="1000"/>
              </a:spcAft>
            </a:pPr>
            <a:r>
              <a:rPr sz="1150" b="0" i="0">
                <a:solidFill>
                  <a:srgbClr val="98A4B3"/>
                </a:solidFill>
                <a:latin typeface="Calibri"/>
              </a:rPr>
              <a:t>The same runtime — policy cache, adapters, local audit — deployed inside your account.</a:t>
            </a:r>
          </a:p>
          <a:p>
            <a:pPr algn="l">
              <a:lnSpc>
                <a:spcPct val="115000"/>
              </a:lnSpc>
              <a:spcAft>
                <a:spcPts val="300"/>
              </a:spcAft>
            </a:pPr>
            <a:r>
              <a:rPr sz="1000" b="1" i="0">
                <a:solidFill>
                  <a:srgbClr val="5AA0E0"/>
                </a:solidFill>
                <a:latin typeface="Calibri"/>
              </a:rPr>
              <a:t>Best fit</a:t>
            </a:r>
          </a:p>
          <a:p>
            <a:pPr algn="l">
              <a:lnSpc>
                <a:spcPct val="115000"/>
              </a:lnSpc>
              <a:spcAft>
                <a:spcPts val="0"/>
              </a:spcAft>
            </a:pPr>
            <a:r>
              <a:rPr sz="1150" b="0" i="0">
                <a:solidFill>
                  <a:srgbClr val="98A4B3"/>
                </a:solidFill>
                <a:latin typeface="Calibri"/>
              </a:rPr>
              <a:t>Regulated, residency-bound, high-volume, or air-gapped workloads.</a:t>
            </a:r>
          </a:p>
        </p:txBody>
      </p:sp>
      <p:sp>
        <p:nvSpPr>
          <p:cNvPr id="15" name="TextBox 14"/>
          <p:cNvSpPr txBox="1"/>
          <p:nvPr/>
        </p:nvSpPr>
        <p:spPr>
          <a:xfrm>
            <a:off x="685800" y="5742432"/>
            <a:ext cx="10820095" cy="457200"/>
          </a:xfrm>
          <a:prstGeom prst="rect">
            <a:avLst/>
          </a:prstGeom>
          <a:noFill/>
        </p:spPr>
        <p:txBody>
          <a:bodyPr wrap="square" lIns="0" rIns="0" tIns="0" bIns="0" anchor="t">
            <a:spAutoFit/>
          </a:bodyPr>
          <a:lstStyle/>
          <a:p>
            <a:pPr algn="l">
              <a:lnSpc>
                <a:spcPct val="115000"/>
              </a:lnSpc>
              <a:spcAft>
                <a:spcPts val="0"/>
              </a:spcAft>
            </a:pPr>
            <a:r>
              <a:rPr sz="1150" b="0" i="0">
                <a:solidFill>
                  <a:srgbClr val="98A4B3"/>
                </a:solidFill>
                <a:latin typeface="Calibri"/>
              </a:rPr>
              <a:t>Remote Evaluation is the only mode delivered in the first two phases. The guarded gateway is Phase 3 and the customer-managed runtime is Phase 4 — so if your workload eventually needs in-account evaluation, the pilot does not block that, but nothing available now provides 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Appendix — The vocabulary</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Six terms. Worth having straight before the integration conversation.</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sp>
        <p:nvSpPr>
          <p:cNvPr id="6" name="Rounded Rectangle 5"/>
          <p:cNvSpPr/>
          <p:nvPr/>
        </p:nvSpPr>
        <p:spPr>
          <a:xfrm>
            <a:off x="685800" y="1874519"/>
            <a:ext cx="5318607" cy="11430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2039112"/>
            <a:ext cx="4806543" cy="914400"/>
          </a:xfrm>
          <a:prstGeom prst="rect">
            <a:avLst/>
          </a:prstGeom>
          <a:noFill/>
        </p:spPr>
        <p:txBody>
          <a:bodyPr wrap="square" lIns="0" rIns="0" tIns="0" bIns="0" anchor="t">
            <a:spAutoFit/>
          </a:bodyPr>
          <a:lstStyle/>
          <a:p>
            <a:pPr algn="l">
              <a:lnSpc>
                <a:spcPct val="115000"/>
              </a:lnSpc>
              <a:spcAft>
                <a:spcPts val="500"/>
              </a:spcAft>
            </a:pPr>
            <a:r>
              <a:rPr sz="1400" b="1" i="0">
                <a:solidFill>
                  <a:srgbClr val="5AA0E0"/>
                </a:solidFill>
                <a:latin typeface="Calibri"/>
              </a:rPr>
              <a:t>Tenant</a:t>
            </a:r>
          </a:p>
          <a:p>
            <a:pPr algn="l">
              <a:lnSpc>
                <a:spcPct val="120000"/>
              </a:lnSpc>
              <a:spcAft>
                <a:spcPts val="0"/>
              </a:spcAft>
            </a:pPr>
            <a:r>
              <a:rPr sz="1150" b="0" i="0">
                <a:solidFill>
                  <a:srgbClr val="98A4B3"/>
                </a:solidFill>
                <a:latin typeface="Calibri"/>
              </a:rPr>
              <a:t>An organization, business unit, or consuming team. Carries ownership, AWS account, data classification, allowed Regions, retention configuration, and deployment mode.</a:t>
            </a:r>
          </a:p>
        </p:txBody>
      </p:sp>
      <p:sp>
        <p:nvSpPr>
          <p:cNvPr id="8" name="Rounded Rectangle 7"/>
          <p:cNvSpPr/>
          <p:nvPr/>
        </p:nvSpPr>
        <p:spPr>
          <a:xfrm>
            <a:off x="6187287" y="1874519"/>
            <a:ext cx="5318607" cy="11430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3319" y="2039112"/>
            <a:ext cx="4806543" cy="914400"/>
          </a:xfrm>
          <a:prstGeom prst="rect">
            <a:avLst/>
          </a:prstGeom>
          <a:noFill/>
        </p:spPr>
        <p:txBody>
          <a:bodyPr wrap="square" lIns="0" rIns="0" tIns="0" bIns="0" anchor="t">
            <a:spAutoFit/>
          </a:bodyPr>
          <a:lstStyle/>
          <a:p>
            <a:pPr algn="l">
              <a:lnSpc>
                <a:spcPct val="115000"/>
              </a:lnSpc>
              <a:spcAft>
                <a:spcPts val="500"/>
              </a:spcAft>
            </a:pPr>
            <a:r>
              <a:rPr sz="1400" b="1" i="0">
                <a:solidFill>
                  <a:srgbClr val="5AA0E0"/>
                </a:solidFill>
                <a:latin typeface="Calibri"/>
              </a:rPr>
              <a:t>Workload</a:t>
            </a:r>
          </a:p>
          <a:p>
            <a:pPr algn="l">
              <a:lnSpc>
                <a:spcPct val="120000"/>
              </a:lnSpc>
              <a:spcAft>
                <a:spcPts val="0"/>
              </a:spcAft>
            </a:pPr>
            <a:r>
              <a:rPr sz="1150" b="0" i="0">
                <a:solidFill>
                  <a:srgbClr val="98A4B3"/>
                </a:solidFill>
                <a:latin typeface="Calibri"/>
              </a:rPr>
              <a:t>An application, assistant, agent, gateway, or inference service using guardrails. Carries owner, environment, risk classification, gateway type, assigned policy, and enforcement mode.</a:t>
            </a:r>
          </a:p>
        </p:txBody>
      </p:sp>
      <p:sp>
        <p:nvSpPr>
          <p:cNvPr id="10" name="Rounded Rectangle 9"/>
          <p:cNvSpPr/>
          <p:nvPr/>
        </p:nvSpPr>
        <p:spPr>
          <a:xfrm>
            <a:off x="685800" y="3172968"/>
            <a:ext cx="5318607" cy="11430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3337560"/>
            <a:ext cx="4806543" cy="914400"/>
          </a:xfrm>
          <a:prstGeom prst="rect">
            <a:avLst/>
          </a:prstGeom>
          <a:noFill/>
        </p:spPr>
        <p:txBody>
          <a:bodyPr wrap="square" lIns="0" rIns="0" tIns="0" bIns="0" anchor="t">
            <a:spAutoFit/>
          </a:bodyPr>
          <a:lstStyle/>
          <a:p>
            <a:pPr algn="l">
              <a:lnSpc>
                <a:spcPct val="115000"/>
              </a:lnSpc>
              <a:spcAft>
                <a:spcPts val="500"/>
              </a:spcAft>
            </a:pPr>
            <a:r>
              <a:rPr sz="1400" b="1" i="0">
                <a:solidFill>
                  <a:srgbClr val="5AA0E0"/>
                </a:solidFill>
                <a:latin typeface="Calibri"/>
              </a:rPr>
              <a:t>Policy</a:t>
            </a:r>
          </a:p>
          <a:p>
            <a:pPr algn="l">
              <a:lnSpc>
                <a:spcPct val="120000"/>
              </a:lnSpc>
              <a:spcAft>
                <a:spcPts val="0"/>
              </a:spcAft>
            </a:pPr>
            <a:r>
              <a:rPr sz="1150" b="0" i="0">
                <a:solidFill>
                  <a:srgbClr val="98A4B3"/>
                </a:solidFill>
                <a:latin typeface="Calibri"/>
              </a:rPr>
              <a:t>What must be evaluated and how violations are handled — versioned and immutable, independent of any gateway or provider.</a:t>
            </a:r>
          </a:p>
        </p:txBody>
      </p:sp>
      <p:sp>
        <p:nvSpPr>
          <p:cNvPr id="12" name="Rounded Rectangle 11"/>
          <p:cNvSpPr/>
          <p:nvPr/>
        </p:nvSpPr>
        <p:spPr>
          <a:xfrm>
            <a:off x="6187287" y="3172968"/>
            <a:ext cx="5318607" cy="11430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3319" y="3337560"/>
            <a:ext cx="4806543" cy="914400"/>
          </a:xfrm>
          <a:prstGeom prst="rect">
            <a:avLst/>
          </a:prstGeom>
          <a:noFill/>
        </p:spPr>
        <p:txBody>
          <a:bodyPr wrap="square" lIns="0" rIns="0" tIns="0" bIns="0" anchor="t">
            <a:spAutoFit/>
          </a:bodyPr>
          <a:lstStyle/>
          <a:p>
            <a:pPr algn="l">
              <a:lnSpc>
                <a:spcPct val="115000"/>
              </a:lnSpc>
              <a:spcAft>
                <a:spcPts val="500"/>
              </a:spcAft>
            </a:pPr>
            <a:r>
              <a:rPr sz="1400" b="1" i="0">
                <a:solidFill>
                  <a:srgbClr val="5AA0E0"/>
                </a:solidFill>
                <a:latin typeface="Calibri"/>
              </a:rPr>
              <a:t>Policy binding</a:t>
            </a:r>
          </a:p>
          <a:p>
            <a:pPr algn="l">
              <a:lnSpc>
                <a:spcPct val="120000"/>
              </a:lnSpc>
              <a:spcAft>
                <a:spcPts val="0"/>
              </a:spcAft>
            </a:pPr>
            <a:r>
              <a:rPr sz="1150" b="0" i="0">
                <a:solidFill>
                  <a:srgbClr val="98A4B3"/>
                </a:solidFill>
                <a:latin typeface="Calibri"/>
              </a:rPr>
              <a:t>The association between a workload and a specific policy version: observe or enforce mode, allowed overrides, effective date, rollback version.</a:t>
            </a:r>
          </a:p>
        </p:txBody>
      </p:sp>
      <p:sp>
        <p:nvSpPr>
          <p:cNvPr id="14" name="Rounded Rectangle 13"/>
          <p:cNvSpPr/>
          <p:nvPr/>
        </p:nvSpPr>
        <p:spPr>
          <a:xfrm>
            <a:off x="685800" y="4471416"/>
            <a:ext cx="5318607" cy="11430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4636007"/>
            <a:ext cx="4806543" cy="914400"/>
          </a:xfrm>
          <a:prstGeom prst="rect">
            <a:avLst/>
          </a:prstGeom>
          <a:noFill/>
        </p:spPr>
        <p:txBody>
          <a:bodyPr wrap="square" lIns="0" rIns="0" tIns="0" bIns="0" anchor="t">
            <a:spAutoFit/>
          </a:bodyPr>
          <a:lstStyle/>
          <a:p>
            <a:pPr algn="l">
              <a:lnSpc>
                <a:spcPct val="115000"/>
              </a:lnSpc>
              <a:spcAft>
                <a:spcPts val="500"/>
              </a:spcAft>
            </a:pPr>
            <a:r>
              <a:rPr sz="1400" b="1" i="0">
                <a:solidFill>
                  <a:srgbClr val="5AA0E0"/>
                </a:solidFill>
                <a:latin typeface="Calibri"/>
              </a:rPr>
              <a:t>Evaluation</a:t>
            </a:r>
          </a:p>
          <a:p>
            <a:pPr algn="l">
              <a:lnSpc>
                <a:spcPct val="120000"/>
              </a:lnSpc>
              <a:spcAft>
                <a:spcPts val="0"/>
              </a:spcAft>
            </a:pPr>
            <a:r>
              <a:rPr sz="1150" b="0" i="0">
                <a:solidFill>
                  <a:srgbClr val="98A4B3"/>
                </a:solidFill>
                <a:latin typeface="Calibri"/>
              </a:rPr>
              <a:t>A request to inspect content at a particular stage of an interaction.</a:t>
            </a:r>
          </a:p>
        </p:txBody>
      </p:sp>
      <p:sp>
        <p:nvSpPr>
          <p:cNvPr id="16" name="Rounded Rectangle 15"/>
          <p:cNvSpPr/>
          <p:nvPr/>
        </p:nvSpPr>
        <p:spPr>
          <a:xfrm>
            <a:off x="6187287" y="4471416"/>
            <a:ext cx="5318607" cy="1143000"/>
          </a:xfrm>
          <a:prstGeom prst="roundRect">
            <a:avLst>
              <a:gd name="adj" fmla="val 4000"/>
            </a:avLst>
          </a:prstGeom>
          <a:solidFill>
            <a:srgbClr val="161C23"/>
          </a:solidFill>
          <a:ln w="12700">
            <a:solidFill>
              <a:srgbClr val="2E39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3319" y="4636007"/>
            <a:ext cx="4806543" cy="914400"/>
          </a:xfrm>
          <a:prstGeom prst="rect">
            <a:avLst/>
          </a:prstGeom>
          <a:noFill/>
        </p:spPr>
        <p:txBody>
          <a:bodyPr wrap="square" lIns="0" rIns="0" tIns="0" bIns="0" anchor="t">
            <a:spAutoFit/>
          </a:bodyPr>
          <a:lstStyle/>
          <a:p>
            <a:pPr algn="l">
              <a:lnSpc>
                <a:spcPct val="115000"/>
              </a:lnSpc>
              <a:spcAft>
                <a:spcPts val="500"/>
              </a:spcAft>
            </a:pPr>
            <a:r>
              <a:rPr sz="1400" b="1" i="0">
                <a:solidFill>
                  <a:srgbClr val="5AA0E0"/>
                </a:solidFill>
                <a:latin typeface="Calibri"/>
              </a:rPr>
              <a:t>Decision</a:t>
            </a:r>
          </a:p>
          <a:p>
            <a:pPr algn="l">
              <a:lnSpc>
                <a:spcPct val="120000"/>
              </a:lnSpc>
              <a:spcAft>
                <a:spcPts val="0"/>
              </a:spcAft>
            </a:pPr>
            <a:r>
              <a:rPr sz="1150" b="0" i="0">
                <a:solidFill>
                  <a:srgbClr val="98A4B3"/>
                </a:solidFill>
                <a:latin typeface="Calibri"/>
              </a:rPr>
              <a:t>The normalized result: action (allow / block / redact / log_only), allowed status, reason codes, policy name and version, evaluator metadata, correlation and audit identifiers, latency.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2161B"/>
        </a:solidFill>
        <a:effectLst/>
      </p:bgPr>
    </p:bg>
    <p:spTree>
      <p:nvGrpSpPr>
        <p:cNvPr id="1" name=""/>
        <p:cNvGrpSpPr/>
        <p:nvPr/>
      </p:nvGrpSpPr>
      <p:grpSpPr/>
      <p:sp>
        <p:nvSpPr>
          <p:cNvPr id="2" name="TextBox 1"/>
          <p:cNvSpPr txBox="1"/>
          <p:nvPr/>
        </p:nvSpPr>
        <p:spPr>
          <a:xfrm>
            <a:off x="685800" y="420624"/>
            <a:ext cx="10820095" cy="658368"/>
          </a:xfrm>
          <a:prstGeom prst="rect">
            <a:avLst/>
          </a:prstGeom>
          <a:noFill/>
        </p:spPr>
        <p:txBody>
          <a:bodyPr wrap="square" lIns="0" rIns="0" tIns="0" bIns="0" anchor="t">
            <a:spAutoFit/>
          </a:bodyPr>
          <a:lstStyle/>
          <a:p>
            <a:pPr algn="l">
              <a:lnSpc>
                <a:spcPct val="115000"/>
              </a:lnSpc>
              <a:spcAft>
                <a:spcPts val="0"/>
              </a:spcAft>
            </a:pPr>
            <a:r>
              <a:rPr sz="3000" b="1" i="0">
                <a:solidFill>
                  <a:srgbClr val="E8ECF2"/>
                </a:solidFill>
                <a:latin typeface="Calibri"/>
              </a:rPr>
              <a:t>Appendix — The questions teams ask</a:t>
            </a:r>
          </a:p>
        </p:txBody>
      </p:sp>
      <p:sp>
        <p:nvSpPr>
          <p:cNvPr id="3" name="Rectangle 2"/>
          <p:cNvSpPr/>
          <p:nvPr/>
        </p:nvSpPr>
        <p:spPr>
          <a:xfrm>
            <a:off x="685800" y="1188720"/>
            <a:ext cx="1234440" cy="41148"/>
          </a:xfrm>
          <a:prstGeom prst="rect">
            <a:avLst/>
          </a:prstGeom>
          <a:solidFill>
            <a:srgbClr val="5AA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298448"/>
            <a:ext cx="10820095" cy="365760"/>
          </a:xfrm>
          <a:prstGeom prst="rect">
            <a:avLst/>
          </a:prstGeom>
          <a:noFill/>
        </p:spPr>
        <p:txBody>
          <a:bodyPr wrap="square" lIns="0" rIns="0" tIns="0" bIns="0" anchor="t">
            <a:spAutoFit/>
          </a:bodyPr>
          <a:lstStyle/>
          <a:p>
            <a:pPr algn="l">
              <a:lnSpc>
                <a:spcPct val="115000"/>
              </a:lnSpc>
              <a:spcAft>
                <a:spcPts val="0"/>
              </a:spcAft>
            </a:pPr>
            <a:r>
              <a:rPr sz="1350" b="0" i="0">
                <a:solidFill>
                  <a:srgbClr val="98A4B3"/>
                </a:solidFill>
                <a:latin typeface="Calibri"/>
              </a:rPr>
              <a:t>Pull only the pair that matches.</a:t>
            </a:r>
          </a:p>
        </p:txBody>
      </p:sp>
      <p:sp>
        <p:nvSpPr>
          <p:cNvPr id="5" name="TextBox 4"/>
          <p:cNvSpPr txBox="1"/>
          <p:nvPr/>
        </p:nvSpPr>
        <p:spPr>
          <a:xfrm>
            <a:off x="685800" y="6217920"/>
            <a:ext cx="10820095" cy="292608"/>
          </a:xfrm>
          <a:prstGeom prst="rect">
            <a:avLst/>
          </a:prstGeom>
          <a:noFill/>
        </p:spPr>
        <p:txBody>
          <a:bodyPr wrap="square" lIns="0" rIns="0" tIns="0" bIns="0" anchor="t">
            <a:spAutoFit/>
          </a:bodyPr>
          <a:lstStyle/>
          <a:p>
            <a:pPr algn="l">
              <a:lnSpc>
                <a:spcPct val="115000"/>
              </a:lnSpc>
              <a:spcAft>
                <a:spcPts val="0"/>
              </a:spcAft>
            </a:pPr>
            <a:r>
              <a:rPr sz="900" b="0" i="0">
                <a:solidFill>
                  <a:srgbClr val="98A4B3"/>
                </a:solidFill>
                <a:latin typeface="Calibri"/>
              </a:rPr>
              <a:t>AI Guardrails · design intent and delivery plan — nothing built or piloted today</a:t>
            </a:r>
          </a:p>
        </p:txBody>
      </p:sp>
      <p:graphicFrame>
        <p:nvGraphicFramePr>
          <p:cNvPr id="6" name="Table 5"/>
          <p:cNvGraphicFramePr>
            <a:graphicFrameLocks noGrp="1"/>
          </p:cNvGraphicFramePr>
          <p:nvPr/>
        </p:nvGraphicFramePr>
        <p:xfrm>
          <a:off x="685800" y="1828800"/>
          <a:ext cx="10820094" cy="4133088"/>
        </p:xfrm>
        <a:graphic>
          <a:graphicData uri="http://schemas.openxmlformats.org/drawingml/2006/table">
            <a:tbl>
              <a:tblPr firstRow="1">
                <a:tableStyleId>{5C22544A-7EE6-4342-B048-85BDC9FD1C3A}</a:tableStyleId>
              </a:tblPr>
              <a:tblGrid>
                <a:gridCol w="3029626"/>
                <a:gridCol w="7790468"/>
              </a:tblGrid>
              <a:tr h="310896">
                <a:tc>
                  <a:txBody>
                    <a:bodyPr wrap="square"/>
                    <a:lstStyle/>
                    <a:p>
                      <a:pPr algn="l">
                        <a:lnSpc>
                          <a:spcPct val="105000"/>
                        </a:lnSpc>
                        <a:spcAft>
                          <a:spcPts val="0"/>
                        </a:spcAft>
                      </a:pPr>
                      <a:r>
                        <a:rPr sz="1100" b="1" i="0">
                          <a:solidFill>
                            <a:srgbClr val="5AA0E0"/>
                          </a:solidFill>
                          <a:latin typeface="Calibri"/>
                        </a:rPr>
                        <a:t>Question</a:t>
                      </a:r>
                    </a:p>
                  </a:txBody>
                  <a:tcPr marL="91440" marR="91440" marT="45720" marB="45720" anchor="ctr">
                    <a:solidFill>
                      <a:srgbClr val="1D242C"/>
                    </a:solidFill>
                  </a:tcPr>
                </a:tc>
                <a:tc>
                  <a:txBody>
                    <a:bodyPr wrap="square"/>
                    <a:lstStyle/>
                    <a:p>
                      <a:pPr algn="l">
                        <a:lnSpc>
                          <a:spcPct val="105000"/>
                        </a:lnSpc>
                        <a:spcAft>
                          <a:spcPts val="0"/>
                        </a:spcAft>
                      </a:pPr>
                      <a:r>
                        <a:rPr sz="1100" b="1" i="0">
                          <a:solidFill>
                            <a:srgbClr val="5AA0E0"/>
                          </a:solidFill>
                          <a:latin typeface="Calibri"/>
                        </a:rPr>
                        <a:t>Answer</a:t>
                      </a:r>
                    </a:p>
                  </a:txBody>
                  <a:tcPr marL="91440" marR="91440" marT="45720" marB="45720" anchor="ctr">
                    <a:solidFill>
                      <a:srgbClr val="1D242C"/>
                    </a:solidFill>
                  </a:tcPr>
                </a:tc>
              </a:tr>
              <a:tr h="585216">
                <a:tc>
                  <a:txBody>
                    <a:bodyPr wrap="square"/>
                    <a:lstStyle/>
                    <a:p>
                      <a:pPr algn="l">
                        <a:lnSpc>
                          <a:spcPct val="105000"/>
                        </a:lnSpc>
                        <a:spcAft>
                          <a:spcPts val="0"/>
                        </a:spcAft>
                      </a:pPr>
                      <a:r>
                        <a:rPr sz="1100" b="1" i="0">
                          <a:solidFill>
                            <a:srgbClr val="E8ECF2"/>
                          </a:solidFill>
                          <a:latin typeface="Calibri"/>
                        </a:rPr>
                        <a:t>Is Remote Evaluation data-local?</a:t>
                      </a:r>
                    </a:p>
                  </a:txBody>
                  <a:tcPr marL="91440" marR="91440" marT="45720" marB="45720" anchor="ctr">
                    <a:solidFill>
                      <a:srgbClr val="161C23"/>
                    </a:solidFill>
                  </a:tcPr>
                </a:tc>
                <a:tc>
                  <a:txBody>
                    <a:bodyPr wrap="square"/>
                    <a:lstStyle/>
                    <a:p>
                      <a:pPr algn="l">
                        <a:lnSpc>
                          <a:spcPct val="105000"/>
                        </a:lnSpc>
                        <a:spcAft>
                          <a:spcPts val="0"/>
                        </a:spcAft>
                      </a:pPr>
                      <a:r>
                        <a:rPr sz="1100" b="0" i="0">
                          <a:solidFill>
                            <a:srgbClr val="E8ECF2"/>
                          </a:solidFill>
                          <a:latin typeface="Calibri"/>
                        </a:rPr>
                        <a:t>No. In Mode A, prompts, responses, and any evaluated content are transmitted to the hosted Evaluation API. Workloads with residency requirements belong in Customer-Managed Runtime.</a:t>
                      </a:r>
                    </a:p>
                  </a:txBody>
                  <a:tcPr marL="91440" marR="91440" marT="45720" marB="45720" anchor="ctr">
                    <a:solidFill>
                      <a:srgbClr val="161C23"/>
                    </a:solidFill>
                  </a:tcPr>
                </a:tc>
              </a:tr>
              <a:tr h="585216">
                <a:tc>
                  <a:txBody>
                    <a:bodyPr wrap="square"/>
                    <a:lstStyle/>
                    <a:p>
                      <a:pPr algn="l">
                        <a:lnSpc>
                          <a:spcPct val="105000"/>
                        </a:lnSpc>
                        <a:spcAft>
                          <a:spcPts val="0"/>
                        </a:spcAft>
                      </a:pPr>
                      <a:r>
                        <a:rPr sz="1100" b="1" i="0">
                          <a:solidFill>
                            <a:srgbClr val="E8ECF2"/>
                          </a:solidFill>
                          <a:latin typeface="Calibri"/>
                        </a:rPr>
                        <a:t>Does my prompt data get stored?</a:t>
                      </a:r>
                    </a:p>
                  </a:txBody>
                  <a:tcPr marL="91440" marR="91440" marT="45720" marB="45720" anchor="ctr">
                    <a:solidFill>
                      <a:srgbClr val="12161B"/>
                    </a:solidFill>
                  </a:tcPr>
                </a:tc>
                <a:tc>
                  <a:txBody>
                    <a:bodyPr wrap="square"/>
                    <a:lstStyle/>
                    <a:p>
                      <a:pPr algn="l">
                        <a:lnSpc>
                          <a:spcPct val="105000"/>
                        </a:lnSpc>
                        <a:spcAft>
                          <a:spcPts val="0"/>
                        </a:spcAft>
                      </a:pPr>
                      <a:r>
                        <a:rPr sz="1100" b="0" i="0">
                          <a:solidFill>
                            <a:srgbClr val="E8ECF2"/>
                          </a:solidFill>
                          <a:latin typeface="Calibri"/>
                        </a:rPr>
                        <a:t>Not by default. The hosted runtime persists decision metadata, not raw prompts and responses; identifiers are hashed where possible. Retention requires explicit tenant-level configuration.</a:t>
                      </a:r>
                    </a:p>
                  </a:txBody>
                  <a:tcPr marL="91440" marR="91440" marT="45720" marB="45720" anchor="ctr">
                    <a:solidFill>
                      <a:srgbClr val="12161B"/>
                    </a:solidFill>
                  </a:tcPr>
                </a:tc>
              </a:tr>
              <a:tr h="640080">
                <a:tc>
                  <a:txBody>
                    <a:bodyPr wrap="square"/>
                    <a:lstStyle/>
                    <a:p>
                      <a:pPr algn="l">
                        <a:lnSpc>
                          <a:spcPct val="105000"/>
                        </a:lnSpc>
                        <a:spcAft>
                          <a:spcPts val="0"/>
                        </a:spcAft>
                      </a:pPr>
                      <a:r>
                        <a:rPr sz="1100" b="1" i="0">
                          <a:solidFill>
                            <a:srgbClr val="E8ECF2"/>
                          </a:solidFill>
                          <a:latin typeface="Calibri"/>
                        </a:rPr>
                        <a:t>Is the connector a hard security boundary?</a:t>
                      </a:r>
                    </a:p>
                  </a:txBody>
                  <a:tcPr marL="91440" marR="91440" marT="45720" marB="45720" anchor="ctr">
                    <a:solidFill>
                      <a:srgbClr val="161C23"/>
                    </a:solidFill>
                  </a:tcPr>
                </a:tc>
                <a:tc>
                  <a:txBody>
                    <a:bodyPr wrap="square"/>
                    <a:lstStyle/>
                    <a:p>
                      <a:pPr algn="l">
                        <a:lnSpc>
                          <a:spcPct val="105000"/>
                        </a:lnSpc>
                        <a:spcAft>
                          <a:spcPts val="0"/>
                        </a:spcAft>
                      </a:pPr>
                      <a:r>
                        <a:rPr sz="1100" b="0" i="0">
                          <a:solidFill>
                            <a:srgbClr val="E8ECF2"/>
                          </a:solidFill>
                          <a:latin typeface="Calibri"/>
                        </a:rPr>
                        <a:t>Not under cooperative integration — a team that installs its own connector can disable, remove, or misconfigure it. Platform-managed and network/IAM-enforced postures exist for workloads that need bypass resistance.</a:t>
                      </a:r>
                    </a:p>
                  </a:txBody>
                  <a:tcPr marL="91440" marR="91440" marT="45720" marB="45720" anchor="ctr">
                    <a:solidFill>
                      <a:srgbClr val="161C23"/>
                    </a:solidFill>
                  </a:tcPr>
                </a:tc>
              </a:tr>
              <a:tr h="585216">
                <a:tc>
                  <a:txBody>
                    <a:bodyPr wrap="square"/>
                    <a:lstStyle/>
                    <a:p>
                      <a:pPr algn="l">
                        <a:lnSpc>
                          <a:spcPct val="105000"/>
                        </a:lnSpc>
                        <a:spcAft>
                          <a:spcPts val="0"/>
                        </a:spcAft>
                      </a:pPr>
                      <a:r>
                        <a:rPr sz="1100" b="1" i="0">
                          <a:solidFill>
                            <a:srgbClr val="E8ECF2"/>
                          </a:solidFill>
                          <a:latin typeface="Calibri"/>
                        </a:rPr>
                        <a:t>Does it do user authorization?</a:t>
                      </a:r>
                    </a:p>
                  </a:txBody>
                  <a:tcPr marL="91440" marR="91440" marT="45720" marB="45720" anchor="ctr">
                    <a:solidFill>
                      <a:srgbClr val="12161B"/>
                    </a:solidFill>
                  </a:tcPr>
                </a:tc>
                <a:tc>
                  <a:txBody>
                    <a:bodyPr wrap="square"/>
                    <a:lstStyle/>
                    <a:p>
                      <a:pPr algn="l">
                        <a:lnSpc>
                          <a:spcPct val="105000"/>
                        </a:lnSpc>
                        <a:spcAft>
                          <a:spcPts val="0"/>
                        </a:spcAft>
                      </a:pPr>
                      <a:r>
                        <a:rPr sz="1100" b="0" i="0">
                          <a:solidFill>
                            <a:srgbClr val="E8ECF2"/>
                          </a:solidFill>
                          <a:latin typeface="Calibri"/>
                        </a:rPr>
                        <a:t>No. A decision that content appears safe does not determine whether this user may perform this action. Authentication, business authorization, tenant isolation, and approval workflows stay with the application.</a:t>
                      </a:r>
                    </a:p>
                  </a:txBody>
                  <a:tcPr marL="91440" marR="91440" marT="45720" marB="45720" anchor="ctr">
                    <a:solidFill>
                      <a:srgbClr val="12161B"/>
                    </a:solidFill>
                  </a:tcPr>
                </a:tc>
              </a:tr>
              <a:tr h="640080">
                <a:tc>
                  <a:txBody>
                    <a:bodyPr wrap="square"/>
                    <a:lstStyle/>
                    <a:p>
                      <a:pPr algn="l">
                        <a:lnSpc>
                          <a:spcPct val="105000"/>
                        </a:lnSpc>
                        <a:spcAft>
                          <a:spcPts val="0"/>
                        </a:spcAft>
                      </a:pPr>
                      <a:r>
                        <a:rPr sz="1100" b="1" i="0">
                          <a:solidFill>
                            <a:srgbClr val="E8ECF2"/>
                          </a:solidFill>
                          <a:latin typeface="Calibri"/>
                        </a:rPr>
                        <a:t>What happens on evaluation timeout?</a:t>
                      </a:r>
                    </a:p>
                  </a:txBody>
                  <a:tcPr marL="91440" marR="91440" marT="45720" marB="45720" anchor="ctr">
                    <a:solidFill>
                      <a:srgbClr val="161C23"/>
                    </a:solidFill>
                  </a:tcPr>
                </a:tc>
                <a:tc>
                  <a:txBody>
                    <a:bodyPr wrap="square"/>
                    <a:lstStyle/>
                    <a:p>
                      <a:pPr algn="l">
                        <a:lnSpc>
                          <a:spcPct val="105000"/>
                        </a:lnSpc>
                        <a:spcAft>
                          <a:spcPts val="0"/>
                        </a:spcAft>
                      </a:pPr>
                      <a:r>
                        <a:rPr sz="1100" b="0" i="0">
                          <a:solidFill>
                            <a:srgbClr val="E8ECF2"/>
                          </a:solidFill>
                          <a:latin typeface="Calibri"/>
                        </a:rPr>
                        <a:t>Whatever the workload's policy configures. Failure behaviour — timeout, detector unavailability, unresolved policy, control-plane outage — is a mandatory part of every policy, and the path taken is captured in the audit record.</a:t>
                      </a:r>
                    </a:p>
                  </a:txBody>
                  <a:tcPr marL="91440" marR="91440" marT="45720" marB="45720" anchor="ctr">
                    <a:solidFill>
                      <a:srgbClr val="161C23"/>
                    </a:solidFill>
                  </a:tcPr>
                </a:tc>
              </a:tr>
              <a:tr h="786384">
                <a:tc>
                  <a:txBody>
                    <a:bodyPr wrap="square"/>
                    <a:lstStyle/>
                    <a:p>
                      <a:pPr algn="l">
                        <a:lnSpc>
                          <a:spcPct val="105000"/>
                        </a:lnSpc>
                        <a:spcAft>
                          <a:spcPts val="0"/>
                        </a:spcAft>
                      </a:pPr>
                      <a:r>
                        <a:rPr sz="1100" b="1" i="0">
                          <a:solidFill>
                            <a:srgbClr val="E8ECF2"/>
                          </a:solidFill>
                          <a:latin typeface="Calibri"/>
                        </a:rPr>
                        <a:t>Who sees our observe-mode findings?</a:t>
                      </a:r>
                    </a:p>
                  </a:txBody>
                  <a:tcPr marL="91440" marR="91440" marT="45720" marB="45720" anchor="ctr">
                    <a:solidFill>
                      <a:srgbClr val="12161B"/>
                    </a:solidFill>
                  </a:tcPr>
                </a:tc>
                <a:tc>
                  <a:txBody>
                    <a:bodyPr wrap="square"/>
                    <a:lstStyle/>
                    <a:p>
                      <a:pPr algn="l">
                        <a:lnSpc>
                          <a:spcPct val="105000"/>
                        </a:lnSpc>
                        <a:spcAft>
                          <a:spcPts val="0"/>
                        </a:spcAft>
                      </a:pPr>
                      <a:r>
                        <a:rPr sz="1100" b="0" i="0">
                          <a:solidFill>
                            <a:srgbClr val="E8ECF2"/>
                          </a:solidFill>
                          <a:latin typeface="Calibri"/>
                        </a:rPr>
                        <a:t>The consuming team owns the review and is accountable for it; the guardrail team and security and governance are consulted. Decision metadata is stored in the provider-operated audit archive, scoped per tenant. No routing of a per-workload findings report to anyone else is defined, and no review tooling is specified.</a:t>
                      </a:r>
                    </a:p>
                  </a:txBody>
                  <a:tcPr marL="91440" marR="91440" marT="45720" marB="45720" anchor="ctr">
                    <a:solidFill>
                      <a:srgbClr val="12161B"/>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Application>AI Guardrails deck generator</Application>
  <PresentationFormat>Widescreen</PresentationFormat>
  <Company/>
  <Manager/>
  <ScaleCrop>false</ScaleCrop>
  <LinksUpToDate>false</LinksUpToDate>
  <SharedDoc>false</SharedDoc>
  <HyperlinksChanged>false</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Guardrails — Adopting pilot team</dc:title>
  <dc:subject>Commit as the second independent instance, starting in observe mode</dc:subject>
  <dc:creator>AI Guardrails — generated from solution-docs</dc:creator>
  <cp:keywords/>
  <dc:description>Generated from the solution-docs set. Rebuild rather than edit — hand edits are overwritten.</dc:description>
  <cp:lastModifiedBy>AI Guardrails — generated from solution-docs</cp:lastModifiedBy>
  <cp:revision>1</cp:revision>
  <dcterms:created xsi:type="dcterms:W3CDTF">2026-07-26T00:00:00Z</dcterms:created>
  <dcterms:modified xsi:type="dcterms:W3CDTF">2026-07-26T00:00:00Z</dcterms:modified>
  <cp:category>Internal</cp:category>
  <cp:contentStatus>Draft — design intent and delivery plan; nothing built or piloted</cp:contentStatus>
  <dc:language>en</dc:language>
</cp:coreProperties>
</file>