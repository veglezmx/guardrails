
<file path=[Content_Types].xml><?xml version="1.0" encoding="utf-8"?>
<Types xmlns="http://schemas.openxmlformats.org/package/2006/content-types">
  <Default Extension="bin" ContentType="application/vnd.openxmlformats-officedocument.presentationml.printerSetting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DECK-BRIEF.md — Core message and required slide 1; the ask wording traces to AGR-020 and DEC-008, restated in EXECUTIVE-BRIEF §10.</a:t>
            </a:r>
          </a:p>
          <a:p>
            <a:r>
              <a:t>CAVEAT NOT ON SLIDE — Nothing here is running in production. The platform is pre-approval and pre-build; do not let the confidence of the core message imply otherwise.</a:t>
            </a:r>
          </a:p>
          <a:p>
            <a:r>
              <a:t>TALK TRACK — Open on the core message, unpacked in one breath: today a policy is written for one gateway and dies there. We want to change that, and we are asking for the full solution across five gated phases. Then move to what is actually broken today.</a:t>
            </a:r>
          </a:p>
          <a:p>
            <a:r>
              <a:t>IF ASKED — 'Is this live?' — No. Delivery has not been approved or started. Everything in this deck is design intent plus a delivery plan, which is exactly what we are asking you to fund.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EXECUTIVE-BRIEF §2 (Current problem), sourced from CHARTER.md; the five points map to AGR-001, AGR-005, AGR-011, AGR-008/AGR-002, and AGR-018 respectively.</a:t>
            </a:r>
          </a:p>
          <a:p>
            <a:r>
              <a:t>CAVEAT NOT ON SLIDE — We have no quantified measure of how widespread this is internally — no survey, no incident count. State it as a structural gap, not as a measured crisis.</a:t>
            </a:r>
          </a:p>
          <a:p>
            <a:r>
              <a:t>TALK TRACK — Bridge from the cover: this is why that one sentence matters. Walk the five points quickly; the last one usually earns a nod from security. Next slide converts these into organisational impact.</a:t>
            </a:r>
          </a:p>
          <a:p>
            <a:r>
              <a:t>IF ASKED — 'Do we have examples?' — Not documented in the source material. The argument here is structural: nothing in how we work today would produce a shared policy even if every team wanted 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EXECUTIVE-BRIEF §3 (Business impact) verbatim in substance; false-assurance row traces to RISK-REGISTER.md 'False confidence' and AGR-018.</a:t>
            </a:r>
          </a:p>
          <a:p>
            <a:r>
              <a:t>CAVEAT NOT ON SLIDE — The TBD is deliberate and worth saying out loud. We were asked for a business case and chose not to manufacture a number we cannot defend — that is a credibility asset in this room, not a gap.</a:t>
            </a:r>
          </a:p>
          <a:p>
            <a:r>
              <a:t>TALK TRACK — From 'here is what's broken' to 'here is what it costs us'. Land the TBD line explicitly, then pivot: the fix is architectural, and it has a name.</a:t>
            </a:r>
          </a:p>
          <a:p>
            <a:r>
              <a:t>IF ASKED — 'Why no ROI number?' — Because none exists in the source material and inventing one would violate our own claims register. Delivery and product leads owe the estimation over the full feature set before final sign-off (ASM-006, ASM-007, ASM-014).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CLAIMS-REGISTER.md product statement, quoted verbatim per DECK-BRIEF required slide 4; the standalone line is AGR-001.</a:t>
            </a:r>
          </a:p>
          <a:p>
            <a:r>
              <a:t>CAVEAT NOT ON SLIDE — The statement names three modes in one breath — resist explaining them here. Slide 7 does that properly, and pre-empting it makes this slide dense.</a:t>
            </a:r>
          </a:p>
          <a:p>
            <a:r>
              <a:t>TALK TRACK — Read the statement rather than paraphrasing it; it is the wording the claims register approves. Then land the standalone point, because it is the decision this room is actually being asked to bless. Next: how it is put together.</a:t>
            </a:r>
          </a:p>
          <a:p>
            <a:r>
              <a:t>IF ASKED — 'Why not just add this to our LiteLLM?' — Because that couples policy enforcement to one team's gateway lifecycle and blocks reuse by teams on different gateways or providers (AGR-001).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CONTAINER-ARCHITECTURE.md §1, itself reproduced from original charter §10 (logical architecture); evaluation-engine list per AGR-004.</a:t>
            </a:r>
          </a:p>
          <a:p>
            <a:r>
              <a:t>CAVEAT NOT ON SLIDE — Bedrock Guardrails is the first managed engine, not the permanent or exclusive one — normalisation into our own decision structure happens in the evaluator adapters, which is what keeps the contract vendor-independent.</a:t>
            </a:r>
          </a:p>
          <a:p>
            <a:r>
              <a:t>TALK TRACK — Give them one mental model and move on: policy is authored centrally, distributed asynchronously, and executed at the runtime that whichever entry point calls. The next slide explains why that split is the whole trick.</a:t>
            </a:r>
          </a:p>
          <a:p>
            <a:r>
              <a:t>IF ASKED — 'What is the full component inventory?' — Deliberately not on this slide. CONTAINER-ARCHITECTURE.md §2 has the container catalogue if we want to go deeper after the deck.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AGR-007 (policies are separate from connectors) — both example strings are the agreement's own wording; portability consequence is AGR-005.</a:t>
            </a:r>
          </a:p>
          <a:p>
            <a:r>
              <a:t>CAVEAT NOT ON SLIDE — Adding a connector for a gateway we have not integrated is still real work: it means implementing the invocation contract. The claim is that policy semantics do not change, not that every gateway already works out of the box.</a:t>
            </a:r>
          </a:p>
          <a:p>
            <a:r>
              <a:t>TALK TRACK — This is the load-bearing architectural idea in the deck. If they only remember one slide, make it this one. Next: the three ways a team can actually adopt it.</a:t>
            </a:r>
          </a:p>
          <a:p>
            <a:r>
              <a:t>IF ASKED — 'So it works with every gateway?' — No. It works with gateways that have a connector; LiteLLM is the first. The point is that adding one never touches policy semantics (AGR-003, AGR-007).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AGR-002 (three deployment modes) and PRODUCT-OVERVIEW.md §4; per-mode ownership detail in DEPLOYMENT-ARCHITECTURE.md §2–§4.</a:t>
            </a:r>
          </a:p>
          <a:p>
            <a:r>
              <a:t>CAVEAT NOT ON SLIDE — Mode A transmits prompts and responses to the hosted Evaluation API on every evaluated call. That caveat gets its own slide next — do not let this slide leave the impression that A is the 'light touch on data' option.</a:t>
            </a:r>
          </a:p>
          <a:p>
            <a:r>
              <a:t>TALK TRACK — Frame this as a choice, not a ladder — nobody is expected to graduate from A to C. Then go straight into the question security is already forming: where does my content actually go?</a:t>
            </a:r>
          </a:p>
          <a:p>
            <a:r>
              <a:t>IF ASKED — 'Which mode would we use?' — Almost certainly Mode A for the Phase 1–2 pilot, since it is the only one delivered in the first phases and it fits teams that already run LiteLLM.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AGR-008 (ownership and exposure are separate concerns), AGR-009 (Mode A is not data-local), AGR-014 (no raw retention by default), AGR-016 (customer-controlled telemetry); per-mode statements in DEPLOYMENT-ARCHITECTURE.md §2.3, §3.3, §4.5.</a:t>
            </a:r>
          </a:p>
          <a:p>
            <a:r>
              <a:t>CAVEAT NOT ON SLIDE — Do not soften the Mode A row under pressure. If someone with a residency requirement is in the room, the correct answer is Mode C — which lands in Phase 4, not today.</a:t>
            </a:r>
          </a:p>
          <a:p>
            <a:r>
              <a:t>TALK TRACK — This is the slide security and compliance came for. Slow down, read the Mode A cell as written, and let the honesty register. Then move to why adoption is safe.</a:t>
            </a:r>
          </a:p>
          <a:p>
            <a:r>
              <a:t>IF ASKED — 'Can we run Mode A for regulated workloads?' — No. Route those to Customer-Managed Runtime. Mode A must never be described as keeping content local (AGR-009).</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AGR-011 (observe-before-enforce progression); approved wording in CLAIMS-REGISTER.md §1 'Observe-before-enforce'.</a:t>
            </a:r>
          </a:p>
          <a:p>
            <a:r>
              <a:t>CAVEAT NOT ON SLIDE — The five states are per policy, per workload — two workloads can sit at different states against the same policy version, which is exactly what the Phase 1–2 demonstration exercises.</a:t>
            </a:r>
          </a:p>
          <a:p>
            <a:r>
              <a:t>TALK TRACK — This slide removes the adoption-risk objection before anyone raises it. Say plainly: nobody gets blocked on day one. Then go to the scope boundary, which is where we spend our credibility deliberately.</a:t>
            </a:r>
          </a:p>
          <a:p>
            <a:r>
              <a:t>IF ASKED — 'Who decides when a policy is promoted?' — Security and governance own policy approval; the consuming team reviews observe-mode findings and accepts enforcement. Both transitions are audited.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AGR-010 (guardrails are not authorization), AGR-018 (trust and enforcement model), AGR-013 (AWS as primary cloud), SCOPE.md product-category exclusions — there is no cross-cloud or multi-cloud deployment anywhere in the feature set (SCOPE.md items 11 and 12) — and PRODUCT-OVERVIEW.md §9.</a:t>
            </a:r>
          </a:p>
          <a:p>
            <a:r>
              <a:t>CAVEAT NOT ON SLIDE — The single largest risk named in the charter is false confidence — teams reading a passing guardrail evaluation as complete AI security. Also worth separating if the cross-cloud line is challenged: the policy schema, decision structure, and reason codes do not depend on a cloud (AGR-005), but the hosted control plane, runtime, and first evaluation engine are AWS-bound. It is a funded-scope boundary, not a contract limitation.</a:t>
            </a:r>
          </a:p>
          <a:p>
            <a:r>
              <a:t>TALK TRACK — Frame the right-hand column as precision, not limitation: it tells an adopting team exactly which risks stay theirs. That earns the right to make the differentiation claim on the next slide.</a:t>
            </a:r>
          </a:p>
          <a:p>
            <a:r>
              <a:t>IF ASKED — 'We're on Azure — are we excluded?' — From running the guardrail runtime yourselves, yes; Customer-Managed Runtime is specified for the customer's own AWS account. An application anywhere can still call a gateway carrying a connector. Moving cross-cloud into scope needs the SCOPE.md §8 scope-change process and a recorded decision — not a commitment made here.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DIFFERENTIATORS.md §1, §2, §5 — the three DECK-BRIEF recommends for this audience; underlying agreements AGR-003/004/005 (§1), AGR-006 (§2), AGR-010/AGR-018 (§5).</a:t>
            </a:r>
          </a:p>
          <a:p>
            <a:r>
              <a:t>CAVEAT NOT ON SLIDE — Differentiator 1 is not a claim that every provider or gateway is supported today. LiteLLM and Bedrock Guardrails are the initial validated integrations; the claim is about where the seams are.</a:t>
            </a:r>
          </a:p>
          <a:p>
            <a:r>
              <a:t>TALK TRACK — Three differentiators, not six — the other three (ownership vs exposure, observe-before-enforce, one contract) already had their own slides. Next: what we would actually build, and in what order.</a:t>
            </a:r>
          </a:p>
          <a:p>
            <a:r>
              <a:t>IF ASKED — 'Who else does this?' — No competitive analysis exists in the source material and I will not invent one. The differentiation argument here is structural, against how we build guardrails today.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AGR-020 (five-phase delivery) and DEC-008 (full feature set defined and estimated); phase objectives from PRODUCT-ROADMAP.md 'Phase sequence at a glance'.</a:t>
            </a:r>
          </a:p>
          <a:p>
            <a:r>
              <a:t>CAVEAT NOT ON SLIDE — Phases 3 and 4 carry materially larger operational and security scope for us as the provider — Mode B puts us in the full inference path. The gates exist precisely to control that, and funding releases may follow them.</a:t>
            </a:r>
          </a:p>
          <a:p>
            <a:r>
              <a:t>TALK TRACK — The key sentence: we are asking for the whole solution, and we are asking to be held to a gate at every step. Anchor 'we are here' visually, then go to what the first gate actually requires.</a:t>
            </a:r>
          </a:p>
          <a:p>
            <a:r>
              <a:t>IF ASKED — 'Why approve five phases instead of just Phase 1?' — Because a valid delivery estimation requires the full feature set to be defined and estimated (DEC-008). Approving scope is not the same as releasing all funding at once.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SUCCESS-CRITERIA.md §1.2 criteria table (MVP-01 through MVP-09) and §1.3 gating rule; gated as delivery milestones in VALIDATION-PLAN.md.</a:t>
            </a:r>
          </a:p>
          <a:p>
            <a:r>
              <a:t>CAVEAT NOT ON SLIDE — MVP-09 validates packaging feasibility only — full customer-managed deployment is Phase 4 work, not Phases 1–2. Do not let it be heard as 'Mode C in phase 2'.</a:t>
            </a:r>
          </a:p>
          <a:p>
            <a:r>
              <a:t>TALK TRACK — Use future and conditional phrasing throughout: 'will be considered validated when'. This slide is what makes the ask falsifiable, which is the point. Next: what it costs each group in effort.</a:t>
            </a:r>
          </a:p>
          <a:p>
            <a:r>
              <a:t>IF ASKED — 'What if only seven of the nine pass?' — Then Phases 1–2 are not validated and Phase 3 scope is not committed. The gating rule is all nine together, using two genuinely independent deployments.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EXECUTIVE-BRIEF §8 (principal risks) with mitigations as written there; fuller register with status and owners in RISK-REGISTER.md. Latency and availability gaps are ASM-011 and ASM-012.</a:t>
            </a:r>
          </a:p>
          <a:p>
            <a:r>
              <a:t>CAVEAT NOT ON SLIDE — Connector bypass is not fully mitigated and must not be presented as if it were — under cooperative integration the residual risk is accepted for teams where that posture is appropriate (ASM-005). Say so if pushed.</a:t>
            </a:r>
          </a:p>
          <a:p>
            <a:r>
              <a:t>TALK TRACK — Coming off the success criteria, pre-empt the obvious follow-up: what could go wrong. Presenting our own risk register earns more credibility than waiting to be asked. Then move to what this costs each group in effort.</a:t>
            </a:r>
          </a:p>
          <a:p>
            <a:r>
              <a:t>IF ASKED — 'Which of these worries you most?' — Connector bypass and latency. Bypass because Phases 1–2 are deliberately cooperative; latency because it is inherent to remote evaluation and we have not yet measured it against real pilot traffic.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TEAM-AND-OWNERSHIP.md §1 (four ownership groups) and EXECUTIVE-BRIEF §7 (organizational impact).</a:t>
            </a:r>
          </a:p>
          <a:p>
            <a:r>
              <a:t>CAVEAT NOT ON SLIDE — Ownership shifts by deployment mode — in Mode C the consuming team also owns runtime infrastructure, availability, upgrades, and local audit storage. TEAM-AND-OWNERSHIP.md §4 has the per-mode breakdown if pressed.</a:t>
            </a:r>
          </a:p>
          <a:p>
            <a:r>
              <a:t>TALK TRACK — Answer the unasked question — 'what does this cost my team?' — before the ask, so the ask lands without a hidden liability attached to it. Then close.</a:t>
            </a:r>
          </a:p>
          <a:p>
            <a:r>
              <a:t>IF ASKED — 'What does a pilot team actually have to do?' — Register the workload, select the policy, install the connector, run in observe, and review findings. No credentials transferred, no gateway admin access granted (AGR-019).</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EXECUTIVE-BRIEF §9 (recommended next step) and §10 (decision required); AGR-020 and DEC-008 for scope framing; AGR-011 for the Observe-first condition; ASM-002/ASM-003 for the second-team assumption.</a:t>
            </a:r>
          </a:p>
          <a:p>
            <a:r>
              <a:t>CAVEAT NOT ON SLIDE — The two-independent-teams requirement is a named, currently unvalidated assumption that gates Phase 1. If nobody in the room volunteers, that is a real finding, not a formality we skipped.</a:t>
            </a:r>
          </a:p>
          <a:p>
            <a:r>
              <a:t>TALK TRACK — Restate the decision in one sentence, name the two in-room commitments, then be quiet and let them decide. If it stalls, take the deep-dive fallback rather than negotiating scope live.</a:t>
            </a:r>
          </a:p>
          <a:p>
            <a:r>
              <a:t>IF ASKED — 'Can we approve Phase 1 only?' — We can start execution at Phase 1 regardless; what we need approved is the scope and estimation basis for the full solution. Funding releases can follow the phase gates.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DECK-BRIEF.md — backup slides are explicitly excluded from the core deck's maximum slide count.</a:t>
            </a:r>
          </a:p>
          <a:p>
            <a:r>
              <a:t>CAVEAT NOT ON SLIDE — Do not present the appendix by default; reaching for it unprompted turns a 25-minute decision meeting into a technical review.</a:t>
            </a:r>
          </a:p>
          <a:p>
            <a:r>
              <a:t>TALK TRACK — Pause here. If the ask closed, stop. If a specific objection is live, jump straight to the slide that answers it.</a:t>
            </a:r>
          </a:p>
          <a:p>
            <a:r>
              <a:t>IF ASKED — n/a — divider slide.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DEPLOYMENT-ARCHITECTURE.md §2.1 topology, §2.2 ownership split, §2.3 content-exposure statement; framing mandated by AGR-009.</a:t>
            </a:r>
          </a:p>
          <a:p>
            <a:r>
              <a:t>CAVEAT NOT ON SLIDE — Decision metadata, evaluation latency, and audit records flow to the hosted control plane as part of normal operation — that is not optional telemetry in this mode, it is how the service works.</a:t>
            </a:r>
          </a:p>
          <a:p>
            <a:r>
              <a:t>TALK TRACK — Use this when someone wants the Mode A data path drawn rather than described. Trace the two evaluation calls and be explicit that the model call stays in their environment.</a:t>
            </a:r>
          </a:p>
          <a:p>
            <a:r>
              <a:t>IF ASKED — 'Is retrieved content or are tool arguments sent?' — Retrieved content only if the workload is configured to submit it; the initial scope limits evaluated content to model input and output. Tool-call evaluation is future scope.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DEPLOYMENT-ARCHITECTURE.md §3.1 topology, §3.2 ownership split, §3.3 content-exposure statement; mode defined by AGR-002.</a:t>
            </a:r>
          </a:p>
          <a:p>
            <a:r>
              <a:t>CAVEAT NOT ON SLIDE — Mode B creates the largest operational, security, and compliance scope for us as the provider — that is the trade for the lowest integration burden on the consuming team. It lands in Phase 3.</a:t>
            </a:r>
          </a:p>
          <a:p>
            <a:r>
              <a:t>TALK TRACK — Use this for teams that do not operate a gateway at all, or when someone asks what the fully managed option looks like.</a:t>
            </a:r>
          </a:p>
          <a:p>
            <a:r>
              <a:t>IF ASKED — 'Who holds the model credentials here?' — We do, or we hold delegated AWS access. That is a real change in provider scope and is exactly why this is Phase 3, behind two validation gates.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DEPLOYMENT-ARCHITECTURE.md §4.1 topology, §4.2 component responsibilities, §4.4 no synchronous control-plane dependency, §4.5 content exposure; AGR-015, AGR-016, CON-013.</a:t>
            </a:r>
          </a:p>
          <a:p>
            <a:r>
              <a:t>CAVEAT NOT ON SLIDE — Mode C is delivered in Phase 4 — it is not available today, and a team that needs it cannot start on it now. Also: the customer takes on runtime infrastructure, availability, upgrades, and local audit storage.</a:t>
            </a:r>
          </a:p>
          <a:p>
            <a:r>
              <a:t>TALK TRACK — This is the slide for a residency-bound or regulated workload. Make the asynchronous policy sync explicit — evaluation never blocks on our control plane.</a:t>
            </a:r>
          </a:p>
          <a:p>
            <a:r>
              <a:t>IF ASKED — 'What if the policy cache goes stale?' — Degraded-mode behaviour is part of the workload's configured failure behaviour (AGR-012); there is no undocumented default.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AGR-019 (meaning of “import”); onboarding sequence reproduced in PRODUCT-OVERVIEW.md §8; approved wording in CLAIMS-REGISTER.md §2 and §10.</a:t>
            </a:r>
          </a:p>
          <a:p>
            <a:r>
              <a:t>CAVEAT NOT ON SLIDE — This flow is multi-step and reviewed — it is not one-click, instant, or zero-configuration, and the claims register prohibits describing it that way.</a:t>
            </a:r>
          </a:p>
          <a:p>
            <a:r>
              <a:t>TALK TRACK — Reach for this when a prospective pilot team hears “import” and assumes we are taking over their gateway. The red panel is the whole point of the slide.</a:t>
            </a:r>
          </a:p>
          <a:p>
            <a:r>
              <a:t>IF ASKED — 'How much application change is involved?' — Designed to be minimal: primarily connector installation and configuration rather than application rewrites. We have no measurement of actual change volume, so I will not quantify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AGR-018 (trust and enforcement model); the three-posture table is SECURITY-ARCHITECTURE.md §3.1; cooperative start for Phases 1–2 per ASM-005.</a:t>
            </a:r>
          </a:p>
          <a:p>
            <a:r>
              <a:t>CAVEAT NOT ON SLIDE — A cooperative connector is not a hard security boundary and the residual bypass risk is accepted, not eliminated. Which posture external customers will require is an open question (OQ-001), not a decision we have made.</a:t>
            </a:r>
          </a:p>
          <a:p>
            <a:r>
              <a:t>TALK TRACK — Reach for this when someone challenges the enforcement strength of the pilot. The honest answer is that Phases 1–2 start cooperative, deliberately.</a:t>
            </a:r>
          </a:p>
          <a:p>
            <a:r>
              <a:t>IF ASKED — 'Why not start with the strongest posture?' — Network/IAM enforcement is explicitly not required for the first cooperative delivery. Pulling it forward adds platform-layer work that does not help prove policy portability, which is what Phase 1 exists to prove.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SUCCESS-CRITERIA.md §1.2 criteria table and §1.3 gating rule; gated as delivery milestones in VALIDATION-PLAN.md.</a:t>
            </a:r>
          </a:p>
          <a:p>
            <a:r>
              <a:t>CAVEAT NOT ON SLIDE — Verification method, environment, and sign-off owner per criterion are TBD and must be defined in VALIDATION-PLAN.md and gated in RELEASE-CRITERIA.md. Do not imply the criteria are already testable as written.</a:t>
            </a:r>
          </a:p>
          <a:p>
            <a:r>
              <a:t>TALK TRACK — Use this when someone wants the four criteria that were kept off slide 13, or wants to read the exact wording rather than the summary.</a:t>
            </a:r>
          </a:p>
          <a:p>
            <a:r>
              <a:t>IF ASKED — 'Who signs each one off?' — Not yet assigned. That is a delivery-plan gap we owe before Phase 1 exit, not something I will name in the room.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FAQ.md — the pairs most likely to be raised by this audience; each answer traces to the agreement or ownership matrix cited inline.</a:t>
            </a:r>
          </a:p>
          <a:p>
            <a:r>
              <a:t>CAVEAT NOT ON SLIDE — Answer the specific objection and stop. Reading the whole table aloud signals defensiveness and burns time the Q&amp;A needs.</a:t>
            </a:r>
          </a:p>
          <a:p>
            <a:r>
              <a:t>TALK TRACK — Only surface this if a question lands that the core deck did not resolve. FAQ.md has the fuller versions if a follow-up goes deeper.</a:t>
            </a:r>
          </a:p>
          <a:p>
            <a:r>
              <a:t>IF ASKED — If a question arrives that is not on this list and not in the source material, say it is not decided yet and take it away — do not improvise a commitment.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AGR-017 (core domain model); per-entity attributes in GLOSSARY.md, made testable in REQUIREMENTS.md.</a:t>
            </a:r>
          </a:p>
          <a:p>
            <a:r>
              <a:t>CAVEAT NOT ON SLIDE — The full attribute lists are deliberately not on this slide — GLOSSARY.md holds them. This is orientation, not a schema.</a:t>
            </a:r>
          </a:p>
          <a:p>
            <a:r>
              <a:t>TALK TRACK — Use this if the audience loses the thread on tenant / workload / policy / binding / evaluation / decision vocabulary partway through the deck.</a:t>
            </a:r>
          </a:p>
          <a:p>
            <a:r>
              <a:t>IF ASKED — 'Why does the binding exist as a separate thing?' — Because it is what lets two independent workloads run the same policy version in different enforcement modes — exactly what the Phase 1–2 demonstration has to show.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Rounded Rectangle 1"/>
          <p:cNvSpPr/>
          <p:nvPr/>
        </p:nvSpPr>
        <p:spPr>
          <a:xfrm>
            <a:off x="685800" y="1417320"/>
            <a:ext cx="10820095" cy="32461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777240"/>
            <a:ext cx="10820095" cy="411480"/>
          </a:xfrm>
          <a:prstGeom prst="rect">
            <a:avLst/>
          </a:prstGeom>
          <a:noFill/>
        </p:spPr>
        <p:txBody>
          <a:bodyPr wrap="square" lIns="0" rIns="0" tIns="0" bIns="0" anchor="t">
            <a:spAutoFit/>
          </a:bodyPr>
          <a:lstStyle/>
          <a:p>
            <a:pPr algn="l">
              <a:lnSpc>
                <a:spcPct val="115000"/>
              </a:lnSpc>
              <a:spcAft>
                <a:spcPts val="0"/>
              </a:spcAft>
            </a:pPr>
            <a:r>
              <a:rPr sz="1400" b="1" i="0">
                <a:solidFill>
                  <a:srgbClr val="5AA0E0"/>
                </a:solidFill>
                <a:latin typeface="Calibri"/>
              </a:rPr>
              <a:t>AI GUARDRAILS</a:t>
            </a:r>
          </a:p>
        </p:txBody>
      </p:sp>
      <p:sp>
        <p:nvSpPr>
          <p:cNvPr id="4" name="TextBox 3"/>
          <p:cNvSpPr txBox="1"/>
          <p:nvPr/>
        </p:nvSpPr>
        <p:spPr>
          <a:xfrm>
            <a:off x="1188720" y="1874519"/>
            <a:ext cx="9357055" cy="2560320"/>
          </a:xfrm>
          <a:prstGeom prst="rect">
            <a:avLst/>
          </a:prstGeom>
          <a:noFill/>
        </p:spPr>
        <p:txBody>
          <a:bodyPr wrap="square" lIns="0" rIns="0" tIns="0" bIns="0" anchor="t">
            <a:spAutoFit/>
          </a:bodyPr>
          <a:lstStyle/>
          <a:p>
            <a:pPr algn="l">
              <a:lnSpc>
                <a:spcPct val="105000"/>
              </a:lnSpc>
              <a:spcAft>
                <a:spcPts val="600"/>
              </a:spcAft>
            </a:pPr>
            <a:r>
              <a:rPr sz="3400" b="1" i="0">
                <a:solidFill>
                  <a:srgbClr val="E8ECF2"/>
                </a:solidFill>
                <a:latin typeface="Calibri"/>
              </a:rPr>
              <a:t>One guardrail policy.</a:t>
            </a:r>
          </a:p>
          <a:p>
            <a:pPr algn="l">
              <a:lnSpc>
                <a:spcPct val="105000"/>
              </a:lnSpc>
              <a:spcAft>
                <a:spcPts val="600"/>
              </a:spcAft>
            </a:pPr>
            <a:r>
              <a:rPr sz="3400" b="1" i="0">
                <a:solidFill>
                  <a:srgbClr val="E8ECF2"/>
                </a:solidFill>
                <a:latin typeface="Calibri"/>
              </a:rPr>
              <a:t>Any gateway you already run.</a:t>
            </a:r>
          </a:p>
          <a:p>
            <a:pPr algn="l">
              <a:lnSpc>
                <a:spcPct val="105000"/>
              </a:lnSpc>
              <a:spcAft>
                <a:spcPts val="600"/>
              </a:spcAft>
            </a:pPr>
            <a:r>
              <a:rPr sz="3400" b="1" i="0">
                <a:solidFill>
                  <a:srgbClr val="E8ECF2"/>
                </a:solidFill>
                <a:latin typeface="Calibri"/>
              </a:rPr>
              <a:t>The deployment mode your data needs —</a:t>
            </a:r>
          </a:p>
          <a:p>
            <a:pPr algn="l">
              <a:lnSpc>
                <a:spcPct val="105000"/>
              </a:lnSpc>
              <a:spcAft>
                <a:spcPts val="0"/>
              </a:spcAft>
            </a:pPr>
            <a:r>
              <a:rPr sz="3400" b="1" i="0">
                <a:solidFill>
                  <a:srgbClr val="5AA0E0"/>
                </a:solidFill>
                <a:latin typeface="Calibri"/>
              </a:rPr>
              <a:t>not the one we happen to support best.</a:t>
            </a:r>
          </a:p>
        </p:txBody>
      </p:sp>
      <p:sp>
        <p:nvSpPr>
          <p:cNvPr id="5" name="TextBox 4"/>
          <p:cNvSpPr txBox="1"/>
          <p:nvPr/>
        </p:nvSpPr>
        <p:spPr>
          <a:xfrm>
            <a:off x="685800" y="4956048"/>
            <a:ext cx="10820095" cy="822960"/>
          </a:xfrm>
          <a:prstGeom prst="rect">
            <a:avLst/>
          </a:prstGeom>
          <a:noFill/>
        </p:spPr>
        <p:txBody>
          <a:bodyPr wrap="square" lIns="0" rIns="0" tIns="0" bIns="0" anchor="t">
            <a:spAutoFit/>
          </a:bodyPr>
          <a:lstStyle/>
          <a:p>
            <a:pPr algn="l">
              <a:lnSpc>
                <a:spcPct val="115000"/>
              </a:lnSpc>
              <a:spcAft>
                <a:spcPts val="800"/>
              </a:spcAft>
            </a:pPr>
            <a:r>
              <a:rPr sz="1700" b="0" i="0">
                <a:solidFill>
                  <a:srgbClr val="E8ECF2"/>
                </a:solidFill>
                <a:latin typeface="Calibri"/>
              </a:rPr>
              <a:t>Requesting approval: the AI Guardrails solution — full feature set, delivered in five phases</a:t>
            </a:r>
          </a:p>
          <a:p>
            <a:pPr algn="l">
              <a:lnSpc>
                <a:spcPct val="115000"/>
              </a:lnSpc>
              <a:spcAft>
                <a:spcPts val="0"/>
              </a:spcAft>
            </a:pPr>
            <a:r>
              <a:rPr sz="1150" b="0" i="0">
                <a:solidFill>
                  <a:srgbClr val="98A4B3"/>
                </a:solidFill>
                <a:latin typeface="Calibri"/>
              </a:rPr>
              <a:t>Internal platform investment review  ·  Presenter: TBD  ·  2026-07-26  ·  Nothing in this deck is built or piloted today</a:t>
            </a:r>
          </a:p>
        </p:txBody>
      </p:sp>
      <p:sp>
        <p:nvSpPr>
          <p:cNvPr id="6" name="TextBox 5"/>
          <p:cNvSpPr txBox="1"/>
          <p:nvPr/>
        </p:nvSpPr>
        <p:spPr>
          <a:xfrm>
            <a:off x="685800" y="6327648"/>
            <a:ext cx="10820095" cy="457200"/>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Placeholder styling — no brand kit exists yet; all colours and type are stand-ins pending brand (VISUAL-DIRECTION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Every team is inventing its own guardrails</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And none of them can share a policy, a decision format, or an audit trail.</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Source: CHARTER.md · EXECUTIVE-BRIEF §2 · AGR-001, AGR-005, AGR-011, AGR-018</a:t>
            </a:r>
          </a:p>
        </p:txBody>
      </p:sp>
      <p:sp>
        <p:nvSpPr>
          <p:cNvPr id="6" name="Rectangle 5"/>
          <p:cNvSpPr/>
          <p:nvPr/>
        </p:nvSpPr>
        <p:spPr>
          <a:xfrm>
            <a:off x="685800" y="1952243"/>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74519"/>
            <a:ext cx="10545775" cy="365760"/>
          </a:xfrm>
          <a:prstGeom prst="rect">
            <a:avLst/>
          </a:prstGeom>
          <a:noFill/>
        </p:spPr>
        <p:txBody>
          <a:bodyPr wrap="square" lIns="0" rIns="0" tIns="0" bIns="0" anchor="t">
            <a:spAutoFit/>
          </a:bodyPr>
          <a:lstStyle/>
          <a:p>
            <a:pPr algn="l">
              <a:lnSpc>
                <a:spcPct val="115000"/>
              </a:lnSpc>
              <a:spcAft>
                <a:spcPts val="100"/>
              </a:spcAft>
            </a:pPr>
            <a:r>
              <a:rPr sz="1400" b="1" i="0">
                <a:solidFill>
                  <a:srgbClr val="E8ECF2"/>
                </a:solidFill>
                <a:latin typeface="Calibri"/>
              </a:rPr>
              <a:t>No shared safeguard layer</a:t>
            </a:r>
          </a:p>
          <a:p>
            <a:pPr algn="l">
              <a:lnSpc>
                <a:spcPct val="115000"/>
              </a:lnSpc>
              <a:spcAft>
                <a:spcPts val="0"/>
              </a:spcAft>
            </a:pPr>
            <a:r>
              <a:rPr sz="1200" b="0" i="0">
                <a:solidFill>
                  <a:srgbClr val="98A4B3"/>
                </a:solidFill>
                <a:latin typeface="Calibri"/>
              </a:rPr>
              <a:t>Each team independently decides how to detect and act on unsafe prompts, unsafe responses, and policy violations. No common policy definition, decision format, or audit trail exists across teams.</a:t>
            </a:r>
          </a:p>
        </p:txBody>
      </p:sp>
      <p:sp>
        <p:nvSpPr>
          <p:cNvPr id="8" name="Rectangle 7"/>
          <p:cNvSpPr/>
          <p:nvPr/>
        </p:nvSpPr>
        <p:spPr>
          <a:xfrm>
            <a:off x="685800" y="2656332"/>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578608"/>
            <a:ext cx="10545775" cy="365760"/>
          </a:xfrm>
          <a:prstGeom prst="rect">
            <a:avLst/>
          </a:prstGeom>
          <a:noFill/>
        </p:spPr>
        <p:txBody>
          <a:bodyPr wrap="square" lIns="0" rIns="0" tIns="0" bIns="0" anchor="t">
            <a:spAutoFit/>
          </a:bodyPr>
          <a:lstStyle/>
          <a:p>
            <a:pPr algn="l">
              <a:lnSpc>
                <a:spcPct val="115000"/>
              </a:lnSpc>
              <a:spcAft>
                <a:spcPts val="100"/>
              </a:spcAft>
            </a:pPr>
            <a:r>
              <a:rPr sz="1400" b="1" i="0">
                <a:solidFill>
                  <a:srgbClr val="E8ECF2"/>
                </a:solidFill>
                <a:latin typeface="Calibri"/>
              </a:rPr>
              <a:t>Safeguards are welded to one gateway and one provider</a:t>
            </a:r>
          </a:p>
          <a:p>
            <a:pPr algn="l">
              <a:lnSpc>
                <a:spcPct val="115000"/>
              </a:lnSpc>
              <a:spcAft>
                <a:spcPts val="0"/>
              </a:spcAft>
            </a:pPr>
            <a:r>
              <a:rPr sz="1200" b="0" i="0">
                <a:solidFill>
                  <a:srgbClr val="98A4B3"/>
                </a:solidFill>
                <a:latin typeface="Calibri"/>
              </a:rPr>
              <a:t>Where guardrail logic exists, it sits inside a specific LiteLLM configuration or is shaped around a single provider's response format — so it cannot be reused by a team that runs something else.</a:t>
            </a:r>
          </a:p>
        </p:txBody>
      </p:sp>
      <p:sp>
        <p:nvSpPr>
          <p:cNvPr id="10" name="Rectangle 9"/>
          <p:cNvSpPr/>
          <p:nvPr/>
        </p:nvSpPr>
        <p:spPr>
          <a:xfrm>
            <a:off x="685800" y="3360420"/>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282696"/>
            <a:ext cx="10545775" cy="365760"/>
          </a:xfrm>
          <a:prstGeom prst="rect">
            <a:avLst/>
          </a:prstGeom>
          <a:noFill/>
        </p:spPr>
        <p:txBody>
          <a:bodyPr wrap="square" lIns="0" rIns="0" tIns="0" bIns="0" anchor="t">
            <a:spAutoFit/>
          </a:bodyPr>
          <a:lstStyle/>
          <a:p>
            <a:pPr algn="l">
              <a:lnSpc>
                <a:spcPct val="115000"/>
              </a:lnSpc>
              <a:spcAft>
                <a:spcPts val="100"/>
              </a:spcAft>
            </a:pPr>
            <a:r>
              <a:rPr sz="1400" b="1" i="0">
                <a:solidFill>
                  <a:srgbClr val="E8ECF2"/>
                </a:solidFill>
                <a:latin typeface="Calibri"/>
              </a:rPr>
              <a:t>No graduated path from adoption to enforcement</a:t>
            </a:r>
          </a:p>
          <a:p>
            <a:pPr algn="l">
              <a:lnSpc>
                <a:spcPct val="115000"/>
              </a:lnSpc>
              <a:spcAft>
                <a:spcPts val="0"/>
              </a:spcAft>
            </a:pPr>
            <a:r>
              <a:rPr sz="1200" b="0" i="0">
                <a:solidFill>
                  <a:srgbClr val="98A4B3"/>
                </a:solidFill>
                <a:latin typeface="Calibri"/>
              </a:rPr>
              <a:t>Without a way to observe a policy's real behaviour before it can block traffic, a team's only choices are ship unguarded or risk an outage.</a:t>
            </a:r>
          </a:p>
        </p:txBody>
      </p:sp>
      <p:sp>
        <p:nvSpPr>
          <p:cNvPr id="12" name="Rectangle 11"/>
          <p:cNvSpPr/>
          <p:nvPr/>
        </p:nvSpPr>
        <p:spPr>
          <a:xfrm>
            <a:off x="685800" y="4064507"/>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986783"/>
            <a:ext cx="10545775" cy="365760"/>
          </a:xfrm>
          <a:prstGeom prst="rect">
            <a:avLst/>
          </a:prstGeom>
          <a:noFill/>
        </p:spPr>
        <p:txBody>
          <a:bodyPr wrap="square" lIns="0" rIns="0" tIns="0" bIns="0" anchor="t">
            <a:spAutoFit/>
          </a:bodyPr>
          <a:lstStyle/>
          <a:p>
            <a:pPr algn="l">
              <a:lnSpc>
                <a:spcPct val="115000"/>
              </a:lnSpc>
              <a:spcAft>
                <a:spcPts val="100"/>
              </a:spcAft>
            </a:pPr>
            <a:r>
              <a:rPr sz="1400" b="1" i="0">
                <a:solidFill>
                  <a:srgbClr val="E8ECF2"/>
                </a:solidFill>
                <a:latin typeface="Calibri"/>
              </a:rPr>
              <a:t>Inconsistent data-exposure posture</a:t>
            </a:r>
          </a:p>
          <a:p>
            <a:pPr algn="l">
              <a:lnSpc>
                <a:spcPct val="115000"/>
              </a:lnSpc>
              <a:spcAft>
                <a:spcPts val="0"/>
              </a:spcAft>
            </a:pPr>
            <a:r>
              <a:rPr sz="1200" b="0" i="0">
                <a:solidFill>
                  <a:srgbClr val="98A4B3"/>
                </a:solidFill>
                <a:latin typeface="Calibri"/>
              </a:rPr>
              <a:t>Some teams can accept a hosted evaluation service; others need content to stay inside their own AWS account. No single product serves both under one policy model.</a:t>
            </a:r>
          </a:p>
        </p:txBody>
      </p:sp>
      <p:sp>
        <p:nvSpPr>
          <p:cNvPr id="14" name="Rectangle 13"/>
          <p:cNvSpPr/>
          <p:nvPr/>
        </p:nvSpPr>
        <p:spPr>
          <a:xfrm>
            <a:off x="685800" y="4768595"/>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690871"/>
            <a:ext cx="10545775" cy="365760"/>
          </a:xfrm>
          <a:prstGeom prst="rect">
            <a:avLst/>
          </a:prstGeom>
          <a:noFill/>
        </p:spPr>
        <p:txBody>
          <a:bodyPr wrap="square" lIns="0" rIns="0" tIns="0" bIns="0" anchor="t">
            <a:spAutoFit/>
          </a:bodyPr>
          <a:lstStyle/>
          <a:p>
            <a:pPr algn="l">
              <a:lnSpc>
                <a:spcPct val="115000"/>
              </a:lnSpc>
              <a:spcAft>
                <a:spcPts val="100"/>
              </a:spcAft>
            </a:pPr>
            <a:r>
              <a:rPr sz="1400" b="1" i="0">
                <a:solidFill>
                  <a:srgbClr val="E8ECF2"/>
                </a:solidFill>
                <a:latin typeface="Calibri"/>
              </a:rPr>
              <a:t>Cooperative integrations get mistaken for controls</a:t>
            </a:r>
          </a:p>
          <a:p>
            <a:pPr algn="l">
              <a:lnSpc>
                <a:spcPct val="115000"/>
              </a:lnSpc>
              <a:spcAft>
                <a:spcPts val="0"/>
              </a:spcAft>
            </a:pPr>
            <a:r>
              <a:rPr sz="1200" b="0" i="0">
                <a:solidFill>
                  <a:srgbClr val="98A4B3"/>
                </a:solidFill>
                <a:latin typeface="Calibri"/>
              </a:rPr>
              <a:t>A voluntary connector that can be removed or misconfigured is sometimes treated as a guaranteed security boundary.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Why this is costing us</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Five dimensions of impact — stated qualitatively, because no dollar figure exists in the source material.</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Source: EXECUTIVE-BRIEF §3 · RISK-REGISTER.md · AGR-002 (Mode C)</a:t>
            </a:r>
          </a:p>
        </p:txBody>
      </p:sp>
      <p:graphicFrame>
        <p:nvGraphicFramePr>
          <p:cNvPr id="6" name="Table 5"/>
          <p:cNvGraphicFramePr>
            <a:graphicFrameLocks noGrp="1"/>
          </p:cNvGraphicFramePr>
          <p:nvPr/>
        </p:nvGraphicFramePr>
        <p:xfrm>
          <a:off x="685800" y="1828800"/>
          <a:ext cx="10820094" cy="3438144"/>
        </p:xfrm>
        <a:graphic>
          <a:graphicData uri="http://schemas.openxmlformats.org/drawingml/2006/table">
            <a:tbl>
              <a:tblPr firstRow="1">
                <a:tableStyleId>{5C22544A-7EE6-4342-B048-85BDC9FD1C3A}</a:tableStyleId>
              </a:tblPr>
              <a:tblGrid>
                <a:gridCol w="2813224"/>
                <a:gridCol w="8006870"/>
              </a:tblGrid>
              <a:tr h="384048">
                <a:tc>
                  <a:txBody>
                    <a:bodyPr wrap="square"/>
                    <a:lstStyle/>
                    <a:p>
                      <a:pPr algn="l">
                        <a:lnSpc>
                          <a:spcPct val="105000"/>
                        </a:lnSpc>
                        <a:spcAft>
                          <a:spcPts val="0"/>
                        </a:spcAft>
                      </a:pPr>
                      <a:r>
                        <a:rPr sz="1100" b="1" i="0">
                          <a:solidFill>
                            <a:srgbClr val="5AA0E0"/>
                          </a:solidFill>
                          <a:latin typeface="Calibri"/>
                        </a:rPr>
                        <a:t>Dimension</a:t>
                      </a:r>
                    </a:p>
                  </a:txBody>
                  <a:tcPr marL="91440" marR="91440" marT="45720" marB="45720" anchor="ctr">
                    <a:solidFill>
                      <a:srgbClr val="1D242C"/>
                    </a:solidFill>
                  </a:tcPr>
                </a:tc>
                <a:tc>
                  <a:txBody>
                    <a:bodyPr wrap="square"/>
                    <a:lstStyle/>
                    <a:p>
                      <a:pPr algn="l">
                        <a:lnSpc>
                          <a:spcPct val="105000"/>
                        </a:lnSpc>
                        <a:spcAft>
                          <a:spcPts val="0"/>
                        </a:spcAft>
                      </a:pPr>
                      <a:r>
                        <a:rPr sz="1100" b="1" i="0">
                          <a:solidFill>
                            <a:srgbClr val="5AA0E0"/>
                          </a:solidFill>
                          <a:latin typeface="Calibri"/>
                        </a:rPr>
                        <a:t>Impact of the current gap</a:t>
                      </a:r>
                    </a:p>
                  </a:txBody>
                  <a:tcPr marL="91440" marR="91440" marT="45720" marB="45720" anchor="ctr">
                    <a:solidFill>
                      <a:srgbClr val="1D242C"/>
                    </a:solidFill>
                  </a:tcPr>
                </a:tc>
              </a:tr>
              <a:tr h="621792">
                <a:tc>
                  <a:txBody>
                    <a:bodyPr wrap="square"/>
                    <a:lstStyle/>
                    <a:p>
                      <a:pPr algn="l">
                        <a:lnSpc>
                          <a:spcPct val="105000"/>
                        </a:lnSpc>
                        <a:spcAft>
                          <a:spcPts val="0"/>
                        </a:spcAft>
                      </a:pPr>
                      <a:r>
                        <a:rPr sz="1200" b="1" i="0">
                          <a:solidFill>
                            <a:srgbClr val="E8ECF2"/>
                          </a:solidFill>
                          <a:latin typeface="Calibri"/>
                        </a:rPr>
                        <a:t>Governance consistency</a:t>
                      </a:r>
                    </a:p>
                  </a:txBody>
                  <a:tcPr marL="91440" marR="91440" marT="45720" marB="45720" anchor="ctr">
                    <a:solidFill>
                      <a:srgbClr val="161C23"/>
                    </a:solidFill>
                  </a:tcPr>
                </a:tc>
                <a:tc>
                  <a:txBody>
                    <a:bodyPr wrap="square"/>
                    <a:lstStyle/>
                    <a:p>
                      <a:pPr algn="l">
                        <a:lnSpc>
                          <a:spcPct val="105000"/>
                        </a:lnSpc>
                        <a:spcAft>
                          <a:spcPts val="0"/>
                        </a:spcAft>
                      </a:pPr>
                      <a:r>
                        <a:rPr sz="1200" b="0" i="0">
                          <a:solidFill>
                            <a:srgbClr val="E8ECF2"/>
                          </a:solidFill>
                          <a:latin typeface="Calibri"/>
                        </a:rPr>
                        <a:t>Security and compliance lack policy-version traceability, decision evidence, and any proof that policies are actually applied across teams.</a:t>
                      </a:r>
                    </a:p>
                  </a:txBody>
                  <a:tcPr marL="91440" marR="91440" marT="45720" marB="45720" anchor="ctr">
                    <a:solidFill>
                      <a:srgbClr val="161C23"/>
                    </a:solidFill>
                  </a:tcPr>
                </a:tc>
              </a:tr>
              <a:tr h="621792">
                <a:tc>
                  <a:txBody>
                    <a:bodyPr wrap="square"/>
                    <a:lstStyle/>
                    <a:p>
                      <a:pPr algn="l">
                        <a:lnSpc>
                          <a:spcPct val="105000"/>
                        </a:lnSpc>
                        <a:spcAft>
                          <a:spcPts val="0"/>
                        </a:spcAft>
                      </a:pPr>
                      <a:r>
                        <a:rPr sz="1200" b="1" i="0">
                          <a:solidFill>
                            <a:srgbClr val="E8ECF2"/>
                          </a:solidFill>
                          <a:latin typeface="Calibri"/>
                        </a:rPr>
                        <a:t>Engineering duplication</a:t>
                      </a:r>
                    </a:p>
                  </a:txBody>
                  <a:tcPr marL="91440" marR="91440" marT="45720" marB="45720" anchor="ctr">
                    <a:solidFill>
                      <a:srgbClr val="12161B"/>
                    </a:solidFill>
                  </a:tcPr>
                </a:tc>
                <a:tc>
                  <a:txBody>
                    <a:bodyPr wrap="square"/>
                    <a:lstStyle/>
                    <a:p>
                      <a:pPr algn="l">
                        <a:lnSpc>
                          <a:spcPct val="105000"/>
                        </a:lnSpc>
                        <a:spcAft>
                          <a:spcPts val="0"/>
                        </a:spcAft>
                      </a:pPr>
                      <a:r>
                        <a:rPr sz="1200" b="0" i="0">
                          <a:solidFill>
                            <a:srgbClr val="E8ECF2"/>
                          </a:solidFill>
                          <a:latin typeface="Calibri"/>
                        </a:rPr>
                        <a:t>Every team that wants LLM safeguards builds or integrates its own detection and enforcement logic instead of reusing a shared policy.</a:t>
                      </a:r>
                    </a:p>
                  </a:txBody>
                  <a:tcPr marL="91440" marR="91440" marT="45720" marB="45720" anchor="ctr">
                    <a:solidFill>
                      <a:srgbClr val="12161B"/>
                    </a:solidFill>
                  </a:tcPr>
                </a:tc>
              </a:tr>
              <a:tr h="621792">
                <a:tc>
                  <a:txBody>
                    <a:bodyPr wrap="square"/>
                    <a:lstStyle/>
                    <a:p>
                      <a:pPr algn="l">
                        <a:lnSpc>
                          <a:spcPct val="105000"/>
                        </a:lnSpc>
                        <a:spcAft>
                          <a:spcPts val="0"/>
                        </a:spcAft>
                      </a:pPr>
                      <a:r>
                        <a:rPr sz="1200" b="1" i="0">
                          <a:solidFill>
                            <a:srgbClr val="E8ECF2"/>
                          </a:solidFill>
                          <a:latin typeface="Calibri"/>
                        </a:rPr>
                        <a:t>Adoption risk</a:t>
                      </a:r>
                    </a:p>
                  </a:txBody>
                  <a:tcPr marL="91440" marR="91440" marT="45720" marB="45720" anchor="ctr">
                    <a:solidFill>
                      <a:srgbClr val="161C23"/>
                    </a:solidFill>
                  </a:tcPr>
                </a:tc>
                <a:tc>
                  <a:txBody>
                    <a:bodyPr wrap="square"/>
                    <a:lstStyle/>
                    <a:p>
                      <a:pPr algn="l">
                        <a:lnSpc>
                          <a:spcPct val="105000"/>
                        </a:lnSpc>
                        <a:spcAft>
                          <a:spcPts val="0"/>
                        </a:spcAft>
                      </a:pPr>
                      <a:r>
                        <a:rPr sz="1200" b="0" i="0">
                          <a:solidFill>
                            <a:srgbClr val="E8ECF2"/>
                          </a:solidFill>
                          <a:latin typeface="Calibri"/>
                        </a:rPr>
                        <a:t>With no observe-before-enforce path, teams choose between shipping without safeguards and risking broken production traffic from an unproven policy.</a:t>
                      </a:r>
                    </a:p>
                  </a:txBody>
                  <a:tcPr marL="91440" marR="91440" marT="45720" marB="45720" anchor="ctr">
                    <a:solidFill>
                      <a:srgbClr val="161C23"/>
                    </a:solidFill>
                  </a:tcPr>
                </a:tc>
              </a:tr>
              <a:tr h="621792">
                <a:tc>
                  <a:txBody>
                    <a:bodyPr wrap="square"/>
                    <a:lstStyle/>
                    <a:p>
                      <a:pPr algn="l">
                        <a:lnSpc>
                          <a:spcPct val="105000"/>
                        </a:lnSpc>
                        <a:spcAft>
                          <a:spcPts val="0"/>
                        </a:spcAft>
                      </a:pPr>
                      <a:r>
                        <a:rPr sz="1200" b="1" i="0">
                          <a:solidFill>
                            <a:srgbClr val="E8ECF2"/>
                          </a:solidFill>
                          <a:latin typeface="Calibri"/>
                        </a:rPr>
                        <a:t>Compliance and residency</a:t>
                      </a:r>
                    </a:p>
                  </a:txBody>
                  <a:tcPr marL="91440" marR="91440" marT="45720" marB="45720" anchor="ctr">
                    <a:solidFill>
                      <a:srgbClr val="12161B"/>
                    </a:solidFill>
                  </a:tcPr>
                </a:tc>
                <a:tc>
                  <a:txBody>
                    <a:bodyPr wrap="square"/>
                    <a:lstStyle/>
                    <a:p>
                      <a:pPr algn="l">
                        <a:lnSpc>
                          <a:spcPct val="105000"/>
                        </a:lnSpc>
                        <a:spcAft>
                          <a:spcPts val="0"/>
                        </a:spcAft>
                      </a:pPr>
                      <a:r>
                        <a:rPr sz="1200" b="0" i="0">
                          <a:solidFill>
                            <a:srgbClr val="E8ECF2"/>
                          </a:solidFill>
                          <a:latin typeface="Calibri"/>
                        </a:rPr>
                        <a:t>Regulated, high-volume, or residency-sensitive workloads have no defined way to adopt central guardrails without their content leaving their own AWS environment.</a:t>
                      </a:r>
                    </a:p>
                  </a:txBody>
                  <a:tcPr marL="91440" marR="91440" marT="45720" marB="45720" anchor="ctr">
                    <a:solidFill>
                      <a:srgbClr val="12161B"/>
                    </a:solidFill>
                  </a:tcPr>
                </a:tc>
              </a:tr>
              <a:tr h="566928">
                <a:tc>
                  <a:txBody>
                    <a:bodyPr wrap="square"/>
                    <a:lstStyle/>
                    <a:p>
                      <a:pPr algn="l">
                        <a:lnSpc>
                          <a:spcPct val="105000"/>
                        </a:lnSpc>
                        <a:spcAft>
                          <a:spcPts val="0"/>
                        </a:spcAft>
                      </a:pPr>
                      <a:r>
                        <a:rPr sz="1200" b="1" i="0">
                          <a:solidFill>
                            <a:srgbClr val="E8ECF2"/>
                          </a:solidFill>
                          <a:latin typeface="Calibri"/>
                        </a:rPr>
                        <a:t>False assurance</a:t>
                      </a:r>
                    </a:p>
                  </a:txBody>
                  <a:tcPr marL="91440" marR="91440" marT="45720" marB="45720" anchor="ctr">
                    <a:solidFill>
                      <a:srgbClr val="161C23"/>
                    </a:solidFill>
                  </a:tcPr>
                </a:tc>
                <a:tc>
                  <a:txBody>
                    <a:bodyPr wrap="square"/>
                    <a:lstStyle/>
                    <a:p>
                      <a:pPr algn="l">
                        <a:lnSpc>
                          <a:spcPct val="105000"/>
                        </a:lnSpc>
                        <a:spcAft>
                          <a:spcPts val="0"/>
                        </a:spcAft>
                      </a:pPr>
                      <a:r>
                        <a:rPr sz="1200" b="0" i="0">
                          <a:solidFill>
                            <a:srgbClr val="E8ECF2"/>
                          </a:solidFill>
                          <a:latin typeface="Calibri"/>
                        </a:rPr>
                        <a:t>Stakeholders may mistake a removable, cooperative integration for a hard security boundary.</a:t>
                      </a:r>
                    </a:p>
                  </a:txBody>
                  <a:tcPr marL="91440" marR="91440" marT="45720" marB="45720" anchor="ctr">
                    <a:solidFill>
                      <a:srgbClr val="161C23"/>
                    </a:solidFill>
                  </a:tcPr>
                </a:tc>
              </a:tr>
            </a:tbl>
          </a:graphicData>
        </a:graphic>
      </p:graphicFrame>
      <p:sp>
        <p:nvSpPr>
          <p:cNvPr id="7" name="TextBox 6"/>
          <p:cNvSpPr txBox="1"/>
          <p:nvPr/>
        </p:nvSpPr>
        <p:spPr>
          <a:xfrm>
            <a:off x="685800" y="5669280"/>
            <a:ext cx="10820095" cy="457200"/>
          </a:xfrm>
          <a:prstGeom prst="rect">
            <a:avLst/>
          </a:prstGeom>
          <a:noFill/>
        </p:spPr>
        <p:txBody>
          <a:bodyPr wrap="square" lIns="0" rIns="0" tIns="0" bIns="0" anchor="t">
            <a:spAutoFit/>
          </a:bodyPr>
          <a:lstStyle/>
          <a:p>
            <a:pPr algn="l">
              <a:lnSpc>
                <a:spcPct val="115000"/>
              </a:lnSpc>
              <a:spcAft>
                <a:spcPts val="0"/>
              </a:spcAft>
            </a:pPr>
            <a:r>
              <a:rPr sz="1150" b="0" i="0">
                <a:solidFill>
                  <a:srgbClr val="98A4B3"/>
                </a:solidFill>
                <a:latin typeface="Calibri"/>
              </a:rPr>
              <a:t>Incident cost, duplicated engineering hours, and compliance exposure in dollar terms are TBD — not present in the source material and deliberately not estimated here.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Introducing AI Guardrails</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Source: CLAIMS-REGISTER.md — Product statement (quoted verbatim) · AGR-001</a:t>
            </a:r>
          </a:p>
        </p:txBody>
      </p:sp>
      <p:sp>
        <p:nvSpPr>
          <p:cNvPr id="5" name="Rounded Rectangle 4"/>
          <p:cNvSpPr/>
          <p:nvPr/>
        </p:nvSpPr>
        <p:spPr>
          <a:xfrm>
            <a:off x="685800" y="1737360"/>
            <a:ext cx="10820095" cy="269748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737360"/>
            <a:ext cx="68580" cy="2697480"/>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2039112"/>
            <a:ext cx="9722815" cy="2286000"/>
          </a:xfrm>
          <a:prstGeom prst="rect">
            <a:avLst/>
          </a:prstGeom>
          <a:noFill/>
        </p:spPr>
        <p:txBody>
          <a:bodyPr wrap="square" lIns="0" rIns="0" tIns="0" bIns="0" anchor="t">
            <a:spAutoFit/>
          </a:bodyPr>
          <a:lstStyle/>
          <a:p>
            <a:pPr algn="l">
              <a:lnSpc>
                <a:spcPct val="125000"/>
              </a:lnSpc>
              <a:spcAft>
                <a:spcPts val="1000"/>
              </a:spcAft>
            </a:pPr>
            <a:r>
              <a:rPr sz="1900" b="0" i="0">
                <a:solidFill>
                  <a:srgbClr val="E8ECF2"/>
                </a:solidFill>
                <a:latin typeface="Calibri"/>
              </a:rPr>
              <a:t>AI Guardrails is an AWS-based policy and enforcement platform that applies reusable safeguards to LLM applications and gateways. Teams may connect their existing LiteLLM instance to a hosted Evaluation API, consume a fully managed Guarded Gateway, or deploy the same guardrail runtime within their own AWS account. Policies remain portable across all three modes, while operational ownership and content exposure are explicitly defined for each deployment.</a:t>
            </a:r>
          </a:p>
          <a:p>
            <a:pPr algn="l">
              <a:lnSpc>
                <a:spcPct val="115000"/>
              </a:lnSpc>
              <a:spcAft>
                <a:spcPts val="0"/>
              </a:spcAft>
            </a:pPr>
            <a:r>
              <a:rPr sz="1150" b="0" i="1">
                <a:solidFill>
                  <a:srgbClr val="98A4B3"/>
                </a:solidFill>
                <a:latin typeface="Calibri"/>
              </a:rPr>
              <a:t>— Product statement, CLAIMS-REGISTER.md</a:t>
            </a:r>
          </a:p>
        </p:txBody>
      </p:sp>
      <p:sp>
        <p:nvSpPr>
          <p:cNvPr id="8" name="TextBox 7"/>
          <p:cNvSpPr txBox="1"/>
          <p:nvPr/>
        </p:nvSpPr>
        <p:spPr>
          <a:xfrm>
            <a:off x="685800" y="4892040"/>
            <a:ext cx="10820095" cy="822960"/>
          </a:xfrm>
          <a:prstGeom prst="rect">
            <a:avLst/>
          </a:prstGeom>
          <a:noFill/>
        </p:spPr>
        <p:txBody>
          <a:bodyPr wrap="square" lIns="0" rIns="0" tIns="0" bIns="0" anchor="t">
            <a:spAutoFit/>
          </a:bodyPr>
          <a:lstStyle/>
          <a:p>
            <a:pPr algn="l">
              <a:lnSpc>
                <a:spcPct val="115000"/>
              </a:lnSpc>
              <a:spcAft>
                <a:spcPts val="600"/>
              </a:spcAft>
            </a:pPr>
            <a:r>
              <a:rPr sz="2000" b="1" i="0">
                <a:solidFill>
                  <a:srgbClr val="5AA0E0"/>
                </a:solidFill>
                <a:latin typeface="Calibri"/>
              </a:rPr>
              <a:t>A standalone platform — not a feature inside one team's LiteLLM.</a:t>
            </a:r>
          </a:p>
          <a:p>
            <a:pPr algn="l">
              <a:lnSpc>
                <a:spcPct val="115000"/>
              </a:lnSpc>
              <a:spcAft>
                <a:spcPts val="0"/>
              </a:spcAft>
            </a:pPr>
            <a:r>
              <a:rPr sz="1300" b="0" i="0">
                <a:solidFill>
                  <a:srgbClr val="98A4B3"/>
                </a:solidFill>
                <a:latin typeface="Calibri"/>
              </a:rPr>
              <a:t>Its runtime, versioning, release cadence, and roadmap are independent of any single gateway's lifecycle.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How it works, at a glance</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Three layers: a control plane that owns policy, a runtime that decides, and evaluation engines that detect.</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Source: CONTAINER-ARCHITECTURE.md §1 (container map) · AGR-004</a:t>
            </a:r>
          </a:p>
        </p:txBody>
      </p:sp>
      <p:sp>
        <p:nvSpPr>
          <p:cNvPr id="6" name="Rounded Rectangle 5"/>
          <p:cNvSpPr/>
          <p:nvPr/>
        </p:nvSpPr>
        <p:spPr>
          <a:xfrm>
            <a:off x="4160520" y="1828800"/>
            <a:ext cx="3886200" cy="96012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400" b="1" i="0">
                <a:solidFill>
                  <a:srgbClr val="E8ECF2"/>
                </a:solidFill>
                <a:latin typeface="Calibri"/>
              </a:rPr>
              <a:t>Guardrails Control Plane</a:t>
            </a:r>
          </a:p>
          <a:p>
            <a:pPr algn="ctr">
              <a:lnSpc>
                <a:spcPct val="115000"/>
              </a:lnSpc>
              <a:spcAft>
                <a:spcPts val="200"/>
              </a:spcAft>
            </a:pPr>
            <a:r>
              <a:rPr sz="1250" b="0" i="0">
                <a:solidFill>
                  <a:srgbClr val="98A4B3"/>
                </a:solidFill>
                <a:latin typeface="Calibri"/>
              </a:rPr>
              <a:t>Tenants · Workloads · Policies · Bindings · Rollouts</a:t>
            </a:r>
          </a:p>
        </p:txBody>
      </p:sp>
      <p:cxnSp>
        <p:nvCxnSpPr>
          <p:cNvPr id="7" name="Connector 6"/>
          <p:cNvCxnSpPr/>
          <p:nvPr/>
        </p:nvCxnSpPr>
        <p:spPr>
          <a:xfrm>
            <a:off x="6103620" y="2788920"/>
            <a:ext cx="0" cy="566928"/>
          </a:xfrm>
          <a:prstGeom prst="line">
            <a:avLst/>
          </a:prstGeom>
          <a:ln w="15875">
            <a:solidFill>
              <a:srgbClr val="5AA0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172200" y="2898648"/>
            <a:ext cx="2377440" cy="347472"/>
          </a:xfrm>
          <a:prstGeom prst="rect">
            <a:avLst/>
          </a:prstGeom>
          <a:noFill/>
        </p:spPr>
        <p:txBody>
          <a:bodyPr wrap="square" lIns="0" rIns="0" tIns="0" bIns="0" anchor="t">
            <a:spAutoFit/>
          </a:bodyPr>
          <a:lstStyle/>
          <a:p>
            <a:pPr algn="l">
              <a:lnSpc>
                <a:spcPct val="110000"/>
              </a:lnSpc>
              <a:spcAft>
                <a:spcPts val="0"/>
              </a:spcAft>
            </a:pPr>
            <a:r>
              <a:rPr sz="950" b="0" i="0">
                <a:solidFill>
                  <a:srgbClr val="98A4B3"/>
                </a:solidFill>
                <a:latin typeface="Calibri"/>
              </a:rPr>
              <a:t>policy distribution (async)</a:t>
            </a:r>
          </a:p>
        </p:txBody>
      </p:sp>
      <p:sp>
        <p:nvSpPr>
          <p:cNvPr id="9" name="Rounded Rectangle 8"/>
          <p:cNvSpPr/>
          <p:nvPr/>
        </p:nvSpPr>
        <p:spPr>
          <a:xfrm>
            <a:off x="822960" y="3429000"/>
            <a:ext cx="2240280" cy="50292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0" i="0">
                <a:solidFill>
                  <a:srgbClr val="E8ECF2"/>
                </a:solidFill>
                <a:latin typeface="Calibri"/>
              </a:rPr>
              <a:t>LiteLLM Connector</a:t>
            </a:r>
          </a:p>
        </p:txBody>
      </p:sp>
      <p:cxnSp>
        <p:nvCxnSpPr>
          <p:cNvPr id="10" name="Connector 9"/>
          <p:cNvCxnSpPr/>
          <p:nvPr/>
        </p:nvCxnSpPr>
        <p:spPr>
          <a:xfrm>
            <a:off x="3081528" y="3680460"/>
            <a:ext cx="1033272" cy="187451"/>
          </a:xfrm>
          <a:prstGeom prst="line">
            <a:avLst/>
          </a:prstGeom>
          <a:ln w="15875">
            <a:solidFill>
              <a:srgbClr val="5AA0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22960" y="4087368"/>
            <a:ext cx="2240280" cy="50292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0" i="0">
                <a:solidFill>
                  <a:srgbClr val="E8ECF2"/>
                </a:solidFill>
                <a:latin typeface="Calibri"/>
              </a:rPr>
              <a:t>Generic SDK</a:t>
            </a:r>
          </a:p>
        </p:txBody>
      </p:sp>
      <p:cxnSp>
        <p:nvCxnSpPr>
          <p:cNvPr id="12" name="Connector 11"/>
          <p:cNvCxnSpPr/>
          <p:nvPr/>
        </p:nvCxnSpPr>
        <p:spPr>
          <a:xfrm flipV="1">
            <a:off x="3081528" y="3867911"/>
            <a:ext cx="1033272" cy="470917"/>
          </a:xfrm>
          <a:prstGeom prst="line">
            <a:avLst/>
          </a:prstGeom>
          <a:ln w="15875">
            <a:solidFill>
              <a:srgbClr val="5AA0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22960" y="4745736"/>
            <a:ext cx="2240280" cy="50292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0" i="0">
                <a:solidFill>
                  <a:srgbClr val="E8ECF2"/>
                </a:solidFill>
                <a:latin typeface="Calibri"/>
              </a:rPr>
              <a:t>Guarded Gateway</a:t>
            </a:r>
          </a:p>
        </p:txBody>
      </p:sp>
      <p:cxnSp>
        <p:nvCxnSpPr>
          <p:cNvPr id="14" name="Connector 13"/>
          <p:cNvCxnSpPr/>
          <p:nvPr/>
        </p:nvCxnSpPr>
        <p:spPr>
          <a:xfrm flipV="1">
            <a:off x="3081528" y="3867911"/>
            <a:ext cx="1033272" cy="1129285"/>
          </a:xfrm>
          <a:prstGeom prst="line">
            <a:avLst/>
          </a:prstGeom>
          <a:ln w="15875">
            <a:solidFill>
              <a:srgbClr val="5AA0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22960" y="5477256"/>
            <a:ext cx="2240280" cy="347472"/>
          </a:xfrm>
          <a:prstGeom prst="rect">
            <a:avLst/>
          </a:prstGeom>
          <a:noFill/>
        </p:spPr>
        <p:txBody>
          <a:bodyPr wrap="square" lIns="0" rIns="0" tIns="0" bIns="0" anchor="t">
            <a:spAutoFit/>
          </a:bodyPr>
          <a:lstStyle/>
          <a:p>
            <a:pPr algn="ctr">
              <a:lnSpc>
                <a:spcPct val="110000"/>
              </a:lnSpc>
              <a:spcAft>
                <a:spcPts val="0"/>
              </a:spcAft>
            </a:pPr>
            <a:r>
              <a:rPr sz="950" b="0" i="0">
                <a:solidFill>
                  <a:srgbClr val="98A4B3"/>
                </a:solidFill>
                <a:latin typeface="Calibri"/>
              </a:rPr>
              <a:t>entry points — evaluation calls</a:t>
            </a:r>
          </a:p>
        </p:txBody>
      </p:sp>
      <p:sp>
        <p:nvSpPr>
          <p:cNvPr id="16" name="Rounded Rectangle 15"/>
          <p:cNvSpPr/>
          <p:nvPr/>
        </p:nvSpPr>
        <p:spPr>
          <a:xfrm>
            <a:off x="4160520" y="3383280"/>
            <a:ext cx="3886200" cy="132588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400" b="1" i="0">
                <a:solidFill>
                  <a:srgbClr val="E8ECF2"/>
                </a:solidFill>
                <a:latin typeface="Calibri"/>
              </a:rPr>
              <a:t>Guardrails Runtime</a:t>
            </a:r>
          </a:p>
          <a:p>
            <a:pPr algn="ctr">
              <a:lnSpc>
                <a:spcPct val="115000"/>
              </a:lnSpc>
              <a:spcAft>
                <a:spcPts val="200"/>
              </a:spcAft>
            </a:pPr>
            <a:r>
              <a:rPr sz="1250" b="0" i="0">
                <a:solidFill>
                  <a:srgbClr val="98A4B3"/>
                </a:solidFill>
                <a:latin typeface="Calibri"/>
              </a:rPr>
              <a:t>Evaluation API · Policy resolver · Decision engine · Evaluator adapters · Audit producer</a:t>
            </a:r>
          </a:p>
        </p:txBody>
      </p:sp>
      <p:cxnSp>
        <p:nvCxnSpPr>
          <p:cNvPr id="17" name="Connector 16"/>
          <p:cNvCxnSpPr/>
          <p:nvPr/>
        </p:nvCxnSpPr>
        <p:spPr>
          <a:xfrm>
            <a:off x="8092440" y="4041648"/>
            <a:ext cx="822960" cy="0"/>
          </a:xfrm>
          <a:prstGeom prst="line">
            <a:avLst/>
          </a:prstGeom>
          <a:ln w="15875">
            <a:solidFill>
              <a:srgbClr val="5AA0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942832" y="3383280"/>
            <a:ext cx="2560320" cy="132588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Evaluation engines</a:t>
            </a:r>
          </a:p>
          <a:p>
            <a:pPr algn="ctr">
              <a:lnSpc>
                <a:spcPct val="115000"/>
              </a:lnSpc>
              <a:spcAft>
                <a:spcPts val="200"/>
              </a:spcAft>
            </a:pPr>
            <a:r>
              <a:rPr sz="1150" b="0" i="0">
                <a:solidFill>
                  <a:srgbClr val="98A4B3"/>
                </a:solidFill>
                <a:latin typeface="Calibri"/>
              </a:rPr>
              <a:t>Bedrock Guardrails · Deterministic rules · PII evaluators · Schema validators</a:t>
            </a:r>
          </a:p>
        </p:txBody>
      </p:sp>
      <p:cxnSp>
        <p:nvCxnSpPr>
          <p:cNvPr id="19" name="Connector 18"/>
          <p:cNvCxnSpPr/>
          <p:nvPr/>
        </p:nvCxnSpPr>
        <p:spPr>
          <a:xfrm>
            <a:off x="6103620" y="4727448"/>
            <a:ext cx="0" cy="457200"/>
          </a:xfrm>
          <a:prstGeom prst="line">
            <a:avLst/>
          </a:prstGeom>
          <a:ln w="15875">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160520" y="5202936"/>
            <a:ext cx="3886200" cy="438912"/>
          </a:xfrm>
          <a:prstGeom prst="roundRect">
            <a:avLst>
              <a:gd name="adj" fmla="val 8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150" b="0" i="0">
                <a:solidFill>
                  <a:srgbClr val="98A4B3"/>
                </a:solidFill>
                <a:latin typeface="Calibri"/>
              </a:rPr>
              <a:t>Audit events → Amazon SQS → Amazon S3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Policy vs. connector</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This separation is mandatory — it is what lets one policy span many gateways.</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Source: AGR-007 · PRINCIPLES.md §5.3 · AGR-005</a:t>
            </a:r>
          </a:p>
        </p:txBody>
      </p:sp>
      <p:sp>
        <p:nvSpPr>
          <p:cNvPr id="6" name="Rounded Rectangle 5"/>
          <p:cNvSpPr/>
          <p:nvPr/>
        </p:nvSpPr>
        <p:spPr>
          <a:xfrm>
            <a:off x="685800" y="1920240"/>
            <a:ext cx="5074920" cy="566928"/>
          </a:xfrm>
          <a:prstGeom prst="roundRect">
            <a:avLst>
              <a:gd name="adj" fmla="val 8000"/>
            </a:avLst>
          </a:prstGeom>
          <a:solidFill>
            <a:srgbClr val="2B4A69"/>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POLICY</a:t>
            </a:r>
          </a:p>
        </p:txBody>
      </p:sp>
      <p:sp>
        <p:nvSpPr>
          <p:cNvPr id="7" name="Rounded Rectangle 6"/>
          <p:cNvSpPr/>
          <p:nvPr/>
        </p:nvSpPr>
        <p:spPr>
          <a:xfrm>
            <a:off x="685800" y="2514600"/>
            <a:ext cx="5074920" cy="205740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743200"/>
            <a:ext cx="4526280" cy="1737360"/>
          </a:xfrm>
          <a:prstGeom prst="rect">
            <a:avLst/>
          </a:prstGeom>
          <a:noFill/>
        </p:spPr>
        <p:txBody>
          <a:bodyPr wrap="square" lIns="0" rIns="0" tIns="0" bIns="0" anchor="t">
            <a:spAutoFit/>
          </a:bodyPr>
          <a:lstStyle/>
          <a:p>
            <a:pPr algn="l">
              <a:lnSpc>
                <a:spcPct val="115000"/>
              </a:lnSpc>
              <a:spcAft>
                <a:spcPts val="1200"/>
              </a:spcAft>
            </a:pPr>
            <a:r>
              <a:rPr sz="1400" b="0" i="0">
                <a:solidFill>
                  <a:srgbClr val="E8ECF2"/>
                </a:solidFill>
                <a:latin typeface="Calibri"/>
              </a:rPr>
              <a:t>What must be evaluated, and how violations are handled.</a:t>
            </a:r>
          </a:p>
          <a:p>
            <a:pPr algn="l">
              <a:lnSpc>
                <a:spcPct val="115000"/>
              </a:lnSpc>
              <a:spcAft>
                <a:spcPts val="1200"/>
              </a:spcAft>
            </a:pPr>
            <a:r>
              <a:rPr sz="1600" b="1" i="0">
                <a:solidFill>
                  <a:srgbClr val="5AA0E0"/>
                </a:solidFill>
                <a:latin typeface="Calibri"/>
              </a:rPr>
              <a:t>“Detect prompt injection and block it.”</a:t>
            </a:r>
          </a:p>
          <a:p>
            <a:pPr algn="l">
              <a:lnSpc>
                <a:spcPct val="115000"/>
              </a:lnSpc>
              <a:spcAft>
                <a:spcPts val="0"/>
              </a:spcAft>
            </a:pPr>
            <a:r>
              <a:rPr sz="1200" b="0" i="0">
                <a:solidFill>
                  <a:srgbClr val="98A4B3"/>
                </a:solidFill>
                <a:latin typeface="Calibri"/>
              </a:rPr>
              <a:t>Expressible and testable without reference to any connector. Carries no integration mechanics.</a:t>
            </a:r>
          </a:p>
        </p:txBody>
      </p:sp>
      <p:sp>
        <p:nvSpPr>
          <p:cNvPr id="9" name="Rounded Rectangle 8"/>
          <p:cNvSpPr/>
          <p:nvPr/>
        </p:nvSpPr>
        <p:spPr>
          <a:xfrm>
            <a:off x="6428232" y="1920240"/>
            <a:ext cx="5074920" cy="566928"/>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CONNECTOR</a:t>
            </a:r>
          </a:p>
        </p:txBody>
      </p:sp>
      <p:sp>
        <p:nvSpPr>
          <p:cNvPr id="10" name="Rounded Rectangle 9"/>
          <p:cNvSpPr/>
          <p:nvPr/>
        </p:nvSpPr>
        <p:spPr>
          <a:xfrm>
            <a:off x="6428232" y="2514600"/>
            <a:ext cx="5074920" cy="205740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02552" y="2743200"/>
            <a:ext cx="4526280" cy="1737360"/>
          </a:xfrm>
          <a:prstGeom prst="rect">
            <a:avLst/>
          </a:prstGeom>
          <a:noFill/>
        </p:spPr>
        <p:txBody>
          <a:bodyPr wrap="square" lIns="0" rIns="0" tIns="0" bIns="0" anchor="t">
            <a:spAutoFit/>
          </a:bodyPr>
          <a:lstStyle/>
          <a:p>
            <a:pPr algn="l">
              <a:lnSpc>
                <a:spcPct val="115000"/>
              </a:lnSpc>
              <a:spcAft>
                <a:spcPts val="1200"/>
              </a:spcAft>
            </a:pPr>
            <a:r>
              <a:rPr sz="1400" b="0" i="0">
                <a:solidFill>
                  <a:srgbClr val="E8ECF2"/>
                </a:solidFill>
                <a:latin typeface="Calibri"/>
              </a:rPr>
              <a:t>How one specific gateway invokes and enforces that policy.</a:t>
            </a:r>
          </a:p>
          <a:p>
            <a:pPr algn="l">
              <a:lnSpc>
                <a:spcPct val="115000"/>
              </a:lnSpc>
              <a:spcAft>
                <a:spcPts val="1200"/>
              </a:spcAft>
            </a:pPr>
            <a:r>
              <a:rPr sz="1600" b="1" i="0">
                <a:solidFill>
                  <a:srgbClr val="E8ECF2"/>
                </a:solidFill>
                <a:latin typeface="Calibri"/>
              </a:rPr>
              <a:t>“Invoke the Evaluation API during LiteLLM pre-call execution.”</a:t>
            </a:r>
          </a:p>
          <a:p>
            <a:pPr algn="l">
              <a:lnSpc>
                <a:spcPct val="115000"/>
              </a:lnSpc>
              <a:spcAft>
                <a:spcPts val="0"/>
              </a:spcAft>
            </a:pPr>
            <a:r>
              <a:rPr sz="1200" b="0" i="0">
                <a:solidFill>
                  <a:srgbClr val="98A4B3"/>
                </a:solidFill>
                <a:latin typeface="Calibri"/>
              </a:rPr>
              <a:t>Carries no policy logic, thresholds, or detection rules. A new gateway means a new connector — never a new policy.</a:t>
            </a:r>
          </a:p>
        </p:txBody>
      </p:sp>
      <p:sp>
        <p:nvSpPr>
          <p:cNvPr id="12" name="Rectangle 11"/>
          <p:cNvSpPr/>
          <p:nvPr/>
        </p:nvSpPr>
        <p:spPr>
          <a:xfrm>
            <a:off x="6053328" y="1920240"/>
            <a:ext cx="18288" cy="2651760"/>
          </a:xfrm>
          <a:prstGeom prst="rect">
            <a:avLst/>
          </a:prstGeom>
          <a:solidFill>
            <a:srgbClr val="2E3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5577840"/>
            <a:ext cx="10820095" cy="457200"/>
          </a:xfrm>
          <a:prstGeom prst="rect">
            <a:avLst/>
          </a:prstGeom>
          <a:noFill/>
        </p:spPr>
        <p:txBody>
          <a:bodyPr wrap="square" lIns="0" rIns="0" tIns="0" bIns="0" anchor="t">
            <a:spAutoFit/>
          </a:bodyPr>
          <a:lstStyle/>
          <a:p>
            <a:pPr algn="l">
              <a:lnSpc>
                <a:spcPct val="115000"/>
              </a:lnSpc>
              <a:spcAft>
                <a:spcPts val="0"/>
              </a:spcAft>
            </a:pPr>
            <a:r>
              <a:rPr sz="1350" b="0" i="0">
                <a:solidFill>
                  <a:srgbClr val="E8ECF2"/>
                </a:solidFill>
                <a:latin typeface="Calibri"/>
              </a:rPr>
              <a:t>What this means for your team: when you change gateway, you re-implement a connector — you do not rewrite, re-approve, or re-audit your policy.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Three ways to adopt</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A genuine choice based on ownership and residency needs — not a maturity ladder.</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Source: AGR-002 · PRODUCT-OVERVIEW.md §4 · DEPLOYMENT-ARCHITECTURE.md §5</a:t>
            </a:r>
          </a:p>
        </p:txBody>
      </p:sp>
      <p:sp>
        <p:nvSpPr>
          <p:cNvPr id="6" name="Rounded Rectangle 5"/>
          <p:cNvSpPr/>
          <p:nvPr/>
        </p:nvSpPr>
        <p:spPr>
          <a:xfrm>
            <a:off x="685800" y="1828800"/>
            <a:ext cx="3465576" cy="37033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828800"/>
            <a:ext cx="3465576" cy="475488"/>
          </a:xfrm>
          <a:prstGeom prst="roundRect">
            <a:avLst>
              <a:gd name="adj" fmla="val 8000"/>
            </a:avLst>
          </a:prstGeom>
          <a:solidFill>
            <a:srgbClr val="2B4A69"/>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Mode A — Remote Evaluation</a:t>
            </a:r>
          </a:p>
        </p:txBody>
      </p:sp>
      <p:sp>
        <p:nvSpPr>
          <p:cNvPr id="8" name="TextBox 7"/>
          <p:cNvSpPr txBox="1"/>
          <p:nvPr/>
        </p:nvSpPr>
        <p:spPr>
          <a:xfrm>
            <a:off x="886968" y="2441448"/>
            <a:ext cx="3063240" cy="2926080"/>
          </a:xfrm>
          <a:prstGeom prst="rect">
            <a:avLst/>
          </a:prstGeom>
          <a:noFill/>
        </p:spPr>
        <p:txBody>
          <a:bodyPr wrap="square" lIns="0" rIns="0" tIns="0" bIns="0" anchor="t">
            <a:spAutoFit/>
          </a:bodyPr>
          <a:lstStyle/>
          <a:p>
            <a:pPr algn="l">
              <a:lnSpc>
                <a:spcPct val="120000"/>
              </a:lnSpc>
              <a:spcAft>
                <a:spcPts val="1000"/>
              </a:spcAft>
            </a:pPr>
            <a:r>
              <a:rPr sz="1400" b="1" i="0">
                <a:solidFill>
                  <a:srgbClr val="E8ECF2"/>
                </a:solidFill>
                <a:latin typeface="Calibri"/>
              </a:rPr>
              <a:t>You run the gateway.
We run the guardrail runtime.</a:t>
            </a:r>
          </a:p>
          <a:p>
            <a:pPr algn="l">
              <a:lnSpc>
                <a:spcPct val="115000"/>
              </a:lnSpc>
              <a:spcAft>
                <a:spcPts val="1000"/>
              </a:spcAft>
            </a:pPr>
            <a:r>
              <a:rPr sz="1150" b="0" i="0">
                <a:solidFill>
                  <a:srgbClr val="98A4B3"/>
                </a:solidFill>
                <a:latin typeface="Calibri"/>
              </a:rPr>
              <a:t>Team-owned LiteLLM calls our hosted Evaluation API before and after each model invocation.</a:t>
            </a:r>
          </a:p>
          <a:p>
            <a:pPr algn="l">
              <a:lnSpc>
                <a:spcPct val="115000"/>
              </a:lnSpc>
              <a:spcAft>
                <a:spcPts val="300"/>
              </a:spcAft>
            </a:pPr>
            <a:r>
              <a:rPr sz="1000" b="1" i="0">
                <a:solidFill>
                  <a:srgbClr val="5AA0E0"/>
                </a:solidFill>
                <a:latin typeface="Calibri"/>
              </a:rPr>
              <a:t>Best fit</a:t>
            </a:r>
          </a:p>
          <a:p>
            <a:pPr algn="l">
              <a:lnSpc>
                <a:spcPct val="115000"/>
              </a:lnSpc>
              <a:spcAft>
                <a:spcPts val="0"/>
              </a:spcAft>
            </a:pPr>
            <a:r>
              <a:rPr sz="1150" b="0" i="0">
                <a:solidFill>
                  <a:srgbClr val="98A4B3"/>
                </a:solidFill>
                <a:latin typeface="Calibri"/>
              </a:rPr>
              <a:t>Already operate a gateway; want to offload guardrail operations.</a:t>
            </a:r>
          </a:p>
        </p:txBody>
      </p:sp>
      <p:sp>
        <p:nvSpPr>
          <p:cNvPr id="9" name="Rounded Rectangle 8"/>
          <p:cNvSpPr/>
          <p:nvPr/>
        </p:nvSpPr>
        <p:spPr>
          <a:xfrm>
            <a:off x="4352544" y="1828800"/>
            <a:ext cx="3465576" cy="37033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52544" y="1828800"/>
            <a:ext cx="3465576" cy="475488"/>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Mode B — Guarded Gateway</a:t>
            </a:r>
          </a:p>
        </p:txBody>
      </p:sp>
      <p:sp>
        <p:nvSpPr>
          <p:cNvPr id="11" name="TextBox 10"/>
          <p:cNvSpPr txBox="1"/>
          <p:nvPr/>
        </p:nvSpPr>
        <p:spPr>
          <a:xfrm>
            <a:off x="4553712" y="2441448"/>
            <a:ext cx="3063240" cy="2926080"/>
          </a:xfrm>
          <a:prstGeom prst="rect">
            <a:avLst/>
          </a:prstGeom>
          <a:noFill/>
        </p:spPr>
        <p:txBody>
          <a:bodyPr wrap="square" lIns="0" rIns="0" tIns="0" bIns="0" anchor="t">
            <a:spAutoFit/>
          </a:bodyPr>
          <a:lstStyle/>
          <a:p>
            <a:pPr algn="l">
              <a:lnSpc>
                <a:spcPct val="120000"/>
              </a:lnSpc>
              <a:spcAft>
                <a:spcPts val="1000"/>
              </a:spcAft>
            </a:pPr>
            <a:r>
              <a:rPr sz="1400" b="1" i="0">
                <a:solidFill>
                  <a:srgbClr val="E8ECF2"/>
                </a:solidFill>
                <a:latin typeface="Calibri"/>
              </a:rPr>
              <a:t>We run the gateway
and the guardrail runtime.</a:t>
            </a:r>
          </a:p>
          <a:p>
            <a:pPr algn="l">
              <a:lnSpc>
                <a:spcPct val="115000"/>
              </a:lnSpc>
              <a:spcAft>
                <a:spcPts val="1000"/>
              </a:spcAft>
            </a:pPr>
            <a:r>
              <a:rPr sz="1150" b="0" i="0">
                <a:solidFill>
                  <a:srgbClr val="98A4B3"/>
                </a:solidFill>
                <a:latin typeface="Calibri"/>
              </a:rPr>
              <a:t>One provider-operated endpoint: guardrails, routing, invocation, and audit inside our boundary.</a:t>
            </a:r>
          </a:p>
          <a:p>
            <a:pPr algn="l">
              <a:lnSpc>
                <a:spcPct val="115000"/>
              </a:lnSpc>
              <a:spcAft>
                <a:spcPts val="300"/>
              </a:spcAft>
            </a:pPr>
            <a:r>
              <a:rPr sz="1000" b="1" i="0">
                <a:solidFill>
                  <a:srgbClr val="5AA0E0"/>
                </a:solidFill>
                <a:latin typeface="Calibri"/>
              </a:rPr>
              <a:t>Best fit</a:t>
            </a:r>
          </a:p>
          <a:p>
            <a:pPr algn="l">
              <a:lnSpc>
                <a:spcPct val="115000"/>
              </a:lnSpc>
              <a:spcAft>
                <a:spcPts val="0"/>
              </a:spcAft>
            </a:pPr>
            <a:r>
              <a:rPr sz="1150" b="0" i="0">
                <a:solidFill>
                  <a:srgbClr val="98A4B3"/>
                </a:solidFill>
                <a:latin typeface="Calibri"/>
              </a:rPr>
              <a:t>No gateway of your own; want a managed, OpenAI-compatible path.</a:t>
            </a:r>
          </a:p>
        </p:txBody>
      </p:sp>
      <p:sp>
        <p:nvSpPr>
          <p:cNvPr id="12" name="Rounded Rectangle 11"/>
          <p:cNvSpPr/>
          <p:nvPr/>
        </p:nvSpPr>
        <p:spPr>
          <a:xfrm>
            <a:off x="8019288" y="1828800"/>
            <a:ext cx="3465576" cy="37033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19288" y="1828800"/>
            <a:ext cx="3465576" cy="475488"/>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Mode C — Customer-Managed Runtime</a:t>
            </a:r>
          </a:p>
        </p:txBody>
      </p:sp>
      <p:sp>
        <p:nvSpPr>
          <p:cNvPr id="14" name="TextBox 13"/>
          <p:cNvSpPr txBox="1"/>
          <p:nvPr/>
        </p:nvSpPr>
        <p:spPr>
          <a:xfrm>
            <a:off x="8220456" y="2441448"/>
            <a:ext cx="3063240" cy="2926080"/>
          </a:xfrm>
          <a:prstGeom prst="rect">
            <a:avLst/>
          </a:prstGeom>
          <a:noFill/>
        </p:spPr>
        <p:txBody>
          <a:bodyPr wrap="square" lIns="0" rIns="0" tIns="0" bIns="0" anchor="t">
            <a:spAutoFit/>
          </a:bodyPr>
          <a:lstStyle/>
          <a:p>
            <a:pPr algn="l">
              <a:lnSpc>
                <a:spcPct val="120000"/>
              </a:lnSpc>
              <a:spcAft>
                <a:spcPts val="1000"/>
              </a:spcAft>
            </a:pPr>
            <a:r>
              <a:rPr sz="1400" b="1" i="0">
                <a:solidFill>
                  <a:srgbClr val="E8ECF2"/>
                </a:solidFill>
                <a:latin typeface="Calibri"/>
              </a:rPr>
              <a:t>You run both, in your
own AWS account.</a:t>
            </a:r>
          </a:p>
          <a:p>
            <a:pPr algn="l">
              <a:lnSpc>
                <a:spcPct val="115000"/>
              </a:lnSpc>
              <a:spcAft>
                <a:spcPts val="1000"/>
              </a:spcAft>
            </a:pPr>
            <a:r>
              <a:rPr sz="1150" b="0" i="0">
                <a:solidFill>
                  <a:srgbClr val="98A4B3"/>
                </a:solidFill>
                <a:latin typeface="Calibri"/>
              </a:rPr>
              <a:t>The same runtime — policy cache, adapters, local audit — deployed inside your account.</a:t>
            </a:r>
          </a:p>
          <a:p>
            <a:pPr algn="l">
              <a:lnSpc>
                <a:spcPct val="115000"/>
              </a:lnSpc>
              <a:spcAft>
                <a:spcPts val="300"/>
              </a:spcAft>
            </a:pPr>
            <a:r>
              <a:rPr sz="1000" b="1" i="0">
                <a:solidFill>
                  <a:srgbClr val="5AA0E0"/>
                </a:solidFill>
                <a:latin typeface="Calibri"/>
              </a:rPr>
              <a:t>Best fit</a:t>
            </a:r>
          </a:p>
          <a:p>
            <a:pPr algn="l">
              <a:lnSpc>
                <a:spcPct val="115000"/>
              </a:lnSpc>
              <a:spcAft>
                <a:spcPts val="0"/>
              </a:spcAft>
            </a:pPr>
            <a:r>
              <a:rPr sz="1150" b="0" i="0">
                <a:solidFill>
                  <a:srgbClr val="98A4B3"/>
                </a:solidFill>
                <a:latin typeface="Calibri"/>
              </a:rPr>
              <a:t>Regulated, residency-bound, high-volume, or air-gapped workloads.</a:t>
            </a:r>
          </a:p>
        </p:txBody>
      </p:sp>
      <p:sp>
        <p:nvSpPr>
          <p:cNvPr id="15" name="TextBox 14"/>
          <p:cNvSpPr txBox="1"/>
          <p:nvPr/>
        </p:nvSpPr>
        <p:spPr>
          <a:xfrm>
            <a:off x="685800" y="5742432"/>
            <a:ext cx="10820095" cy="457200"/>
          </a:xfrm>
          <a:prstGeom prst="rect">
            <a:avLst/>
          </a:prstGeom>
          <a:noFill/>
        </p:spPr>
        <p:txBody>
          <a:bodyPr wrap="square" lIns="0" rIns="0" tIns="0" bIns="0" anchor="t">
            <a:spAutoFit/>
          </a:bodyPr>
          <a:lstStyle/>
          <a:p>
            <a:pPr algn="l">
              <a:lnSpc>
                <a:spcPct val="115000"/>
              </a:lnSpc>
              <a:spcAft>
                <a:spcPts val="0"/>
              </a:spcAft>
            </a:pPr>
            <a:r>
              <a:rPr sz="1150" b="0" i="0">
                <a:solidFill>
                  <a:srgbClr val="98A4B3"/>
                </a:solidFill>
                <a:latin typeface="Calibri"/>
              </a:rPr>
              <a:t>One policy definition and one evaluation contract sit above all three. Mode C lands in Phase 4 — the modes are not equally mature today.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Ownership vs. exposure</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Two separate questions. Reduced operational burden never implies reduced data exposure.</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Source: AGR-008 · AGR-009 · AGR-014 · AGR-016 · DEPLOYMENT-ARCHITECTURE.md §2.3, §3.3, §4.5</a:t>
            </a:r>
          </a:p>
        </p:txBody>
      </p:sp>
      <p:graphicFrame>
        <p:nvGraphicFramePr>
          <p:cNvPr id="6" name="Table 5"/>
          <p:cNvGraphicFramePr>
            <a:graphicFrameLocks noGrp="1"/>
          </p:cNvGraphicFramePr>
          <p:nvPr/>
        </p:nvGraphicFramePr>
        <p:xfrm>
          <a:off x="685800" y="1828800"/>
          <a:ext cx="10820094" cy="3246120"/>
        </p:xfrm>
        <a:graphic>
          <a:graphicData uri="http://schemas.openxmlformats.org/drawingml/2006/table">
            <a:tbl>
              <a:tblPr firstRow="1">
                <a:tableStyleId>{5C22544A-7EE6-4342-B048-85BDC9FD1C3A}</a:tableStyleId>
              </a:tblPr>
              <a:tblGrid>
                <a:gridCol w="2055818"/>
                <a:gridCol w="4328038"/>
                <a:gridCol w="4436238"/>
              </a:tblGrid>
              <a:tr h="365760">
                <a:tc>
                  <a:txBody>
                    <a:bodyPr wrap="square"/>
                    <a:lstStyle/>
                    <a:p>
                      <a:pPr algn="l">
                        <a:lnSpc>
                          <a:spcPct val="105000"/>
                        </a:lnSpc>
                        <a:spcAft>
                          <a:spcPts val="0"/>
                        </a:spcAft>
                      </a:pPr>
                      <a:r>
                        <a:rPr sz="1100" b="1" i="0">
                          <a:solidFill>
                            <a:srgbClr val="5AA0E0"/>
                          </a:solidFill>
                          <a:latin typeface="Calibri"/>
                        </a:rPr>
                        <a:t/>
                      </a:r>
                    </a:p>
                  </a:txBody>
                  <a:tcPr marL="91440" marR="91440" marT="45720" marB="45720" anchor="ctr">
                    <a:solidFill>
                      <a:srgbClr val="1D242C"/>
                    </a:solidFill>
                  </a:tcPr>
                </a:tc>
                <a:tc>
                  <a:txBody>
                    <a:bodyPr wrap="square"/>
                    <a:lstStyle/>
                    <a:p>
                      <a:pPr algn="l">
                        <a:lnSpc>
                          <a:spcPct val="105000"/>
                        </a:lnSpc>
                        <a:spcAft>
                          <a:spcPts val="0"/>
                        </a:spcAft>
                      </a:pPr>
                      <a:r>
                        <a:rPr sz="1100" b="1" i="0">
                          <a:solidFill>
                            <a:srgbClr val="5AA0E0"/>
                          </a:solidFill>
                          <a:latin typeface="Calibri"/>
                        </a:rPr>
                        <a:t>Who operates it</a:t>
                      </a:r>
                    </a:p>
                  </a:txBody>
                  <a:tcPr marL="91440" marR="91440" marT="45720" marB="45720" anchor="ctr">
                    <a:solidFill>
                      <a:srgbClr val="1D242C"/>
                    </a:solidFill>
                  </a:tcPr>
                </a:tc>
                <a:tc>
                  <a:txBody>
                    <a:bodyPr wrap="square"/>
                    <a:lstStyle/>
                    <a:p>
                      <a:pPr algn="l">
                        <a:lnSpc>
                          <a:spcPct val="105000"/>
                        </a:lnSpc>
                        <a:spcAft>
                          <a:spcPts val="0"/>
                        </a:spcAft>
                      </a:pPr>
                      <a:r>
                        <a:rPr sz="1100" b="1" i="0">
                          <a:solidFill>
                            <a:srgbClr val="5AA0E0"/>
                          </a:solidFill>
                          <a:latin typeface="Calibri"/>
                        </a:rPr>
                        <a:t>Where evaluated content goes</a:t>
                      </a:r>
                    </a:p>
                  </a:txBody>
                  <a:tcPr marL="91440" marR="91440" marT="45720" marB="45720" anchor="ctr">
                    <a:solidFill>
                      <a:srgbClr val="1D242C"/>
                    </a:solidFill>
                  </a:tcPr>
                </a:tc>
              </a:tr>
              <a:tr h="960120">
                <a:tc>
                  <a:txBody>
                    <a:bodyPr wrap="square"/>
                    <a:lstStyle/>
                    <a:p>
                      <a:pPr algn="l">
                        <a:lnSpc>
                          <a:spcPct val="105000"/>
                        </a:lnSpc>
                        <a:spcAft>
                          <a:spcPts val="0"/>
                        </a:spcAft>
                      </a:pPr>
                      <a:r>
                        <a:rPr sz="1150" b="1" i="0">
                          <a:solidFill>
                            <a:srgbClr val="E8ECF2"/>
                          </a:solidFill>
                          <a:latin typeface="Calibri"/>
                        </a:rPr>
                        <a:t>Mode A
Remote Evaluation</a:t>
                      </a:r>
                    </a:p>
                  </a:txBody>
                  <a:tcPr marL="91440" marR="91440" marT="45720" marB="45720" anchor="ctr">
                    <a:solidFill>
                      <a:srgbClr val="161C23"/>
                    </a:solidFill>
                  </a:tcPr>
                </a:tc>
                <a:tc>
                  <a:txBody>
                    <a:bodyPr wrap="square"/>
                    <a:lstStyle/>
                    <a:p>
                      <a:pPr algn="l">
                        <a:lnSpc>
                          <a:spcPct val="105000"/>
                        </a:lnSpc>
                        <a:spcAft>
                          <a:spcPts val="0"/>
                        </a:spcAft>
                      </a:pPr>
                      <a:r>
                        <a:rPr sz="1150" b="0" i="0">
                          <a:solidFill>
                            <a:srgbClr val="E8ECF2"/>
                          </a:solidFill>
                          <a:latin typeface="Calibri"/>
                        </a:rPr>
                        <a:t>You operate the gateway and hold your own model-provider credentials. We operate the Evaluation API, detection engines, and policy execution.</a:t>
                      </a:r>
                    </a:p>
                  </a:txBody>
                  <a:tcPr marL="91440" marR="91440" marT="45720" marB="45720" anchor="ctr">
                    <a:solidFill>
                      <a:srgbClr val="161C23"/>
                    </a:solidFill>
                  </a:tcPr>
                </a:tc>
                <a:tc>
                  <a:txBody>
                    <a:bodyPr wrap="square"/>
                    <a:lstStyle/>
                    <a:p>
                      <a:pPr algn="l">
                        <a:lnSpc>
                          <a:spcPct val="105000"/>
                        </a:lnSpc>
                        <a:spcAft>
                          <a:spcPts val="0"/>
                        </a:spcAft>
                      </a:pPr>
                      <a:r>
                        <a:rPr sz="1150" b="0" i="0">
                          <a:solidFill>
                            <a:srgbClr val="E06C5F"/>
                          </a:solidFill>
                          <a:latin typeface="Calibri"/>
                        </a:rPr>
                        <a:t>Prompts, responses, and any other evaluated content are transmitted to the hosted Evaluation API on every evaluated call. This is not a private-data or data-local model.</a:t>
                      </a:r>
                    </a:p>
                  </a:txBody>
                  <a:tcPr marL="91440" marR="91440" marT="45720" marB="45720" anchor="ctr">
                    <a:solidFill>
                      <a:srgbClr val="161C23"/>
                    </a:solidFill>
                  </a:tcPr>
                </a:tc>
              </a:tr>
              <a:tr h="960120">
                <a:tc>
                  <a:txBody>
                    <a:bodyPr wrap="square"/>
                    <a:lstStyle/>
                    <a:p>
                      <a:pPr algn="l">
                        <a:lnSpc>
                          <a:spcPct val="105000"/>
                        </a:lnSpc>
                        <a:spcAft>
                          <a:spcPts val="0"/>
                        </a:spcAft>
                      </a:pPr>
                      <a:r>
                        <a:rPr sz="1150" b="1" i="0">
                          <a:solidFill>
                            <a:srgbClr val="E8ECF2"/>
                          </a:solidFill>
                          <a:latin typeface="Calibri"/>
                        </a:rPr>
                        <a:t>Mode B
Guarded Gateway</a:t>
                      </a:r>
                    </a:p>
                  </a:txBody>
                  <a:tcPr marL="91440" marR="91440" marT="45720" marB="45720" anchor="ctr">
                    <a:solidFill>
                      <a:srgbClr val="12161B"/>
                    </a:solidFill>
                  </a:tcPr>
                </a:tc>
                <a:tc>
                  <a:txBody>
                    <a:bodyPr wrap="square"/>
                    <a:lstStyle/>
                    <a:p>
                      <a:pPr algn="l">
                        <a:lnSpc>
                          <a:spcPct val="105000"/>
                        </a:lnSpc>
                        <a:spcAft>
                          <a:spcPts val="0"/>
                        </a:spcAft>
                      </a:pPr>
                      <a:r>
                        <a:rPr sz="1150" b="0" i="0">
                          <a:solidFill>
                            <a:srgbClr val="E8ECF2"/>
                          </a:solidFill>
                          <a:latin typeface="Calibri"/>
                        </a:rPr>
                        <a:t>We operate the gateway and the guardrail runtime, and hold or broker model-provider credentials. You operate the application.</a:t>
                      </a:r>
                    </a:p>
                  </a:txBody>
                  <a:tcPr marL="91440" marR="91440" marT="45720" marB="45720" anchor="ctr">
                    <a:solidFill>
                      <a:srgbClr val="12161B"/>
                    </a:solidFill>
                  </a:tcPr>
                </a:tc>
                <a:tc>
                  <a:txBody>
                    <a:bodyPr wrap="square"/>
                    <a:lstStyle/>
                    <a:p>
                      <a:pPr algn="l">
                        <a:lnSpc>
                          <a:spcPct val="105000"/>
                        </a:lnSpc>
                        <a:spcAft>
                          <a:spcPts val="0"/>
                        </a:spcAft>
                      </a:pPr>
                      <a:r>
                        <a:rPr sz="1150" b="0" i="0">
                          <a:solidFill>
                            <a:srgbClr val="E06C5F"/>
                          </a:solidFill>
                          <a:latin typeface="Calibri"/>
                        </a:rPr>
                        <a:t>Content passes through the provider-operated gateway — guardrails, routing, and model invocation all sit inside our boundary.</a:t>
                      </a:r>
                    </a:p>
                  </a:txBody>
                  <a:tcPr marL="91440" marR="91440" marT="45720" marB="45720" anchor="ctr">
                    <a:solidFill>
                      <a:srgbClr val="12161B"/>
                    </a:solidFill>
                  </a:tcPr>
                </a:tc>
              </a:tr>
              <a:tr h="960120">
                <a:tc>
                  <a:txBody>
                    <a:bodyPr wrap="square"/>
                    <a:lstStyle/>
                    <a:p>
                      <a:pPr algn="l">
                        <a:lnSpc>
                          <a:spcPct val="105000"/>
                        </a:lnSpc>
                        <a:spcAft>
                          <a:spcPts val="0"/>
                        </a:spcAft>
                      </a:pPr>
                      <a:r>
                        <a:rPr sz="1150" b="1" i="0">
                          <a:solidFill>
                            <a:srgbClr val="E8ECF2"/>
                          </a:solidFill>
                          <a:latin typeface="Calibri"/>
                        </a:rPr>
                        <a:t>Mode C
Customer-Managed Runtime</a:t>
                      </a:r>
                    </a:p>
                  </a:txBody>
                  <a:tcPr marL="91440" marR="91440" marT="45720" marB="45720" anchor="ctr">
                    <a:solidFill>
                      <a:srgbClr val="161C23"/>
                    </a:solidFill>
                  </a:tcPr>
                </a:tc>
                <a:tc>
                  <a:txBody>
                    <a:bodyPr wrap="square"/>
                    <a:lstStyle/>
                    <a:p>
                      <a:pPr algn="l">
                        <a:lnSpc>
                          <a:spcPct val="105000"/>
                        </a:lnSpc>
                        <a:spcAft>
                          <a:spcPts val="0"/>
                        </a:spcAft>
                      </a:pPr>
                      <a:r>
                        <a:rPr sz="1150" b="0" i="0">
                          <a:solidFill>
                            <a:srgbClr val="E8ECF2"/>
                          </a:solidFill>
                          <a:latin typeface="Calibri"/>
                        </a:rPr>
                        <a:t>You operate the runtime infrastructure, availability, networking, and local audit storage. We supply the runtime software and policy schemas.</a:t>
                      </a:r>
                    </a:p>
                  </a:txBody>
                  <a:tcPr marL="91440" marR="91440" marT="45720" marB="45720" anchor="ctr">
                    <a:solidFill>
                      <a:srgbClr val="161C23"/>
                    </a:solidFill>
                  </a:tcPr>
                </a:tc>
                <a:tc>
                  <a:txBody>
                    <a:bodyPr wrap="square"/>
                    <a:lstStyle/>
                    <a:p>
                      <a:pPr algn="l">
                        <a:lnSpc>
                          <a:spcPct val="105000"/>
                        </a:lnSpc>
                        <a:spcAft>
                          <a:spcPts val="0"/>
                        </a:spcAft>
                      </a:pPr>
                      <a:r>
                        <a:rPr sz="1150" b="0" i="0">
                          <a:solidFill>
                            <a:srgbClr val="4FB477"/>
                          </a:solidFill>
                          <a:latin typeface="Calibri"/>
                        </a:rPr>
                        <a:t>Raw content stays inside your AWS account by default. Only telemetry you explicitly configure leaves — down to none at all.</a:t>
                      </a:r>
                    </a:p>
                  </a:txBody>
                  <a:tcPr marL="91440" marR="91440" marT="45720" marB="45720" anchor="ctr">
                    <a:solidFill>
                      <a:srgbClr val="161C23"/>
                    </a:solidFill>
                  </a:tcPr>
                </a:tc>
              </a:tr>
            </a:tbl>
          </a:graphicData>
        </a:graphic>
      </p:graphicFrame>
      <p:sp>
        <p:nvSpPr>
          <p:cNvPr id="7" name="TextBox 6"/>
          <p:cNvSpPr txBox="1"/>
          <p:nvPr/>
        </p:nvSpPr>
        <p:spPr>
          <a:xfrm>
            <a:off x="685800" y="5596128"/>
            <a:ext cx="10820095" cy="457200"/>
          </a:xfrm>
          <a:prstGeom prst="rect">
            <a:avLst/>
          </a:prstGeom>
          <a:noFill/>
        </p:spPr>
        <p:txBody>
          <a:bodyPr wrap="square" lIns="0" rIns="0" tIns="0" bIns="0" anchor="t">
            <a:spAutoFit/>
          </a:bodyPr>
          <a:lstStyle/>
          <a:p>
            <a:pPr algn="l">
              <a:lnSpc>
                <a:spcPct val="115000"/>
              </a:lnSpc>
              <a:spcAft>
                <a:spcPts val="0"/>
              </a:spcAft>
            </a:pPr>
            <a:r>
              <a:rPr sz="1150" b="0" i="0">
                <a:solidFill>
                  <a:srgbClr val="98A4B3"/>
                </a:solidFill>
                <a:latin typeface="Calibri"/>
              </a:rPr>
              <a:t>In the hosted runtime, raw prompts and responses are not persisted by default — decision metadata is. Any retention requires explicit tenant-level configuration; it is a default, not an absolute guarantee.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Safe by design: observe before enforce</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Every policy supports a non-blocking mode. No team is asked to accept unproven blocking behaviour on day one.</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Source: AGR-011 · PRINCIPLES.md §5.6 · CLAIMS-REGISTER.md §1</a:t>
            </a:r>
          </a:p>
        </p:txBody>
      </p:sp>
      <p:sp>
        <p:nvSpPr>
          <p:cNvPr id="6" name="Chevron 5"/>
          <p:cNvSpPr/>
          <p:nvPr/>
        </p:nvSpPr>
        <p:spPr>
          <a:xfrm>
            <a:off x="685800" y="2057400"/>
            <a:ext cx="2331720" cy="960120"/>
          </a:xfrm>
          <a:prstGeom prst="chevron">
            <a:avLst/>
          </a:prstGeom>
          <a:solidFill>
            <a:srgbClr val="1D242C"/>
          </a:solidFill>
          <a:ln w="12700">
            <a:solidFill>
              <a:srgbClr val="98A4B3"/>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lnSpc>
                <a:spcPct val="115000"/>
              </a:lnSpc>
              <a:spcAft>
                <a:spcPts val="200"/>
              </a:spcAft>
            </a:pPr>
            <a:r>
              <a:rPr sz="1500" b="1" i="0">
                <a:solidFill>
                  <a:srgbClr val="E8ECF2"/>
                </a:solidFill>
                <a:latin typeface="Calibri"/>
              </a:rPr>
              <a:t>Disabled</a:t>
            </a:r>
          </a:p>
        </p:txBody>
      </p:sp>
      <p:sp>
        <p:nvSpPr>
          <p:cNvPr id="7" name="TextBox 6"/>
          <p:cNvSpPr txBox="1"/>
          <p:nvPr/>
        </p:nvSpPr>
        <p:spPr>
          <a:xfrm>
            <a:off x="1069848" y="3200400"/>
            <a:ext cx="1645919" cy="914400"/>
          </a:xfrm>
          <a:prstGeom prst="rect">
            <a:avLst/>
          </a:prstGeom>
          <a:noFill/>
        </p:spPr>
        <p:txBody>
          <a:bodyPr wrap="square" lIns="0" rIns="0" tIns="0" bIns="0" anchor="t">
            <a:spAutoFit/>
          </a:bodyPr>
          <a:lstStyle/>
          <a:p>
            <a:pPr algn="ctr">
              <a:lnSpc>
                <a:spcPct val="120000"/>
              </a:lnSpc>
              <a:spcAft>
                <a:spcPts val="0"/>
              </a:spcAft>
            </a:pPr>
            <a:r>
              <a:rPr sz="1150" b="0" i="0">
                <a:solidFill>
                  <a:srgbClr val="98A4B3"/>
                </a:solidFill>
                <a:latin typeface="Calibri"/>
              </a:rPr>
              <a:t>Bound, not
evaluating</a:t>
            </a:r>
          </a:p>
        </p:txBody>
      </p:sp>
      <p:sp>
        <p:nvSpPr>
          <p:cNvPr id="8" name="Chevron 7"/>
          <p:cNvSpPr/>
          <p:nvPr/>
        </p:nvSpPr>
        <p:spPr>
          <a:xfrm>
            <a:off x="2743200" y="2057400"/>
            <a:ext cx="2331720" cy="960120"/>
          </a:xfrm>
          <a:prstGeom prst="chevron">
            <a:avLst/>
          </a:prstGeom>
          <a:solidFill>
            <a:srgbClr val="2B4A69"/>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lnSpc>
                <a:spcPct val="115000"/>
              </a:lnSpc>
              <a:spcAft>
                <a:spcPts val="200"/>
              </a:spcAft>
            </a:pPr>
            <a:r>
              <a:rPr sz="1500" b="1" i="0">
                <a:solidFill>
                  <a:srgbClr val="E8ECF2"/>
                </a:solidFill>
                <a:latin typeface="Calibri"/>
              </a:rPr>
              <a:t>Observe</a:t>
            </a:r>
          </a:p>
        </p:txBody>
      </p:sp>
      <p:sp>
        <p:nvSpPr>
          <p:cNvPr id="9" name="TextBox 8"/>
          <p:cNvSpPr txBox="1"/>
          <p:nvPr/>
        </p:nvSpPr>
        <p:spPr>
          <a:xfrm>
            <a:off x="3127248" y="3200400"/>
            <a:ext cx="1645919" cy="914400"/>
          </a:xfrm>
          <a:prstGeom prst="rect">
            <a:avLst/>
          </a:prstGeom>
          <a:noFill/>
        </p:spPr>
        <p:txBody>
          <a:bodyPr wrap="square" lIns="0" rIns="0" tIns="0" bIns="0" anchor="t">
            <a:spAutoFit/>
          </a:bodyPr>
          <a:lstStyle/>
          <a:p>
            <a:pPr algn="ctr">
              <a:lnSpc>
                <a:spcPct val="120000"/>
              </a:lnSpc>
              <a:spcAft>
                <a:spcPts val="0"/>
              </a:spcAft>
            </a:pPr>
            <a:r>
              <a:rPr sz="1150" b="0" i="0">
                <a:solidFill>
                  <a:srgbClr val="98A4B3"/>
                </a:solidFill>
                <a:latin typeface="Calibri"/>
              </a:rPr>
              <a:t>Evaluates and
records. Never
acts on traffic.</a:t>
            </a:r>
          </a:p>
        </p:txBody>
      </p:sp>
      <p:sp>
        <p:nvSpPr>
          <p:cNvPr id="10" name="Chevron 9"/>
          <p:cNvSpPr/>
          <p:nvPr/>
        </p:nvSpPr>
        <p:spPr>
          <a:xfrm>
            <a:off x="4800600" y="2057400"/>
            <a:ext cx="2331720" cy="960120"/>
          </a:xfrm>
          <a:prstGeom prst="chevron">
            <a:avLst/>
          </a:prstGeom>
          <a:solidFill>
            <a:srgbClr val="1D242C"/>
          </a:solidFill>
          <a:ln w="12700">
            <a:solidFill>
              <a:srgbClr val="E0B341"/>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lnSpc>
                <a:spcPct val="115000"/>
              </a:lnSpc>
              <a:spcAft>
                <a:spcPts val="200"/>
              </a:spcAft>
            </a:pPr>
            <a:r>
              <a:rPr sz="1500" b="1" i="0">
                <a:solidFill>
                  <a:srgbClr val="E8ECF2"/>
                </a:solidFill>
                <a:latin typeface="Calibri"/>
              </a:rPr>
              <a:t>Warn</a:t>
            </a:r>
          </a:p>
        </p:txBody>
      </p:sp>
      <p:sp>
        <p:nvSpPr>
          <p:cNvPr id="11" name="TextBox 10"/>
          <p:cNvSpPr txBox="1"/>
          <p:nvPr/>
        </p:nvSpPr>
        <p:spPr>
          <a:xfrm>
            <a:off x="5184648" y="3200400"/>
            <a:ext cx="1645919" cy="914400"/>
          </a:xfrm>
          <a:prstGeom prst="rect">
            <a:avLst/>
          </a:prstGeom>
          <a:noFill/>
        </p:spPr>
        <p:txBody>
          <a:bodyPr wrap="square" lIns="0" rIns="0" tIns="0" bIns="0" anchor="t">
            <a:spAutoFit/>
          </a:bodyPr>
          <a:lstStyle/>
          <a:p>
            <a:pPr algn="ctr">
              <a:lnSpc>
                <a:spcPct val="120000"/>
              </a:lnSpc>
              <a:spcAft>
                <a:spcPts val="0"/>
              </a:spcAft>
            </a:pPr>
            <a:r>
              <a:rPr sz="1150" b="0" i="0">
                <a:solidFill>
                  <a:srgbClr val="98A4B3"/>
                </a:solidFill>
                <a:latin typeface="Calibri"/>
              </a:rPr>
              <a:t>Surfaces a
violation without
stopping it</a:t>
            </a:r>
          </a:p>
        </p:txBody>
      </p:sp>
      <p:sp>
        <p:nvSpPr>
          <p:cNvPr id="12" name="Chevron 11"/>
          <p:cNvSpPr/>
          <p:nvPr/>
        </p:nvSpPr>
        <p:spPr>
          <a:xfrm>
            <a:off x="6858000" y="2057400"/>
            <a:ext cx="2331720" cy="960120"/>
          </a:xfrm>
          <a:prstGeom prst="chevron">
            <a:avLst/>
          </a:prstGeom>
          <a:solidFill>
            <a:srgbClr val="1D242C"/>
          </a:solidFill>
          <a:ln w="12700">
            <a:solidFill>
              <a:srgbClr val="E0B341"/>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lnSpc>
                <a:spcPct val="115000"/>
              </a:lnSpc>
              <a:spcAft>
                <a:spcPts val="200"/>
              </a:spcAft>
            </a:pPr>
            <a:r>
              <a:rPr sz="1500" b="1" i="0">
                <a:solidFill>
                  <a:srgbClr val="E8ECF2"/>
                </a:solidFill>
                <a:latin typeface="Calibri"/>
              </a:rPr>
              <a:t>Redact</a:t>
            </a:r>
          </a:p>
        </p:txBody>
      </p:sp>
      <p:sp>
        <p:nvSpPr>
          <p:cNvPr id="13" name="TextBox 12"/>
          <p:cNvSpPr txBox="1"/>
          <p:nvPr/>
        </p:nvSpPr>
        <p:spPr>
          <a:xfrm>
            <a:off x="7242048" y="3200400"/>
            <a:ext cx="1645919" cy="914400"/>
          </a:xfrm>
          <a:prstGeom prst="rect">
            <a:avLst/>
          </a:prstGeom>
          <a:noFill/>
        </p:spPr>
        <p:txBody>
          <a:bodyPr wrap="square" lIns="0" rIns="0" tIns="0" bIns="0" anchor="t">
            <a:spAutoFit/>
          </a:bodyPr>
          <a:lstStyle/>
          <a:p>
            <a:pPr algn="ctr">
              <a:lnSpc>
                <a:spcPct val="120000"/>
              </a:lnSpc>
              <a:spcAft>
                <a:spcPts val="0"/>
              </a:spcAft>
            </a:pPr>
            <a:r>
              <a:rPr sz="1150" b="0" i="0">
                <a:solidFill>
                  <a:srgbClr val="98A4B3"/>
                </a:solidFill>
                <a:latin typeface="Calibri"/>
              </a:rPr>
              <a:t>Transforms the
content it
must remove</a:t>
            </a:r>
          </a:p>
        </p:txBody>
      </p:sp>
      <p:sp>
        <p:nvSpPr>
          <p:cNvPr id="14" name="Chevron 13"/>
          <p:cNvSpPr/>
          <p:nvPr/>
        </p:nvSpPr>
        <p:spPr>
          <a:xfrm>
            <a:off x="8915400" y="2057400"/>
            <a:ext cx="2331720" cy="960120"/>
          </a:xfrm>
          <a:prstGeom prst="chevron">
            <a:avLst/>
          </a:prstGeom>
          <a:solidFill>
            <a:srgbClr val="1D242C"/>
          </a:solidFill>
          <a:ln w="12700">
            <a:solidFill>
              <a:srgbClr val="E06C5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lnSpc>
                <a:spcPct val="115000"/>
              </a:lnSpc>
              <a:spcAft>
                <a:spcPts val="200"/>
              </a:spcAft>
            </a:pPr>
            <a:r>
              <a:rPr sz="1500" b="1" i="0">
                <a:solidFill>
                  <a:srgbClr val="E8ECF2"/>
                </a:solidFill>
                <a:latin typeface="Calibri"/>
              </a:rPr>
              <a:t>Block</a:t>
            </a:r>
          </a:p>
        </p:txBody>
      </p:sp>
      <p:sp>
        <p:nvSpPr>
          <p:cNvPr id="15" name="TextBox 14"/>
          <p:cNvSpPr txBox="1"/>
          <p:nvPr/>
        </p:nvSpPr>
        <p:spPr>
          <a:xfrm>
            <a:off x="9299448" y="3200400"/>
            <a:ext cx="1645919" cy="914400"/>
          </a:xfrm>
          <a:prstGeom prst="rect">
            <a:avLst/>
          </a:prstGeom>
          <a:noFill/>
        </p:spPr>
        <p:txBody>
          <a:bodyPr wrap="square" lIns="0" rIns="0" tIns="0" bIns="0" anchor="t">
            <a:spAutoFit/>
          </a:bodyPr>
          <a:lstStyle/>
          <a:p>
            <a:pPr algn="ctr">
              <a:lnSpc>
                <a:spcPct val="120000"/>
              </a:lnSpc>
              <a:spcAft>
                <a:spcPts val="0"/>
              </a:spcAft>
            </a:pPr>
            <a:r>
              <a:rPr sz="1150" b="0" i="0">
                <a:solidFill>
                  <a:srgbClr val="98A4B3"/>
                </a:solidFill>
                <a:latin typeface="Calibri"/>
              </a:rPr>
              <a:t>Stops the
request or
response</a:t>
            </a:r>
          </a:p>
        </p:txBody>
      </p:sp>
      <p:sp>
        <p:nvSpPr>
          <p:cNvPr id="16" name="Rounded Rectangle 15"/>
          <p:cNvSpPr/>
          <p:nvPr/>
        </p:nvSpPr>
        <p:spPr>
          <a:xfrm>
            <a:off x="685800" y="4389120"/>
            <a:ext cx="10820095" cy="123444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572000"/>
            <a:ext cx="10180015" cy="914400"/>
          </a:xfrm>
          <a:prstGeom prst="rect">
            <a:avLst/>
          </a:prstGeom>
          <a:noFill/>
        </p:spPr>
        <p:txBody>
          <a:bodyPr wrap="square" lIns="0" rIns="0" tIns="0" bIns="0" anchor="t">
            <a:spAutoFit/>
          </a:bodyPr>
          <a:lstStyle/>
          <a:p>
            <a:pPr algn="l">
              <a:lnSpc>
                <a:spcPct val="115000"/>
              </a:lnSpc>
              <a:spcAft>
                <a:spcPts val="800"/>
              </a:spcAft>
            </a:pPr>
            <a:r>
              <a:rPr sz="1600" b="1" i="0">
                <a:solidFill>
                  <a:srgbClr val="5AA0E0"/>
                </a:solidFill>
                <a:latin typeface="Calibri"/>
              </a:rPr>
              <a:t>Onboarding defaults every new binding to Observe — never Block.</a:t>
            </a:r>
          </a:p>
          <a:p>
            <a:pPr algn="l">
              <a:lnSpc>
                <a:spcPct val="115000"/>
              </a:lnSpc>
              <a:spcAft>
                <a:spcPts val="0"/>
              </a:spcAft>
            </a:pPr>
            <a:r>
              <a:rPr sz="1250" b="0" i="0">
                <a:solidFill>
                  <a:srgbClr val="98A4B3"/>
                </a:solidFill>
                <a:latin typeface="Calibri"/>
              </a:rPr>
              <a:t>Promotion between states is an explicit, auditable action, never an implicit side effect of another change. A team measures false positives, latency, and business impact on its own traffic before anything it owns can be blocked.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What this is — and isn't</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Stated on the slide, not buried in an appendix.</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Source: AGR-010 · AGR-013 · AGR-018 · SCOPE.md · PRODUCT-OVERVIEW.md §9</a:t>
            </a:r>
          </a:p>
        </p:txBody>
      </p:sp>
      <p:sp>
        <p:nvSpPr>
          <p:cNvPr id="6" name="Rounded Rectangle 5"/>
          <p:cNvSpPr/>
          <p:nvPr/>
        </p:nvSpPr>
        <p:spPr>
          <a:xfrm>
            <a:off x="685800" y="1828800"/>
            <a:ext cx="5440680" cy="39319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828800"/>
            <a:ext cx="5440680" cy="502920"/>
          </a:xfrm>
          <a:prstGeom prst="roundRect">
            <a:avLst>
              <a:gd name="adj" fmla="val 8000"/>
            </a:avLst>
          </a:prstGeom>
          <a:solidFill>
            <a:srgbClr val="2B4A69"/>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50" b="1" i="0">
                <a:solidFill>
                  <a:srgbClr val="E8ECF2"/>
                </a:solidFill>
                <a:latin typeface="Calibri"/>
              </a:rPr>
              <a:t>WHAT IT IS</a:t>
            </a:r>
          </a:p>
        </p:txBody>
      </p:sp>
      <p:sp>
        <p:nvSpPr>
          <p:cNvPr id="8" name="Rectangle 7"/>
          <p:cNvSpPr/>
          <p:nvPr/>
        </p:nvSpPr>
        <p:spPr>
          <a:xfrm>
            <a:off x="941832" y="2683764"/>
            <a:ext cx="77724" cy="77724"/>
          </a:xfrm>
          <a:prstGeom prst="rect">
            <a:avLst/>
          </a:prstGeom>
          <a:solidFill>
            <a:srgbClr val="4FB4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16152" y="2606040"/>
            <a:ext cx="4709160" cy="365760"/>
          </a:xfrm>
          <a:prstGeom prst="rect">
            <a:avLst/>
          </a:prstGeom>
          <a:noFill/>
        </p:spPr>
        <p:txBody>
          <a:bodyPr wrap="square" lIns="0" rIns="0" tIns="0" bIns="0" anchor="t">
            <a:spAutoFit/>
          </a:bodyPr>
          <a:lstStyle/>
          <a:p>
            <a:pPr algn="l">
              <a:lnSpc>
                <a:spcPct val="115000"/>
              </a:lnSpc>
              <a:spcAft>
                <a:spcPts val="100"/>
              </a:spcAft>
            </a:pPr>
            <a:r>
              <a:rPr sz="1250" b="0" i="0">
                <a:solidFill>
                  <a:srgbClr val="E8ECF2"/>
                </a:solidFill>
                <a:latin typeface="Calibri"/>
              </a:rPr>
              <a:t>Content evaluation of prompts and responses against configured policies</a:t>
            </a:r>
          </a:p>
        </p:txBody>
      </p:sp>
      <p:sp>
        <p:nvSpPr>
          <p:cNvPr id="10" name="Rectangle 9"/>
          <p:cNvSpPr/>
          <p:nvPr/>
        </p:nvSpPr>
        <p:spPr>
          <a:xfrm>
            <a:off x="941832" y="3323844"/>
            <a:ext cx="77724" cy="77724"/>
          </a:xfrm>
          <a:prstGeom prst="rect">
            <a:avLst/>
          </a:prstGeom>
          <a:solidFill>
            <a:srgbClr val="4FB4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16152" y="3246120"/>
            <a:ext cx="4709160" cy="365760"/>
          </a:xfrm>
          <a:prstGeom prst="rect">
            <a:avLst/>
          </a:prstGeom>
          <a:noFill/>
        </p:spPr>
        <p:txBody>
          <a:bodyPr wrap="square" lIns="0" rIns="0" tIns="0" bIns="0" anchor="t">
            <a:spAutoFit/>
          </a:bodyPr>
          <a:lstStyle/>
          <a:p>
            <a:pPr algn="l">
              <a:lnSpc>
                <a:spcPct val="115000"/>
              </a:lnSpc>
              <a:spcAft>
                <a:spcPts val="100"/>
              </a:spcAft>
            </a:pPr>
            <a:r>
              <a:rPr sz="1250" b="0" i="0">
                <a:solidFill>
                  <a:srgbClr val="E8ECF2"/>
                </a:solidFill>
                <a:latin typeface="Calibri"/>
              </a:rPr>
              <a:t>Enforcement actions — allow, block, redact, log only — applied per binding</a:t>
            </a:r>
          </a:p>
        </p:txBody>
      </p:sp>
      <p:sp>
        <p:nvSpPr>
          <p:cNvPr id="12" name="Rectangle 11"/>
          <p:cNvSpPr/>
          <p:nvPr/>
        </p:nvSpPr>
        <p:spPr>
          <a:xfrm>
            <a:off x="941832" y="3963924"/>
            <a:ext cx="77724" cy="77724"/>
          </a:xfrm>
          <a:prstGeom prst="rect">
            <a:avLst/>
          </a:prstGeom>
          <a:solidFill>
            <a:srgbClr val="4FB4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16152" y="3886200"/>
            <a:ext cx="4709160" cy="365760"/>
          </a:xfrm>
          <a:prstGeom prst="rect">
            <a:avLst/>
          </a:prstGeom>
          <a:noFill/>
        </p:spPr>
        <p:txBody>
          <a:bodyPr wrap="square" lIns="0" rIns="0" tIns="0" bIns="0" anchor="t">
            <a:spAutoFit/>
          </a:bodyPr>
          <a:lstStyle/>
          <a:p>
            <a:pPr algn="l">
              <a:lnSpc>
                <a:spcPct val="115000"/>
              </a:lnSpc>
              <a:spcAft>
                <a:spcPts val="100"/>
              </a:spcAft>
            </a:pPr>
            <a:r>
              <a:rPr sz="1250" b="0" i="0">
                <a:solidFill>
                  <a:srgbClr val="E8ECF2"/>
                </a:solidFill>
                <a:latin typeface="Calibri"/>
              </a:rPr>
              <a:t>Policy versioning, bindings, and audit evidence across teams and gateways</a:t>
            </a:r>
          </a:p>
        </p:txBody>
      </p:sp>
      <p:sp>
        <p:nvSpPr>
          <p:cNvPr id="14" name="Rectangle 13"/>
          <p:cNvSpPr/>
          <p:nvPr/>
        </p:nvSpPr>
        <p:spPr>
          <a:xfrm>
            <a:off x="941832" y="4604004"/>
            <a:ext cx="77724" cy="77724"/>
          </a:xfrm>
          <a:prstGeom prst="rect">
            <a:avLst/>
          </a:prstGeom>
          <a:solidFill>
            <a:srgbClr val="4FB4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16152" y="4526280"/>
            <a:ext cx="4709160" cy="365760"/>
          </a:xfrm>
          <a:prstGeom prst="rect">
            <a:avLst/>
          </a:prstGeom>
          <a:noFill/>
        </p:spPr>
        <p:txBody>
          <a:bodyPr wrap="square" lIns="0" rIns="0" tIns="0" bIns="0" anchor="t">
            <a:spAutoFit/>
          </a:bodyPr>
          <a:lstStyle/>
          <a:p>
            <a:pPr algn="l">
              <a:lnSpc>
                <a:spcPct val="115000"/>
              </a:lnSpc>
              <a:spcAft>
                <a:spcPts val="100"/>
              </a:spcAft>
            </a:pPr>
            <a:r>
              <a:rPr sz="1250" b="0" i="0">
                <a:solidFill>
                  <a:srgbClr val="E8ECF2"/>
                </a:solidFill>
                <a:latin typeface="Calibri"/>
              </a:rPr>
              <a:t>One evaluation contract, hosted or customer-managed</a:t>
            </a:r>
          </a:p>
        </p:txBody>
      </p:sp>
      <p:sp>
        <p:nvSpPr>
          <p:cNvPr id="16" name="Rounded Rectangle 15"/>
          <p:cNvSpPr/>
          <p:nvPr/>
        </p:nvSpPr>
        <p:spPr>
          <a:xfrm>
            <a:off x="6519672" y="1828800"/>
            <a:ext cx="4983480" cy="39319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19672" y="1828800"/>
            <a:ext cx="4983480" cy="502920"/>
          </a:xfrm>
          <a:prstGeom prst="roundRect">
            <a:avLst>
              <a:gd name="adj" fmla="val 8000"/>
            </a:avLst>
          </a:prstGeom>
          <a:solidFill>
            <a:srgbClr val="1D242C"/>
          </a:solidFill>
          <a:ln w="12700">
            <a:solidFill>
              <a:srgbClr val="E06C5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50" b="1" i="0">
                <a:solidFill>
                  <a:srgbClr val="E8ECF2"/>
                </a:solidFill>
                <a:latin typeface="Calibri"/>
              </a:rPr>
              <a:t>WHAT IT IS NOT</a:t>
            </a:r>
          </a:p>
        </p:txBody>
      </p:sp>
      <p:sp>
        <p:nvSpPr>
          <p:cNvPr id="18" name="Rectangle 17"/>
          <p:cNvSpPr/>
          <p:nvPr/>
        </p:nvSpPr>
        <p:spPr>
          <a:xfrm>
            <a:off x="6775704" y="2638044"/>
            <a:ext cx="77724" cy="77724"/>
          </a:xfrm>
          <a:prstGeom prst="rect">
            <a:avLst/>
          </a:prstGeom>
          <a:solidFill>
            <a:srgbClr val="E06C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50024" y="2560320"/>
            <a:ext cx="4251960" cy="365760"/>
          </a:xfrm>
          <a:prstGeom prst="rect">
            <a:avLst/>
          </a:prstGeom>
          <a:noFill/>
        </p:spPr>
        <p:txBody>
          <a:bodyPr wrap="square" lIns="0" rIns="0" tIns="0" bIns="0" anchor="t">
            <a:spAutoFit/>
          </a:bodyPr>
          <a:lstStyle/>
          <a:p>
            <a:pPr algn="l">
              <a:lnSpc>
                <a:spcPct val="115000"/>
              </a:lnSpc>
              <a:spcAft>
                <a:spcPts val="100"/>
              </a:spcAft>
            </a:pPr>
            <a:r>
              <a:rPr sz="1250" b="1" i="0">
                <a:solidFill>
                  <a:srgbClr val="E8ECF2"/>
                </a:solidFill>
                <a:latin typeface="Calibri"/>
              </a:rPr>
              <a:t>Not authorization</a:t>
            </a:r>
          </a:p>
          <a:p>
            <a:pPr algn="l">
              <a:lnSpc>
                <a:spcPct val="115000"/>
              </a:lnSpc>
              <a:spcAft>
                <a:spcPts val="0"/>
              </a:spcAft>
            </a:pPr>
            <a:r>
              <a:rPr sz="1050" b="0" i="0">
                <a:solidFill>
                  <a:srgbClr val="98A4B3"/>
                </a:solidFill>
                <a:latin typeface="Calibri"/>
              </a:rPr>
              <a:t>A decision that content appears safe says nothing about whether this user may perform this action. Authentication, business authorization, and approval workflows stay with your application.</a:t>
            </a:r>
          </a:p>
        </p:txBody>
      </p:sp>
      <p:sp>
        <p:nvSpPr>
          <p:cNvPr id="20" name="Rectangle 19"/>
          <p:cNvSpPr/>
          <p:nvPr/>
        </p:nvSpPr>
        <p:spPr>
          <a:xfrm>
            <a:off x="6775704" y="3424427"/>
            <a:ext cx="77724" cy="77724"/>
          </a:xfrm>
          <a:prstGeom prst="rect">
            <a:avLst/>
          </a:prstGeom>
          <a:solidFill>
            <a:srgbClr val="E06C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50024" y="3346703"/>
            <a:ext cx="4251960" cy="365760"/>
          </a:xfrm>
          <a:prstGeom prst="rect">
            <a:avLst/>
          </a:prstGeom>
          <a:noFill/>
        </p:spPr>
        <p:txBody>
          <a:bodyPr wrap="square" lIns="0" rIns="0" tIns="0" bIns="0" anchor="t">
            <a:spAutoFit/>
          </a:bodyPr>
          <a:lstStyle/>
          <a:p>
            <a:pPr algn="l">
              <a:lnSpc>
                <a:spcPct val="115000"/>
              </a:lnSpc>
              <a:spcAft>
                <a:spcPts val="100"/>
              </a:spcAft>
            </a:pPr>
            <a:r>
              <a:rPr sz="1250" b="1" i="0">
                <a:solidFill>
                  <a:srgbClr val="E8ECF2"/>
                </a:solidFill>
                <a:latin typeface="Calibri"/>
              </a:rPr>
              <a:t>Not a bypass-proof boundary in cooperative mode</a:t>
            </a:r>
          </a:p>
          <a:p>
            <a:pPr algn="l">
              <a:lnSpc>
                <a:spcPct val="115000"/>
              </a:lnSpc>
              <a:spcAft>
                <a:spcPts val="0"/>
              </a:spcAft>
            </a:pPr>
            <a:r>
              <a:rPr sz="1050" b="0" i="0">
                <a:solidFill>
                  <a:srgbClr val="98A4B3"/>
                </a:solidFill>
                <a:latin typeface="Calibri"/>
              </a:rPr>
              <a:t>A connector a team installs itself can be disabled, removed, or misconfigured.</a:t>
            </a:r>
          </a:p>
        </p:txBody>
      </p:sp>
      <p:sp>
        <p:nvSpPr>
          <p:cNvPr id="22" name="Rectangle 21"/>
          <p:cNvSpPr/>
          <p:nvPr/>
        </p:nvSpPr>
        <p:spPr>
          <a:xfrm>
            <a:off x="6775704" y="4210812"/>
            <a:ext cx="77724" cy="77724"/>
          </a:xfrm>
          <a:prstGeom prst="rect">
            <a:avLst/>
          </a:prstGeom>
          <a:solidFill>
            <a:srgbClr val="E06C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50024" y="4133087"/>
            <a:ext cx="4251960" cy="365760"/>
          </a:xfrm>
          <a:prstGeom prst="rect">
            <a:avLst/>
          </a:prstGeom>
          <a:noFill/>
        </p:spPr>
        <p:txBody>
          <a:bodyPr wrap="square" lIns="0" rIns="0" tIns="0" bIns="0" anchor="t">
            <a:spAutoFit/>
          </a:bodyPr>
          <a:lstStyle/>
          <a:p>
            <a:pPr algn="l">
              <a:lnSpc>
                <a:spcPct val="115000"/>
              </a:lnSpc>
              <a:spcAft>
                <a:spcPts val="100"/>
              </a:spcAft>
            </a:pPr>
            <a:r>
              <a:rPr sz="1250" b="1" i="0">
                <a:solidFill>
                  <a:srgbClr val="E8ECF2"/>
                </a:solidFill>
                <a:latin typeface="Calibri"/>
              </a:rPr>
              <a:t>Not cross-cloud</a:t>
            </a:r>
          </a:p>
          <a:p>
            <a:pPr algn="l">
              <a:lnSpc>
                <a:spcPct val="115000"/>
              </a:lnSpc>
              <a:spcAft>
                <a:spcPts val="0"/>
              </a:spcAft>
            </a:pPr>
            <a:r>
              <a:rPr sz="1050" b="0" i="0">
                <a:solidFill>
                  <a:srgbClr val="98A4B3"/>
                </a:solidFill>
                <a:latin typeface="Calibri"/>
              </a:rPr>
              <a:t>AWS is the primary and initial cloud. The policy contract is cloud-independent; the hosted runtime is not.</a:t>
            </a:r>
          </a:p>
        </p:txBody>
      </p:sp>
      <p:sp>
        <p:nvSpPr>
          <p:cNvPr id="24" name="Rectangle 23"/>
          <p:cNvSpPr/>
          <p:nvPr/>
        </p:nvSpPr>
        <p:spPr>
          <a:xfrm>
            <a:off x="6775704" y="4997196"/>
            <a:ext cx="77724" cy="77724"/>
          </a:xfrm>
          <a:prstGeom prst="rect">
            <a:avLst/>
          </a:prstGeom>
          <a:solidFill>
            <a:srgbClr val="E06C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50024" y="4919472"/>
            <a:ext cx="4251960" cy="365760"/>
          </a:xfrm>
          <a:prstGeom prst="rect">
            <a:avLst/>
          </a:prstGeom>
          <a:noFill/>
        </p:spPr>
        <p:txBody>
          <a:bodyPr wrap="square" lIns="0" rIns="0" tIns="0" bIns="0" anchor="t">
            <a:spAutoFit/>
          </a:bodyPr>
          <a:lstStyle/>
          <a:p>
            <a:pPr algn="l">
              <a:lnSpc>
                <a:spcPct val="115000"/>
              </a:lnSpc>
              <a:spcAft>
                <a:spcPts val="100"/>
              </a:spcAft>
            </a:pPr>
            <a:r>
              <a:rPr sz="1250" b="1" i="0">
                <a:solidFill>
                  <a:srgbClr val="E8ECF2"/>
                </a:solidFill>
                <a:latin typeface="Calibri"/>
              </a:rPr>
              <a:t>Not a complete AI-governance or DLP platform</a:t>
            </a:r>
          </a:p>
          <a:p>
            <a:pPr algn="l">
              <a:lnSpc>
                <a:spcPct val="115000"/>
              </a:lnSpc>
              <a:spcAft>
                <a:spcPts val="0"/>
              </a:spcAft>
            </a:pPr>
            <a:r>
              <a:rPr sz="1050" b="0" i="0">
                <a:solidFill>
                  <a:srgbClr val="98A4B3"/>
                </a:solidFill>
                <a:latin typeface="Calibri"/>
              </a:rPr>
              <a:t>Also excluded: gateway replacement, a proprietary moderation model, general MCP security, compliance certification.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Why this is different</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Three of the six differentiators — the ones this room will test hardest.</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Source: DIFFERENTIATORS.md §1, §2, §5 · AGR-003, AGR-004, AGR-005, AGR-006, AGR-010, AGR-018</a:t>
            </a:r>
          </a:p>
        </p:txBody>
      </p:sp>
      <p:sp>
        <p:nvSpPr>
          <p:cNvPr id="6" name="Rounded Rectangle 5"/>
          <p:cNvSpPr/>
          <p:nvPr/>
        </p:nvSpPr>
        <p:spPr>
          <a:xfrm>
            <a:off x="685800" y="1874519"/>
            <a:ext cx="10820095" cy="1133856"/>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093976"/>
            <a:ext cx="822960" cy="731520"/>
          </a:xfrm>
          <a:prstGeom prst="rect">
            <a:avLst/>
          </a:prstGeom>
          <a:noFill/>
        </p:spPr>
        <p:txBody>
          <a:bodyPr wrap="square" lIns="0" rIns="0" tIns="0" bIns="0" anchor="t">
            <a:spAutoFit/>
          </a:bodyPr>
          <a:lstStyle/>
          <a:p>
            <a:pPr algn="l">
              <a:lnSpc>
                <a:spcPct val="115000"/>
              </a:lnSpc>
              <a:spcAft>
                <a:spcPts val="0"/>
              </a:spcAft>
            </a:pPr>
            <a:r>
              <a:rPr sz="2600" b="1" i="0">
                <a:solidFill>
                  <a:srgbClr val="2B4A69"/>
                </a:solidFill>
                <a:latin typeface="Calibri"/>
              </a:rPr>
              <a:t>01</a:t>
            </a:r>
          </a:p>
        </p:txBody>
      </p:sp>
      <p:sp>
        <p:nvSpPr>
          <p:cNvPr id="8" name="TextBox 7"/>
          <p:cNvSpPr txBox="1"/>
          <p:nvPr/>
        </p:nvSpPr>
        <p:spPr>
          <a:xfrm>
            <a:off x="1737360" y="2057400"/>
            <a:ext cx="9402775" cy="868680"/>
          </a:xfrm>
          <a:prstGeom prst="rect">
            <a:avLst/>
          </a:prstGeom>
          <a:noFill/>
        </p:spPr>
        <p:txBody>
          <a:bodyPr wrap="square" lIns="0" rIns="0" tIns="0" bIns="0" anchor="t">
            <a:spAutoFit/>
          </a:bodyPr>
          <a:lstStyle/>
          <a:p>
            <a:pPr algn="l">
              <a:lnSpc>
                <a:spcPct val="115000"/>
              </a:lnSpc>
              <a:spcAft>
                <a:spcPts val="500"/>
              </a:spcAft>
            </a:pPr>
            <a:r>
              <a:rPr sz="1550" b="1" i="0">
                <a:solidFill>
                  <a:srgbClr val="E8ECF2"/>
                </a:solidFill>
                <a:latin typeface="Calibri"/>
              </a:rPr>
              <a:t>Model- and gateway-independent contract</a:t>
            </a:r>
          </a:p>
          <a:p>
            <a:pPr algn="l">
              <a:lnSpc>
                <a:spcPct val="115000"/>
              </a:lnSpc>
              <a:spcAft>
                <a:spcPts val="0"/>
              </a:spcAft>
            </a:pPr>
            <a:r>
              <a:rPr sz="1200" b="0" i="0">
                <a:solidFill>
                  <a:srgbClr val="98A4B3"/>
                </a:solidFill>
                <a:latin typeface="Calibri"/>
              </a:rPr>
              <a:t>The policy schema, evaluation request, decision structure, and reason codes do not depend on LiteLLM's configuration, Bedrock's response format, a model provider, a language, or a framework. Vendor behaviour sits behind adapters — so a policy author writes intent, not integration mechanics.</a:t>
            </a:r>
          </a:p>
        </p:txBody>
      </p:sp>
      <p:sp>
        <p:nvSpPr>
          <p:cNvPr id="9" name="Rounded Rectangle 8"/>
          <p:cNvSpPr/>
          <p:nvPr/>
        </p:nvSpPr>
        <p:spPr>
          <a:xfrm>
            <a:off x="685800" y="3172968"/>
            <a:ext cx="10820095" cy="1133856"/>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392424"/>
            <a:ext cx="822960" cy="731520"/>
          </a:xfrm>
          <a:prstGeom prst="rect">
            <a:avLst/>
          </a:prstGeom>
          <a:noFill/>
        </p:spPr>
        <p:txBody>
          <a:bodyPr wrap="square" lIns="0" rIns="0" tIns="0" bIns="0" anchor="t">
            <a:spAutoFit/>
          </a:bodyPr>
          <a:lstStyle/>
          <a:p>
            <a:pPr algn="l">
              <a:lnSpc>
                <a:spcPct val="115000"/>
              </a:lnSpc>
              <a:spcAft>
                <a:spcPts val="0"/>
              </a:spcAft>
            </a:pPr>
            <a:r>
              <a:rPr sz="2600" b="1" i="0">
                <a:solidFill>
                  <a:srgbClr val="2B4A69"/>
                </a:solidFill>
                <a:latin typeface="Calibri"/>
              </a:rPr>
              <a:t>02</a:t>
            </a:r>
          </a:p>
        </p:txBody>
      </p:sp>
      <p:sp>
        <p:nvSpPr>
          <p:cNvPr id="11" name="TextBox 10"/>
          <p:cNvSpPr txBox="1"/>
          <p:nvPr/>
        </p:nvSpPr>
        <p:spPr>
          <a:xfrm>
            <a:off x="1737360" y="3355848"/>
            <a:ext cx="9402775" cy="868680"/>
          </a:xfrm>
          <a:prstGeom prst="rect">
            <a:avLst/>
          </a:prstGeom>
          <a:noFill/>
        </p:spPr>
        <p:txBody>
          <a:bodyPr wrap="square" lIns="0" rIns="0" tIns="0" bIns="0" anchor="t">
            <a:spAutoFit/>
          </a:bodyPr>
          <a:lstStyle/>
          <a:p>
            <a:pPr algn="l">
              <a:lnSpc>
                <a:spcPct val="115000"/>
              </a:lnSpc>
              <a:spcAft>
                <a:spcPts val="500"/>
              </a:spcAft>
            </a:pPr>
            <a:r>
              <a:rPr sz="1550" b="1" i="0">
                <a:solidFill>
                  <a:srgbClr val="E8ECF2"/>
                </a:solidFill>
                <a:latin typeface="Calibri"/>
              </a:rPr>
              <a:t>Policy portability across all three modes</a:t>
            </a:r>
          </a:p>
          <a:p>
            <a:pPr algn="l">
              <a:lnSpc>
                <a:spcPct val="115000"/>
              </a:lnSpc>
              <a:spcAft>
                <a:spcPts val="0"/>
              </a:spcAft>
            </a:pPr>
            <a:r>
              <a:rPr sz="1200" b="0" i="0">
                <a:solidFill>
                  <a:srgbClr val="98A4B3"/>
                </a:solidFill>
                <a:latin typeface="Calibri"/>
              </a:rPr>
              <a:t>The same policy, the same contract, and the same decision semantics hold whether the runtime is ours or yours. Changing deployment mode is not a re-integration project and does not invalidate a policy your security team already approved.</a:t>
            </a:r>
          </a:p>
        </p:txBody>
      </p:sp>
      <p:sp>
        <p:nvSpPr>
          <p:cNvPr id="12" name="Rounded Rectangle 11"/>
          <p:cNvSpPr/>
          <p:nvPr/>
        </p:nvSpPr>
        <p:spPr>
          <a:xfrm>
            <a:off x="685800" y="4471416"/>
            <a:ext cx="10820095" cy="1133856"/>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690872"/>
            <a:ext cx="822960" cy="731520"/>
          </a:xfrm>
          <a:prstGeom prst="rect">
            <a:avLst/>
          </a:prstGeom>
          <a:noFill/>
        </p:spPr>
        <p:txBody>
          <a:bodyPr wrap="square" lIns="0" rIns="0" tIns="0" bIns="0" anchor="t">
            <a:spAutoFit/>
          </a:bodyPr>
          <a:lstStyle/>
          <a:p>
            <a:pPr algn="l">
              <a:lnSpc>
                <a:spcPct val="115000"/>
              </a:lnSpc>
              <a:spcAft>
                <a:spcPts val="0"/>
              </a:spcAft>
            </a:pPr>
            <a:r>
              <a:rPr sz="2600" b="1" i="0">
                <a:solidFill>
                  <a:srgbClr val="2B4A69"/>
                </a:solidFill>
                <a:latin typeface="Calibri"/>
              </a:rPr>
              <a:t>05</a:t>
            </a:r>
          </a:p>
        </p:txBody>
      </p:sp>
      <p:sp>
        <p:nvSpPr>
          <p:cNvPr id="14" name="TextBox 13"/>
          <p:cNvSpPr txBox="1"/>
          <p:nvPr/>
        </p:nvSpPr>
        <p:spPr>
          <a:xfrm>
            <a:off x="1737360" y="4654296"/>
            <a:ext cx="9402775" cy="868680"/>
          </a:xfrm>
          <a:prstGeom prst="rect">
            <a:avLst/>
          </a:prstGeom>
          <a:noFill/>
        </p:spPr>
        <p:txBody>
          <a:bodyPr wrap="square" lIns="0" rIns="0" tIns="0" bIns="0" anchor="t">
            <a:spAutoFit/>
          </a:bodyPr>
          <a:lstStyle/>
          <a:p>
            <a:pPr algn="l">
              <a:lnSpc>
                <a:spcPct val="115000"/>
              </a:lnSpc>
              <a:spcAft>
                <a:spcPts val="500"/>
              </a:spcAft>
            </a:pPr>
            <a:r>
              <a:rPr sz="1550" b="1" i="0">
                <a:solidFill>
                  <a:srgbClr val="E8ECF2"/>
                </a:solidFill>
                <a:latin typeface="Calibri"/>
              </a:rPr>
              <a:t>Honest scoping, stated in the product</a:t>
            </a:r>
          </a:p>
          <a:p>
            <a:pPr algn="l">
              <a:lnSpc>
                <a:spcPct val="115000"/>
              </a:lnSpc>
              <a:spcAft>
                <a:spcPts val="0"/>
              </a:spcAft>
            </a:pPr>
            <a:r>
              <a:rPr sz="1200" b="0" i="0">
                <a:solidFill>
                  <a:srgbClr val="98A4B3"/>
                </a:solidFill>
                <a:latin typeface="Calibri"/>
              </a:rPr>
              <a:t>Not authorization. Not bypass-proof in cooperative mode. Not a complete DLP or governance platform. Publishing the boundary — rather than logging it internally — is what makes the rest of the claims worth believing.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The path we're proposing</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All five phases are in the approved, estimated scope. Execution is sequenced, and every phase must validate before the next proceeds.</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Source: AGR-020 · DEC-008 · PRODUCT-ROADMAP.md · EXECUTIVE-BRIEF §6, §9</a:t>
            </a:r>
          </a:p>
        </p:txBody>
      </p:sp>
      <p:sp>
        <p:nvSpPr>
          <p:cNvPr id="6" name="Rounded Rectangle 5"/>
          <p:cNvSpPr/>
          <p:nvPr/>
        </p:nvSpPr>
        <p:spPr>
          <a:xfrm>
            <a:off x="685800" y="2194560"/>
            <a:ext cx="2039112" cy="2697480"/>
          </a:xfrm>
          <a:prstGeom prst="roundRect">
            <a:avLst>
              <a:gd name="adj" fmla="val 4000"/>
            </a:avLst>
          </a:prstGeom>
          <a:solidFill>
            <a:srgbClr val="1D242C"/>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86584"/>
            <a:ext cx="1673352" cy="2331720"/>
          </a:xfrm>
          <a:prstGeom prst="rect">
            <a:avLst/>
          </a:prstGeom>
          <a:noFill/>
        </p:spPr>
        <p:txBody>
          <a:bodyPr wrap="square" lIns="0" rIns="0" tIns="0" bIns="0" anchor="t">
            <a:spAutoFit/>
          </a:bodyPr>
          <a:lstStyle/>
          <a:p>
            <a:pPr algn="l">
              <a:lnSpc>
                <a:spcPct val="115000"/>
              </a:lnSpc>
              <a:spcAft>
                <a:spcPts val="400"/>
              </a:spcAft>
            </a:pPr>
            <a:r>
              <a:rPr sz="1150" b="1" i="0">
                <a:solidFill>
                  <a:srgbClr val="5AA0E0"/>
                </a:solidFill>
                <a:latin typeface="Calibri"/>
              </a:rPr>
              <a:t>Phase 1</a:t>
            </a:r>
          </a:p>
          <a:p>
            <a:pPr algn="l">
              <a:lnSpc>
                <a:spcPct val="115000"/>
              </a:lnSpc>
              <a:spcAft>
                <a:spcPts val="800"/>
              </a:spcAft>
            </a:pPr>
            <a:r>
              <a:rPr sz="1400" b="1" i="0">
                <a:solidFill>
                  <a:srgbClr val="E8ECF2"/>
                </a:solidFill>
                <a:latin typeface="Calibri"/>
              </a:rPr>
              <a:t>Integration proof</a:t>
            </a:r>
          </a:p>
          <a:p>
            <a:pPr algn="l">
              <a:lnSpc>
                <a:spcPct val="120000"/>
              </a:lnSpc>
              <a:spcAft>
                <a:spcPts val="800"/>
              </a:spcAft>
            </a:pPr>
            <a:r>
              <a:rPr sz="1100" b="0" i="0">
                <a:solidFill>
                  <a:srgbClr val="98A4B3"/>
                </a:solidFill>
                <a:latin typeface="Calibri"/>
              </a:rPr>
              <a:t>Prove policy and evaluation can be separated from LiteLLM and reused across gateways.</a:t>
            </a:r>
          </a:p>
          <a:p>
            <a:pPr algn="l">
              <a:lnSpc>
                <a:spcPct val="115000"/>
              </a:lnSpc>
              <a:spcAft>
                <a:spcPts val="0"/>
              </a:spcAft>
            </a:pPr>
            <a:r>
              <a:rPr sz="1050" b="1" i="0">
                <a:solidFill>
                  <a:srgbClr val="5AA0E0"/>
                </a:solidFill>
                <a:latin typeface="Calibri"/>
              </a:rPr>
              <a:t>Mode A</a:t>
            </a:r>
          </a:p>
        </p:txBody>
      </p:sp>
      <p:cxnSp>
        <p:nvCxnSpPr>
          <p:cNvPr id="8" name="Connector 7"/>
          <p:cNvCxnSpPr/>
          <p:nvPr/>
        </p:nvCxnSpPr>
        <p:spPr>
          <a:xfrm>
            <a:off x="2743200" y="3520439"/>
            <a:ext cx="109728" cy="0"/>
          </a:xfrm>
          <a:prstGeom prst="line">
            <a:avLst/>
          </a:prstGeom>
          <a:ln w="19050">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505456" y="4956048"/>
            <a:ext cx="731520" cy="347472"/>
          </a:xfrm>
          <a:prstGeom prst="rect">
            <a:avLst/>
          </a:prstGeom>
          <a:noFill/>
        </p:spPr>
        <p:txBody>
          <a:bodyPr wrap="square" lIns="0" rIns="0" tIns="0" bIns="0" anchor="t">
            <a:spAutoFit/>
          </a:bodyPr>
          <a:lstStyle/>
          <a:p>
            <a:pPr algn="ctr">
              <a:lnSpc>
                <a:spcPct val="110000"/>
              </a:lnSpc>
              <a:spcAft>
                <a:spcPts val="0"/>
              </a:spcAft>
            </a:pPr>
            <a:r>
              <a:rPr sz="850" b="0" i="0">
                <a:solidFill>
                  <a:srgbClr val="98A4B3"/>
                </a:solidFill>
                <a:latin typeface="Calibri"/>
              </a:rPr>
              <a:t>gate</a:t>
            </a:r>
          </a:p>
        </p:txBody>
      </p:sp>
      <p:sp>
        <p:nvSpPr>
          <p:cNvPr id="10" name="Rounded Rectangle 9"/>
          <p:cNvSpPr/>
          <p:nvPr/>
        </p:nvSpPr>
        <p:spPr>
          <a:xfrm>
            <a:off x="2871216" y="2194560"/>
            <a:ext cx="2039112" cy="269748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54096" y="2386584"/>
            <a:ext cx="1673352" cy="2331720"/>
          </a:xfrm>
          <a:prstGeom prst="rect">
            <a:avLst/>
          </a:prstGeom>
          <a:noFill/>
        </p:spPr>
        <p:txBody>
          <a:bodyPr wrap="square" lIns="0" rIns="0" tIns="0" bIns="0" anchor="t">
            <a:spAutoFit/>
          </a:bodyPr>
          <a:lstStyle/>
          <a:p>
            <a:pPr algn="l">
              <a:lnSpc>
                <a:spcPct val="115000"/>
              </a:lnSpc>
              <a:spcAft>
                <a:spcPts val="400"/>
              </a:spcAft>
            </a:pPr>
            <a:r>
              <a:rPr sz="1150" b="1" i="0">
                <a:solidFill>
                  <a:srgbClr val="98A4B3"/>
                </a:solidFill>
                <a:latin typeface="Calibri"/>
              </a:rPr>
              <a:t>Phase 2</a:t>
            </a:r>
          </a:p>
          <a:p>
            <a:pPr algn="l">
              <a:lnSpc>
                <a:spcPct val="115000"/>
              </a:lnSpc>
              <a:spcAft>
                <a:spcPts val="800"/>
              </a:spcAft>
            </a:pPr>
            <a:r>
              <a:rPr sz="1400" b="1" i="0">
                <a:solidFill>
                  <a:srgbClr val="E8ECF2"/>
                </a:solidFill>
                <a:latin typeface="Calibri"/>
              </a:rPr>
              <a:t>Internal multi-team platform</a:t>
            </a:r>
          </a:p>
          <a:p>
            <a:pPr algn="l">
              <a:lnSpc>
                <a:spcPct val="120000"/>
              </a:lnSpc>
              <a:spcAft>
                <a:spcPts val="800"/>
              </a:spcAft>
            </a:pPr>
            <a:r>
              <a:rPr sz="1100" b="0" i="0">
                <a:solidFill>
                  <a:srgbClr val="98A4B3"/>
                </a:solidFill>
                <a:latin typeface="Calibri"/>
              </a:rPr>
              <a:t>Multiple internal teams onboard and operate distinct workloads.</a:t>
            </a:r>
          </a:p>
          <a:p>
            <a:pPr algn="l">
              <a:lnSpc>
                <a:spcPct val="115000"/>
              </a:lnSpc>
              <a:spcAft>
                <a:spcPts val="0"/>
              </a:spcAft>
            </a:pPr>
            <a:r>
              <a:rPr sz="1050" b="1" i="0">
                <a:solidFill>
                  <a:srgbClr val="98A4B3"/>
                </a:solidFill>
                <a:latin typeface="Calibri"/>
              </a:rPr>
              <a:t>Mode A</a:t>
            </a:r>
          </a:p>
        </p:txBody>
      </p:sp>
      <p:cxnSp>
        <p:nvCxnSpPr>
          <p:cNvPr id="12" name="Connector 11"/>
          <p:cNvCxnSpPr/>
          <p:nvPr/>
        </p:nvCxnSpPr>
        <p:spPr>
          <a:xfrm>
            <a:off x="4928616" y="3520439"/>
            <a:ext cx="109728" cy="0"/>
          </a:xfrm>
          <a:prstGeom prst="line">
            <a:avLst/>
          </a:prstGeom>
          <a:ln w="19050">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690872" y="4956048"/>
            <a:ext cx="731520" cy="347472"/>
          </a:xfrm>
          <a:prstGeom prst="rect">
            <a:avLst/>
          </a:prstGeom>
          <a:noFill/>
        </p:spPr>
        <p:txBody>
          <a:bodyPr wrap="square" lIns="0" rIns="0" tIns="0" bIns="0" anchor="t">
            <a:spAutoFit/>
          </a:bodyPr>
          <a:lstStyle/>
          <a:p>
            <a:pPr algn="ctr">
              <a:lnSpc>
                <a:spcPct val="110000"/>
              </a:lnSpc>
              <a:spcAft>
                <a:spcPts val="0"/>
              </a:spcAft>
            </a:pPr>
            <a:r>
              <a:rPr sz="850" b="0" i="0">
                <a:solidFill>
                  <a:srgbClr val="98A4B3"/>
                </a:solidFill>
                <a:latin typeface="Calibri"/>
              </a:rPr>
              <a:t>gate</a:t>
            </a:r>
          </a:p>
        </p:txBody>
      </p:sp>
      <p:sp>
        <p:nvSpPr>
          <p:cNvPr id="14" name="Rounded Rectangle 13"/>
          <p:cNvSpPr/>
          <p:nvPr/>
        </p:nvSpPr>
        <p:spPr>
          <a:xfrm>
            <a:off x="5056632" y="2194560"/>
            <a:ext cx="2039112" cy="269748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39512" y="2386584"/>
            <a:ext cx="1673352" cy="2331720"/>
          </a:xfrm>
          <a:prstGeom prst="rect">
            <a:avLst/>
          </a:prstGeom>
          <a:noFill/>
        </p:spPr>
        <p:txBody>
          <a:bodyPr wrap="square" lIns="0" rIns="0" tIns="0" bIns="0" anchor="t">
            <a:spAutoFit/>
          </a:bodyPr>
          <a:lstStyle/>
          <a:p>
            <a:pPr algn="l">
              <a:lnSpc>
                <a:spcPct val="115000"/>
              </a:lnSpc>
              <a:spcAft>
                <a:spcPts val="400"/>
              </a:spcAft>
            </a:pPr>
            <a:r>
              <a:rPr sz="1150" b="1" i="0">
                <a:solidFill>
                  <a:srgbClr val="98A4B3"/>
                </a:solidFill>
                <a:latin typeface="Calibri"/>
              </a:rPr>
              <a:t>Phase 3</a:t>
            </a:r>
          </a:p>
          <a:p>
            <a:pPr algn="l">
              <a:lnSpc>
                <a:spcPct val="115000"/>
              </a:lnSpc>
              <a:spcAft>
                <a:spcPts val="800"/>
              </a:spcAft>
            </a:pPr>
            <a:r>
              <a:rPr sz="1400" b="1" i="0">
                <a:solidFill>
                  <a:srgbClr val="E8ECF2"/>
                </a:solidFill>
                <a:latin typeface="Calibri"/>
              </a:rPr>
              <a:t>Guarded gateway</a:t>
            </a:r>
          </a:p>
          <a:p>
            <a:pPr algn="l">
              <a:lnSpc>
                <a:spcPct val="120000"/>
              </a:lnSpc>
              <a:spcAft>
                <a:spcPts val="800"/>
              </a:spcAft>
            </a:pPr>
            <a:r>
              <a:rPr sz="1100" b="0" i="0">
                <a:solidFill>
                  <a:srgbClr val="98A4B3"/>
                </a:solidFill>
                <a:latin typeface="Calibri"/>
              </a:rPr>
              <a:t>A fully hosted model and guardrail path for teams without a gateway.</a:t>
            </a:r>
          </a:p>
          <a:p>
            <a:pPr algn="l">
              <a:lnSpc>
                <a:spcPct val="115000"/>
              </a:lnSpc>
              <a:spcAft>
                <a:spcPts val="0"/>
              </a:spcAft>
            </a:pPr>
            <a:r>
              <a:rPr sz="1050" b="1" i="0">
                <a:solidFill>
                  <a:srgbClr val="98A4B3"/>
                </a:solidFill>
                <a:latin typeface="Calibri"/>
              </a:rPr>
              <a:t>Mode B</a:t>
            </a:r>
          </a:p>
        </p:txBody>
      </p:sp>
      <p:cxnSp>
        <p:nvCxnSpPr>
          <p:cNvPr id="16" name="Connector 15"/>
          <p:cNvCxnSpPr/>
          <p:nvPr/>
        </p:nvCxnSpPr>
        <p:spPr>
          <a:xfrm>
            <a:off x="7114031" y="3520439"/>
            <a:ext cx="109729" cy="0"/>
          </a:xfrm>
          <a:prstGeom prst="line">
            <a:avLst/>
          </a:prstGeom>
          <a:ln w="19050">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876288" y="4956048"/>
            <a:ext cx="731520" cy="347472"/>
          </a:xfrm>
          <a:prstGeom prst="rect">
            <a:avLst/>
          </a:prstGeom>
          <a:noFill/>
        </p:spPr>
        <p:txBody>
          <a:bodyPr wrap="square" lIns="0" rIns="0" tIns="0" bIns="0" anchor="t">
            <a:spAutoFit/>
          </a:bodyPr>
          <a:lstStyle/>
          <a:p>
            <a:pPr algn="ctr">
              <a:lnSpc>
                <a:spcPct val="110000"/>
              </a:lnSpc>
              <a:spcAft>
                <a:spcPts val="0"/>
              </a:spcAft>
            </a:pPr>
            <a:r>
              <a:rPr sz="850" b="0" i="0">
                <a:solidFill>
                  <a:srgbClr val="98A4B3"/>
                </a:solidFill>
                <a:latin typeface="Calibri"/>
              </a:rPr>
              <a:t>gate</a:t>
            </a:r>
          </a:p>
        </p:txBody>
      </p:sp>
      <p:sp>
        <p:nvSpPr>
          <p:cNvPr id="18" name="Rounded Rectangle 17"/>
          <p:cNvSpPr/>
          <p:nvPr/>
        </p:nvSpPr>
        <p:spPr>
          <a:xfrm>
            <a:off x="7242048" y="2194560"/>
            <a:ext cx="2039112" cy="269748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24927" y="2386584"/>
            <a:ext cx="1673352" cy="2331720"/>
          </a:xfrm>
          <a:prstGeom prst="rect">
            <a:avLst/>
          </a:prstGeom>
          <a:noFill/>
        </p:spPr>
        <p:txBody>
          <a:bodyPr wrap="square" lIns="0" rIns="0" tIns="0" bIns="0" anchor="t">
            <a:spAutoFit/>
          </a:bodyPr>
          <a:lstStyle/>
          <a:p>
            <a:pPr algn="l">
              <a:lnSpc>
                <a:spcPct val="115000"/>
              </a:lnSpc>
              <a:spcAft>
                <a:spcPts val="400"/>
              </a:spcAft>
            </a:pPr>
            <a:r>
              <a:rPr sz="1150" b="1" i="0">
                <a:solidFill>
                  <a:srgbClr val="98A4B3"/>
                </a:solidFill>
                <a:latin typeface="Calibri"/>
              </a:rPr>
              <a:t>Phase 4</a:t>
            </a:r>
          </a:p>
          <a:p>
            <a:pPr algn="l">
              <a:lnSpc>
                <a:spcPct val="115000"/>
              </a:lnSpc>
              <a:spcAft>
                <a:spcPts val="800"/>
              </a:spcAft>
            </a:pPr>
            <a:r>
              <a:rPr sz="1400" b="1" i="0">
                <a:solidFill>
                  <a:srgbClr val="E8ECF2"/>
                </a:solidFill>
                <a:latin typeface="Calibri"/>
              </a:rPr>
              <a:t>Customer-managed runtime</a:t>
            </a:r>
          </a:p>
          <a:p>
            <a:pPr algn="l">
              <a:lnSpc>
                <a:spcPct val="120000"/>
              </a:lnSpc>
              <a:spcAft>
                <a:spcPts val="800"/>
              </a:spcAft>
            </a:pPr>
            <a:r>
              <a:rPr sz="1100" b="0" i="0">
                <a:solidFill>
                  <a:srgbClr val="98A4B3"/>
                </a:solidFill>
                <a:latin typeface="Calibri"/>
              </a:rPr>
              <a:t>Local evaluation and content isolation inside the customer's account.</a:t>
            </a:r>
          </a:p>
          <a:p>
            <a:pPr algn="l">
              <a:lnSpc>
                <a:spcPct val="115000"/>
              </a:lnSpc>
              <a:spcAft>
                <a:spcPts val="0"/>
              </a:spcAft>
            </a:pPr>
            <a:r>
              <a:rPr sz="1050" b="1" i="0">
                <a:solidFill>
                  <a:srgbClr val="98A4B3"/>
                </a:solidFill>
                <a:latin typeface="Calibri"/>
              </a:rPr>
              <a:t>Mode C</a:t>
            </a:r>
          </a:p>
        </p:txBody>
      </p:sp>
      <p:cxnSp>
        <p:nvCxnSpPr>
          <p:cNvPr id="20" name="Connector 19"/>
          <p:cNvCxnSpPr/>
          <p:nvPr/>
        </p:nvCxnSpPr>
        <p:spPr>
          <a:xfrm>
            <a:off x="9299448" y="3520439"/>
            <a:ext cx="109728" cy="0"/>
          </a:xfrm>
          <a:prstGeom prst="line">
            <a:avLst/>
          </a:prstGeom>
          <a:ln w="19050">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9061704" y="4956048"/>
            <a:ext cx="731520" cy="347472"/>
          </a:xfrm>
          <a:prstGeom prst="rect">
            <a:avLst/>
          </a:prstGeom>
          <a:noFill/>
        </p:spPr>
        <p:txBody>
          <a:bodyPr wrap="square" lIns="0" rIns="0" tIns="0" bIns="0" anchor="t">
            <a:spAutoFit/>
          </a:bodyPr>
          <a:lstStyle/>
          <a:p>
            <a:pPr algn="ctr">
              <a:lnSpc>
                <a:spcPct val="110000"/>
              </a:lnSpc>
              <a:spcAft>
                <a:spcPts val="0"/>
              </a:spcAft>
            </a:pPr>
            <a:r>
              <a:rPr sz="850" b="0" i="0">
                <a:solidFill>
                  <a:srgbClr val="98A4B3"/>
                </a:solidFill>
                <a:latin typeface="Calibri"/>
              </a:rPr>
              <a:t>gate</a:t>
            </a:r>
          </a:p>
        </p:txBody>
      </p:sp>
      <p:sp>
        <p:nvSpPr>
          <p:cNvPr id="22" name="Rounded Rectangle 21"/>
          <p:cNvSpPr/>
          <p:nvPr/>
        </p:nvSpPr>
        <p:spPr>
          <a:xfrm>
            <a:off x="9427464" y="2194560"/>
            <a:ext cx="2039112" cy="269748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10344" y="2386584"/>
            <a:ext cx="1673352" cy="2331720"/>
          </a:xfrm>
          <a:prstGeom prst="rect">
            <a:avLst/>
          </a:prstGeom>
          <a:noFill/>
        </p:spPr>
        <p:txBody>
          <a:bodyPr wrap="square" lIns="0" rIns="0" tIns="0" bIns="0" anchor="t">
            <a:spAutoFit/>
          </a:bodyPr>
          <a:lstStyle/>
          <a:p>
            <a:pPr algn="l">
              <a:lnSpc>
                <a:spcPct val="115000"/>
              </a:lnSpc>
              <a:spcAft>
                <a:spcPts val="400"/>
              </a:spcAft>
            </a:pPr>
            <a:r>
              <a:rPr sz="1150" b="1" i="0">
                <a:solidFill>
                  <a:srgbClr val="98A4B3"/>
                </a:solidFill>
                <a:latin typeface="Calibri"/>
              </a:rPr>
              <a:t>Phase 5</a:t>
            </a:r>
          </a:p>
          <a:p>
            <a:pPr algn="l">
              <a:lnSpc>
                <a:spcPct val="115000"/>
              </a:lnSpc>
              <a:spcAft>
                <a:spcPts val="800"/>
              </a:spcAft>
            </a:pPr>
            <a:r>
              <a:rPr sz="1400" b="1" i="0">
                <a:solidFill>
                  <a:srgbClr val="E8ECF2"/>
                </a:solidFill>
                <a:latin typeface="Calibri"/>
              </a:rPr>
              <a:t>Advanced agent protection</a:t>
            </a:r>
          </a:p>
          <a:p>
            <a:pPr algn="l">
              <a:lnSpc>
                <a:spcPct val="120000"/>
              </a:lnSpc>
              <a:spcAft>
                <a:spcPts val="800"/>
              </a:spcAft>
            </a:pPr>
            <a:r>
              <a:rPr sz="1100" b="0" i="0">
                <a:solidFill>
                  <a:srgbClr val="98A4B3"/>
                </a:solidFill>
                <a:latin typeface="Calibri"/>
              </a:rPr>
              <a:t>Guardrail coverage beyond prompt and response evaluation.</a:t>
            </a:r>
          </a:p>
          <a:p>
            <a:pPr algn="l">
              <a:lnSpc>
                <a:spcPct val="115000"/>
              </a:lnSpc>
              <a:spcAft>
                <a:spcPts val="0"/>
              </a:spcAft>
            </a:pPr>
            <a:r>
              <a:rPr sz="1050" b="1" i="0">
                <a:solidFill>
                  <a:srgbClr val="98A4B3"/>
                </a:solidFill>
                <a:latin typeface="Calibri"/>
              </a:rPr>
              <a:t>All modes</a:t>
            </a:r>
          </a:p>
        </p:txBody>
      </p:sp>
      <p:sp>
        <p:nvSpPr>
          <p:cNvPr id="24" name="Rounded Rectangle 23"/>
          <p:cNvSpPr/>
          <p:nvPr/>
        </p:nvSpPr>
        <p:spPr>
          <a:xfrm>
            <a:off x="685800" y="1801368"/>
            <a:ext cx="2084831" cy="347472"/>
          </a:xfrm>
          <a:prstGeom prst="roundRect">
            <a:avLst>
              <a:gd name="adj" fmla="val 8000"/>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000" b="1" i="0">
                <a:solidFill>
                  <a:srgbClr val="12161B"/>
                </a:solidFill>
                <a:latin typeface="Calibri"/>
              </a:rPr>
              <a:t>WE ARE HERE</a:t>
            </a:r>
          </a:p>
        </p:txBody>
      </p:sp>
      <p:sp>
        <p:nvSpPr>
          <p:cNvPr id="25" name="TextBox 24"/>
          <p:cNvSpPr txBox="1"/>
          <p:nvPr/>
        </p:nvSpPr>
        <p:spPr>
          <a:xfrm>
            <a:off x="685800" y="5705856"/>
            <a:ext cx="10820095" cy="457200"/>
          </a:xfrm>
          <a:prstGeom prst="rect">
            <a:avLst/>
          </a:prstGeom>
          <a:noFill/>
        </p:spPr>
        <p:txBody>
          <a:bodyPr wrap="square" lIns="0" rIns="0" tIns="0" bIns="0" anchor="t">
            <a:spAutoFit/>
          </a:bodyPr>
          <a:lstStyle/>
          <a:p>
            <a:pPr algn="l">
              <a:lnSpc>
                <a:spcPct val="115000"/>
              </a:lnSpc>
              <a:spcAft>
                <a:spcPts val="0"/>
              </a:spcAft>
            </a:pPr>
            <a:r>
              <a:rPr sz="1150" b="0" i="0">
                <a:solidFill>
                  <a:srgbClr val="98A4B3"/>
                </a:solidFill>
                <a:latin typeface="Calibri"/>
              </a:rPr>
              <a:t>Nothing is built or available today. Phases 2–5 are sequenced future work, each gated on the prior phase's validation. No calendar dates exist in the source material — durations are TBD.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What success looks like</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Phases 1–2 will be considered validated when all nine criteria are demonstrated together — not a subset.</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Source: SUCCESS-CRITERIA.md §1 (MVP-01–MVP-09) · VALIDATION-PLAN.md · AGR-020</a:t>
            </a:r>
          </a:p>
        </p:txBody>
      </p:sp>
      <p:sp>
        <p:nvSpPr>
          <p:cNvPr id="6" name="Rectangle 5"/>
          <p:cNvSpPr/>
          <p:nvPr/>
        </p:nvSpPr>
        <p:spPr>
          <a:xfrm>
            <a:off x="685800" y="1997964"/>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6263640" cy="365760"/>
          </a:xfrm>
          <a:prstGeom prst="rect">
            <a:avLst/>
          </a:prstGeom>
          <a:noFill/>
        </p:spPr>
        <p:txBody>
          <a:bodyPr wrap="square" lIns="0" rIns="0" tIns="0" bIns="0" anchor="t">
            <a:spAutoFit/>
          </a:bodyPr>
          <a:lstStyle/>
          <a:p>
            <a:pPr algn="l">
              <a:lnSpc>
                <a:spcPct val="115000"/>
              </a:lnSpc>
              <a:spcAft>
                <a:spcPts val="100"/>
              </a:spcAft>
            </a:pPr>
            <a:r>
              <a:rPr sz="1300" b="1" i="0">
                <a:solidFill>
                  <a:srgbClr val="E8ECF2"/>
                </a:solidFill>
                <a:latin typeface="Calibri"/>
              </a:rPr>
              <a:t>Two separate LiteLLM instances consume the same policy version</a:t>
            </a:r>
          </a:p>
          <a:p>
            <a:pPr algn="l">
              <a:lnSpc>
                <a:spcPct val="115000"/>
              </a:lnSpc>
              <a:spcAft>
                <a:spcPts val="0"/>
              </a:spcAft>
            </a:pPr>
            <a:r>
              <a:rPr sz="1100" b="0" i="0">
                <a:solidFill>
                  <a:srgbClr val="98A4B3"/>
                </a:solidFill>
                <a:latin typeface="Calibri"/>
              </a:rPr>
              <a:t>MVP-01 — two genuinely independent deployments, not one exercised twice under different labels</a:t>
            </a:r>
          </a:p>
        </p:txBody>
      </p:sp>
      <p:sp>
        <p:nvSpPr>
          <p:cNvPr id="8" name="Rectangle 7"/>
          <p:cNvSpPr/>
          <p:nvPr/>
        </p:nvSpPr>
        <p:spPr>
          <a:xfrm>
            <a:off x="685800" y="2784348"/>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706624"/>
            <a:ext cx="6263640" cy="365760"/>
          </a:xfrm>
          <a:prstGeom prst="rect">
            <a:avLst/>
          </a:prstGeom>
          <a:noFill/>
        </p:spPr>
        <p:txBody>
          <a:bodyPr wrap="square" lIns="0" rIns="0" tIns="0" bIns="0" anchor="t">
            <a:spAutoFit/>
          </a:bodyPr>
          <a:lstStyle/>
          <a:p>
            <a:pPr algn="l">
              <a:lnSpc>
                <a:spcPct val="115000"/>
              </a:lnSpc>
              <a:spcAft>
                <a:spcPts val="100"/>
              </a:spcAft>
            </a:pPr>
            <a:r>
              <a:rPr sz="1300" b="1" i="0">
                <a:solidFill>
                  <a:srgbClr val="E8ECF2"/>
                </a:solidFill>
                <a:latin typeface="Calibri"/>
              </a:rPr>
              <a:t>Neither instance shares model-provider credentials with the platform</a:t>
            </a:r>
          </a:p>
          <a:p>
            <a:pPr algn="l">
              <a:lnSpc>
                <a:spcPct val="115000"/>
              </a:lnSpc>
              <a:spcAft>
                <a:spcPts val="0"/>
              </a:spcAft>
            </a:pPr>
            <a:r>
              <a:rPr sz="1100" b="0" i="0">
                <a:solidFill>
                  <a:srgbClr val="98A4B3"/>
                </a:solidFill>
                <a:latin typeface="Calibri"/>
              </a:rPr>
              <a:t>MVP-02 — audited against the platform's own stored secrets</a:t>
            </a:r>
          </a:p>
        </p:txBody>
      </p:sp>
      <p:sp>
        <p:nvSpPr>
          <p:cNvPr id="10" name="Rectangle 9"/>
          <p:cNvSpPr/>
          <p:nvPr/>
        </p:nvSpPr>
        <p:spPr>
          <a:xfrm>
            <a:off x="685800" y="3570732"/>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493008"/>
            <a:ext cx="6263640" cy="365760"/>
          </a:xfrm>
          <a:prstGeom prst="rect">
            <a:avLst/>
          </a:prstGeom>
          <a:noFill/>
        </p:spPr>
        <p:txBody>
          <a:bodyPr wrap="square" lIns="0" rIns="0" tIns="0" bIns="0" anchor="t">
            <a:spAutoFit/>
          </a:bodyPr>
          <a:lstStyle/>
          <a:p>
            <a:pPr algn="l">
              <a:lnSpc>
                <a:spcPct val="115000"/>
              </a:lnSpc>
              <a:spcAft>
                <a:spcPts val="100"/>
              </a:spcAft>
            </a:pPr>
            <a:r>
              <a:rPr sz="1300" b="1" i="0">
                <a:solidFill>
                  <a:srgbClr val="E8ECF2"/>
                </a:solidFill>
                <a:latin typeface="Calibri"/>
              </a:rPr>
              <a:t>Both receive consistent normalized decisions</a:t>
            </a:r>
          </a:p>
          <a:p>
            <a:pPr algn="l">
              <a:lnSpc>
                <a:spcPct val="115000"/>
              </a:lnSpc>
              <a:spcAft>
                <a:spcPts val="0"/>
              </a:spcAft>
            </a:pPr>
            <a:r>
              <a:rPr sz="1100" b="0" i="0">
                <a:solidFill>
                  <a:srgbClr val="98A4B3"/>
                </a:solidFill>
                <a:latin typeface="Calibri"/>
              </a:rPr>
              <a:t>MVP-03 — same schema, actions, reason codes, policy version, correlation identifier</a:t>
            </a:r>
          </a:p>
        </p:txBody>
      </p:sp>
      <p:sp>
        <p:nvSpPr>
          <p:cNvPr id="12" name="Rectangle 11"/>
          <p:cNvSpPr/>
          <p:nvPr/>
        </p:nvSpPr>
        <p:spPr>
          <a:xfrm>
            <a:off x="685800" y="4357116"/>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279392"/>
            <a:ext cx="6263640" cy="365760"/>
          </a:xfrm>
          <a:prstGeom prst="rect">
            <a:avLst/>
          </a:prstGeom>
          <a:noFill/>
        </p:spPr>
        <p:txBody>
          <a:bodyPr wrap="square" lIns="0" rIns="0" tIns="0" bIns="0" anchor="t">
            <a:spAutoFit/>
          </a:bodyPr>
          <a:lstStyle/>
          <a:p>
            <a:pPr algn="l">
              <a:lnSpc>
                <a:spcPct val="115000"/>
              </a:lnSpc>
              <a:spcAft>
                <a:spcPts val="100"/>
              </a:spcAft>
            </a:pPr>
            <a:r>
              <a:rPr sz="1300" b="1" i="0">
                <a:solidFill>
                  <a:srgbClr val="E8ECF2"/>
                </a:solidFill>
                <a:latin typeface="Calibri"/>
              </a:rPr>
              <a:t>One workload runs in observe mode</a:t>
            </a:r>
          </a:p>
          <a:p>
            <a:pPr algn="l">
              <a:lnSpc>
                <a:spcPct val="115000"/>
              </a:lnSpc>
              <a:spcAft>
                <a:spcPts val="0"/>
              </a:spcAft>
            </a:pPr>
            <a:r>
              <a:rPr sz="1100" b="0" i="0">
                <a:solidFill>
                  <a:srgbClr val="98A4B3"/>
                </a:solidFill>
                <a:latin typeface="Calibri"/>
              </a:rPr>
              <a:t>MVP-04 — evaluations execute, nothing is acted on in the request path</a:t>
            </a:r>
          </a:p>
        </p:txBody>
      </p:sp>
      <p:sp>
        <p:nvSpPr>
          <p:cNvPr id="14" name="Rectangle 13"/>
          <p:cNvSpPr/>
          <p:nvPr/>
        </p:nvSpPr>
        <p:spPr>
          <a:xfrm>
            <a:off x="685800" y="5143500"/>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5065776"/>
            <a:ext cx="6263640" cy="365760"/>
          </a:xfrm>
          <a:prstGeom prst="rect">
            <a:avLst/>
          </a:prstGeom>
          <a:noFill/>
        </p:spPr>
        <p:txBody>
          <a:bodyPr wrap="square" lIns="0" rIns="0" tIns="0" bIns="0" anchor="t">
            <a:spAutoFit/>
          </a:bodyPr>
          <a:lstStyle/>
          <a:p>
            <a:pPr algn="l">
              <a:lnSpc>
                <a:spcPct val="115000"/>
              </a:lnSpc>
              <a:spcAft>
                <a:spcPts val="100"/>
              </a:spcAft>
            </a:pPr>
            <a:r>
              <a:rPr sz="1300" b="1" i="0">
                <a:solidFill>
                  <a:srgbClr val="E8ECF2"/>
                </a:solidFill>
                <a:latin typeface="Calibri"/>
              </a:rPr>
              <a:t>Another runs in enforce mode against that same policy version</a:t>
            </a:r>
          </a:p>
          <a:p>
            <a:pPr algn="l">
              <a:lnSpc>
                <a:spcPct val="115000"/>
              </a:lnSpc>
              <a:spcAft>
                <a:spcPts val="0"/>
              </a:spcAft>
            </a:pPr>
            <a:r>
              <a:rPr sz="1100" b="0" i="0">
                <a:solidFill>
                  <a:srgbClr val="98A4B3"/>
                </a:solidFill>
                <a:latin typeface="Calibri"/>
              </a:rPr>
              <a:t>MVP-05 — a violation triggers the configured enforcement action</a:t>
            </a:r>
          </a:p>
        </p:txBody>
      </p:sp>
      <p:sp>
        <p:nvSpPr>
          <p:cNvPr id="16" name="Rounded Rectangle 15"/>
          <p:cNvSpPr/>
          <p:nvPr/>
        </p:nvSpPr>
        <p:spPr>
          <a:xfrm>
            <a:off x="7635240" y="1874519"/>
            <a:ext cx="3867912" cy="361188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82127" y="2130552"/>
            <a:ext cx="3383280" cy="3154680"/>
          </a:xfrm>
          <a:prstGeom prst="rect">
            <a:avLst/>
          </a:prstGeom>
          <a:noFill/>
        </p:spPr>
        <p:txBody>
          <a:bodyPr wrap="square" lIns="0" rIns="0" tIns="0" bIns="0" anchor="t">
            <a:spAutoFit/>
          </a:bodyPr>
          <a:lstStyle/>
          <a:p>
            <a:pPr algn="l">
              <a:lnSpc>
                <a:spcPct val="115000"/>
              </a:lnSpc>
              <a:spcAft>
                <a:spcPts val="600"/>
              </a:spcAft>
            </a:pPr>
            <a:r>
              <a:rPr sz="1300" b="1" i="0">
                <a:solidFill>
                  <a:srgbClr val="5AA0E0"/>
                </a:solidFill>
                <a:latin typeface="Calibri"/>
              </a:rPr>
              <a:t>The gating rule</a:t>
            </a:r>
          </a:p>
          <a:p>
            <a:pPr algn="l">
              <a:lnSpc>
                <a:spcPct val="115000"/>
              </a:lnSpc>
              <a:spcAft>
                <a:spcPts val="1400"/>
              </a:spcAft>
            </a:pPr>
            <a:r>
              <a:rPr sz="1200" b="0" i="0">
                <a:solidFill>
                  <a:srgbClr val="E8ECF2"/>
                </a:solidFill>
                <a:latin typeface="Calibri"/>
              </a:rPr>
              <a:t>All nine criteria must be demonstrated together. A subset passing does not satisfy the demonstration, and neither does one deployment exercised twice.</a:t>
            </a:r>
          </a:p>
          <a:p>
            <a:pPr algn="l">
              <a:lnSpc>
                <a:spcPct val="115000"/>
              </a:lnSpc>
              <a:spcAft>
                <a:spcPts val="600"/>
              </a:spcAft>
            </a:pPr>
            <a:r>
              <a:rPr sz="1300" b="1" i="0">
                <a:solidFill>
                  <a:srgbClr val="5AA0E0"/>
                </a:solidFill>
                <a:latin typeface="Calibri"/>
              </a:rPr>
              <a:t>The other four</a:t>
            </a:r>
          </a:p>
          <a:p>
            <a:pPr algn="l">
              <a:lnSpc>
                <a:spcPct val="115000"/>
              </a:lnSpc>
              <a:spcAft>
                <a:spcPts val="0"/>
              </a:spcAft>
            </a:pPr>
            <a:r>
              <a:rPr sz="1200" b="0" i="0">
                <a:solidFill>
                  <a:srgbClr val="98A4B3"/>
                </a:solidFill>
                <a:latin typeface="Calibri"/>
              </a:rPr>
              <a:t>MVP-06 upgrade and rollback · MVP-07 raw-content persistence can be disabled · MVP-08 failures follow the configured failure policy · MVP-09 the runtime packages for customer-managed deployment without changing the connector contract. Full text in the appendix.</a:t>
            </a:r>
          </a:p>
        </p:txBody>
      </p:sp>
      <p:sp>
        <p:nvSpPr>
          <p:cNvPr id="18" name="TextBox 17"/>
          <p:cNvSpPr txBox="1"/>
          <p:nvPr/>
        </p:nvSpPr>
        <p:spPr>
          <a:xfrm>
            <a:off x="685800" y="5577840"/>
            <a:ext cx="10820095" cy="457200"/>
          </a:xfrm>
          <a:prstGeom prst="rect">
            <a:avLst/>
          </a:prstGeom>
          <a:noFill/>
        </p:spPr>
        <p:txBody>
          <a:bodyPr wrap="square" lIns="0" rIns="0" tIns="0" bIns="0" anchor="t">
            <a:spAutoFit/>
          </a:bodyPr>
          <a:lstStyle/>
          <a:p>
            <a:pPr algn="l">
              <a:lnSpc>
                <a:spcPct val="115000"/>
              </a:lnSpc>
              <a:spcAft>
                <a:spcPts val="0"/>
              </a:spcAft>
            </a:pPr>
            <a:r>
              <a:rPr sz="1150" b="0" i="0">
                <a:solidFill>
                  <a:srgbClr val="98A4B3"/>
                </a:solidFill>
                <a:latin typeface="Calibri"/>
              </a:rPr>
              <a:t>These are targets in the delivery plan, not achieved results — the demonstration has not been run. Full-solution success means all five phases delivered and validated. Verification method, environment, and sign-off owner per criterion are TBD in VALIDATION-PLAN.md.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Principal risks, and what we do about them</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Our own risk register, on the table rather than in an appendix.</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Source: EXECUTIVE-BRIEF §8 · RISK-REGISTER.md · AGR-012 · AGR-018 · ASM-011, ASM-012</a:t>
            </a:r>
          </a:p>
        </p:txBody>
      </p:sp>
      <p:graphicFrame>
        <p:nvGraphicFramePr>
          <p:cNvPr id="6" name="Table 5"/>
          <p:cNvGraphicFramePr>
            <a:graphicFrameLocks noGrp="1"/>
          </p:cNvGraphicFramePr>
          <p:nvPr/>
        </p:nvGraphicFramePr>
        <p:xfrm>
          <a:off x="685800" y="1801368"/>
          <a:ext cx="10820094" cy="3730752"/>
        </p:xfrm>
        <a:graphic>
          <a:graphicData uri="http://schemas.openxmlformats.org/drawingml/2006/table">
            <a:tbl>
              <a:tblPr firstRow="1">
                <a:tableStyleId>{5C22544A-7EE6-4342-B048-85BDC9FD1C3A}</a:tableStyleId>
              </a:tblPr>
              <a:tblGrid>
                <a:gridCol w="1623014"/>
                <a:gridCol w="4003435"/>
                <a:gridCol w="5193645"/>
              </a:tblGrid>
              <a:tr h="329184">
                <a:tc>
                  <a:txBody>
                    <a:bodyPr wrap="square"/>
                    <a:lstStyle/>
                    <a:p>
                      <a:pPr algn="l">
                        <a:lnSpc>
                          <a:spcPct val="105000"/>
                        </a:lnSpc>
                        <a:spcAft>
                          <a:spcPts val="0"/>
                        </a:spcAft>
                      </a:pPr>
                      <a:r>
                        <a:rPr sz="1100" b="1" i="0">
                          <a:solidFill>
                            <a:srgbClr val="5AA0E0"/>
                          </a:solidFill>
                          <a:latin typeface="Calibri"/>
                        </a:rPr>
                        <a:t>Risk</a:t>
                      </a:r>
                    </a:p>
                  </a:txBody>
                  <a:tcPr marL="91440" marR="91440" marT="45720" marB="45720" anchor="ctr">
                    <a:solidFill>
                      <a:srgbClr val="1D242C"/>
                    </a:solidFill>
                  </a:tcPr>
                </a:tc>
                <a:tc>
                  <a:txBody>
                    <a:bodyPr wrap="square"/>
                    <a:lstStyle/>
                    <a:p>
                      <a:pPr algn="l">
                        <a:lnSpc>
                          <a:spcPct val="105000"/>
                        </a:lnSpc>
                        <a:spcAft>
                          <a:spcPts val="0"/>
                        </a:spcAft>
                      </a:pPr>
                      <a:r>
                        <a:rPr sz="1100" b="1" i="0">
                          <a:solidFill>
                            <a:srgbClr val="5AA0E0"/>
                          </a:solidFill>
                          <a:latin typeface="Calibri"/>
                        </a:rPr>
                        <a:t>What it is</a:t>
                      </a:r>
                    </a:p>
                  </a:txBody>
                  <a:tcPr marL="91440" marR="91440" marT="45720" marB="45720" anchor="ctr">
                    <a:solidFill>
                      <a:srgbClr val="1D242C"/>
                    </a:solidFill>
                  </a:tcPr>
                </a:tc>
                <a:tc>
                  <a:txBody>
                    <a:bodyPr wrap="square"/>
                    <a:lstStyle/>
                    <a:p>
                      <a:pPr algn="l">
                        <a:lnSpc>
                          <a:spcPct val="105000"/>
                        </a:lnSpc>
                        <a:spcAft>
                          <a:spcPts val="0"/>
                        </a:spcAft>
                      </a:pPr>
                      <a:r>
                        <a:rPr sz="1100" b="1" i="0">
                          <a:solidFill>
                            <a:srgbClr val="5AA0E0"/>
                          </a:solidFill>
                          <a:latin typeface="Calibri"/>
                        </a:rPr>
                        <a:t>What we do about it</a:t>
                      </a:r>
                    </a:p>
                  </a:txBody>
                  <a:tcPr marL="91440" marR="91440" marT="45720" marB="45720" anchor="ctr">
                    <a:solidFill>
                      <a:srgbClr val="1D242C"/>
                    </a:solidFill>
                  </a:tcPr>
                </a:tc>
              </a:tr>
              <a:tr h="658368">
                <a:tc>
                  <a:txBody>
                    <a:bodyPr wrap="square"/>
                    <a:lstStyle/>
                    <a:p>
                      <a:pPr algn="l">
                        <a:lnSpc>
                          <a:spcPct val="105000"/>
                        </a:lnSpc>
                        <a:spcAft>
                          <a:spcPts val="0"/>
                        </a:spcAft>
                      </a:pPr>
                      <a:r>
                        <a:rPr sz="1050" b="1" i="0">
                          <a:solidFill>
                            <a:srgbClr val="E8ECF2"/>
                          </a:solidFill>
                          <a:latin typeface="Calibri"/>
                        </a:rPr>
                        <a:t>Connector bypass</a:t>
                      </a:r>
                    </a:p>
                  </a:txBody>
                  <a:tcPr marL="91440" marR="91440" marT="45720" marB="45720" anchor="ctr">
                    <a:solidFill>
                      <a:srgbClr val="161C23"/>
                    </a:solidFill>
                  </a:tcPr>
                </a:tc>
                <a:tc>
                  <a:txBody>
                    <a:bodyPr wrap="square"/>
                    <a:lstStyle/>
                    <a:p>
                      <a:pPr algn="l">
                        <a:lnSpc>
                          <a:spcPct val="105000"/>
                        </a:lnSpc>
                        <a:spcAft>
                          <a:spcPts val="0"/>
                        </a:spcAft>
                      </a:pPr>
                      <a:r>
                        <a:rPr sz="1050" b="0" i="0">
                          <a:solidFill>
                            <a:srgbClr val="E8ECF2"/>
                          </a:solidFill>
                          <a:latin typeface="Calibri"/>
                        </a:rPr>
                        <a:t>A team disables, removes, or misconfigures its own connector, so requests reach the provider unevaluated.</a:t>
                      </a:r>
                    </a:p>
                  </a:txBody>
                  <a:tcPr marL="91440" marR="91440" marT="45720" marB="45720" anchor="ctr">
                    <a:solidFill>
                      <a:srgbClr val="161C23"/>
                    </a:solidFill>
                  </a:tcPr>
                </a:tc>
                <a:tc>
                  <a:txBody>
                    <a:bodyPr wrap="square"/>
                    <a:lstStyle/>
                    <a:p>
                      <a:pPr algn="l">
                        <a:lnSpc>
                          <a:spcPct val="105000"/>
                        </a:lnSpc>
                        <a:spcAft>
                          <a:spcPts val="0"/>
                        </a:spcAft>
                      </a:pPr>
                      <a:r>
                        <a:rPr sz="1050" b="0" i="0">
                          <a:solidFill>
                            <a:srgbClr val="E8ECF2"/>
                          </a:solidFill>
                          <a:latin typeface="Calibri"/>
                        </a:rPr>
                        <a:t>Configuration validation and connector-health telemetry; platform-managed or network/IAM-enforced postures where bypass prevention is a formal requirement. Not eliminated under cooperative integration — accepted, not hidden.</a:t>
                      </a:r>
                    </a:p>
                  </a:txBody>
                  <a:tcPr marL="91440" marR="91440" marT="45720" marB="45720" anchor="ctr">
                    <a:solidFill>
                      <a:srgbClr val="161C23"/>
                    </a:solidFill>
                  </a:tcPr>
                </a:tc>
              </a:tr>
              <a:tr h="530352">
                <a:tc>
                  <a:txBody>
                    <a:bodyPr wrap="square"/>
                    <a:lstStyle/>
                    <a:p>
                      <a:pPr algn="l">
                        <a:lnSpc>
                          <a:spcPct val="105000"/>
                        </a:lnSpc>
                        <a:spcAft>
                          <a:spcPts val="0"/>
                        </a:spcAft>
                      </a:pPr>
                      <a:r>
                        <a:rPr sz="1050" b="1" i="0">
                          <a:solidFill>
                            <a:srgbClr val="E8ECF2"/>
                          </a:solidFill>
                          <a:latin typeface="Calibri"/>
                        </a:rPr>
                        <a:t>False confidence</a:t>
                      </a:r>
                    </a:p>
                  </a:txBody>
                  <a:tcPr marL="91440" marR="91440" marT="45720" marB="45720" anchor="ctr">
                    <a:solidFill>
                      <a:srgbClr val="12161B"/>
                    </a:solidFill>
                  </a:tcPr>
                </a:tc>
                <a:tc>
                  <a:txBody>
                    <a:bodyPr wrap="square"/>
                    <a:lstStyle/>
                    <a:p>
                      <a:pPr algn="l">
                        <a:lnSpc>
                          <a:spcPct val="105000"/>
                        </a:lnSpc>
                        <a:spcAft>
                          <a:spcPts val="0"/>
                        </a:spcAft>
                      </a:pPr>
                      <a:r>
                        <a:rPr sz="1050" b="0" i="0">
                          <a:solidFill>
                            <a:srgbClr val="E8ECF2"/>
                          </a:solidFill>
                          <a:latin typeface="Calibri"/>
                        </a:rPr>
                        <a:t>A passing evaluation is mistaken for complete AI security, or a safety decision for a business authorization decision.</a:t>
                      </a:r>
                    </a:p>
                  </a:txBody>
                  <a:tcPr marL="91440" marR="91440" marT="45720" marB="45720" anchor="ctr">
                    <a:solidFill>
                      <a:srgbClr val="12161B"/>
                    </a:solidFill>
                  </a:tcPr>
                </a:tc>
                <a:tc>
                  <a:txBody>
                    <a:bodyPr wrap="square"/>
                    <a:lstStyle/>
                    <a:p>
                      <a:pPr algn="l">
                        <a:lnSpc>
                          <a:spcPct val="105000"/>
                        </a:lnSpc>
                        <a:spcAft>
                          <a:spcPts val="0"/>
                        </a:spcAft>
                      </a:pPr>
                      <a:r>
                        <a:rPr sz="1050" b="0" i="0">
                          <a:solidFill>
                            <a:srgbClr val="E8ECF2"/>
                          </a:solidFill>
                          <a:latin typeface="Calibri"/>
                        </a:rPr>
                        <a:t>Content evaluation and authorization stated as separate concerns; unsupported risk categories documented; never marketed as a complete security boundary.</a:t>
                      </a:r>
                    </a:p>
                  </a:txBody>
                  <a:tcPr marL="91440" marR="91440" marT="45720" marB="45720" anchor="ctr">
                    <a:solidFill>
                      <a:srgbClr val="12161B"/>
                    </a:solidFill>
                  </a:tcPr>
                </a:tc>
              </a:tr>
              <a:tr h="658368">
                <a:tc>
                  <a:txBody>
                    <a:bodyPr wrap="square"/>
                    <a:lstStyle/>
                    <a:p>
                      <a:pPr algn="l">
                        <a:lnSpc>
                          <a:spcPct val="105000"/>
                        </a:lnSpc>
                        <a:spcAft>
                          <a:spcPts val="0"/>
                        </a:spcAft>
                      </a:pPr>
                      <a:r>
                        <a:rPr sz="1050" b="1" i="0">
                          <a:solidFill>
                            <a:srgbClr val="E8ECF2"/>
                          </a:solidFill>
                          <a:latin typeface="Calibri"/>
                        </a:rPr>
                        <a:t>Latency</a:t>
                      </a:r>
                    </a:p>
                  </a:txBody>
                  <a:tcPr marL="91440" marR="91440" marT="45720" marB="45720" anchor="ctr">
                    <a:solidFill>
                      <a:srgbClr val="161C23"/>
                    </a:solidFill>
                  </a:tcPr>
                </a:tc>
                <a:tc>
                  <a:txBody>
                    <a:bodyPr wrap="square"/>
                    <a:lstStyle/>
                    <a:p>
                      <a:pPr algn="l">
                        <a:lnSpc>
                          <a:spcPct val="105000"/>
                        </a:lnSpc>
                        <a:spcAft>
                          <a:spcPts val="0"/>
                        </a:spcAft>
                      </a:pPr>
                      <a:r>
                        <a:rPr sz="1050" b="0" i="0">
                          <a:solidFill>
                            <a:srgbClr val="E8ECF2"/>
                          </a:solidFill>
                          <a:latin typeface="Calibri"/>
                        </a:rPr>
                        <a:t>Remote input and output evaluation adds synchronous network and processing time to every evaluated call.</a:t>
                      </a:r>
                    </a:p>
                  </a:txBody>
                  <a:tcPr marL="91440" marR="91440" marT="45720" marB="45720" anchor="ctr">
                    <a:solidFill>
                      <a:srgbClr val="161C23"/>
                    </a:solidFill>
                  </a:tcPr>
                </a:tc>
                <a:tc>
                  <a:txBody>
                    <a:bodyPr wrap="square"/>
                    <a:lstStyle/>
                    <a:p>
                      <a:pPr algn="l">
                        <a:lnSpc>
                          <a:spcPct val="105000"/>
                        </a:lnSpc>
                        <a:spcAft>
                          <a:spcPts val="0"/>
                        </a:spcAft>
                      </a:pPr>
                      <a:r>
                        <a:rPr sz="1050" b="0" i="0">
                          <a:solidFill>
                            <a:srgbClr val="E8ECF2"/>
                          </a:solidFill>
                          <a:latin typeface="Calibri"/>
                        </a:rPr>
                        <a:t>Per-evaluator latency measured; only relevant evaluators applied; stage-specific timeouts defined as policy; Customer-Managed Runtime for latency-sensitive workloads. No numeric budget set yet — TBD.</a:t>
                      </a:r>
                    </a:p>
                  </a:txBody>
                  <a:tcPr marL="91440" marR="91440" marT="45720" marB="45720" anchor="ctr">
                    <a:solidFill>
                      <a:srgbClr val="161C23"/>
                    </a:solidFill>
                  </a:tcPr>
                </a:tc>
              </a:tr>
              <a:tr h="530352">
                <a:tc>
                  <a:txBody>
                    <a:bodyPr wrap="square"/>
                    <a:lstStyle/>
                    <a:p>
                      <a:pPr algn="l">
                        <a:lnSpc>
                          <a:spcPct val="105000"/>
                        </a:lnSpc>
                        <a:spcAft>
                          <a:spcPts val="0"/>
                        </a:spcAft>
                      </a:pPr>
                      <a:r>
                        <a:rPr sz="1050" b="1" i="0">
                          <a:solidFill>
                            <a:srgbClr val="E8ECF2"/>
                          </a:solidFill>
                          <a:latin typeface="Calibri"/>
                        </a:rPr>
                        <a:t>Hosted data exposure</a:t>
                      </a:r>
                    </a:p>
                  </a:txBody>
                  <a:tcPr marL="91440" marR="91440" marT="45720" marB="45720" anchor="ctr">
                    <a:solidFill>
                      <a:srgbClr val="12161B"/>
                    </a:solidFill>
                  </a:tcPr>
                </a:tc>
                <a:tc>
                  <a:txBody>
                    <a:bodyPr wrap="square"/>
                    <a:lstStyle/>
                    <a:p>
                      <a:pPr algn="l">
                        <a:lnSpc>
                          <a:spcPct val="105000"/>
                        </a:lnSpc>
                        <a:spcAft>
                          <a:spcPts val="0"/>
                        </a:spcAft>
                      </a:pPr>
                      <a:r>
                        <a:rPr sz="1050" b="0" i="0">
                          <a:solidFill>
                            <a:srgbClr val="E8ECF2"/>
                          </a:solidFill>
                          <a:latin typeface="Calibri"/>
                        </a:rPr>
                        <a:t>Modes A and B transmit tenant content to a provider-operated service.</a:t>
                      </a:r>
                    </a:p>
                  </a:txBody>
                  <a:tcPr marL="91440" marR="91440" marT="45720" marB="45720" anchor="ctr">
                    <a:solidFill>
                      <a:srgbClr val="12161B"/>
                    </a:solidFill>
                  </a:tcPr>
                </a:tc>
                <a:tc>
                  <a:txBody>
                    <a:bodyPr wrap="square"/>
                    <a:lstStyle/>
                    <a:p>
                      <a:pPr algn="l">
                        <a:lnSpc>
                          <a:spcPct val="105000"/>
                        </a:lnSpc>
                        <a:spcAft>
                          <a:spcPts val="0"/>
                        </a:spcAft>
                      </a:pPr>
                      <a:r>
                        <a:rPr sz="1050" b="0" i="0">
                          <a:solidFill>
                            <a:srgbClr val="E8ECF2"/>
                          </a:solidFill>
                          <a:latin typeface="Calibri"/>
                        </a:rPr>
                        <a:t>Explicit per-mode data-flow documentation; no raw-content retention by default; Customer-Managed Runtime where content must stay in-account.</a:t>
                      </a:r>
                    </a:p>
                  </a:txBody>
                  <a:tcPr marL="91440" marR="91440" marT="45720" marB="45720" anchor="ctr">
                    <a:solidFill>
                      <a:srgbClr val="12161B"/>
                    </a:solidFill>
                  </a:tcPr>
                </a:tc>
              </a:tr>
              <a:tr h="457200">
                <a:tc>
                  <a:txBody>
                    <a:bodyPr wrap="square"/>
                    <a:lstStyle/>
                    <a:p>
                      <a:pPr algn="l">
                        <a:lnSpc>
                          <a:spcPct val="105000"/>
                        </a:lnSpc>
                        <a:spcAft>
                          <a:spcPts val="0"/>
                        </a:spcAft>
                      </a:pPr>
                      <a:r>
                        <a:rPr sz="1050" b="1" i="0">
                          <a:solidFill>
                            <a:srgbClr val="E8ECF2"/>
                          </a:solidFill>
                          <a:latin typeface="Calibri"/>
                        </a:rPr>
                        <a:t>Policy fragmentation</a:t>
                      </a:r>
                    </a:p>
                  </a:txBody>
                  <a:tcPr marL="91440" marR="91440" marT="45720" marB="45720" anchor="ctr">
                    <a:solidFill>
                      <a:srgbClr val="161C23"/>
                    </a:solidFill>
                  </a:tcPr>
                </a:tc>
                <a:tc>
                  <a:txBody>
                    <a:bodyPr wrap="square"/>
                    <a:lstStyle/>
                    <a:p>
                      <a:pPr algn="l">
                        <a:lnSpc>
                          <a:spcPct val="105000"/>
                        </a:lnSpc>
                        <a:spcAft>
                          <a:spcPts val="0"/>
                        </a:spcAft>
                      </a:pPr>
                      <a:r>
                        <a:rPr sz="1050" b="0" i="0">
                          <a:solidFill>
                            <a:srgbClr val="E8ECF2"/>
                          </a:solidFill>
                          <a:latin typeface="Calibri"/>
                        </a:rPr>
                        <a:t>Workload-specific overrides accumulate until organizational consistency is gone.</a:t>
                      </a:r>
                    </a:p>
                  </a:txBody>
                  <a:tcPr marL="91440" marR="91440" marT="45720" marB="45720" anchor="ctr">
                    <a:solidFill>
                      <a:srgbClr val="161C23"/>
                    </a:solidFill>
                  </a:tcPr>
                </a:tc>
                <a:tc>
                  <a:txBody>
                    <a:bodyPr wrap="square"/>
                    <a:lstStyle/>
                    <a:p>
                      <a:pPr algn="l">
                        <a:lnSpc>
                          <a:spcPct val="105000"/>
                        </a:lnSpc>
                        <a:spcAft>
                          <a:spcPts val="0"/>
                        </a:spcAft>
                      </a:pPr>
                      <a:r>
                        <a:rPr sz="1050" b="0" i="0">
                          <a:solidFill>
                            <a:srgbClr val="E8ECF2"/>
                          </a:solidFill>
                          <a:latin typeface="Calibri"/>
                        </a:rPr>
                        <a:t>Override categories limited; a named owner required per exception; policy versions tracked.</a:t>
                      </a:r>
                    </a:p>
                  </a:txBody>
                  <a:tcPr marL="91440" marR="91440" marT="45720" marB="45720" anchor="ctr">
                    <a:solidFill>
                      <a:srgbClr val="161C23"/>
                    </a:solidFill>
                  </a:tcPr>
                </a:tc>
              </a:tr>
              <a:tr h="566928">
                <a:tc>
                  <a:txBody>
                    <a:bodyPr wrap="square"/>
                    <a:lstStyle/>
                    <a:p>
                      <a:pPr algn="l">
                        <a:lnSpc>
                          <a:spcPct val="105000"/>
                        </a:lnSpc>
                        <a:spcAft>
                          <a:spcPts val="0"/>
                        </a:spcAft>
                      </a:pPr>
                      <a:r>
                        <a:rPr sz="1050" b="1" i="0">
                          <a:solidFill>
                            <a:srgbClr val="E8ECF2"/>
                          </a:solidFill>
                          <a:latin typeface="Calibri"/>
                        </a:rPr>
                        <a:t>Product over-expansion</a:t>
                      </a:r>
                    </a:p>
                  </a:txBody>
                  <a:tcPr marL="91440" marR="91440" marT="45720" marB="45720" anchor="ctr">
                    <a:solidFill>
                      <a:srgbClr val="12161B"/>
                    </a:solidFill>
                  </a:tcPr>
                </a:tc>
                <a:tc>
                  <a:txBody>
                    <a:bodyPr wrap="square"/>
                    <a:lstStyle/>
                    <a:p>
                      <a:pPr algn="l">
                        <a:lnSpc>
                          <a:spcPct val="105000"/>
                        </a:lnSpc>
                        <a:spcAft>
                          <a:spcPts val="0"/>
                        </a:spcAft>
                      </a:pPr>
                      <a:r>
                        <a:rPr sz="1050" b="0" i="0">
                          <a:solidFill>
                            <a:srgbClr val="E8ECF2"/>
                          </a:solidFill>
                          <a:latin typeface="Calibri"/>
                        </a:rPr>
                        <a:t>The platform absorbs gateway management, full governance, or agent authorization before the core hypothesis is validated.</a:t>
                      </a:r>
                    </a:p>
                  </a:txBody>
                  <a:tcPr marL="91440" marR="91440" marT="45720" marB="45720" anchor="ctr">
                    <a:solidFill>
                      <a:srgbClr val="12161B"/>
                    </a:solidFill>
                  </a:tcPr>
                </a:tc>
                <a:tc>
                  <a:txBody>
                    <a:bodyPr wrap="square"/>
                    <a:lstStyle/>
                    <a:p>
                      <a:pPr algn="l">
                        <a:lnSpc>
                          <a:spcPct val="105000"/>
                        </a:lnSpc>
                        <a:spcAft>
                          <a:spcPts val="0"/>
                        </a:spcAft>
                      </a:pPr>
                      <a:r>
                        <a:rPr sz="1050" b="0" i="0">
                          <a:solidFill>
                            <a:srgbClr val="E8ECF2"/>
                          </a:solidFill>
                          <a:latin typeface="Calibri"/>
                        </a:rPr>
                        <a:t>Five-phase sequencing with per-phase validation; standing scope exclusions stay excluded; adoption and effectiveness measured before each phase proceeds.</a:t>
                      </a:r>
                    </a:p>
                  </a:txBody>
                  <a:tcPr marL="91440" marR="91440" marT="45720" marB="45720" anchor="ctr">
                    <a:solidFill>
                      <a:srgbClr val="12161B"/>
                    </a:solidFill>
                  </a:tcPr>
                </a:tc>
              </a:tr>
            </a:tbl>
          </a:graphicData>
        </a:graphic>
      </p:graphicFrame>
      <p:sp>
        <p:nvSpPr>
          <p:cNvPr id="7" name="TextBox 6"/>
          <p:cNvSpPr txBox="1"/>
          <p:nvPr/>
        </p:nvSpPr>
        <p:spPr>
          <a:xfrm>
            <a:off x="685800" y="5687568"/>
            <a:ext cx="10820095" cy="457200"/>
          </a:xfrm>
          <a:prstGeom prst="rect">
            <a:avLst/>
          </a:prstGeom>
          <a:noFill/>
        </p:spPr>
        <p:txBody>
          <a:bodyPr wrap="square" lIns="0" rIns="0" tIns="0" bIns="0" anchor="t">
            <a:spAutoFit/>
          </a:bodyPr>
          <a:lstStyle/>
          <a:p>
            <a:pPr algn="l">
              <a:lnSpc>
                <a:spcPct val="115000"/>
              </a:lnSpc>
              <a:spcAft>
                <a:spcPts val="0"/>
              </a:spcAft>
            </a:pPr>
            <a:r>
              <a:rPr sz="1150" b="0" i="0">
                <a:solidFill>
                  <a:srgbClr val="98A4B3"/>
                </a:solidFill>
                <a:latin typeface="Calibri"/>
              </a:rPr>
              <a:t>No numeric latency budget or availability objective exists yet (ASM-011, ASM-012). Both are owed before a workload is promoted out of Observe — neither is estimated here.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Who owns what</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What this costs your team in effort, before you ask.</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Source: TEAM-AND-OWNERSHIP.md §1 · EXECUTIVE-BRIEF §7</a:t>
            </a:r>
          </a:p>
        </p:txBody>
      </p:sp>
      <p:graphicFrame>
        <p:nvGraphicFramePr>
          <p:cNvPr id="6" name="Table 5"/>
          <p:cNvGraphicFramePr>
            <a:graphicFrameLocks noGrp="1"/>
          </p:cNvGraphicFramePr>
          <p:nvPr/>
        </p:nvGraphicFramePr>
        <p:xfrm>
          <a:off x="685800" y="1828800"/>
          <a:ext cx="10820094" cy="3300984"/>
        </p:xfrm>
        <a:graphic>
          <a:graphicData uri="http://schemas.openxmlformats.org/drawingml/2006/table">
            <a:tbl>
              <a:tblPr firstRow="1">
                <a:tableStyleId>{5C22544A-7EE6-4342-B048-85BDC9FD1C3A}</a:tableStyleId>
              </a:tblPr>
              <a:tblGrid>
                <a:gridCol w="2596822"/>
                <a:gridCol w="8223272"/>
              </a:tblGrid>
              <a:tr h="384048">
                <a:tc>
                  <a:txBody>
                    <a:bodyPr wrap="square"/>
                    <a:lstStyle/>
                    <a:p>
                      <a:pPr algn="l">
                        <a:lnSpc>
                          <a:spcPct val="105000"/>
                        </a:lnSpc>
                        <a:spcAft>
                          <a:spcPts val="0"/>
                        </a:spcAft>
                      </a:pPr>
                      <a:r>
                        <a:rPr sz="1100" b="1" i="0">
                          <a:solidFill>
                            <a:srgbClr val="5AA0E0"/>
                          </a:solidFill>
                          <a:latin typeface="Calibri"/>
                        </a:rPr>
                        <a:t>Group</a:t>
                      </a:r>
                    </a:p>
                  </a:txBody>
                  <a:tcPr marL="91440" marR="91440" marT="45720" marB="45720" anchor="ctr">
                    <a:solidFill>
                      <a:srgbClr val="1D242C"/>
                    </a:solidFill>
                  </a:tcPr>
                </a:tc>
                <a:tc>
                  <a:txBody>
                    <a:bodyPr wrap="square"/>
                    <a:lstStyle/>
                    <a:p>
                      <a:pPr algn="l">
                        <a:lnSpc>
                          <a:spcPct val="105000"/>
                        </a:lnSpc>
                        <a:spcAft>
                          <a:spcPts val="0"/>
                        </a:spcAft>
                      </a:pPr>
                      <a:r>
                        <a:rPr sz="1100" b="1" i="0">
                          <a:solidFill>
                            <a:srgbClr val="5AA0E0"/>
                          </a:solidFill>
                          <a:latin typeface="Calibri"/>
                        </a:rPr>
                        <a:t>What they own</a:t>
                      </a:r>
                    </a:p>
                  </a:txBody>
                  <a:tcPr marL="91440" marR="91440" marT="45720" marB="45720" anchor="ctr">
                    <a:solidFill>
                      <a:srgbClr val="1D242C"/>
                    </a:solidFill>
                  </a:tcPr>
                </a:tc>
              </a:tr>
              <a:tr h="777240">
                <a:tc>
                  <a:txBody>
                    <a:bodyPr wrap="square"/>
                    <a:lstStyle/>
                    <a:p>
                      <a:pPr algn="l">
                        <a:lnSpc>
                          <a:spcPct val="105000"/>
                        </a:lnSpc>
                        <a:spcAft>
                          <a:spcPts val="0"/>
                        </a:spcAft>
                      </a:pPr>
                      <a:r>
                        <a:rPr sz="1200" b="1" i="0">
                          <a:solidFill>
                            <a:srgbClr val="E8ECF2"/>
                          </a:solidFill>
                          <a:latin typeface="Calibri"/>
                        </a:rPr>
                        <a:t>AI Guardrails team</a:t>
                      </a:r>
                    </a:p>
                  </a:txBody>
                  <a:tcPr marL="91440" marR="91440" marT="45720" marB="45720" anchor="ctr">
                    <a:solidFill>
                      <a:srgbClr val="161C23"/>
                    </a:solidFill>
                  </a:tcPr>
                </a:tc>
                <a:tc>
                  <a:txBody>
                    <a:bodyPr wrap="square"/>
                    <a:lstStyle/>
                    <a:p>
                      <a:pPr algn="l">
                        <a:lnSpc>
                          <a:spcPct val="105000"/>
                        </a:lnSpc>
                        <a:spcAft>
                          <a:spcPts val="0"/>
                        </a:spcAft>
                      </a:pPr>
                      <a:r>
                        <a:rPr sz="1200" b="0" i="0">
                          <a:solidFill>
                            <a:srgbClr val="E8ECF2"/>
                          </a:solidFill>
                          <a:latin typeface="Calibri"/>
                        </a:rPr>
                        <a:t>Product architecture, policy schemas, the evaluation contract, the guardrail runtime, the LiteLLM connector, Bedrock integration, compatibility, deployment artifacts, and documentation.</a:t>
                      </a:r>
                    </a:p>
                  </a:txBody>
                  <a:tcPr marL="91440" marR="91440" marT="45720" marB="45720" anchor="ctr">
                    <a:solidFill>
                      <a:srgbClr val="161C23"/>
                    </a:solidFill>
                  </a:tcPr>
                </a:tc>
              </a:tr>
              <a:tr h="658368">
                <a:tc>
                  <a:txBody>
                    <a:bodyPr wrap="square"/>
                    <a:lstStyle/>
                    <a:p>
                      <a:pPr algn="l">
                        <a:lnSpc>
                          <a:spcPct val="105000"/>
                        </a:lnSpc>
                        <a:spcAft>
                          <a:spcPts val="0"/>
                        </a:spcAft>
                      </a:pPr>
                      <a:r>
                        <a:rPr sz="1200" b="1" i="0">
                          <a:solidFill>
                            <a:srgbClr val="E8ECF2"/>
                          </a:solidFill>
                          <a:latin typeface="Calibri"/>
                        </a:rPr>
                        <a:t>Platform operations</a:t>
                      </a:r>
                    </a:p>
                  </a:txBody>
                  <a:tcPr marL="91440" marR="91440" marT="45720" marB="45720" anchor="ctr">
                    <a:solidFill>
                      <a:srgbClr val="12161B"/>
                    </a:solidFill>
                  </a:tcPr>
                </a:tc>
                <a:tc>
                  <a:txBody>
                    <a:bodyPr wrap="square"/>
                    <a:lstStyle/>
                    <a:p>
                      <a:pPr algn="l">
                        <a:lnSpc>
                          <a:spcPct val="105000"/>
                        </a:lnSpc>
                        <a:spcAft>
                          <a:spcPts val="0"/>
                        </a:spcAft>
                      </a:pPr>
                      <a:r>
                        <a:rPr sz="1200" b="0" i="0">
                          <a:solidFill>
                            <a:srgbClr val="E8ECF2"/>
                          </a:solidFill>
                          <a:latin typeface="Calibri"/>
                        </a:rPr>
                        <a:t>The provider's own hosted infrastructure day to day — deployment, monitoring, capacity, networking, and production incident response.</a:t>
                      </a:r>
                    </a:p>
                  </a:txBody>
                  <a:tcPr marL="91440" marR="91440" marT="45720" marB="45720" anchor="ctr">
                    <a:solidFill>
                      <a:srgbClr val="12161B"/>
                    </a:solidFill>
                  </a:tcPr>
                </a:tc>
              </a:tr>
              <a:tr h="658368">
                <a:tc>
                  <a:txBody>
                    <a:bodyPr wrap="square"/>
                    <a:lstStyle/>
                    <a:p>
                      <a:pPr algn="l">
                        <a:lnSpc>
                          <a:spcPct val="105000"/>
                        </a:lnSpc>
                        <a:spcAft>
                          <a:spcPts val="0"/>
                        </a:spcAft>
                      </a:pPr>
                      <a:r>
                        <a:rPr sz="1200" b="1" i="0">
                          <a:solidFill>
                            <a:srgbClr val="E8ECF2"/>
                          </a:solidFill>
                          <a:latin typeface="Calibri"/>
                        </a:rPr>
                        <a:t>Security and governance</a:t>
                      </a:r>
                    </a:p>
                  </a:txBody>
                  <a:tcPr marL="91440" marR="91440" marT="45720" marB="45720" anchor="ctr">
                    <a:solidFill>
                      <a:srgbClr val="161C23"/>
                    </a:solidFill>
                  </a:tcPr>
                </a:tc>
                <a:tc>
                  <a:txBody>
                    <a:bodyPr wrap="square"/>
                    <a:lstStyle/>
                    <a:p>
                      <a:pPr algn="l">
                        <a:lnSpc>
                          <a:spcPct val="105000"/>
                        </a:lnSpc>
                        <a:spcAft>
                          <a:spcPts val="0"/>
                        </a:spcAft>
                      </a:pPr>
                      <a:r>
                        <a:rPr sz="1200" b="0" i="0">
                          <a:solidFill>
                            <a:srgbClr val="E8ECF2"/>
                          </a:solidFill>
                          <a:latin typeface="Calibri"/>
                        </a:rPr>
                        <a:t>Organization-level policy requirements, risk classification, policy approval, exception criteria, retention and audit rules.</a:t>
                      </a:r>
                    </a:p>
                  </a:txBody>
                  <a:tcPr marL="91440" marR="91440" marT="45720" marB="45720" anchor="ctr">
                    <a:solidFill>
                      <a:srgbClr val="161C23"/>
                    </a:solidFill>
                  </a:tcPr>
                </a:tc>
              </a:tr>
              <a:tr h="822960">
                <a:tc>
                  <a:txBody>
                    <a:bodyPr wrap="square"/>
                    <a:lstStyle/>
                    <a:p>
                      <a:pPr algn="l">
                        <a:lnSpc>
                          <a:spcPct val="105000"/>
                        </a:lnSpc>
                        <a:spcAft>
                          <a:spcPts val="0"/>
                        </a:spcAft>
                      </a:pPr>
                      <a:r>
                        <a:rPr sz="1200" b="1" i="0">
                          <a:solidFill>
                            <a:srgbClr val="E8ECF2"/>
                          </a:solidFill>
                          <a:latin typeface="Calibri"/>
                        </a:rPr>
                        <a:t>Consuming teams</a:t>
                      </a:r>
                    </a:p>
                  </a:txBody>
                  <a:tcPr marL="91440" marR="91440" marT="45720" marB="45720" anchor="ctr">
                    <a:solidFill>
                      <a:srgbClr val="12161B"/>
                    </a:solidFill>
                  </a:tcPr>
                </a:tc>
                <a:tc>
                  <a:txBody>
                    <a:bodyPr wrap="square"/>
                    <a:lstStyle/>
                    <a:p>
                      <a:pPr algn="l">
                        <a:lnSpc>
                          <a:spcPct val="105000"/>
                        </a:lnSpc>
                        <a:spcAft>
                          <a:spcPts val="0"/>
                        </a:spcAft>
                      </a:pPr>
                      <a:r>
                        <a:rPr sz="1200" b="0" i="0">
                          <a:solidFill>
                            <a:srgbClr val="E8ECF2"/>
                          </a:solidFill>
                          <a:latin typeface="Calibri"/>
                        </a:rPr>
                        <a:t>Application behaviour, connector installation in cooperative mode, workload registration accuracy, end-user authentication and business authorization, and review of observe-mode findings before accepting enforcement.</a:t>
                      </a:r>
                    </a:p>
                  </a:txBody>
                  <a:tcPr marL="91440" marR="91440" marT="45720" marB="45720" anchor="ctr">
                    <a:solidFill>
                      <a:srgbClr val="12161B"/>
                    </a:solidFill>
                  </a:tcPr>
                </a:tc>
              </a:tr>
            </a:tbl>
          </a:graphicData>
        </a:graphic>
      </p:graphicFrame>
      <p:sp>
        <p:nvSpPr>
          <p:cNvPr id="7" name="TextBox 6"/>
          <p:cNvSpPr txBox="1"/>
          <p:nvPr/>
        </p:nvSpPr>
        <p:spPr>
          <a:xfrm>
            <a:off x="685800" y="5742432"/>
            <a:ext cx="10820095" cy="457200"/>
          </a:xfrm>
          <a:prstGeom prst="rect">
            <a:avLst/>
          </a:prstGeom>
          <a:noFill/>
        </p:spPr>
        <p:txBody>
          <a:bodyPr wrap="square" lIns="0" rIns="0" tIns="0" bIns="0" anchor="t">
            <a:spAutoFit/>
          </a:bodyPr>
          <a:lstStyle/>
          <a:p>
            <a:pPr algn="l">
              <a:lnSpc>
                <a:spcPct val="115000"/>
              </a:lnSpc>
              <a:spcAft>
                <a:spcPts val="0"/>
              </a:spcAft>
            </a:pPr>
            <a:r>
              <a:rPr sz="1150" b="0" i="0">
                <a:solidFill>
                  <a:srgbClr val="98A4B3"/>
                </a:solidFill>
                <a:latin typeface="Calibri"/>
              </a:rPr>
              <a:t>For an adopting team the recurring cost is small and specific: install and keep a connector healthy, register the workload accurately, and review observe-mode findings before enforcement is accepted.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The ask</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Source: EXECUTIVE-BRIEF §9–§10 · AGR-020 · DEC-008 · AGR-011 · ASM-002, ASM-003 · SCOPE.md</a:t>
            </a:r>
          </a:p>
        </p:txBody>
      </p:sp>
      <p:sp>
        <p:nvSpPr>
          <p:cNvPr id="5" name="Rounded Rectangle 4"/>
          <p:cNvSpPr/>
          <p:nvPr/>
        </p:nvSpPr>
        <p:spPr>
          <a:xfrm>
            <a:off x="685800" y="1737360"/>
            <a:ext cx="10820095" cy="1554480"/>
          </a:xfrm>
          <a:prstGeom prst="roundRect">
            <a:avLst>
              <a:gd name="adj" fmla="val 4000"/>
            </a:avLst>
          </a:prstGeom>
          <a:solidFill>
            <a:srgbClr val="1D242C"/>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947672"/>
            <a:ext cx="10088575" cy="1051560"/>
          </a:xfrm>
          <a:prstGeom prst="rect">
            <a:avLst/>
          </a:prstGeom>
          <a:noFill/>
        </p:spPr>
        <p:txBody>
          <a:bodyPr wrap="square" lIns="0" rIns="0" tIns="0" bIns="0" anchor="t">
            <a:spAutoFit/>
          </a:bodyPr>
          <a:lstStyle/>
          <a:p>
            <a:pPr algn="l">
              <a:lnSpc>
                <a:spcPct val="120000"/>
              </a:lnSpc>
              <a:spcAft>
                <a:spcPts val="600"/>
              </a:spcAft>
            </a:pPr>
            <a:r>
              <a:rPr sz="1900" b="1" i="0">
                <a:solidFill>
                  <a:srgbClr val="E8ECF2"/>
                </a:solidFill>
                <a:latin typeface="Calibri"/>
              </a:rPr>
              <a:t>Approve the AI Guardrails solution — full feature set, delivered in five phases, estimated over that full feature set, with execution sequenced so each phase is validated before the next proceeds.</a:t>
            </a:r>
          </a:p>
          <a:p>
            <a:pPr algn="l">
              <a:lnSpc>
                <a:spcPct val="115000"/>
              </a:lnSpc>
              <a:spcAft>
                <a:spcPts val="0"/>
              </a:spcAft>
            </a:pPr>
            <a:r>
              <a:rPr sz="1250" b="0" i="0">
                <a:solidFill>
                  <a:srgbClr val="98A4B3"/>
                </a:solidFill>
                <a:latin typeface="Calibri"/>
              </a:rPr>
              <a:t>Built as a standalone policy and enforcement platform — not embedded in the existing internal LiteLLM instance.</a:t>
            </a:r>
          </a:p>
        </p:txBody>
      </p:sp>
      <p:sp>
        <p:nvSpPr>
          <p:cNvPr id="7" name="TextBox 6"/>
          <p:cNvSpPr txBox="1"/>
          <p:nvPr/>
        </p:nvSpPr>
        <p:spPr>
          <a:xfrm>
            <a:off x="685800" y="3383280"/>
            <a:ext cx="5532120" cy="365760"/>
          </a:xfrm>
          <a:prstGeom prst="rect">
            <a:avLst/>
          </a:prstGeom>
          <a:noFill/>
        </p:spPr>
        <p:txBody>
          <a:bodyPr wrap="square" lIns="0" rIns="0" tIns="0" bIns="0" anchor="t">
            <a:spAutoFit/>
          </a:bodyPr>
          <a:lstStyle/>
          <a:p>
            <a:pPr algn="l">
              <a:lnSpc>
                <a:spcPct val="115000"/>
              </a:lnSpc>
              <a:spcAft>
                <a:spcPts val="0"/>
              </a:spcAft>
            </a:pPr>
            <a:r>
              <a:rPr sz="1300" b="1" i="0">
                <a:solidFill>
                  <a:srgbClr val="5AA0E0"/>
                </a:solidFill>
                <a:latin typeface="Calibri"/>
              </a:rPr>
              <a:t>And, if we can close it in this room</a:t>
            </a:r>
          </a:p>
        </p:txBody>
      </p:sp>
      <p:sp>
        <p:nvSpPr>
          <p:cNvPr id="8" name="Rectangle 7"/>
          <p:cNvSpPr/>
          <p:nvPr/>
        </p:nvSpPr>
        <p:spPr>
          <a:xfrm>
            <a:off x="685800" y="3854196"/>
            <a:ext cx="77724" cy="77724"/>
          </a:xfrm>
          <a:prstGeom prst="rect">
            <a:avLst/>
          </a:prstGeom>
          <a:solidFill>
            <a:srgbClr val="4FB4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3776472"/>
            <a:ext cx="5257800" cy="365760"/>
          </a:xfrm>
          <a:prstGeom prst="rect">
            <a:avLst/>
          </a:prstGeom>
          <a:noFill/>
        </p:spPr>
        <p:txBody>
          <a:bodyPr wrap="square" lIns="0" rIns="0" tIns="0" bIns="0" anchor="t">
            <a:spAutoFit/>
          </a:bodyPr>
          <a:lstStyle/>
          <a:p>
            <a:pPr algn="l">
              <a:lnSpc>
                <a:spcPct val="115000"/>
              </a:lnSpc>
              <a:spcAft>
                <a:spcPts val="100"/>
              </a:spcAft>
            </a:pPr>
            <a:r>
              <a:rPr sz="1250" b="0" i="0">
                <a:solidFill>
                  <a:srgbClr val="E8ECF2"/>
                </a:solidFill>
                <a:latin typeface="Calibri"/>
              </a:rPr>
              <a:t>One more team, beyond ours, willing to operate an organizationally independent LiteLLM instance for the Phase 1–2 validation demonstration</a:t>
            </a:r>
          </a:p>
        </p:txBody>
      </p:sp>
      <p:sp>
        <p:nvSpPr>
          <p:cNvPr id="10" name="Rectangle 9"/>
          <p:cNvSpPr/>
          <p:nvPr/>
        </p:nvSpPr>
        <p:spPr>
          <a:xfrm>
            <a:off x="685800" y="4530852"/>
            <a:ext cx="77724" cy="77724"/>
          </a:xfrm>
          <a:prstGeom prst="rect">
            <a:avLst/>
          </a:prstGeom>
          <a:solidFill>
            <a:srgbClr val="4FB4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453128"/>
            <a:ext cx="5257800" cy="365760"/>
          </a:xfrm>
          <a:prstGeom prst="rect">
            <a:avLst/>
          </a:prstGeom>
          <a:noFill/>
        </p:spPr>
        <p:txBody>
          <a:bodyPr wrap="square" lIns="0" rIns="0" tIns="0" bIns="0" anchor="t">
            <a:spAutoFit/>
          </a:bodyPr>
          <a:lstStyle/>
          <a:p>
            <a:pPr algn="l">
              <a:lnSpc>
                <a:spcPct val="115000"/>
              </a:lnSpc>
              <a:spcAft>
                <a:spcPts val="100"/>
              </a:spcAft>
            </a:pPr>
            <a:r>
              <a:rPr sz="1250" b="0" i="0">
                <a:solidFill>
                  <a:srgbClr val="E8ECF2"/>
                </a:solidFill>
                <a:latin typeface="Calibri"/>
              </a:rPr>
              <a:t>Agreement that the pilot workload runs in Observe mode first — never Block on day one</a:t>
            </a:r>
          </a:p>
        </p:txBody>
      </p:sp>
      <p:sp>
        <p:nvSpPr>
          <p:cNvPr id="12" name="TextBox 11"/>
          <p:cNvSpPr txBox="1"/>
          <p:nvPr/>
        </p:nvSpPr>
        <p:spPr>
          <a:xfrm>
            <a:off x="6428232" y="3383280"/>
            <a:ext cx="5074920" cy="365760"/>
          </a:xfrm>
          <a:prstGeom prst="rect">
            <a:avLst/>
          </a:prstGeom>
          <a:noFill/>
        </p:spPr>
        <p:txBody>
          <a:bodyPr wrap="square" lIns="0" rIns="0" tIns="0" bIns="0" anchor="t">
            <a:spAutoFit/>
          </a:bodyPr>
          <a:lstStyle/>
          <a:p>
            <a:pPr algn="l">
              <a:lnSpc>
                <a:spcPct val="115000"/>
              </a:lnSpc>
              <a:spcAft>
                <a:spcPts val="0"/>
              </a:spcAft>
            </a:pPr>
            <a:r>
              <a:rPr sz="1300" b="1" i="0">
                <a:solidFill>
                  <a:srgbClr val="98A4B3"/>
                </a:solidFill>
                <a:latin typeface="Calibri"/>
              </a:rPr>
              <a:t>What we are not asking for today</a:t>
            </a:r>
          </a:p>
        </p:txBody>
      </p:sp>
      <p:sp>
        <p:nvSpPr>
          <p:cNvPr id="13" name="Rectangle 12"/>
          <p:cNvSpPr/>
          <p:nvPr/>
        </p:nvSpPr>
        <p:spPr>
          <a:xfrm>
            <a:off x="6428232" y="3854196"/>
            <a:ext cx="77724" cy="77724"/>
          </a:xfrm>
          <a:prstGeom prst="rect">
            <a:avLst/>
          </a:prstGeom>
          <a:solidFill>
            <a:srgbClr val="98A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02552" y="3776472"/>
            <a:ext cx="4800600" cy="365760"/>
          </a:xfrm>
          <a:prstGeom prst="rect">
            <a:avLst/>
          </a:prstGeom>
          <a:noFill/>
        </p:spPr>
        <p:txBody>
          <a:bodyPr wrap="square" lIns="0" rIns="0" tIns="0" bIns="0" anchor="t">
            <a:spAutoFit/>
          </a:bodyPr>
          <a:lstStyle/>
          <a:p>
            <a:pPr algn="l">
              <a:lnSpc>
                <a:spcPct val="115000"/>
              </a:lnSpc>
              <a:spcAft>
                <a:spcPts val="100"/>
              </a:spcAft>
            </a:pPr>
            <a:r>
              <a:rPr sz="1250" b="0" i="0">
                <a:solidFill>
                  <a:srgbClr val="E8ECF2"/>
                </a:solidFill>
                <a:latin typeface="Calibri"/>
              </a:rPr>
              <a:t>A specific budget figure or headcount — TBD until the full-feature-set estimation is supplied</a:t>
            </a:r>
          </a:p>
        </p:txBody>
      </p:sp>
      <p:sp>
        <p:nvSpPr>
          <p:cNvPr id="15" name="Rectangle 14"/>
          <p:cNvSpPr/>
          <p:nvPr/>
        </p:nvSpPr>
        <p:spPr>
          <a:xfrm>
            <a:off x="6428232" y="4530852"/>
            <a:ext cx="77724" cy="77724"/>
          </a:xfrm>
          <a:prstGeom prst="rect">
            <a:avLst/>
          </a:prstGeom>
          <a:solidFill>
            <a:srgbClr val="98A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02552" y="4453128"/>
            <a:ext cx="4800600" cy="365760"/>
          </a:xfrm>
          <a:prstGeom prst="rect">
            <a:avLst/>
          </a:prstGeom>
          <a:noFill/>
        </p:spPr>
        <p:txBody>
          <a:bodyPr wrap="square" lIns="0" rIns="0" tIns="0" bIns="0" anchor="t">
            <a:spAutoFit/>
          </a:bodyPr>
          <a:lstStyle/>
          <a:p>
            <a:pPr algn="l">
              <a:lnSpc>
                <a:spcPct val="115000"/>
              </a:lnSpc>
              <a:spcAft>
                <a:spcPts val="100"/>
              </a:spcAft>
            </a:pPr>
            <a:r>
              <a:rPr sz="1250" b="0" i="0">
                <a:solidFill>
                  <a:srgbClr val="E8ECF2"/>
                </a:solidFill>
                <a:latin typeface="Calibri"/>
              </a:rPr>
              <a:t>Calendar dates or delivery commitments</a:t>
            </a:r>
          </a:p>
        </p:txBody>
      </p:sp>
      <p:sp>
        <p:nvSpPr>
          <p:cNvPr id="17" name="Rectangle 16"/>
          <p:cNvSpPr/>
          <p:nvPr/>
        </p:nvSpPr>
        <p:spPr>
          <a:xfrm>
            <a:off x="6428232" y="5207508"/>
            <a:ext cx="77724" cy="77724"/>
          </a:xfrm>
          <a:prstGeom prst="rect">
            <a:avLst/>
          </a:prstGeom>
          <a:solidFill>
            <a:srgbClr val="98A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02552" y="5129784"/>
            <a:ext cx="4800600" cy="365760"/>
          </a:xfrm>
          <a:prstGeom prst="rect">
            <a:avLst/>
          </a:prstGeom>
          <a:noFill/>
        </p:spPr>
        <p:txBody>
          <a:bodyPr wrap="square" lIns="0" rIns="0" tIns="0" bIns="0" anchor="t">
            <a:spAutoFit/>
          </a:bodyPr>
          <a:lstStyle/>
          <a:p>
            <a:pPr algn="l">
              <a:lnSpc>
                <a:spcPct val="115000"/>
              </a:lnSpc>
              <a:spcAft>
                <a:spcPts val="100"/>
              </a:spcAft>
            </a:pPr>
            <a:r>
              <a:rPr sz="1250" b="0" i="0">
                <a:solidFill>
                  <a:srgbClr val="E8ECF2"/>
                </a:solidFill>
                <a:latin typeface="Calibri"/>
              </a:rPr>
              <a:t>Anything in the SCOPE.md exclusions — gateway replacement, complete AI governance or DLP, business authorization, general MCP security, cross-cloud, certification</a:t>
            </a:r>
          </a:p>
        </p:txBody>
      </p:sp>
      <p:sp>
        <p:nvSpPr>
          <p:cNvPr id="19" name="TextBox 18"/>
          <p:cNvSpPr txBox="1"/>
          <p:nvPr/>
        </p:nvSpPr>
        <p:spPr>
          <a:xfrm>
            <a:off x="685800" y="5870448"/>
            <a:ext cx="10820095" cy="457200"/>
          </a:xfrm>
          <a:prstGeom prst="rect">
            <a:avLst/>
          </a:prstGeom>
          <a:noFill/>
        </p:spPr>
        <p:txBody>
          <a:bodyPr wrap="square" lIns="0" rIns="0" tIns="0" bIns="0" anchor="t">
            <a:spAutoFit/>
          </a:bodyPr>
          <a:lstStyle/>
          <a:p>
            <a:pPr algn="l">
              <a:lnSpc>
                <a:spcPct val="115000"/>
              </a:lnSpc>
              <a:spcAft>
                <a:spcPts val="0"/>
              </a:spcAft>
            </a:pPr>
            <a:r>
              <a:rPr sz="1150" b="0" i="0">
                <a:solidFill>
                  <a:srgbClr val="98A4B3"/>
                </a:solidFill>
                <a:latin typeface="Calibri"/>
              </a:rPr>
              <a:t>Fallback if we cannot close today: schedule a technical deep-dive or architecture review with the requesting teams, using the 50-architecture material as the working document.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2788920"/>
            <a:ext cx="10820095" cy="1463040"/>
          </a:xfrm>
          <a:prstGeom prst="rect">
            <a:avLst/>
          </a:prstGeom>
          <a:noFill/>
        </p:spPr>
        <p:txBody>
          <a:bodyPr wrap="square" lIns="0" rIns="0" tIns="0" bIns="0" anchor="t">
            <a:spAutoFit/>
          </a:bodyPr>
          <a:lstStyle/>
          <a:p>
            <a:pPr algn="l">
              <a:lnSpc>
                <a:spcPct val="115000"/>
              </a:lnSpc>
              <a:spcAft>
                <a:spcPts val="1000"/>
              </a:spcAft>
            </a:pPr>
            <a:r>
              <a:rPr sz="4400" b="1" i="0">
                <a:solidFill>
                  <a:srgbClr val="E8ECF2"/>
                </a:solidFill>
                <a:latin typeface="Calibri"/>
              </a:rPr>
              <a:t>Appendix</a:t>
            </a:r>
          </a:p>
          <a:p>
            <a:pPr algn="l">
              <a:lnSpc>
                <a:spcPct val="115000"/>
              </a:lnSpc>
              <a:spcAft>
                <a:spcPts val="0"/>
              </a:spcAft>
            </a:pPr>
            <a:r>
              <a:rPr sz="1500" b="0" i="0">
                <a:solidFill>
                  <a:srgbClr val="98A4B3"/>
                </a:solidFill>
                <a:latin typeface="Calibri"/>
              </a:rPr>
              <a:t>Backup material — use only if raised in Q&amp;A. Not part of the 20–30 minute core narrative.</a:t>
            </a:r>
          </a:p>
        </p:txBody>
      </p:sp>
      <p:sp>
        <p:nvSpPr>
          <p:cNvPr id="3" name="Rectangle 2"/>
          <p:cNvSpPr/>
          <p:nvPr/>
        </p:nvSpPr>
        <p:spPr>
          <a:xfrm>
            <a:off x="685800" y="260604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892040"/>
            <a:ext cx="10820095" cy="457200"/>
          </a:xfrm>
          <a:prstGeom prst="rect">
            <a:avLst/>
          </a:prstGeom>
          <a:noFill/>
        </p:spPr>
        <p:txBody>
          <a:bodyPr wrap="square" lIns="0" rIns="0" tIns="0" bIns="0" anchor="t">
            <a:spAutoFit/>
          </a:bodyPr>
          <a:lstStyle/>
          <a:p>
            <a:pPr algn="l">
              <a:lnSpc>
                <a:spcPct val="115000"/>
              </a:lnSpc>
              <a:spcAft>
                <a:spcPts val="0"/>
              </a:spcAft>
            </a:pPr>
            <a:r>
              <a:rPr sz="1150" b="0" i="0">
                <a:solidFill>
                  <a:srgbClr val="98A4B3"/>
                </a:solidFill>
                <a:latin typeface="Calibri"/>
              </a:rPr>
              <a:t>Mode A / B / C topologies  ·  Onboarding (“import”) flow  ·  Trust and enforcement postures  ·  Phase 1–2 validation criteria in full  ·  Objection handling  ·  Domain model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Appendix — Mode A: Remote Evaluation</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Bring your own gateway while consuming a hosted guardrail runtime.</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Source: DEPLOYMENT-ARCHITECTURE.md §2 · AGR-002 · AGR-009</a:t>
            </a:r>
          </a:p>
        </p:txBody>
      </p:sp>
      <p:sp>
        <p:nvSpPr>
          <p:cNvPr id="6" name="Rounded Rectangle 5"/>
          <p:cNvSpPr/>
          <p:nvPr/>
        </p:nvSpPr>
        <p:spPr>
          <a:xfrm>
            <a:off x="685800" y="1874519"/>
            <a:ext cx="6263640" cy="27889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3657600" cy="457200"/>
          </a:xfrm>
          <a:prstGeom prst="rect">
            <a:avLst/>
          </a:prstGeom>
          <a:noFill/>
        </p:spPr>
        <p:txBody>
          <a:bodyPr wrap="square" lIns="0" rIns="0" tIns="0" bIns="0" anchor="t">
            <a:spAutoFit/>
          </a:bodyPr>
          <a:lstStyle/>
          <a:p>
            <a:pPr algn="l">
              <a:lnSpc>
                <a:spcPct val="115000"/>
              </a:lnSpc>
              <a:spcAft>
                <a:spcPts val="0"/>
              </a:spcAft>
            </a:pPr>
            <a:r>
              <a:rPr sz="1000" b="0" i="0">
                <a:solidFill>
                  <a:srgbClr val="98A4B3"/>
                </a:solidFill>
                <a:latin typeface="Calibri"/>
              </a:rPr>
              <a:t>TEAM'S OWN ENVIRONMENT</a:t>
            </a:r>
          </a:p>
        </p:txBody>
      </p:sp>
      <p:sp>
        <p:nvSpPr>
          <p:cNvPr id="8" name="Rounded Rectangle 7"/>
          <p:cNvSpPr/>
          <p:nvPr/>
        </p:nvSpPr>
        <p:spPr>
          <a:xfrm>
            <a:off x="8138160" y="1874519"/>
            <a:ext cx="3364992" cy="27889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39327" y="2011680"/>
            <a:ext cx="3017520" cy="457200"/>
          </a:xfrm>
          <a:prstGeom prst="rect">
            <a:avLst/>
          </a:prstGeom>
          <a:noFill/>
        </p:spPr>
        <p:txBody>
          <a:bodyPr wrap="square" lIns="0" rIns="0" tIns="0" bIns="0" anchor="t">
            <a:spAutoFit/>
          </a:bodyPr>
          <a:lstStyle/>
          <a:p>
            <a:pPr algn="l">
              <a:lnSpc>
                <a:spcPct val="115000"/>
              </a:lnSpc>
              <a:spcAft>
                <a:spcPts val="0"/>
              </a:spcAft>
            </a:pPr>
            <a:r>
              <a:rPr sz="1000" b="0" i="0">
                <a:solidFill>
                  <a:srgbClr val="98A4B3"/>
                </a:solidFill>
                <a:latin typeface="Calibri"/>
              </a:rPr>
              <a:t>AI GUARDRAILS HOSTED ACCOUNT</a:t>
            </a:r>
          </a:p>
        </p:txBody>
      </p:sp>
      <p:sp>
        <p:nvSpPr>
          <p:cNvPr id="10" name="Rounded Rectangle 9"/>
          <p:cNvSpPr/>
          <p:nvPr/>
        </p:nvSpPr>
        <p:spPr>
          <a:xfrm>
            <a:off x="1097280" y="2441448"/>
            <a:ext cx="1737360" cy="530352"/>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0" i="0">
                <a:solidFill>
                  <a:srgbClr val="E8ECF2"/>
                </a:solidFill>
                <a:latin typeface="Calibri"/>
              </a:rPr>
              <a:t>Application</a:t>
            </a:r>
          </a:p>
        </p:txBody>
      </p:sp>
      <p:cxnSp>
        <p:nvCxnSpPr>
          <p:cNvPr id="11" name="Connector 10"/>
          <p:cNvCxnSpPr/>
          <p:nvPr/>
        </p:nvCxnSpPr>
        <p:spPr>
          <a:xfrm>
            <a:off x="2852928" y="2706624"/>
            <a:ext cx="420624" cy="0"/>
          </a:xfrm>
          <a:prstGeom prst="line">
            <a:avLst/>
          </a:prstGeom>
          <a:ln w="15875">
            <a:solidFill>
              <a:srgbClr val="5AA0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291840" y="2350008"/>
            <a:ext cx="3246120" cy="1874519"/>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Team-owned LiteLLM</a:t>
            </a:r>
          </a:p>
          <a:p>
            <a:pPr algn="ctr">
              <a:lnSpc>
                <a:spcPct val="115000"/>
              </a:lnSpc>
              <a:spcAft>
                <a:spcPts val="200"/>
              </a:spcAft>
            </a:pPr>
            <a:r>
              <a:rPr sz="1150" b="0" i="0">
                <a:solidFill>
                  <a:srgbClr val="98A4B3"/>
                </a:solidFill>
                <a:latin typeface="Calibri"/>
              </a:rPr>
              <a:t>(or equivalent gateway)</a:t>
            </a:r>
          </a:p>
          <a:p>
            <a:pPr algn="ctr">
              <a:lnSpc>
                <a:spcPct val="115000"/>
              </a:lnSpc>
              <a:spcAft>
                <a:spcPts val="200"/>
              </a:spcAft>
            </a:pPr>
            <a:r>
              <a:rPr sz="1150" b="0" i="0">
                <a:solidFill>
                  <a:srgbClr val="98A4B3"/>
                </a:solidFill>
                <a:latin typeface="Calibri"/>
              </a:rPr>
              <a:t/>
            </a:r>
          </a:p>
          <a:p>
            <a:pPr algn="ctr">
              <a:lnSpc>
                <a:spcPct val="115000"/>
              </a:lnSpc>
              <a:spcAft>
                <a:spcPts val="200"/>
              </a:spcAft>
            </a:pPr>
            <a:r>
              <a:rPr sz="1150" b="0" i="0">
                <a:solidFill>
                  <a:srgbClr val="98A4B3"/>
                </a:solidFill>
                <a:latin typeface="Calibri"/>
              </a:rPr>
              <a:t>Holds the team's own model-provider credentials</a:t>
            </a:r>
          </a:p>
        </p:txBody>
      </p:sp>
      <p:sp>
        <p:nvSpPr>
          <p:cNvPr id="13" name="Rounded Rectangle 12"/>
          <p:cNvSpPr/>
          <p:nvPr/>
        </p:nvSpPr>
        <p:spPr>
          <a:xfrm>
            <a:off x="1097280" y="3593591"/>
            <a:ext cx="1737360" cy="530352"/>
          </a:xfrm>
          <a:prstGeom prst="roundRect">
            <a:avLst>
              <a:gd name="adj" fmla="val 8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0" i="0">
                <a:solidFill>
                  <a:srgbClr val="E8ECF2"/>
                </a:solidFill>
                <a:latin typeface="Calibri"/>
              </a:rPr>
              <a:t>Model provider</a:t>
            </a:r>
          </a:p>
        </p:txBody>
      </p:sp>
      <p:cxnSp>
        <p:nvCxnSpPr>
          <p:cNvPr id="14" name="Connector 13"/>
          <p:cNvCxnSpPr/>
          <p:nvPr/>
        </p:nvCxnSpPr>
        <p:spPr>
          <a:xfrm flipH="1">
            <a:off x="2852928" y="3858768"/>
            <a:ext cx="420624" cy="0"/>
          </a:xfrm>
          <a:prstGeom prst="line">
            <a:avLst/>
          </a:prstGeom>
          <a:ln w="15875">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503920" y="2587752"/>
            <a:ext cx="2788920" cy="1371600"/>
          </a:xfrm>
          <a:prstGeom prst="roundRect">
            <a:avLst>
              <a:gd name="adj" fmla="val 8000"/>
            </a:avLst>
          </a:prstGeom>
          <a:solidFill>
            <a:srgbClr val="1D242C"/>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Hosted Guardrails Runtime</a:t>
            </a:r>
          </a:p>
          <a:p>
            <a:pPr algn="ctr">
              <a:lnSpc>
                <a:spcPct val="115000"/>
              </a:lnSpc>
              <a:spcAft>
                <a:spcPts val="200"/>
              </a:spcAft>
            </a:pPr>
            <a:r>
              <a:rPr sz="1150" b="0" i="0">
                <a:solidFill>
                  <a:srgbClr val="98A4B3"/>
                </a:solidFill>
                <a:latin typeface="Calibri"/>
              </a:rPr>
              <a:t>Evaluation API · policy execution · detection engines</a:t>
            </a:r>
          </a:p>
        </p:txBody>
      </p:sp>
      <p:cxnSp>
        <p:nvCxnSpPr>
          <p:cNvPr id="16" name="Connector 15"/>
          <p:cNvCxnSpPr/>
          <p:nvPr/>
        </p:nvCxnSpPr>
        <p:spPr>
          <a:xfrm>
            <a:off x="6556248" y="2743200"/>
            <a:ext cx="1929384" cy="246888"/>
          </a:xfrm>
          <a:prstGeom prst="line">
            <a:avLst/>
          </a:prstGeom>
          <a:ln w="15875">
            <a:solidFill>
              <a:srgbClr val="5AA0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903720" y="2313432"/>
            <a:ext cx="1188720" cy="512064"/>
          </a:xfrm>
          <a:prstGeom prst="rect">
            <a:avLst/>
          </a:prstGeom>
          <a:noFill/>
        </p:spPr>
        <p:txBody>
          <a:bodyPr wrap="square" lIns="0" rIns="0" tIns="0" bIns="0" anchor="t">
            <a:spAutoFit/>
          </a:bodyPr>
          <a:lstStyle/>
          <a:p>
            <a:pPr algn="ctr">
              <a:lnSpc>
                <a:spcPct val="110000"/>
              </a:lnSpc>
              <a:spcAft>
                <a:spcPts val="0"/>
              </a:spcAft>
            </a:pPr>
            <a:r>
              <a:rPr sz="950" b="0" i="0">
                <a:solidFill>
                  <a:srgbClr val="98A4B3"/>
                </a:solidFill>
                <a:latin typeface="Calibri"/>
              </a:rPr>
              <a:t>input</a:t>
            </a:r>
          </a:p>
          <a:p>
            <a:pPr algn="ctr">
              <a:lnSpc>
                <a:spcPct val="110000"/>
              </a:lnSpc>
              <a:spcAft>
                <a:spcPts val="0"/>
              </a:spcAft>
            </a:pPr>
            <a:r>
              <a:rPr sz="950" b="0" i="0">
                <a:solidFill>
                  <a:srgbClr val="98A4B3"/>
                </a:solidFill>
                <a:latin typeface="Calibri"/>
              </a:rPr>
              <a:t>evaluation</a:t>
            </a:r>
          </a:p>
        </p:txBody>
      </p:sp>
      <p:cxnSp>
        <p:nvCxnSpPr>
          <p:cNvPr id="18" name="Connector 17"/>
          <p:cNvCxnSpPr/>
          <p:nvPr/>
        </p:nvCxnSpPr>
        <p:spPr>
          <a:xfrm flipV="1">
            <a:off x="6556248" y="3557015"/>
            <a:ext cx="1929384" cy="192024"/>
          </a:xfrm>
          <a:prstGeom prst="line">
            <a:avLst/>
          </a:prstGeom>
          <a:ln w="15875">
            <a:solidFill>
              <a:srgbClr val="5AA0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903720" y="3849624"/>
            <a:ext cx="1188720" cy="512064"/>
          </a:xfrm>
          <a:prstGeom prst="rect">
            <a:avLst/>
          </a:prstGeom>
          <a:noFill/>
        </p:spPr>
        <p:txBody>
          <a:bodyPr wrap="square" lIns="0" rIns="0" tIns="0" bIns="0" anchor="t">
            <a:spAutoFit/>
          </a:bodyPr>
          <a:lstStyle/>
          <a:p>
            <a:pPr algn="ctr">
              <a:lnSpc>
                <a:spcPct val="110000"/>
              </a:lnSpc>
              <a:spcAft>
                <a:spcPts val="0"/>
              </a:spcAft>
            </a:pPr>
            <a:r>
              <a:rPr sz="950" b="0" i="0">
                <a:solidFill>
                  <a:srgbClr val="98A4B3"/>
                </a:solidFill>
                <a:latin typeface="Calibri"/>
              </a:rPr>
              <a:t>output</a:t>
            </a:r>
          </a:p>
          <a:p>
            <a:pPr algn="ctr">
              <a:lnSpc>
                <a:spcPct val="110000"/>
              </a:lnSpc>
              <a:spcAft>
                <a:spcPts val="0"/>
              </a:spcAft>
            </a:pPr>
            <a:r>
              <a:rPr sz="950" b="0" i="0">
                <a:solidFill>
                  <a:srgbClr val="98A4B3"/>
                </a:solidFill>
                <a:latin typeface="Calibri"/>
              </a:rPr>
              <a:t>evaluation</a:t>
            </a:r>
          </a:p>
        </p:txBody>
      </p:sp>
      <p:sp>
        <p:nvSpPr>
          <p:cNvPr id="20" name="Rounded Rectangle 19"/>
          <p:cNvSpPr/>
          <p:nvPr/>
        </p:nvSpPr>
        <p:spPr>
          <a:xfrm>
            <a:off x="685800" y="4937760"/>
            <a:ext cx="10820095" cy="1024128"/>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5084064"/>
            <a:ext cx="10271455" cy="822960"/>
          </a:xfrm>
          <a:prstGeom prst="rect">
            <a:avLst/>
          </a:prstGeom>
          <a:noFill/>
        </p:spPr>
        <p:txBody>
          <a:bodyPr wrap="square" lIns="0" rIns="0" tIns="0" bIns="0" anchor="t">
            <a:spAutoFit/>
          </a:bodyPr>
          <a:lstStyle/>
          <a:p>
            <a:pPr algn="l">
              <a:lnSpc>
                <a:spcPct val="115000"/>
              </a:lnSpc>
              <a:spcAft>
                <a:spcPts val="400"/>
              </a:spcAft>
            </a:pPr>
            <a:r>
              <a:rPr sz="1050" b="1" i="0">
                <a:solidFill>
                  <a:srgbClr val="5AA0E0"/>
                </a:solidFill>
                <a:latin typeface="Calibri"/>
              </a:rPr>
              <a:t>Content exposure</a:t>
            </a:r>
          </a:p>
          <a:p>
            <a:pPr algn="l">
              <a:lnSpc>
                <a:spcPct val="115000"/>
              </a:lnSpc>
              <a:spcAft>
                <a:spcPts val="0"/>
              </a:spcAft>
            </a:pPr>
            <a:r>
              <a:rPr sz="1250" b="0" i="0">
                <a:solidFill>
                  <a:srgbClr val="E06C5F"/>
                </a:solidFill>
                <a:latin typeface="Calibri"/>
              </a:rPr>
              <a:t>Prompts, responses, and any additional evaluated content are transmitted to the hosted Evaluation API on every evaluated call. This is not a private-data or data-local model. The model invocation itself never touches AI Guardrails infrastructure — only the evaluation calls do.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Appendix — Mode B: Guarded Gateway</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One provider-operated endpoint: guardrails, routing, invocation, and audit inside our boundary.</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Source: DEPLOYMENT-ARCHITECTURE.md §3 · AGR-002</a:t>
            </a:r>
          </a:p>
        </p:txBody>
      </p:sp>
      <p:sp>
        <p:nvSpPr>
          <p:cNvPr id="6" name="Rounded Rectangle 5"/>
          <p:cNvSpPr/>
          <p:nvPr/>
        </p:nvSpPr>
        <p:spPr>
          <a:xfrm>
            <a:off x="685800" y="1874519"/>
            <a:ext cx="3063240" cy="27889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2743200" cy="457200"/>
          </a:xfrm>
          <a:prstGeom prst="rect">
            <a:avLst/>
          </a:prstGeom>
          <a:noFill/>
        </p:spPr>
        <p:txBody>
          <a:bodyPr wrap="square" lIns="0" rIns="0" tIns="0" bIns="0" anchor="t">
            <a:spAutoFit/>
          </a:bodyPr>
          <a:lstStyle/>
          <a:p>
            <a:pPr algn="l">
              <a:lnSpc>
                <a:spcPct val="115000"/>
              </a:lnSpc>
              <a:spcAft>
                <a:spcPts val="0"/>
              </a:spcAft>
            </a:pPr>
            <a:r>
              <a:rPr sz="1000" b="0" i="0">
                <a:solidFill>
                  <a:srgbClr val="98A4B3"/>
                </a:solidFill>
                <a:latin typeface="Calibri"/>
              </a:rPr>
              <a:t>CONSUMING TEAM</a:t>
            </a:r>
          </a:p>
        </p:txBody>
      </p:sp>
      <p:sp>
        <p:nvSpPr>
          <p:cNvPr id="8" name="Rounded Rectangle 7"/>
          <p:cNvSpPr/>
          <p:nvPr/>
        </p:nvSpPr>
        <p:spPr>
          <a:xfrm>
            <a:off x="4160520" y="1874519"/>
            <a:ext cx="7342631" cy="27889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0" y="2011680"/>
            <a:ext cx="4572000" cy="457200"/>
          </a:xfrm>
          <a:prstGeom prst="rect">
            <a:avLst/>
          </a:prstGeom>
          <a:noFill/>
        </p:spPr>
        <p:txBody>
          <a:bodyPr wrap="square" lIns="0" rIns="0" tIns="0" bIns="0" anchor="t">
            <a:spAutoFit/>
          </a:bodyPr>
          <a:lstStyle/>
          <a:p>
            <a:pPr algn="l">
              <a:lnSpc>
                <a:spcPct val="115000"/>
              </a:lnSpc>
              <a:spcAft>
                <a:spcPts val="0"/>
              </a:spcAft>
            </a:pPr>
            <a:r>
              <a:rPr sz="1000" b="0" i="0">
                <a:solidFill>
                  <a:srgbClr val="98A4B3"/>
                </a:solidFill>
                <a:latin typeface="Calibri"/>
              </a:rPr>
              <a:t>PROVIDER-OPERATED BOUNDARY</a:t>
            </a:r>
          </a:p>
        </p:txBody>
      </p:sp>
      <p:sp>
        <p:nvSpPr>
          <p:cNvPr id="10" name="Rounded Rectangle 9"/>
          <p:cNvSpPr/>
          <p:nvPr/>
        </p:nvSpPr>
        <p:spPr>
          <a:xfrm>
            <a:off x="1097280" y="2880360"/>
            <a:ext cx="2240280" cy="68580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Application</a:t>
            </a:r>
          </a:p>
        </p:txBody>
      </p:sp>
      <p:cxnSp>
        <p:nvCxnSpPr>
          <p:cNvPr id="11" name="Connector 10"/>
          <p:cNvCxnSpPr/>
          <p:nvPr/>
        </p:nvCxnSpPr>
        <p:spPr>
          <a:xfrm>
            <a:off x="3355848" y="3218688"/>
            <a:ext cx="1170432" cy="0"/>
          </a:xfrm>
          <a:prstGeom prst="line">
            <a:avLst/>
          </a:prstGeom>
          <a:ln w="15875">
            <a:solidFill>
              <a:srgbClr val="5AA0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401568" y="2843784"/>
            <a:ext cx="1097280" cy="347472"/>
          </a:xfrm>
          <a:prstGeom prst="rect">
            <a:avLst/>
          </a:prstGeom>
          <a:noFill/>
        </p:spPr>
        <p:txBody>
          <a:bodyPr wrap="square" lIns="0" rIns="0" tIns="0" bIns="0" anchor="t">
            <a:spAutoFit/>
          </a:bodyPr>
          <a:lstStyle/>
          <a:p>
            <a:pPr algn="ctr">
              <a:lnSpc>
                <a:spcPct val="110000"/>
              </a:lnSpc>
              <a:spcAft>
                <a:spcPts val="0"/>
              </a:spcAft>
            </a:pPr>
            <a:r>
              <a:rPr sz="900" b="0" i="0">
                <a:solidFill>
                  <a:srgbClr val="98A4B3"/>
                </a:solidFill>
                <a:latin typeface="Calibri"/>
              </a:rPr>
              <a:t>single call</a:t>
            </a:r>
          </a:p>
        </p:txBody>
      </p:sp>
      <p:sp>
        <p:nvSpPr>
          <p:cNvPr id="13" name="Rounded Rectangle 12"/>
          <p:cNvSpPr/>
          <p:nvPr/>
        </p:nvSpPr>
        <p:spPr>
          <a:xfrm>
            <a:off x="4544568" y="2350008"/>
            <a:ext cx="3840480" cy="2011680"/>
          </a:xfrm>
          <a:prstGeom prst="roundRect">
            <a:avLst>
              <a:gd name="adj" fmla="val 8000"/>
            </a:avLst>
          </a:prstGeom>
          <a:solidFill>
            <a:srgbClr val="1D242C"/>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400" b="1" i="0">
                <a:solidFill>
                  <a:srgbClr val="E8ECF2"/>
                </a:solidFill>
                <a:latin typeface="Calibri"/>
              </a:rPr>
              <a:t>Provider-managed</a:t>
            </a:r>
          </a:p>
          <a:p>
            <a:pPr algn="ctr">
              <a:lnSpc>
                <a:spcPct val="115000"/>
              </a:lnSpc>
              <a:spcAft>
                <a:spcPts val="200"/>
              </a:spcAft>
            </a:pPr>
            <a:r>
              <a:rPr sz="1250" b="0" i="0">
                <a:solidFill>
                  <a:srgbClr val="98A4B3"/>
                </a:solidFill>
                <a:latin typeface="Calibri"/>
              </a:rPr>
              <a:t>Guarded Gateway</a:t>
            </a:r>
          </a:p>
          <a:p>
            <a:pPr algn="ctr">
              <a:lnSpc>
                <a:spcPct val="115000"/>
              </a:lnSpc>
              <a:spcAft>
                <a:spcPts val="200"/>
              </a:spcAft>
            </a:pPr>
            <a:r>
              <a:rPr sz="1250" b="0" i="0">
                <a:solidFill>
                  <a:srgbClr val="98A4B3"/>
                </a:solidFill>
                <a:latin typeface="Calibri"/>
              </a:rPr>
              <a:t/>
            </a:r>
          </a:p>
          <a:p>
            <a:pPr algn="ctr">
              <a:lnSpc>
                <a:spcPct val="115000"/>
              </a:lnSpc>
              <a:spcAft>
                <a:spcPts val="200"/>
              </a:spcAft>
            </a:pPr>
            <a:r>
              <a:rPr sz="1250" b="0" i="0">
                <a:solidFill>
                  <a:srgbClr val="98A4B3"/>
                </a:solidFill>
                <a:latin typeface="Calibri"/>
              </a:rPr>
              <a:t>Input guardrails · model routing · model invocation · output guardrails · audit and usage reporting</a:t>
            </a:r>
          </a:p>
        </p:txBody>
      </p:sp>
      <p:cxnSp>
        <p:nvCxnSpPr>
          <p:cNvPr id="14" name="Connector 13"/>
          <p:cNvCxnSpPr/>
          <p:nvPr/>
        </p:nvCxnSpPr>
        <p:spPr>
          <a:xfrm>
            <a:off x="8403336" y="3355848"/>
            <a:ext cx="877824" cy="0"/>
          </a:xfrm>
          <a:prstGeom prst="line">
            <a:avLst/>
          </a:prstGeom>
          <a:ln w="15875">
            <a:solidFill>
              <a:srgbClr val="5AA0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299448" y="3017520"/>
            <a:ext cx="2011680" cy="685800"/>
          </a:xfrm>
          <a:prstGeom prst="roundRect">
            <a:avLst>
              <a:gd name="adj" fmla="val 8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50" b="0" i="0">
                <a:solidFill>
                  <a:srgbClr val="E8ECF2"/>
                </a:solidFill>
                <a:latin typeface="Calibri"/>
              </a:rPr>
              <a:t>Model provider</a:t>
            </a:r>
          </a:p>
        </p:txBody>
      </p:sp>
      <p:sp>
        <p:nvSpPr>
          <p:cNvPr id="16" name="Rounded Rectangle 15"/>
          <p:cNvSpPr/>
          <p:nvPr/>
        </p:nvSpPr>
        <p:spPr>
          <a:xfrm>
            <a:off x="685800" y="4937760"/>
            <a:ext cx="10820095" cy="1024128"/>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5084064"/>
            <a:ext cx="10271455" cy="822960"/>
          </a:xfrm>
          <a:prstGeom prst="rect">
            <a:avLst/>
          </a:prstGeom>
          <a:noFill/>
        </p:spPr>
        <p:txBody>
          <a:bodyPr wrap="square" lIns="0" rIns="0" tIns="0" bIns="0" anchor="t">
            <a:spAutoFit/>
          </a:bodyPr>
          <a:lstStyle/>
          <a:p>
            <a:pPr algn="l">
              <a:lnSpc>
                <a:spcPct val="115000"/>
              </a:lnSpc>
              <a:spcAft>
                <a:spcPts val="400"/>
              </a:spcAft>
            </a:pPr>
            <a:r>
              <a:rPr sz="1050" b="1" i="0">
                <a:solidFill>
                  <a:srgbClr val="5AA0E0"/>
                </a:solidFill>
                <a:latin typeface="Calibri"/>
              </a:rPr>
              <a:t>Content exposure</a:t>
            </a:r>
          </a:p>
          <a:p>
            <a:pPr algn="l">
              <a:lnSpc>
                <a:spcPct val="115000"/>
              </a:lnSpc>
              <a:spcAft>
                <a:spcPts val="0"/>
              </a:spcAft>
            </a:pPr>
            <a:r>
              <a:rPr sz="1250" b="0" i="0">
                <a:solidFill>
                  <a:srgbClr val="E06C5F"/>
                </a:solidFill>
                <a:latin typeface="Calibri"/>
              </a:rPr>
              <a:t>Prompts and responses are processed entirely within the provider-managed gateway. The provider participates in the complete inference path and holds or brokers model-provider credentials. Raw content is not persisted by default; decision metadata is.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Appendix — Mode C: Customer-Managed Runtime</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The same runtime, deployed inside the customer's own AWS account.</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Source: DEPLOYMENT-ARCHITECTURE.md §4 · AGR-002 · AGR-015 · AGR-016 · CON-013</a:t>
            </a:r>
          </a:p>
        </p:txBody>
      </p:sp>
      <p:sp>
        <p:nvSpPr>
          <p:cNvPr id="6" name="Rounded Rectangle 5"/>
          <p:cNvSpPr/>
          <p:nvPr/>
        </p:nvSpPr>
        <p:spPr>
          <a:xfrm>
            <a:off x="685800" y="1874519"/>
            <a:ext cx="7818120" cy="27889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4572000" cy="457200"/>
          </a:xfrm>
          <a:prstGeom prst="rect">
            <a:avLst/>
          </a:prstGeom>
          <a:noFill/>
        </p:spPr>
        <p:txBody>
          <a:bodyPr wrap="square" lIns="0" rIns="0" tIns="0" bIns="0" anchor="t">
            <a:spAutoFit/>
          </a:bodyPr>
          <a:lstStyle/>
          <a:p>
            <a:pPr algn="l">
              <a:lnSpc>
                <a:spcPct val="115000"/>
              </a:lnSpc>
              <a:spcAft>
                <a:spcPts val="0"/>
              </a:spcAft>
            </a:pPr>
            <a:r>
              <a:rPr sz="1000" b="0" i="0">
                <a:solidFill>
                  <a:srgbClr val="98A4B3"/>
                </a:solidFill>
                <a:latin typeface="Calibri"/>
              </a:rPr>
              <a:t>CUSTOMER'S OWN AWS ACCOUNT</a:t>
            </a:r>
          </a:p>
        </p:txBody>
      </p:sp>
      <p:sp>
        <p:nvSpPr>
          <p:cNvPr id="8" name="Rounded Rectangle 7"/>
          <p:cNvSpPr/>
          <p:nvPr/>
        </p:nvSpPr>
        <p:spPr>
          <a:xfrm>
            <a:off x="8915400" y="1874519"/>
            <a:ext cx="2587752" cy="27889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98280" y="2011680"/>
            <a:ext cx="2286000" cy="457200"/>
          </a:xfrm>
          <a:prstGeom prst="rect">
            <a:avLst/>
          </a:prstGeom>
          <a:noFill/>
        </p:spPr>
        <p:txBody>
          <a:bodyPr wrap="square" lIns="0" rIns="0" tIns="0" bIns="0" anchor="t">
            <a:spAutoFit/>
          </a:bodyPr>
          <a:lstStyle/>
          <a:p>
            <a:pPr algn="l">
              <a:lnSpc>
                <a:spcPct val="115000"/>
              </a:lnSpc>
              <a:spcAft>
                <a:spcPts val="0"/>
              </a:spcAft>
            </a:pPr>
            <a:r>
              <a:rPr sz="1000" b="0" i="0">
                <a:solidFill>
                  <a:srgbClr val="98A4B3"/>
                </a:solidFill>
                <a:latin typeface="Calibri"/>
              </a:rPr>
              <a:t>HOSTED (PROVIDER)</a:t>
            </a:r>
          </a:p>
        </p:txBody>
      </p:sp>
      <p:sp>
        <p:nvSpPr>
          <p:cNvPr id="10" name="Rounded Rectangle 9"/>
          <p:cNvSpPr/>
          <p:nvPr/>
        </p:nvSpPr>
        <p:spPr>
          <a:xfrm>
            <a:off x="1005840" y="2971800"/>
            <a:ext cx="1691640" cy="566928"/>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0" i="0">
                <a:solidFill>
                  <a:srgbClr val="E8ECF2"/>
                </a:solidFill>
                <a:latin typeface="Calibri"/>
              </a:rPr>
              <a:t>Application</a:t>
            </a:r>
          </a:p>
        </p:txBody>
      </p:sp>
      <p:cxnSp>
        <p:nvCxnSpPr>
          <p:cNvPr id="11" name="Connector 10"/>
          <p:cNvCxnSpPr/>
          <p:nvPr/>
        </p:nvCxnSpPr>
        <p:spPr>
          <a:xfrm>
            <a:off x="2715768" y="3255264"/>
            <a:ext cx="530352" cy="0"/>
          </a:xfrm>
          <a:prstGeom prst="line">
            <a:avLst/>
          </a:prstGeom>
          <a:ln w="15875">
            <a:solidFill>
              <a:srgbClr val="5AA0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264408" y="2971800"/>
            <a:ext cx="1874519" cy="566928"/>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0" i="0">
                <a:solidFill>
                  <a:srgbClr val="E8ECF2"/>
                </a:solidFill>
                <a:latin typeface="Calibri"/>
              </a:rPr>
              <a:t>Customer LiteLLM</a:t>
            </a:r>
          </a:p>
          <a:p>
            <a:pPr algn="ctr">
              <a:lnSpc>
                <a:spcPct val="115000"/>
              </a:lnSpc>
              <a:spcAft>
                <a:spcPts val="200"/>
              </a:spcAft>
            </a:pPr>
            <a:r>
              <a:rPr sz="1050" b="0" i="0">
                <a:solidFill>
                  <a:srgbClr val="98A4B3"/>
                </a:solidFill>
                <a:latin typeface="Calibri"/>
              </a:rPr>
              <a:t>or application</a:t>
            </a:r>
          </a:p>
        </p:txBody>
      </p:sp>
      <p:cxnSp>
        <p:nvCxnSpPr>
          <p:cNvPr id="13" name="Connector 12"/>
          <p:cNvCxnSpPr/>
          <p:nvPr/>
        </p:nvCxnSpPr>
        <p:spPr>
          <a:xfrm>
            <a:off x="5157216" y="3255264"/>
            <a:ext cx="512064" cy="0"/>
          </a:xfrm>
          <a:prstGeom prst="line">
            <a:avLst/>
          </a:prstGeom>
          <a:ln w="15875">
            <a:solidFill>
              <a:srgbClr val="5AA0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687568" y="2350008"/>
            <a:ext cx="2514600" cy="2011680"/>
          </a:xfrm>
          <a:prstGeom prst="roundRect">
            <a:avLst>
              <a:gd name="adj" fmla="val 8000"/>
            </a:avLst>
          </a:prstGeom>
          <a:solidFill>
            <a:srgbClr val="1D242C"/>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Customer-hosted</a:t>
            </a:r>
          </a:p>
          <a:p>
            <a:pPr algn="ctr">
              <a:lnSpc>
                <a:spcPct val="115000"/>
              </a:lnSpc>
              <a:spcAft>
                <a:spcPts val="200"/>
              </a:spcAft>
            </a:pPr>
            <a:r>
              <a:rPr sz="1150" b="0" i="0">
                <a:solidFill>
                  <a:srgbClr val="98A4B3"/>
                </a:solidFill>
                <a:latin typeface="Calibri"/>
              </a:rPr>
              <a:t>Guardrails Runtime</a:t>
            </a:r>
          </a:p>
          <a:p>
            <a:pPr algn="ctr">
              <a:lnSpc>
                <a:spcPct val="115000"/>
              </a:lnSpc>
              <a:spcAft>
                <a:spcPts val="200"/>
              </a:spcAft>
            </a:pPr>
            <a:r>
              <a:rPr sz="1150" b="0" i="0">
                <a:solidFill>
                  <a:srgbClr val="98A4B3"/>
                </a:solidFill>
                <a:latin typeface="Calibri"/>
              </a:rPr>
              <a:t/>
            </a:r>
          </a:p>
          <a:p>
            <a:pPr algn="ctr">
              <a:lnSpc>
                <a:spcPct val="115000"/>
              </a:lnSpc>
              <a:spcAft>
                <a:spcPts val="200"/>
              </a:spcAft>
            </a:pPr>
            <a:r>
              <a:rPr sz="1150" b="0" i="0">
                <a:solidFill>
                  <a:srgbClr val="98A4B3"/>
                </a:solidFill>
                <a:latin typeface="Calibri"/>
              </a:rPr>
              <a:t>Policy cache · Bedrock Guardrails adapter · custom evaluators · local audit integration</a:t>
            </a:r>
          </a:p>
        </p:txBody>
      </p:sp>
      <p:sp>
        <p:nvSpPr>
          <p:cNvPr id="15" name="Rounded Rectangle 14"/>
          <p:cNvSpPr/>
          <p:nvPr/>
        </p:nvSpPr>
        <p:spPr>
          <a:xfrm>
            <a:off x="3264408" y="3886200"/>
            <a:ext cx="1874519" cy="502920"/>
          </a:xfrm>
          <a:prstGeom prst="roundRect">
            <a:avLst>
              <a:gd name="adj" fmla="val 8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150" b="0" i="0">
                <a:solidFill>
                  <a:srgbClr val="E8ECF2"/>
                </a:solidFill>
                <a:latin typeface="Calibri"/>
              </a:rPr>
              <a:t>Model provider</a:t>
            </a:r>
          </a:p>
        </p:txBody>
      </p:sp>
      <p:cxnSp>
        <p:nvCxnSpPr>
          <p:cNvPr id="16" name="Connector 15"/>
          <p:cNvCxnSpPr/>
          <p:nvPr/>
        </p:nvCxnSpPr>
        <p:spPr>
          <a:xfrm>
            <a:off x="4206240" y="3557015"/>
            <a:ext cx="0" cy="310896"/>
          </a:xfrm>
          <a:prstGeom prst="line">
            <a:avLst/>
          </a:prstGeom>
          <a:ln w="15875">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098280" y="2834639"/>
            <a:ext cx="2221992" cy="960120"/>
          </a:xfrm>
          <a:prstGeom prst="roundRect">
            <a:avLst>
              <a:gd name="adj" fmla="val 8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0" i="0">
                <a:solidFill>
                  <a:srgbClr val="E8ECF2"/>
                </a:solidFill>
                <a:latin typeface="Calibri"/>
              </a:rPr>
              <a:t>Hosted control plane</a:t>
            </a:r>
          </a:p>
          <a:p>
            <a:pPr algn="ctr">
              <a:lnSpc>
                <a:spcPct val="115000"/>
              </a:lnSpc>
              <a:spcAft>
                <a:spcPts val="200"/>
              </a:spcAft>
            </a:pPr>
            <a:r>
              <a:rPr sz="1050" b="0" i="0">
                <a:solidFill>
                  <a:srgbClr val="98A4B3"/>
                </a:solidFill>
                <a:latin typeface="Calibri"/>
              </a:rPr>
              <a:t>policy sync only</a:t>
            </a:r>
          </a:p>
        </p:txBody>
      </p:sp>
      <p:cxnSp>
        <p:nvCxnSpPr>
          <p:cNvPr id="18" name="Connector 17"/>
          <p:cNvCxnSpPr/>
          <p:nvPr/>
        </p:nvCxnSpPr>
        <p:spPr>
          <a:xfrm>
            <a:off x="8220456" y="3319272"/>
            <a:ext cx="859536" cy="0"/>
          </a:xfrm>
          <a:prstGeom prst="line">
            <a:avLst/>
          </a:prstGeom>
          <a:ln w="15875">
            <a:solidFill>
              <a:srgbClr val="98A4B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863840" y="3904487"/>
            <a:ext cx="3108960" cy="512064"/>
          </a:xfrm>
          <a:prstGeom prst="rect">
            <a:avLst/>
          </a:prstGeom>
          <a:noFill/>
        </p:spPr>
        <p:txBody>
          <a:bodyPr wrap="square" lIns="0" rIns="0" tIns="0" bIns="0" anchor="t">
            <a:spAutoFit/>
          </a:bodyPr>
          <a:lstStyle/>
          <a:p>
            <a:pPr algn="ctr">
              <a:lnSpc>
                <a:spcPct val="110000"/>
              </a:lnSpc>
              <a:spcAft>
                <a:spcPts val="0"/>
              </a:spcAft>
            </a:pPr>
            <a:r>
              <a:rPr sz="900" b="0" i="0">
                <a:solidFill>
                  <a:srgbClr val="98A4B3"/>
                </a:solidFill>
                <a:latin typeface="Calibri"/>
              </a:rPr>
              <a:t>optional, customer-selected</a:t>
            </a:r>
          </a:p>
          <a:p>
            <a:pPr algn="ctr">
              <a:lnSpc>
                <a:spcPct val="110000"/>
              </a:lnSpc>
              <a:spcAft>
                <a:spcPts val="0"/>
              </a:spcAft>
            </a:pPr>
            <a:r>
              <a:rPr sz="900" b="0" i="0">
                <a:solidFill>
                  <a:srgbClr val="98A4B3"/>
                </a:solidFill>
                <a:latin typeface="Calibri"/>
              </a:rPr>
              <a:t>telemetry only — down to none</a:t>
            </a:r>
          </a:p>
        </p:txBody>
      </p:sp>
      <p:sp>
        <p:nvSpPr>
          <p:cNvPr id="20" name="Rounded Rectangle 19"/>
          <p:cNvSpPr/>
          <p:nvPr/>
        </p:nvSpPr>
        <p:spPr>
          <a:xfrm>
            <a:off x="685800" y="4937760"/>
            <a:ext cx="10820095" cy="1024128"/>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5084064"/>
            <a:ext cx="10271455" cy="822960"/>
          </a:xfrm>
          <a:prstGeom prst="rect">
            <a:avLst/>
          </a:prstGeom>
          <a:noFill/>
        </p:spPr>
        <p:txBody>
          <a:bodyPr wrap="square" lIns="0" rIns="0" tIns="0" bIns="0" anchor="t">
            <a:spAutoFit/>
          </a:bodyPr>
          <a:lstStyle/>
          <a:p>
            <a:pPr algn="l">
              <a:lnSpc>
                <a:spcPct val="115000"/>
              </a:lnSpc>
              <a:spcAft>
                <a:spcPts val="400"/>
              </a:spcAft>
            </a:pPr>
            <a:r>
              <a:rPr sz="1050" b="1" i="0">
                <a:solidFill>
                  <a:srgbClr val="5AA0E0"/>
                </a:solidFill>
                <a:latin typeface="Calibri"/>
              </a:rPr>
              <a:t>Content exposure</a:t>
            </a:r>
          </a:p>
          <a:p>
            <a:pPr algn="l">
              <a:lnSpc>
                <a:spcPct val="115000"/>
              </a:lnSpc>
              <a:spcAft>
                <a:spcPts val="0"/>
              </a:spcAft>
            </a:pPr>
            <a:r>
              <a:rPr sz="1250" b="0" i="0">
                <a:solidFill>
                  <a:srgbClr val="4FB477"/>
                </a:solidFill>
                <a:latin typeface="Calibri"/>
              </a:rPr>
              <a:t>Prompts and responses are evaluated entirely inside the customer's own AWS account. Raw content must never leave that runtime unless explicitly configured. The runtime evaluates against a local policy cache and does not require a synchronous control-plane connection.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Appendix — What “import” actually means</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Adopting a versioned policy for a workload — never adopting, cloning, or controlling another team's gateway.</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Source: AGR-019 · PRODUCT-OVERVIEW.md §8 · CLAIMS-REGISTER.md §2, §10</a:t>
            </a:r>
          </a:p>
        </p:txBody>
      </p:sp>
      <p:sp>
        <p:nvSpPr>
          <p:cNvPr id="6" name="Rounded Rectangle 5"/>
          <p:cNvSpPr/>
          <p:nvPr/>
        </p:nvSpPr>
        <p:spPr>
          <a:xfrm>
            <a:off x="685800" y="2103120"/>
            <a:ext cx="1417320" cy="123444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1" i="0">
                <a:solidFill>
                  <a:srgbClr val="E8ECF2"/>
                </a:solidFill>
                <a:latin typeface="Calibri"/>
              </a:rPr>
              <a:t>Register</a:t>
            </a:r>
          </a:p>
          <a:p>
            <a:pPr algn="ctr">
              <a:lnSpc>
                <a:spcPct val="115000"/>
              </a:lnSpc>
              <a:spcAft>
                <a:spcPts val="200"/>
              </a:spcAft>
            </a:pPr>
            <a:r>
              <a:rPr sz="1050" b="0" i="0">
                <a:solidFill>
                  <a:srgbClr val="98A4B3"/>
                </a:solidFill>
                <a:latin typeface="Calibri"/>
              </a:rPr>
              <a:t>workload</a:t>
            </a:r>
          </a:p>
        </p:txBody>
      </p:sp>
      <p:sp>
        <p:nvSpPr>
          <p:cNvPr id="7" name="TextBox 6"/>
          <p:cNvSpPr txBox="1"/>
          <p:nvPr/>
        </p:nvSpPr>
        <p:spPr>
          <a:xfrm>
            <a:off x="685800" y="1874519"/>
            <a:ext cx="1417320" cy="228600"/>
          </a:xfrm>
          <a:prstGeom prst="rect">
            <a:avLst/>
          </a:prstGeom>
          <a:noFill/>
        </p:spPr>
        <p:txBody>
          <a:bodyPr wrap="square" lIns="0" rIns="0" tIns="0" bIns="0" anchor="t">
            <a:spAutoFit/>
          </a:bodyPr>
          <a:lstStyle/>
          <a:p>
            <a:pPr algn="ctr">
              <a:lnSpc>
                <a:spcPct val="115000"/>
              </a:lnSpc>
              <a:spcAft>
                <a:spcPts val="0"/>
              </a:spcAft>
            </a:pPr>
            <a:r>
              <a:rPr sz="1050" b="1" i="0">
                <a:solidFill>
                  <a:srgbClr val="98A4B3"/>
                </a:solidFill>
                <a:latin typeface="Calibri"/>
              </a:rPr>
              <a:t>1</a:t>
            </a:r>
          </a:p>
        </p:txBody>
      </p:sp>
      <p:cxnSp>
        <p:nvCxnSpPr>
          <p:cNvPr id="8" name="Connector 7"/>
          <p:cNvCxnSpPr/>
          <p:nvPr/>
        </p:nvCxnSpPr>
        <p:spPr>
          <a:xfrm>
            <a:off x="2112263" y="2715768"/>
            <a:ext cx="109729" cy="0"/>
          </a:xfrm>
          <a:prstGeom prst="line">
            <a:avLst/>
          </a:prstGeom>
          <a:ln w="19050">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231136" y="2103120"/>
            <a:ext cx="1417320" cy="123444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1" i="0">
                <a:solidFill>
                  <a:srgbClr val="E8ECF2"/>
                </a:solidFill>
                <a:latin typeface="Calibri"/>
              </a:rPr>
              <a:t>Select</a:t>
            </a:r>
          </a:p>
          <a:p>
            <a:pPr algn="ctr">
              <a:lnSpc>
                <a:spcPct val="115000"/>
              </a:lnSpc>
              <a:spcAft>
                <a:spcPts val="200"/>
              </a:spcAft>
            </a:pPr>
            <a:r>
              <a:rPr sz="1050" b="0" i="0">
                <a:solidFill>
                  <a:srgbClr val="98A4B3"/>
                </a:solidFill>
                <a:latin typeface="Calibri"/>
              </a:rPr>
              <a:t>policy</a:t>
            </a:r>
          </a:p>
        </p:txBody>
      </p:sp>
      <p:sp>
        <p:nvSpPr>
          <p:cNvPr id="10" name="TextBox 9"/>
          <p:cNvSpPr txBox="1"/>
          <p:nvPr/>
        </p:nvSpPr>
        <p:spPr>
          <a:xfrm>
            <a:off x="2231136" y="1874519"/>
            <a:ext cx="1417320" cy="228600"/>
          </a:xfrm>
          <a:prstGeom prst="rect">
            <a:avLst/>
          </a:prstGeom>
          <a:noFill/>
        </p:spPr>
        <p:txBody>
          <a:bodyPr wrap="square" lIns="0" rIns="0" tIns="0" bIns="0" anchor="t">
            <a:spAutoFit/>
          </a:bodyPr>
          <a:lstStyle/>
          <a:p>
            <a:pPr algn="ctr">
              <a:lnSpc>
                <a:spcPct val="115000"/>
              </a:lnSpc>
              <a:spcAft>
                <a:spcPts val="0"/>
              </a:spcAft>
            </a:pPr>
            <a:r>
              <a:rPr sz="1050" b="1" i="0">
                <a:solidFill>
                  <a:srgbClr val="98A4B3"/>
                </a:solidFill>
                <a:latin typeface="Calibri"/>
              </a:rPr>
              <a:t>2</a:t>
            </a:r>
          </a:p>
        </p:txBody>
      </p:sp>
      <p:cxnSp>
        <p:nvCxnSpPr>
          <p:cNvPr id="11" name="Connector 10"/>
          <p:cNvCxnSpPr/>
          <p:nvPr/>
        </p:nvCxnSpPr>
        <p:spPr>
          <a:xfrm>
            <a:off x="3657600" y="2715768"/>
            <a:ext cx="109728" cy="0"/>
          </a:xfrm>
          <a:prstGeom prst="line">
            <a:avLst/>
          </a:prstGeom>
          <a:ln w="19050">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776472" y="2103120"/>
            <a:ext cx="1417320" cy="123444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1" i="0">
                <a:solidFill>
                  <a:srgbClr val="E8ECF2"/>
                </a:solidFill>
                <a:latin typeface="Calibri"/>
              </a:rPr>
              <a:t>Generate</a:t>
            </a:r>
          </a:p>
          <a:p>
            <a:pPr algn="ctr">
              <a:lnSpc>
                <a:spcPct val="115000"/>
              </a:lnSpc>
              <a:spcAft>
                <a:spcPts val="200"/>
              </a:spcAft>
            </a:pPr>
            <a:r>
              <a:rPr sz="1050" b="0" i="0">
                <a:solidFill>
                  <a:srgbClr val="98A4B3"/>
                </a:solidFill>
                <a:latin typeface="Calibri"/>
              </a:rPr>
              <a:t>integration</a:t>
            </a:r>
          </a:p>
          <a:p>
            <a:pPr algn="ctr">
              <a:lnSpc>
                <a:spcPct val="115000"/>
              </a:lnSpc>
              <a:spcAft>
                <a:spcPts val="200"/>
              </a:spcAft>
            </a:pPr>
            <a:r>
              <a:rPr sz="1050" b="0" i="0">
                <a:solidFill>
                  <a:srgbClr val="98A4B3"/>
                </a:solidFill>
                <a:latin typeface="Calibri"/>
              </a:rPr>
              <a:t>manifest</a:t>
            </a:r>
          </a:p>
        </p:txBody>
      </p:sp>
      <p:sp>
        <p:nvSpPr>
          <p:cNvPr id="13" name="TextBox 12"/>
          <p:cNvSpPr txBox="1"/>
          <p:nvPr/>
        </p:nvSpPr>
        <p:spPr>
          <a:xfrm>
            <a:off x="3776472" y="1874519"/>
            <a:ext cx="1417320" cy="228600"/>
          </a:xfrm>
          <a:prstGeom prst="rect">
            <a:avLst/>
          </a:prstGeom>
          <a:noFill/>
        </p:spPr>
        <p:txBody>
          <a:bodyPr wrap="square" lIns="0" rIns="0" tIns="0" bIns="0" anchor="t">
            <a:spAutoFit/>
          </a:bodyPr>
          <a:lstStyle/>
          <a:p>
            <a:pPr algn="ctr">
              <a:lnSpc>
                <a:spcPct val="115000"/>
              </a:lnSpc>
              <a:spcAft>
                <a:spcPts val="0"/>
              </a:spcAft>
            </a:pPr>
            <a:r>
              <a:rPr sz="1050" b="1" i="0">
                <a:solidFill>
                  <a:srgbClr val="98A4B3"/>
                </a:solidFill>
                <a:latin typeface="Calibri"/>
              </a:rPr>
              <a:t>3</a:t>
            </a:r>
          </a:p>
        </p:txBody>
      </p:sp>
      <p:cxnSp>
        <p:nvCxnSpPr>
          <p:cNvPr id="14" name="Connector 13"/>
          <p:cNvCxnSpPr/>
          <p:nvPr/>
        </p:nvCxnSpPr>
        <p:spPr>
          <a:xfrm>
            <a:off x="5202936" y="2715768"/>
            <a:ext cx="109728" cy="0"/>
          </a:xfrm>
          <a:prstGeom prst="line">
            <a:avLst/>
          </a:prstGeom>
          <a:ln w="19050">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321808" y="2103120"/>
            <a:ext cx="1417320" cy="123444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1" i="0">
                <a:solidFill>
                  <a:srgbClr val="E8ECF2"/>
                </a:solidFill>
                <a:latin typeface="Calibri"/>
              </a:rPr>
              <a:t>Install</a:t>
            </a:r>
          </a:p>
          <a:p>
            <a:pPr algn="ctr">
              <a:lnSpc>
                <a:spcPct val="115000"/>
              </a:lnSpc>
              <a:spcAft>
                <a:spcPts val="200"/>
              </a:spcAft>
            </a:pPr>
            <a:r>
              <a:rPr sz="1050" b="0" i="0">
                <a:solidFill>
                  <a:srgbClr val="98A4B3"/>
                </a:solidFill>
                <a:latin typeface="Calibri"/>
              </a:rPr>
              <a:t>connector</a:t>
            </a:r>
          </a:p>
        </p:txBody>
      </p:sp>
      <p:sp>
        <p:nvSpPr>
          <p:cNvPr id="16" name="TextBox 15"/>
          <p:cNvSpPr txBox="1"/>
          <p:nvPr/>
        </p:nvSpPr>
        <p:spPr>
          <a:xfrm>
            <a:off x="5321808" y="1874519"/>
            <a:ext cx="1417320" cy="228600"/>
          </a:xfrm>
          <a:prstGeom prst="rect">
            <a:avLst/>
          </a:prstGeom>
          <a:noFill/>
        </p:spPr>
        <p:txBody>
          <a:bodyPr wrap="square" lIns="0" rIns="0" tIns="0" bIns="0" anchor="t">
            <a:spAutoFit/>
          </a:bodyPr>
          <a:lstStyle/>
          <a:p>
            <a:pPr algn="ctr">
              <a:lnSpc>
                <a:spcPct val="115000"/>
              </a:lnSpc>
              <a:spcAft>
                <a:spcPts val="0"/>
              </a:spcAft>
            </a:pPr>
            <a:r>
              <a:rPr sz="1050" b="1" i="0">
                <a:solidFill>
                  <a:srgbClr val="98A4B3"/>
                </a:solidFill>
                <a:latin typeface="Calibri"/>
              </a:rPr>
              <a:t>4</a:t>
            </a:r>
          </a:p>
        </p:txBody>
      </p:sp>
      <p:cxnSp>
        <p:nvCxnSpPr>
          <p:cNvPr id="17" name="Connector 16"/>
          <p:cNvCxnSpPr/>
          <p:nvPr/>
        </p:nvCxnSpPr>
        <p:spPr>
          <a:xfrm>
            <a:off x="6748272" y="2715768"/>
            <a:ext cx="109728" cy="0"/>
          </a:xfrm>
          <a:prstGeom prst="line">
            <a:avLst/>
          </a:prstGeom>
          <a:ln w="19050">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867144" y="2103120"/>
            <a:ext cx="1417320" cy="123444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1" i="0">
                <a:solidFill>
                  <a:srgbClr val="E8ECF2"/>
                </a:solidFill>
                <a:latin typeface="Calibri"/>
              </a:rPr>
              <a:t>Run in</a:t>
            </a:r>
          </a:p>
          <a:p>
            <a:pPr algn="ctr">
              <a:lnSpc>
                <a:spcPct val="115000"/>
              </a:lnSpc>
              <a:spcAft>
                <a:spcPts val="200"/>
              </a:spcAft>
            </a:pPr>
            <a:r>
              <a:rPr sz="1050" b="0" i="0">
                <a:solidFill>
                  <a:srgbClr val="98A4B3"/>
                </a:solidFill>
                <a:latin typeface="Calibri"/>
              </a:rPr>
              <a:t>observe mode</a:t>
            </a:r>
          </a:p>
        </p:txBody>
      </p:sp>
      <p:sp>
        <p:nvSpPr>
          <p:cNvPr id="19" name="TextBox 18"/>
          <p:cNvSpPr txBox="1"/>
          <p:nvPr/>
        </p:nvSpPr>
        <p:spPr>
          <a:xfrm>
            <a:off x="6867144" y="1874519"/>
            <a:ext cx="1417320" cy="228600"/>
          </a:xfrm>
          <a:prstGeom prst="rect">
            <a:avLst/>
          </a:prstGeom>
          <a:noFill/>
        </p:spPr>
        <p:txBody>
          <a:bodyPr wrap="square" lIns="0" rIns="0" tIns="0" bIns="0" anchor="t">
            <a:spAutoFit/>
          </a:bodyPr>
          <a:lstStyle/>
          <a:p>
            <a:pPr algn="ctr">
              <a:lnSpc>
                <a:spcPct val="115000"/>
              </a:lnSpc>
              <a:spcAft>
                <a:spcPts val="0"/>
              </a:spcAft>
            </a:pPr>
            <a:r>
              <a:rPr sz="1050" b="1" i="0">
                <a:solidFill>
                  <a:srgbClr val="98A4B3"/>
                </a:solidFill>
                <a:latin typeface="Calibri"/>
              </a:rPr>
              <a:t>5</a:t>
            </a:r>
          </a:p>
        </p:txBody>
      </p:sp>
      <p:cxnSp>
        <p:nvCxnSpPr>
          <p:cNvPr id="20" name="Connector 19"/>
          <p:cNvCxnSpPr/>
          <p:nvPr/>
        </p:nvCxnSpPr>
        <p:spPr>
          <a:xfrm>
            <a:off x="8293608" y="2715768"/>
            <a:ext cx="109728" cy="0"/>
          </a:xfrm>
          <a:prstGeom prst="line">
            <a:avLst/>
          </a:prstGeom>
          <a:ln w="19050">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412480" y="2103120"/>
            <a:ext cx="1417320" cy="123444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1" i="0">
                <a:solidFill>
                  <a:srgbClr val="E8ECF2"/>
                </a:solidFill>
                <a:latin typeface="Calibri"/>
              </a:rPr>
              <a:t>Review</a:t>
            </a:r>
          </a:p>
          <a:p>
            <a:pPr algn="ctr">
              <a:lnSpc>
                <a:spcPct val="115000"/>
              </a:lnSpc>
              <a:spcAft>
                <a:spcPts val="200"/>
              </a:spcAft>
            </a:pPr>
            <a:r>
              <a:rPr sz="1050" b="0" i="0">
                <a:solidFill>
                  <a:srgbClr val="98A4B3"/>
                </a:solidFill>
                <a:latin typeface="Calibri"/>
              </a:rPr>
              <a:t>evaluation</a:t>
            </a:r>
          </a:p>
          <a:p>
            <a:pPr algn="ctr">
              <a:lnSpc>
                <a:spcPct val="115000"/>
              </a:lnSpc>
              <a:spcAft>
                <a:spcPts val="200"/>
              </a:spcAft>
            </a:pPr>
            <a:r>
              <a:rPr sz="1050" b="0" i="0">
                <a:solidFill>
                  <a:srgbClr val="98A4B3"/>
                </a:solidFill>
                <a:latin typeface="Calibri"/>
              </a:rPr>
              <a:t>results</a:t>
            </a:r>
          </a:p>
        </p:txBody>
      </p:sp>
      <p:sp>
        <p:nvSpPr>
          <p:cNvPr id="22" name="TextBox 21"/>
          <p:cNvSpPr txBox="1"/>
          <p:nvPr/>
        </p:nvSpPr>
        <p:spPr>
          <a:xfrm>
            <a:off x="8412480" y="1874519"/>
            <a:ext cx="1417320" cy="228600"/>
          </a:xfrm>
          <a:prstGeom prst="rect">
            <a:avLst/>
          </a:prstGeom>
          <a:noFill/>
        </p:spPr>
        <p:txBody>
          <a:bodyPr wrap="square" lIns="0" rIns="0" tIns="0" bIns="0" anchor="t">
            <a:spAutoFit/>
          </a:bodyPr>
          <a:lstStyle/>
          <a:p>
            <a:pPr algn="ctr">
              <a:lnSpc>
                <a:spcPct val="115000"/>
              </a:lnSpc>
              <a:spcAft>
                <a:spcPts val="0"/>
              </a:spcAft>
            </a:pPr>
            <a:r>
              <a:rPr sz="1050" b="1" i="0">
                <a:solidFill>
                  <a:srgbClr val="98A4B3"/>
                </a:solidFill>
                <a:latin typeface="Calibri"/>
              </a:rPr>
              <a:t>6</a:t>
            </a:r>
          </a:p>
        </p:txBody>
      </p:sp>
      <p:cxnSp>
        <p:nvCxnSpPr>
          <p:cNvPr id="23" name="Connector 22"/>
          <p:cNvCxnSpPr/>
          <p:nvPr/>
        </p:nvCxnSpPr>
        <p:spPr>
          <a:xfrm>
            <a:off x="9838944" y="2715768"/>
            <a:ext cx="109728" cy="0"/>
          </a:xfrm>
          <a:prstGeom prst="line">
            <a:avLst/>
          </a:prstGeom>
          <a:ln w="19050">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957816" y="2103120"/>
            <a:ext cx="1417320" cy="1234440"/>
          </a:xfrm>
          <a:prstGeom prst="roundRect">
            <a:avLst>
              <a:gd name="adj" fmla="val 8000"/>
            </a:avLst>
          </a:prstGeom>
          <a:solidFill>
            <a:srgbClr val="1D242C"/>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1" i="0">
                <a:solidFill>
                  <a:srgbClr val="E8ECF2"/>
                </a:solidFill>
                <a:latin typeface="Calibri"/>
              </a:rPr>
              <a:t>Enable</a:t>
            </a:r>
          </a:p>
          <a:p>
            <a:pPr algn="ctr">
              <a:lnSpc>
                <a:spcPct val="115000"/>
              </a:lnSpc>
              <a:spcAft>
                <a:spcPts val="200"/>
              </a:spcAft>
            </a:pPr>
            <a:r>
              <a:rPr sz="1050" b="0" i="0">
                <a:solidFill>
                  <a:srgbClr val="98A4B3"/>
                </a:solidFill>
                <a:latin typeface="Calibri"/>
              </a:rPr>
              <a:t>enforcement</a:t>
            </a:r>
          </a:p>
        </p:txBody>
      </p:sp>
      <p:sp>
        <p:nvSpPr>
          <p:cNvPr id="25" name="TextBox 24"/>
          <p:cNvSpPr txBox="1"/>
          <p:nvPr/>
        </p:nvSpPr>
        <p:spPr>
          <a:xfrm>
            <a:off x="9957816" y="1874519"/>
            <a:ext cx="1417320" cy="228600"/>
          </a:xfrm>
          <a:prstGeom prst="rect">
            <a:avLst/>
          </a:prstGeom>
          <a:noFill/>
        </p:spPr>
        <p:txBody>
          <a:bodyPr wrap="square" lIns="0" rIns="0" tIns="0" bIns="0" anchor="t">
            <a:spAutoFit/>
          </a:bodyPr>
          <a:lstStyle/>
          <a:p>
            <a:pPr algn="ctr">
              <a:lnSpc>
                <a:spcPct val="115000"/>
              </a:lnSpc>
              <a:spcAft>
                <a:spcPts val="0"/>
              </a:spcAft>
            </a:pPr>
            <a:r>
              <a:rPr sz="1050" b="1" i="0">
                <a:solidFill>
                  <a:srgbClr val="98A4B3"/>
                </a:solidFill>
                <a:latin typeface="Calibri"/>
              </a:rPr>
              <a:t>7</a:t>
            </a:r>
          </a:p>
        </p:txBody>
      </p:sp>
      <p:sp>
        <p:nvSpPr>
          <p:cNvPr id="26" name="Rounded Rectangle 25"/>
          <p:cNvSpPr/>
          <p:nvPr/>
        </p:nvSpPr>
        <p:spPr>
          <a:xfrm>
            <a:off x="685800" y="3703320"/>
            <a:ext cx="10820095" cy="1783080"/>
          </a:xfrm>
          <a:prstGeom prst="roundRect">
            <a:avLst>
              <a:gd name="adj" fmla="val 4000"/>
            </a:avLst>
          </a:prstGeom>
          <a:solidFill>
            <a:srgbClr val="161C23"/>
          </a:solidFill>
          <a:ln w="12700">
            <a:solidFill>
              <a:srgbClr val="E06C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 y="3904487"/>
            <a:ext cx="10180015" cy="1463040"/>
          </a:xfrm>
          <a:prstGeom prst="rect">
            <a:avLst/>
          </a:prstGeom>
          <a:noFill/>
        </p:spPr>
        <p:txBody>
          <a:bodyPr wrap="square" lIns="0" rIns="0" tIns="0" bIns="0" anchor="t">
            <a:spAutoFit/>
          </a:bodyPr>
          <a:lstStyle/>
          <a:p>
            <a:pPr algn="l">
              <a:lnSpc>
                <a:spcPct val="115000"/>
              </a:lnSpc>
              <a:spcAft>
                <a:spcPts val="800"/>
              </a:spcAft>
            </a:pPr>
            <a:r>
              <a:rPr sz="1400" b="1" i="0">
                <a:solidFill>
                  <a:srgbClr val="E8ECF2"/>
                </a:solidFill>
                <a:latin typeface="Calibri"/>
              </a:rPr>
              <a:t>Importing a policy never requires:</a:t>
            </a:r>
          </a:p>
          <a:p>
            <a:pPr algn="l">
              <a:lnSpc>
                <a:spcPct val="130000"/>
              </a:lnSpc>
              <a:spcAft>
                <a:spcPts val="800"/>
              </a:spcAft>
            </a:pPr>
            <a:r>
              <a:rPr sz="1300" b="0" i="0">
                <a:solidFill>
                  <a:srgbClr val="98A4B3"/>
                </a:solidFill>
                <a:latin typeface="Calibri"/>
              </a:rPr>
              <a:t>copying another team's LiteLLM database  ·  transferring model-provider credentials  ·  exposing gateway administration endpoints  ·  replacing model-routing configuration  ·  granting the guardrail provider administrative access to the team's gateway</a:t>
            </a:r>
          </a:p>
          <a:p>
            <a:pPr algn="l">
              <a:lnSpc>
                <a:spcPct val="115000"/>
              </a:lnSpc>
              <a:spcAft>
                <a:spcPts val="0"/>
              </a:spcAft>
            </a:pPr>
            <a:r>
              <a:rPr sz="1250" b="0" i="0">
                <a:solidFill>
                  <a:srgbClr val="E8ECF2"/>
                </a:solidFill>
                <a:latin typeface="Calibri"/>
              </a:rPr>
              <a:t>“Import” means adopting a versioned policy, a workload identity, an integration manifest, a connector configuration, and an enforcement mode. Nothing more.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Appendix — Trust and enforcement postures</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Orthogonal to deployment mode. A posture describes how bypass-resistant a given workload's integration actually is.</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Source: AGR-018 · SECURITY-ARCHITECTURE.md §3 · ASM-005 · OQ-001</a:t>
            </a:r>
          </a:p>
        </p:txBody>
      </p:sp>
      <p:sp>
        <p:nvSpPr>
          <p:cNvPr id="6" name="Rounded Rectangle 5"/>
          <p:cNvSpPr/>
          <p:nvPr/>
        </p:nvSpPr>
        <p:spPr>
          <a:xfrm>
            <a:off x="685800" y="1920240"/>
            <a:ext cx="10820095" cy="114300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920240"/>
            <a:ext cx="64008" cy="1143000"/>
          </a:xfrm>
          <a:prstGeom prst="rect">
            <a:avLst/>
          </a:prstGeom>
          <a:solidFill>
            <a:srgbClr val="E06C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66544"/>
            <a:ext cx="3246120" cy="914400"/>
          </a:xfrm>
          <a:prstGeom prst="rect">
            <a:avLst/>
          </a:prstGeom>
          <a:noFill/>
        </p:spPr>
        <p:txBody>
          <a:bodyPr wrap="square" lIns="0" rIns="0" tIns="0" bIns="0" anchor="t">
            <a:spAutoFit/>
          </a:bodyPr>
          <a:lstStyle/>
          <a:p>
            <a:pPr algn="l">
              <a:lnSpc>
                <a:spcPct val="115000"/>
              </a:lnSpc>
              <a:spcAft>
                <a:spcPts val="400"/>
              </a:spcAft>
            </a:pPr>
            <a:r>
              <a:rPr sz="1450" b="1" i="0">
                <a:solidFill>
                  <a:srgbClr val="E8ECF2"/>
                </a:solidFill>
                <a:latin typeface="Calibri"/>
              </a:rPr>
              <a:t>Cooperative integration</a:t>
            </a:r>
          </a:p>
          <a:p>
            <a:pPr algn="l">
              <a:lnSpc>
                <a:spcPct val="115000"/>
              </a:lnSpc>
              <a:spcAft>
                <a:spcPts val="0"/>
              </a:spcAft>
            </a:pPr>
            <a:r>
              <a:rPr sz="1050" b="0" i="0">
                <a:solidFill>
                  <a:srgbClr val="98A4B3"/>
                </a:solidFill>
                <a:latin typeface="Calibri"/>
              </a:rPr>
              <a:t>Application → team LiteLLM with connector → model</a:t>
            </a:r>
          </a:p>
        </p:txBody>
      </p:sp>
      <p:sp>
        <p:nvSpPr>
          <p:cNvPr id="9" name="Rounded Rectangle 8"/>
          <p:cNvSpPr/>
          <p:nvPr/>
        </p:nvSpPr>
        <p:spPr>
          <a:xfrm>
            <a:off x="978408" y="2761488"/>
            <a:ext cx="1691640" cy="237744"/>
          </a:xfrm>
          <a:prstGeom prst="roundRect">
            <a:avLst>
              <a:gd name="adj" fmla="val 8000"/>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850" b="1" i="0">
                <a:solidFill>
                  <a:srgbClr val="12161B"/>
                </a:solidFill>
                <a:latin typeface="Calibri"/>
              </a:rPr>
              <a:t>PHASES 1–2 START HERE</a:t>
            </a:r>
          </a:p>
        </p:txBody>
      </p:sp>
      <p:sp>
        <p:nvSpPr>
          <p:cNvPr id="10" name="TextBox 9"/>
          <p:cNvSpPr txBox="1"/>
          <p:nvPr/>
        </p:nvSpPr>
        <p:spPr>
          <a:xfrm>
            <a:off x="4480560" y="2066544"/>
            <a:ext cx="3246120" cy="914400"/>
          </a:xfrm>
          <a:prstGeom prst="rect">
            <a:avLst/>
          </a:prstGeom>
          <a:noFill/>
        </p:spPr>
        <p:txBody>
          <a:bodyPr wrap="square" lIns="0" rIns="0" tIns="0" bIns="0" anchor="t">
            <a:spAutoFit/>
          </a:bodyPr>
          <a:lstStyle/>
          <a:p>
            <a:pPr algn="l">
              <a:lnSpc>
                <a:spcPct val="115000"/>
              </a:lnSpc>
              <a:spcAft>
                <a:spcPts val="300"/>
              </a:spcAft>
            </a:pPr>
            <a:r>
              <a:rPr sz="950" b="1" i="0">
                <a:solidFill>
                  <a:srgbClr val="5AA0E0"/>
                </a:solidFill>
                <a:latin typeface="Calibri"/>
              </a:rPr>
              <a:t>Who can bypass it</a:t>
            </a:r>
          </a:p>
          <a:p>
            <a:pPr algn="l">
              <a:lnSpc>
                <a:spcPct val="120000"/>
              </a:lnSpc>
              <a:spcAft>
                <a:spcPts val="0"/>
              </a:spcAft>
            </a:pPr>
            <a:r>
              <a:rPr sz="1150" b="0" i="0">
                <a:solidFill>
                  <a:srgbClr val="E8ECF2"/>
                </a:solidFill>
                <a:latin typeface="Calibri"/>
              </a:rPr>
              <a:t>The consuming team can bypass it — by disabling, removing, or misconfiguring the connector.</a:t>
            </a:r>
          </a:p>
        </p:txBody>
      </p:sp>
      <p:sp>
        <p:nvSpPr>
          <p:cNvPr id="11" name="TextBox 10"/>
          <p:cNvSpPr txBox="1"/>
          <p:nvPr/>
        </p:nvSpPr>
        <p:spPr>
          <a:xfrm>
            <a:off x="8001000" y="2066544"/>
            <a:ext cx="3474720" cy="914400"/>
          </a:xfrm>
          <a:prstGeom prst="rect">
            <a:avLst/>
          </a:prstGeom>
          <a:noFill/>
        </p:spPr>
        <p:txBody>
          <a:bodyPr wrap="square" lIns="0" rIns="0" tIns="0" bIns="0" anchor="t">
            <a:spAutoFit/>
          </a:bodyPr>
          <a:lstStyle/>
          <a:p>
            <a:pPr algn="l">
              <a:lnSpc>
                <a:spcPct val="115000"/>
              </a:lnSpc>
              <a:spcAft>
                <a:spcPts val="300"/>
              </a:spcAft>
            </a:pPr>
            <a:r>
              <a:rPr sz="950" b="1" i="0">
                <a:solidFill>
                  <a:srgbClr val="5AA0E0"/>
                </a:solidFill>
                <a:latin typeface="Calibri"/>
              </a:rPr>
              <a:t>Appropriate when</a:t>
            </a:r>
          </a:p>
          <a:p>
            <a:pPr algn="l">
              <a:lnSpc>
                <a:spcPct val="120000"/>
              </a:lnSpc>
              <a:spcAft>
                <a:spcPts val="0"/>
              </a:spcAft>
            </a:pPr>
            <a:r>
              <a:rPr sz="1150" b="0" i="0">
                <a:solidFill>
                  <a:srgbClr val="98A4B3"/>
                </a:solidFill>
                <a:latin typeface="Calibri"/>
              </a:rPr>
              <a:t>Teams are trusted; guardrails are an engineering standard, not a compliance mandate; the objective is adoption and evaluation.</a:t>
            </a:r>
          </a:p>
        </p:txBody>
      </p:sp>
      <p:sp>
        <p:nvSpPr>
          <p:cNvPr id="12" name="Rounded Rectangle 11"/>
          <p:cNvSpPr/>
          <p:nvPr/>
        </p:nvSpPr>
        <p:spPr>
          <a:xfrm>
            <a:off x="685800" y="3218688"/>
            <a:ext cx="10820095" cy="114300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3218688"/>
            <a:ext cx="64008" cy="1143000"/>
          </a:xfrm>
          <a:prstGeom prst="rect">
            <a:avLst/>
          </a:prstGeom>
          <a:solidFill>
            <a:srgbClr val="E0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3364992"/>
            <a:ext cx="3246120" cy="914400"/>
          </a:xfrm>
          <a:prstGeom prst="rect">
            <a:avLst/>
          </a:prstGeom>
          <a:noFill/>
        </p:spPr>
        <p:txBody>
          <a:bodyPr wrap="square" lIns="0" rIns="0" tIns="0" bIns="0" anchor="t">
            <a:spAutoFit/>
          </a:bodyPr>
          <a:lstStyle/>
          <a:p>
            <a:pPr algn="l">
              <a:lnSpc>
                <a:spcPct val="115000"/>
              </a:lnSpc>
              <a:spcAft>
                <a:spcPts val="400"/>
              </a:spcAft>
            </a:pPr>
            <a:r>
              <a:rPr sz="1450" b="1" i="0">
                <a:solidFill>
                  <a:srgbClr val="E8ECF2"/>
                </a:solidFill>
                <a:latin typeface="Calibri"/>
              </a:rPr>
              <a:t>Platform-managed enforcement</a:t>
            </a:r>
          </a:p>
          <a:p>
            <a:pPr algn="l">
              <a:lnSpc>
                <a:spcPct val="115000"/>
              </a:lnSpc>
              <a:spcAft>
                <a:spcPts val="0"/>
              </a:spcAft>
            </a:pPr>
            <a:r>
              <a:rPr sz="1050" b="0" i="0">
                <a:solidFill>
                  <a:srgbClr val="98A4B3"/>
                </a:solidFill>
                <a:latin typeface="Calibri"/>
              </a:rPr>
              <a:t>Application → platform-managed gateway → guardrails → model</a:t>
            </a:r>
          </a:p>
        </p:txBody>
      </p:sp>
      <p:sp>
        <p:nvSpPr>
          <p:cNvPr id="15" name="TextBox 14"/>
          <p:cNvSpPr txBox="1"/>
          <p:nvPr/>
        </p:nvSpPr>
        <p:spPr>
          <a:xfrm>
            <a:off x="4480560" y="3364992"/>
            <a:ext cx="3246120" cy="914400"/>
          </a:xfrm>
          <a:prstGeom prst="rect">
            <a:avLst/>
          </a:prstGeom>
          <a:noFill/>
        </p:spPr>
        <p:txBody>
          <a:bodyPr wrap="square" lIns="0" rIns="0" tIns="0" bIns="0" anchor="t">
            <a:spAutoFit/>
          </a:bodyPr>
          <a:lstStyle/>
          <a:p>
            <a:pPr algn="l">
              <a:lnSpc>
                <a:spcPct val="115000"/>
              </a:lnSpc>
              <a:spcAft>
                <a:spcPts val="300"/>
              </a:spcAft>
            </a:pPr>
            <a:r>
              <a:rPr sz="950" b="1" i="0">
                <a:solidFill>
                  <a:srgbClr val="5AA0E0"/>
                </a:solidFill>
                <a:latin typeface="Calibri"/>
              </a:rPr>
              <a:t>Who can bypass it</a:t>
            </a:r>
          </a:p>
          <a:p>
            <a:pPr algn="l">
              <a:lnSpc>
                <a:spcPct val="120000"/>
              </a:lnSpc>
              <a:spcAft>
                <a:spcPts val="0"/>
              </a:spcAft>
            </a:pPr>
            <a:r>
              <a:rPr sz="1150" b="0" i="0">
                <a:solidFill>
                  <a:srgbClr val="E8ECF2"/>
                </a:solidFill>
                <a:latin typeface="Calibri"/>
              </a:rPr>
              <a:t>Only someone with access to platform-owned gateway infrastructure or its GitOps pipeline — not the application team.</a:t>
            </a:r>
          </a:p>
        </p:txBody>
      </p:sp>
      <p:sp>
        <p:nvSpPr>
          <p:cNvPr id="16" name="TextBox 15"/>
          <p:cNvSpPr txBox="1"/>
          <p:nvPr/>
        </p:nvSpPr>
        <p:spPr>
          <a:xfrm>
            <a:off x="8001000" y="3364992"/>
            <a:ext cx="3474720" cy="914400"/>
          </a:xfrm>
          <a:prstGeom prst="rect">
            <a:avLst/>
          </a:prstGeom>
          <a:noFill/>
        </p:spPr>
        <p:txBody>
          <a:bodyPr wrap="square" lIns="0" rIns="0" tIns="0" bIns="0" anchor="t">
            <a:spAutoFit/>
          </a:bodyPr>
          <a:lstStyle/>
          <a:p>
            <a:pPr algn="l">
              <a:lnSpc>
                <a:spcPct val="115000"/>
              </a:lnSpc>
              <a:spcAft>
                <a:spcPts val="300"/>
              </a:spcAft>
            </a:pPr>
            <a:r>
              <a:rPr sz="950" b="1" i="0">
                <a:solidFill>
                  <a:srgbClr val="5AA0E0"/>
                </a:solidFill>
                <a:latin typeface="Calibri"/>
              </a:rPr>
              <a:t>Appropriate when</a:t>
            </a:r>
          </a:p>
          <a:p>
            <a:pPr algn="l">
              <a:lnSpc>
                <a:spcPct val="120000"/>
              </a:lnSpc>
              <a:spcAft>
                <a:spcPts val="0"/>
              </a:spcAft>
            </a:pPr>
            <a:r>
              <a:rPr sz="1150" b="0" i="0">
                <a:solidFill>
                  <a:srgbClr val="98A4B3"/>
                </a:solidFill>
                <a:latin typeface="Calibri"/>
              </a:rPr>
              <a:t>The platform owns gateway infrastructure; application teams must not be able to change mandatory guardrail settings.</a:t>
            </a:r>
          </a:p>
        </p:txBody>
      </p:sp>
      <p:sp>
        <p:nvSpPr>
          <p:cNvPr id="17" name="Rounded Rectangle 16"/>
          <p:cNvSpPr/>
          <p:nvPr/>
        </p:nvSpPr>
        <p:spPr>
          <a:xfrm>
            <a:off x="685800" y="4517136"/>
            <a:ext cx="10820095" cy="114300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4517136"/>
            <a:ext cx="64008" cy="1143000"/>
          </a:xfrm>
          <a:prstGeom prst="rect">
            <a:avLst/>
          </a:prstGeom>
          <a:solidFill>
            <a:srgbClr val="4FB4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8408" y="4663440"/>
            <a:ext cx="3246120" cy="914400"/>
          </a:xfrm>
          <a:prstGeom prst="rect">
            <a:avLst/>
          </a:prstGeom>
          <a:noFill/>
        </p:spPr>
        <p:txBody>
          <a:bodyPr wrap="square" lIns="0" rIns="0" tIns="0" bIns="0" anchor="t">
            <a:spAutoFit/>
          </a:bodyPr>
          <a:lstStyle/>
          <a:p>
            <a:pPr algn="l">
              <a:lnSpc>
                <a:spcPct val="115000"/>
              </a:lnSpc>
              <a:spcAft>
                <a:spcPts val="400"/>
              </a:spcAft>
            </a:pPr>
            <a:r>
              <a:rPr sz="1450" b="1" i="0">
                <a:solidFill>
                  <a:srgbClr val="E8ECF2"/>
                </a:solidFill>
                <a:latin typeface="Calibri"/>
              </a:rPr>
              <a:t>Network/IAM-enforced gateway</a:t>
            </a:r>
          </a:p>
          <a:p>
            <a:pPr algn="l">
              <a:lnSpc>
                <a:spcPct val="115000"/>
              </a:lnSpc>
              <a:spcAft>
                <a:spcPts val="0"/>
              </a:spcAft>
            </a:pPr>
            <a:r>
              <a:rPr sz="1050" b="0" i="0">
                <a:solidFill>
                  <a:srgbClr val="98A4B3"/>
                </a:solidFill>
                <a:latin typeface="Calibri"/>
              </a:rPr>
              <a:t>All model traffic forced through a controlled gateway; applications hold no direct provider credentials or connectivity</a:t>
            </a:r>
          </a:p>
        </p:txBody>
      </p:sp>
      <p:sp>
        <p:nvSpPr>
          <p:cNvPr id="20" name="TextBox 19"/>
          <p:cNvSpPr txBox="1"/>
          <p:nvPr/>
        </p:nvSpPr>
        <p:spPr>
          <a:xfrm>
            <a:off x="4480560" y="4663440"/>
            <a:ext cx="3246120" cy="914400"/>
          </a:xfrm>
          <a:prstGeom prst="rect">
            <a:avLst/>
          </a:prstGeom>
          <a:noFill/>
        </p:spPr>
        <p:txBody>
          <a:bodyPr wrap="square" lIns="0" rIns="0" tIns="0" bIns="0" anchor="t">
            <a:spAutoFit/>
          </a:bodyPr>
          <a:lstStyle/>
          <a:p>
            <a:pPr algn="l">
              <a:lnSpc>
                <a:spcPct val="115000"/>
              </a:lnSpc>
              <a:spcAft>
                <a:spcPts val="300"/>
              </a:spcAft>
            </a:pPr>
            <a:r>
              <a:rPr sz="950" b="1" i="0">
                <a:solidFill>
                  <a:srgbClr val="5AA0E0"/>
                </a:solidFill>
                <a:latin typeface="Calibri"/>
              </a:rPr>
              <a:t>Who can bypass it</a:t>
            </a:r>
          </a:p>
          <a:p>
            <a:pPr algn="l">
              <a:lnSpc>
                <a:spcPct val="120000"/>
              </a:lnSpc>
              <a:spcAft>
                <a:spcPts val="0"/>
              </a:spcAft>
            </a:pPr>
            <a:r>
              <a:rPr sz="1150" b="0" i="0">
                <a:solidFill>
                  <a:srgbClr val="E8ECF2"/>
                </a:solidFill>
                <a:latin typeface="Calibri"/>
              </a:rPr>
              <a:t>No application-side actor, absent a platform-layer network or IAM misconfiguration.</a:t>
            </a:r>
          </a:p>
        </p:txBody>
      </p:sp>
      <p:sp>
        <p:nvSpPr>
          <p:cNvPr id="21" name="TextBox 20"/>
          <p:cNvSpPr txBox="1"/>
          <p:nvPr/>
        </p:nvSpPr>
        <p:spPr>
          <a:xfrm>
            <a:off x="8001000" y="4663440"/>
            <a:ext cx="3474720" cy="914400"/>
          </a:xfrm>
          <a:prstGeom prst="rect">
            <a:avLst/>
          </a:prstGeom>
          <a:noFill/>
        </p:spPr>
        <p:txBody>
          <a:bodyPr wrap="square" lIns="0" rIns="0" tIns="0" bIns="0" anchor="t">
            <a:spAutoFit/>
          </a:bodyPr>
          <a:lstStyle/>
          <a:p>
            <a:pPr algn="l">
              <a:lnSpc>
                <a:spcPct val="115000"/>
              </a:lnSpc>
              <a:spcAft>
                <a:spcPts val="300"/>
              </a:spcAft>
            </a:pPr>
            <a:r>
              <a:rPr sz="950" b="1" i="0">
                <a:solidFill>
                  <a:srgbClr val="5AA0E0"/>
                </a:solidFill>
                <a:latin typeface="Calibri"/>
              </a:rPr>
              <a:t>Appropriate when</a:t>
            </a:r>
          </a:p>
          <a:p>
            <a:pPr algn="l">
              <a:lnSpc>
                <a:spcPct val="120000"/>
              </a:lnSpc>
              <a:spcAft>
                <a:spcPts val="0"/>
              </a:spcAft>
            </a:pPr>
            <a:r>
              <a:rPr sz="1150" b="0" i="0">
                <a:solidFill>
                  <a:srgbClr val="98A4B3"/>
                </a:solidFill>
                <a:latin typeface="Calibri"/>
              </a:rPr>
              <a:t>Bypass prevention is a formal requirement; compliance evidence is needed; direct provider access must be prohibited.</a:t>
            </a:r>
          </a:p>
        </p:txBody>
      </p:sp>
      <p:sp>
        <p:nvSpPr>
          <p:cNvPr id="22" name="TextBox 21"/>
          <p:cNvSpPr txBox="1"/>
          <p:nvPr/>
        </p:nvSpPr>
        <p:spPr>
          <a:xfrm>
            <a:off x="685800" y="5797296"/>
            <a:ext cx="10820095" cy="457200"/>
          </a:xfrm>
          <a:prstGeom prst="rect">
            <a:avLst/>
          </a:prstGeom>
          <a:noFill/>
        </p:spPr>
        <p:txBody>
          <a:bodyPr wrap="square" lIns="0" rIns="0" tIns="0" bIns="0" anchor="t">
            <a:spAutoFit/>
          </a:bodyPr>
          <a:lstStyle/>
          <a:p>
            <a:pPr algn="l">
              <a:lnSpc>
                <a:spcPct val="115000"/>
              </a:lnSpc>
              <a:spcAft>
                <a:spcPts val="0"/>
              </a:spcAft>
            </a:pPr>
            <a:r>
              <a:rPr sz="1150" b="0" i="0">
                <a:solidFill>
                  <a:srgbClr val="98A4B3"/>
                </a:solidFill>
                <a:latin typeface="Calibri"/>
              </a:rPr>
              <a:t>Whichever posture a workload actually runs under must be recorded and visible — and must never be described as stronger than it is.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Appendix — Phase 1–2 validation criteria in full</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All nine must be demonstrated together, using two genuinely independent LiteLLM deployments.</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Source: SUCCESS-CRITERIA.md §1.2, §1.3 · VALIDATION-PLAN.md · AGR-020</a:t>
            </a:r>
          </a:p>
        </p:txBody>
      </p:sp>
      <p:graphicFrame>
        <p:nvGraphicFramePr>
          <p:cNvPr id="6" name="Table 5"/>
          <p:cNvGraphicFramePr>
            <a:graphicFrameLocks noGrp="1"/>
          </p:cNvGraphicFramePr>
          <p:nvPr/>
        </p:nvGraphicFramePr>
        <p:xfrm>
          <a:off x="685800" y="1801368"/>
          <a:ext cx="10820094" cy="4133088"/>
        </p:xfrm>
        <a:graphic>
          <a:graphicData uri="http://schemas.openxmlformats.org/drawingml/2006/table">
            <a:tbl>
              <a:tblPr firstRow="1">
                <a:tableStyleId>{5C22544A-7EE6-4342-B048-85BDC9FD1C3A}</a:tableStyleId>
              </a:tblPr>
              <a:tblGrid>
                <a:gridCol w="973808"/>
                <a:gridCol w="3678832"/>
                <a:gridCol w="6167454"/>
              </a:tblGrid>
              <a:tr h="274320">
                <a:tc>
                  <a:txBody>
                    <a:bodyPr wrap="square"/>
                    <a:lstStyle/>
                    <a:p>
                      <a:pPr algn="l">
                        <a:lnSpc>
                          <a:spcPct val="105000"/>
                        </a:lnSpc>
                        <a:spcAft>
                          <a:spcPts val="0"/>
                        </a:spcAft>
                      </a:pPr>
                      <a:r>
                        <a:rPr sz="1050" b="1" i="0">
                          <a:solidFill>
                            <a:srgbClr val="5AA0E0"/>
                          </a:solidFill>
                          <a:latin typeface="Calibri"/>
                        </a:rPr>
                        <a:t>ID</a:t>
                      </a:r>
                    </a:p>
                  </a:txBody>
                  <a:tcPr marL="91440" marR="91440" marT="45720" marB="45720" anchor="ctr">
                    <a:solidFill>
                      <a:srgbClr val="1D242C"/>
                    </a:solidFill>
                  </a:tcPr>
                </a:tc>
                <a:tc>
                  <a:txBody>
                    <a:bodyPr wrap="square"/>
                    <a:lstStyle/>
                    <a:p>
                      <a:pPr algn="l">
                        <a:lnSpc>
                          <a:spcPct val="105000"/>
                        </a:lnSpc>
                        <a:spcAft>
                          <a:spcPts val="0"/>
                        </a:spcAft>
                      </a:pPr>
                      <a:r>
                        <a:rPr sz="1050" b="1" i="0">
                          <a:solidFill>
                            <a:srgbClr val="5AA0E0"/>
                          </a:solidFill>
                          <a:latin typeface="Calibri"/>
                        </a:rPr>
                        <a:t>Criterion</a:t>
                      </a:r>
                    </a:p>
                  </a:txBody>
                  <a:tcPr marL="91440" marR="91440" marT="45720" marB="45720" anchor="ctr">
                    <a:solidFill>
                      <a:srgbClr val="1D242C"/>
                    </a:solidFill>
                  </a:tcPr>
                </a:tc>
                <a:tc>
                  <a:txBody>
                    <a:bodyPr wrap="square"/>
                    <a:lstStyle/>
                    <a:p>
                      <a:pPr algn="l">
                        <a:lnSpc>
                          <a:spcPct val="105000"/>
                        </a:lnSpc>
                        <a:spcAft>
                          <a:spcPts val="0"/>
                        </a:spcAft>
                      </a:pPr>
                      <a:r>
                        <a:rPr sz="1050" b="1" i="0">
                          <a:solidFill>
                            <a:srgbClr val="5AA0E0"/>
                          </a:solidFill>
                          <a:latin typeface="Calibri"/>
                        </a:rPr>
                        <a:t>What “met” looks like</a:t>
                      </a:r>
                    </a:p>
                  </a:txBody>
                  <a:tcPr marL="91440" marR="91440" marT="45720" marB="45720" anchor="ctr">
                    <a:solidFill>
                      <a:srgbClr val="1D242C"/>
                    </a:solidFill>
                  </a:tcPr>
                </a:tc>
              </a:tr>
              <a:tr h="384048">
                <a:tc>
                  <a:txBody>
                    <a:bodyPr wrap="square"/>
                    <a:lstStyle/>
                    <a:p>
                      <a:pPr algn="l">
                        <a:lnSpc>
                          <a:spcPct val="105000"/>
                        </a:lnSpc>
                        <a:spcAft>
                          <a:spcPts val="0"/>
                        </a:spcAft>
                      </a:pPr>
                      <a:r>
                        <a:rPr sz="950" b="1" i="0">
                          <a:solidFill>
                            <a:srgbClr val="E8ECF2"/>
                          </a:solidFill>
                          <a:latin typeface="Calibri"/>
                        </a:rPr>
                        <a:t>MVP-01</a:t>
                      </a:r>
                    </a:p>
                  </a:txBody>
                  <a:tcPr marL="91440" marR="91440" marT="45720" marB="45720" anchor="ctr">
                    <a:solidFill>
                      <a:srgbClr val="161C23"/>
                    </a:solidFill>
                  </a:tcPr>
                </a:tc>
                <a:tc>
                  <a:txBody>
                    <a:bodyPr wrap="square"/>
                    <a:lstStyle/>
                    <a:p>
                      <a:pPr algn="l">
                        <a:lnSpc>
                          <a:spcPct val="105000"/>
                        </a:lnSpc>
                        <a:spcAft>
                          <a:spcPts val="0"/>
                        </a:spcAft>
                      </a:pPr>
                      <a:r>
                        <a:rPr sz="950" b="0" i="0">
                          <a:solidFill>
                            <a:srgbClr val="E8ECF2"/>
                          </a:solidFill>
                          <a:latin typeface="Calibri"/>
                        </a:rPr>
                        <a:t>Two separate LiteLLM instances consume the same policy.</a:t>
                      </a:r>
                    </a:p>
                  </a:txBody>
                  <a:tcPr marL="91440" marR="91440" marT="45720" marB="45720" anchor="ctr">
                    <a:solidFill>
                      <a:srgbClr val="161C23"/>
                    </a:solidFill>
                  </a:tcPr>
                </a:tc>
                <a:tc>
                  <a:txBody>
                    <a:bodyPr wrap="square"/>
                    <a:lstStyle/>
                    <a:p>
                      <a:pPr algn="l">
                        <a:lnSpc>
                          <a:spcPct val="105000"/>
                        </a:lnSpc>
                        <a:spcAft>
                          <a:spcPts val="0"/>
                        </a:spcAft>
                      </a:pPr>
                      <a:r>
                        <a:rPr sz="950" b="0" i="0">
                          <a:solidFill>
                            <a:srgbClr val="E8ECF2"/>
                          </a:solidFill>
                          <a:latin typeface="Calibri"/>
                        </a:rPr>
                        <a:t>Both independently deployed, both bound to identical policy name and version, both verified to resolve the same policy content.</a:t>
                      </a:r>
                    </a:p>
                  </a:txBody>
                  <a:tcPr marL="91440" marR="91440" marT="45720" marB="45720" anchor="ctr">
                    <a:solidFill>
                      <a:srgbClr val="161C23"/>
                    </a:solidFill>
                  </a:tcPr>
                </a:tc>
              </a:tr>
              <a:tr h="384048">
                <a:tc>
                  <a:txBody>
                    <a:bodyPr wrap="square"/>
                    <a:lstStyle/>
                    <a:p>
                      <a:pPr algn="l">
                        <a:lnSpc>
                          <a:spcPct val="105000"/>
                        </a:lnSpc>
                        <a:spcAft>
                          <a:spcPts val="0"/>
                        </a:spcAft>
                      </a:pPr>
                      <a:r>
                        <a:rPr sz="950" b="1" i="0">
                          <a:solidFill>
                            <a:srgbClr val="E8ECF2"/>
                          </a:solidFill>
                          <a:latin typeface="Calibri"/>
                        </a:rPr>
                        <a:t>MVP-02</a:t>
                      </a:r>
                    </a:p>
                  </a:txBody>
                  <a:tcPr marL="91440" marR="91440" marT="45720" marB="45720" anchor="ctr">
                    <a:solidFill>
                      <a:srgbClr val="12161B"/>
                    </a:solidFill>
                  </a:tcPr>
                </a:tc>
                <a:tc>
                  <a:txBody>
                    <a:bodyPr wrap="square"/>
                    <a:lstStyle/>
                    <a:p>
                      <a:pPr algn="l">
                        <a:lnSpc>
                          <a:spcPct val="105000"/>
                        </a:lnSpc>
                        <a:spcAft>
                          <a:spcPts val="0"/>
                        </a:spcAft>
                      </a:pPr>
                      <a:r>
                        <a:rPr sz="950" b="0" i="0">
                          <a:solidFill>
                            <a:srgbClr val="E8ECF2"/>
                          </a:solidFill>
                          <a:latin typeface="Calibri"/>
                        </a:rPr>
                        <a:t>Neither instance shares model-provider credentials with the platform.</a:t>
                      </a:r>
                    </a:p>
                  </a:txBody>
                  <a:tcPr marL="91440" marR="91440" marT="45720" marB="45720" anchor="ctr">
                    <a:solidFill>
                      <a:srgbClr val="12161B"/>
                    </a:solidFill>
                  </a:tcPr>
                </a:tc>
                <a:tc>
                  <a:txBody>
                    <a:bodyPr wrap="square"/>
                    <a:lstStyle/>
                    <a:p>
                      <a:pPr algn="l">
                        <a:lnSpc>
                          <a:spcPct val="105000"/>
                        </a:lnSpc>
                        <a:spcAft>
                          <a:spcPts val="0"/>
                        </a:spcAft>
                      </a:pPr>
                      <a:r>
                        <a:rPr sz="950" b="0" i="0">
                          <a:solidFill>
                            <a:srgbClr val="E8ECF2"/>
                          </a:solidFill>
                          <a:latin typeface="Calibri"/>
                        </a:rPr>
                        <a:t>An audit of the platform's stored secrets shows no model-provider keys for either workload.</a:t>
                      </a:r>
                    </a:p>
                  </a:txBody>
                  <a:tcPr marL="91440" marR="91440" marT="45720" marB="45720" anchor="ctr">
                    <a:solidFill>
                      <a:srgbClr val="12161B"/>
                    </a:solidFill>
                  </a:tcPr>
                </a:tc>
              </a:tr>
              <a:tr h="475488">
                <a:tc>
                  <a:txBody>
                    <a:bodyPr wrap="square"/>
                    <a:lstStyle/>
                    <a:p>
                      <a:pPr algn="l">
                        <a:lnSpc>
                          <a:spcPct val="105000"/>
                        </a:lnSpc>
                        <a:spcAft>
                          <a:spcPts val="0"/>
                        </a:spcAft>
                      </a:pPr>
                      <a:r>
                        <a:rPr sz="950" b="1" i="0">
                          <a:solidFill>
                            <a:srgbClr val="E8ECF2"/>
                          </a:solidFill>
                          <a:latin typeface="Calibri"/>
                        </a:rPr>
                        <a:t>MVP-03</a:t>
                      </a:r>
                    </a:p>
                  </a:txBody>
                  <a:tcPr marL="91440" marR="91440" marT="45720" marB="45720" anchor="ctr">
                    <a:solidFill>
                      <a:srgbClr val="161C23"/>
                    </a:solidFill>
                  </a:tcPr>
                </a:tc>
                <a:tc>
                  <a:txBody>
                    <a:bodyPr wrap="square"/>
                    <a:lstStyle/>
                    <a:p>
                      <a:pPr algn="l">
                        <a:lnSpc>
                          <a:spcPct val="105000"/>
                        </a:lnSpc>
                        <a:spcAft>
                          <a:spcPts val="0"/>
                        </a:spcAft>
                      </a:pPr>
                      <a:r>
                        <a:rPr sz="950" b="0" i="0">
                          <a:solidFill>
                            <a:srgbClr val="E8ECF2"/>
                          </a:solidFill>
                          <a:latin typeface="Calibri"/>
                        </a:rPr>
                        <a:t>Both receive consistent normalized decisions.</a:t>
                      </a:r>
                    </a:p>
                  </a:txBody>
                  <a:tcPr marL="91440" marR="91440" marT="45720" marB="45720" anchor="ctr">
                    <a:solidFill>
                      <a:srgbClr val="161C23"/>
                    </a:solidFill>
                  </a:tcPr>
                </a:tc>
                <a:tc>
                  <a:txBody>
                    <a:bodyPr wrap="square"/>
                    <a:lstStyle/>
                    <a:p>
                      <a:pPr algn="l">
                        <a:lnSpc>
                          <a:spcPct val="105000"/>
                        </a:lnSpc>
                        <a:spcAft>
                          <a:spcPts val="0"/>
                        </a:spcAft>
                      </a:pPr>
                      <a:r>
                        <a:rPr sz="950" b="0" i="0">
                          <a:solidFill>
                            <a:srgbClr val="E8ECF2"/>
                          </a:solidFill>
                          <a:latin typeface="Calibri"/>
                        </a:rPr>
                        <a:t>Equivalent content returns the same decision schema: action, allowed status, reason codes, policy name and version, evaluator metadata, correlation id.</a:t>
                      </a:r>
                    </a:p>
                  </a:txBody>
                  <a:tcPr marL="91440" marR="91440" marT="45720" marB="45720" anchor="ctr">
                    <a:solidFill>
                      <a:srgbClr val="161C23"/>
                    </a:solidFill>
                  </a:tcPr>
                </a:tc>
              </a:tr>
              <a:tr h="384048">
                <a:tc>
                  <a:txBody>
                    <a:bodyPr wrap="square"/>
                    <a:lstStyle/>
                    <a:p>
                      <a:pPr algn="l">
                        <a:lnSpc>
                          <a:spcPct val="105000"/>
                        </a:lnSpc>
                        <a:spcAft>
                          <a:spcPts val="0"/>
                        </a:spcAft>
                      </a:pPr>
                      <a:r>
                        <a:rPr sz="950" b="1" i="0">
                          <a:solidFill>
                            <a:srgbClr val="E8ECF2"/>
                          </a:solidFill>
                          <a:latin typeface="Calibri"/>
                        </a:rPr>
                        <a:t>MVP-04</a:t>
                      </a:r>
                    </a:p>
                  </a:txBody>
                  <a:tcPr marL="91440" marR="91440" marT="45720" marB="45720" anchor="ctr">
                    <a:solidFill>
                      <a:srgbClr val="12161B"/>
                    </a:solidFill>
                  </a:tcPr>
                </a:tc>
                <a:tc>
                  <a:txBody>
                    <a:bodyPr wrap="square"/>
                    <a:lstStyle/>
                    <a:p>
                      <a:pPr algn="l">
                        <a:lnSpc>
                          <a:spcPct val="105000"/>
                        </a:lnSpc>
                        <a:spcAft>
                          <a:spcPts val="0"/>
                        </a:spcAft>
                      </a:pPr>
                      <a:r>
                        <a:rPr sz="950" b="0" i="0">
                          <a:solidFill>
                            <a:srgbClr val="E8ECF2"/>
                          </a:solidFill>
                          <a:latin typeface="Calibri"/>
                        </a:rPr>
                        <a:t>One workload can run in observe mode.</a:t>
                      </a:r>
                    </a:p>
                  </a:txBody>
                  <a:tcPr marL="91440" marR="91440" marT="45720" marB="45720" anchor="ctr">
                    <a:solidFill>
                      <a:srgbClr val="12161B"/>
                    </a:solidFill>
                  </a:tcPr>
                </a:tc>
                <a:tc>
                  <a:txBody>
                    <a:bodyPr wrap="square"/>
                    <a:lstStyle/>
                    <a:p>
                      <a:pPr algn="l">
                        <a:lnSpc>
                          <a:spcPct val="105000"/>
                        </a:lnSpc>
                        <a:spcAft>
                          <a:spcPts val="0"/>
                        </a:spcAft>
                      </a:pPr>
                      <a:r>
                        <a:rPr sz="950" b="0" i="0">
                          <a:solidFill>
                            <a:srgbClr val="E8ECF2"/>
                          </a:solidFill>
                          <a:latin typeface="Calibri"/>
                        </a:rPr>
                        <a:t>Workload A's binding is set to observe; evaluations execute and produce decisions, with no enforcement applied to the request path.</a:t>
                      </a:r>
                    </a:p>
                  </a:txBody>
                  <a:tcPr marL="91440" marR="91440" marT="45720" marB="45720" anchor="ctr">
                    <a:solidFill>
                      <a:srgbClr val="12161B"/>
                    </a:solidFill>
                  </a:tcPr>
                </a:tc>
              </a:tr>
              <a:tr h="384048">
                <a:tc>
                  <a:txBody>
                    <a:bodyPr wrap="square"/>
                    <a:lstStyle/>
                    <a:p>
                      <a:pPr algn="l">
                        <a:lnSpc>
                          <a:spcPct val="105000"/>
                        </a:lnSpc>
                        <a:spcAft>
                          <a:spcPts val="0"/>
                        </a:spcAft>
                      </a:pPr>
                      <a:r>
                        <a:rPr sz="950" b="1" i="0">
                          <a:solidFill>
                            <a:srgbClr val="E8ECF2"/>
                          </a:solidFill>
                          <a:latin typeface="Calibri"/>
                        </a:rPr>
                        <a:t>MVP-05</a:t>
                      </a:r>
                    </a:p>
                  </a:txBody>
                  <a:tcPr marL="91440" marR="91440" marT="45720" marB="45720" anchor="ctr">
                    <a:solidFill>
                      <a:srgbClr val="161C23"/>
                    </a:solidFill>
                  </a:tcPr>
                </a:tc>
                <a:tc>
                  <a:txBody>
                    <a:bodyPr wrap="square"/>
                    <a:lstStyle/>
                    <a:p>
                      <a:pPr algn="l">
                        <a:lnSpc>
                          <a:spcPct val="105000"/>
                        </a:lnSpc>
                        <a:spcAft>
                          <a:spcPts val="0"/>
                        </a:spcAft>
                      </a:pPr>
                      <a:r>
                        <a:rPr sz="950" b="0" i="0">
                          <a:solidFill>
                            <a:srgbClr val="E8ECF2"/>
                          </a:solidFill>
                          <a:latin typeface="Calibri"/>
                        </a:rPr>
                        <a:t>Another workload can run in enforce mode.</a:t>
                      </a:r>
                    </a:p>
                  </a:txBody>
                  <a:tcPr marL="91440" marR="91440" marT="45720" marB="45720" anchor="ctr">
                    <a:solidFill>
                      <a:srgbClr val="161C23"/>
                    </a:solidFill>
                  </a:tcPr>
                </a:tc>
                <a:tc>
                  <a:txBody>
                    <a:bodyPr wrap="square"/>
                    <a:lstStyle/>
                    <a:p>
                      <a:pPr algn="l">
                        <a:lnSpc>
                          <a:spcPct val="105000"/>
                        </a:lnSpc>
                        <a:spcAft>
                          <a:spcPts val="0"/>
                        </a:spcAft>
                      </a:pPr>
                      <a:r>
                        <a:rPr sz="950" b="0" i="0">
                          <a:solidFill>
                            <a:srgbClr val="E8ECF2"/>
                          </a:solidFill>
                          <a:latin typeface="Calibri"/>
                        </a:rPr>
                        <a:t>Workload B's binding is set to enforce or stricter; a violation triggers the corresponding action on the request path.</a:t>
                      </a:r>
                    </a:p>
                  </a:txBody>
                  <a:tcPr marL="91440" marR="91440" marT="45720" marB="45720" anchor="ctr">
                    <a:solidFill>
                      <a:srgbClr val="161C23"/>
                    </a:solidFill>
                  </a:tcPr>
                </a:tc>
              </a:tr>
              <a:tr h="475488">
                <a:tc>
                  <a:txBody>
                    <a:bodyPr wrap="square"/>
                    <a:lstStyle/>
                    <a:p>
                      <a:pPr algn="l">
                        <a:lnSpc>
                          <a:spcPct val="105000"/>
                        </a:lnSpc>
                        <a:spcAft>
                          <a:spcPts val="0"/>
                        </a:spcAft>
                      </a:pPr>
                      <a:r>
                        <a:rPr sz="950" b="1" i="0">
                          <a:solidFill>
                            <a:srgbClr val="E8ECF2"/>
                          </a:solidFill>
                          <a:latin typeface="Calibri"/>
                        </a:rPr>
                        <a:t>MVP-06</a:t>
                      </a:r>
                    </a:p>
                  </a:txBody>
                  <a:tcPr marL="91440" marR="91440" marT="45720" marB="45720" anchor="ctr">
                    <a:solidFill>
                      <a:srgbClr val="12161B"/>
                    </a:solidFill>
                  </a:tcPr>
                </a:tc>
                <a:tc>
                  <a:txBody>
                    <a:bodyPr wrap="square"/>
                    <a:lstStyle/>
                    <a:p>
                      <a:pPr algn="l">
                        <a:lnSpc>
                          <a:spcPct val="105000"/>
                        </a:lnSpc>
                        <a:spcAft>
                          <a:spcPts val="0"/>
                        </a:spcAft>
                      </a:pPr>
                      <a:r>
                        <a:rPr sz="950" b="0" i="0">
                          <a:solidFill>
                            <a:srgbClr val="E8ECF2"/>
                          </a:solidFill>
                          <a:latin typeface="Calibri"/>
                        </a:rPr>
                        <a:t>A policy can be upgraded and rolled back.</a:t>
                      </a:r>
                    </a:p>
                  </a:txBody>
                  <a:tcPr marL="91440" marR="91440" marT="45720" marB="45720" anchor="ctr">
                    <a:solidFill>
                      <a:srgbClr val="12161B"/>
                    </a:solidFill>
                  </a:tcPr>
                </a:tc>
                <a:tc>
                  <a:txBody>
                    <a:bodyPr wrap="square"/>
                    <a:lstStyle/>
                    <a:p>
                      <a:pPr algn="l">
                        <a:lnSpc>
                          <a:spcPct val="105000"/>
                        </a:lnSpc>
                        <a:spcAft>
                          <a:spcPts val="0"/>
                        </a:spcAft>
                      </a:pPr>
                      <a:r>
                        <a:rPr sz="950" b="0" i="0">
                          <a:solidFill>
                            <a:srgbClr val="E8ECF2"/>
                          </a:solidFill>
                          <a:latin typeface="Calibri"/>
                        </a:rPr>
                        <a:t>A new immutable version is published and bound, produces different documented behaviour, then is reverted with prior behaviour restored — both transitions captured in audit metadata.</a:t>
                      </a:r>
                    </a:p>
                  </a:txBody>
                  <a:tcPr marL="91440" marR="91440" marT="45720" marB="45720" anchor="ctr">
                    <a:solidFill>
                      <a:srgbClr val="12161B"/>
                    </a:solidFill>
                  </a:tcPr>
                </a:tc>
              </a:tr>
              <a:tr h="475488">
                <a:tc>
                  <a:txBody>
                    <a:bodyPr wrap="square"/>
                    <a:lstStyle/>
                    <a:p>
                      <a:pPr algn="l">
                        <a:lnSpc>
                          <a:spcPct val="105000"/>
                        </a:lnSpc>
                        <a:spcAft>
                          <a:spcPts val="0"/>
                        </a:spcAft>
                      </a:pPr>
                      <a:r>
                        <a:rPr sz="950" b="1" i="0">
                          <a:solidFill>
                            <a:srgbClr val="E8ECF2"/>
                          </a:solidFill>
                          <a:latin typeface="Calibri"/>
                        </a:rPr>
                        <a:t>MVP-07</a:t>
                      </a:r>
                    </a:p>
                  </a:txBody>
                  <a:tcPr marL="91440" marR="91440" marT="45720" marB="45720" anchor="ctr">
                    <a:solidFill>
                      <a:srgbClr val="161C23"/>
                    </a:solidFill>
                  </a:tcPr>
                </a:tc>
                <a:tc>
                  <a:txBody>
                    <a:bodyPr wrap="square"/>
                    <a:lstStyle/>
                    <a:p>
                      <a:pPr algn="l">
                        <a:lnSpc>
                          <a:spcPct val="105000"/>
                        </a:lnSpc>
                        <a:spcAft>
                          <a:spcPts val="0"/>
                        </a:spcAft>
                      </a:pPr>
                      <a:r>
                        <a:rPr sz="950" b="0" i="0">
                          <a:solidFill>
                            <a:srgbClr val="E8ECF2"/>
                          </a:solidFill>
                          <a:latin typeface="Calibri"/>
                        </a:rPr>
                        <a:t>Raw-content persistence can be disabled.</a:t>
                      </a:r>
                    </a:p>
                  </a:txBody>
                  <a:tcPr marL="91440" marR="91440" marT="45720" marB="45720" anchor="ctr">
                    <a:solidFill>
                      <a:srgbClr val="161C23"/>
                    </a:solidFill>
                  </a:tcPr>
                </a:tc>
                <a:tc>
                  <a:txBody>
                    <a:bodyPr wrap="square"/>
                    <a:lstStyle/>
                    <a:p>
                      <a:pPr algn="l">
                        <a:lnSpc>
                          <a:spcPct val="105000"/>
                        </a:lnSpc>
                        <a:spcAft>
                          <a:spcPts val="0"/>
                        </a:spcAft>
                      </a:pPr>
                      <a:r>
                        <a:rPr sz="950" b="0" i="0">
                          <a:solidFill>
                            <a:srgbClr val="E8ECF2"/>
                          </a:solidFill>
                          <a:latin typeface="Calibri"/>
                        </a:rPr>
                        <a:t>With retention configured off, evaluated prompts and responses appear in no runtime store, cache, or log after evaluation; decision metadata still persists.</a:t>
                      </a:r>
                    </a:p>
                  </a:txBody>
                  <a:tcPr marL="91440" marR="91440" marT="45720" marB="45720" anchor="ctr">
                    <a:solidFill>
                      <a:srgbClr val="161C23"/>
                    </a:solidFill>
                  </a:tcPr>
                </a:tc>
              </a:tr>
              <a:tr h="420624">
                <a:tc>
                  <a:txBody>
                    <a:bodyPr wrap="square"/>
                    <a:lstStyle/>
                    <a:p>
                      <a:pPr algn="l">
                        <a:lnSpc>
                          <a:spcPct val="105000"/>
                        </a:lnSpc>
                        <a:spcAft>
                          <a:spcPts val="0"/>
                        </a:spcAft>
                      </a:pPr>
                      <a:r>
                        <a:rPr sz="950" b="1" i="0">
                          <a:solidFill>
                            <a:srgbClr val="E8ECF2"/>
                          </a:solidFill>
                          <a:latin typeface="Calibri"/>
                        </a:rPr>
                        <a:t>MVP-08</a:t>
                      </a:r>
                    </a:p>
                  </a:txBody>
                  <a:tcPr marL="91440" marR="91440" marT="45720" marB="45720" anchor="ctr">
                    <a:solidFill>
                      <a:srgbClr val="12161B"/>
                    </a:solidFill>
                  </a:tcPr>
                </a:tc>
                <a:tc>
                  <a:txBody>
                    <a:bodyPr wrap="square"/>
                    <a:lstStyle/>
                    <a:p>
                      <a:pPr algn="l">
                        <a:lnSpc>
                          <a:spcPct val="105000"/>
                        </a:lnSpc>
                        <a:spcAft>
                          <a:spcPts val="0"/>
                        </a:spcAft>
                      </a:pPr>
                      <a:r>
                        <a:rPr sz="950" b="0" i="0">
                          <a:solidFill>
                            <a:srgbClr val="E8ECF2"/>
                          </a:solidFill>
                          <a:latin typeface="Calibri"/>
                        </a:rPr>
                        <a:t>Evaluation failures follow a configured failure policy.</a:t>
                      </a:r>
                    </a:p>
                  </a:txBody>
                  <a:tcPr marL="91440" marR="91440" marT="45720" marB="45720" anchor="ctr">
                    <a:solidFill>
                      <a:srgbClr val="12161B"/>
                    </a:solidFill>
                  </a:tcPr>
                </a:tc>
                <a:tc>
                  <a:txBody>
                    <a:bodyPr wrap="square"/>
                    <a:lstStyle/>
                    <a:p>
                      <a:pPr algn="l">
                        <a:lnSpc>
                          <a:spcPct val="105000"/>
                        </a:lnSpc>
                        <a:spcAft>
                          <a:spcPts val="0"/>
                        </a:spcAft>
                      </a:pPr>
                      <a:r>
                        <a:rPr sz="950" b="0" i="0">
                          <a:solidFill>
                            <a:srgbClr val="E8ECF2"/>
                          </a:solidFill>
                          <a:latin typeface="Calibri"/>
                        </a:rPr>
                        <a:t>With a detector or the Evaluation API forced to fail, the workload's configured behaviour executes exactly as configured and the path is captured in audit.</a:t>
                      </a:r>
                    </a:p>
                  </a:txBody>
                  <a:tcPr marL="91440" marR="91440" marT="45720" marB="45720" anchor="ctr">
                    <a:solidFill>
                      <a:srgbClr val="12161B"/>
                    </a:solidFill>
                  </a:tcPr>
                </a:tc>
              </a:tr>
              <a:tr h="475488">
                <a:tc>
                  <a:txBody>
                    <a:bodyPr wrap="square"/>
                    <a:lstStyle/>
                    <a:p>
                      <a:pPr algn="l">
                        <a:lnSpc>
                          <a:spcPct val="105000"/>
                        </a:lnSpc>
                        <a:spcAft>
                          <a:spcPts val="0"/>
                        </a:spcAft>
                      </a:pPr>
                      <a:r>
                        <a:rPr sz="950" b="1" i="0">
                          <a:solidFill>
                            <a:srgbClr val="E8ECF2"/>
                          </a:solidFill>
                          <a:latin typeface="Calibri"/>
                        </a:rPr>
                        <a:t>MVP-09</a:t>
                      </a:r>
                    </a:p>
                  </a:txBody>
                  <a:tcPr marL="91440" marR="91440" marT="45720" marB="45720" anchor="ctr">
                    <a:solidFill>
                      <a:srgbClr val="161C23"/>
                    </a:solidFill>
                  </a:tcPr>
                </a:tc>
                <a:tc>
                  <a:txBody>
                    <a:bodyPr wrap="square"/>
                    <a:lstStyle/>
                    <a:p>
                      <a:pPr algn="l">
                        <a:lnSpc>
                          <a:spcPct val="105000"/>
                        </a:lnSpc>
                        <a:spcAft>
                          <a:spcPts val="0"/>
                        </a:spcAft>
                      </a:pPr>
                      <a:r>
                        <a:rPr sz="950" b="0" i="0">
                          <a:solidFill>
                            <a:srgbClr val="E8ECF2"/>
                          </a:solidFill>
                          <a:latin typeface="Calibri"/>
                        </a:rPr>
                        <a:t>The runtime packages for customer-managed deployment without changing the connector contract.</a:t>
                      </a:r>
                    </a:p>
                  </a:txBody>
                  <a:tcPr marL="91440" marR="91440" marT="45720" marB="45720" anchor="ctr">
                    <a:solidFill>
                      <a:srgbClr val="161C23"/>
                    </a:solidFill>
                  </a:tcPr>
                </a:tc>
                <a:tc>
                  <a:txBody>
                    <a:bodyPr wrap="square"/>
                    <a:lstStyle/>
                    <a:p>
                      <a:pPr algn="l">
                        <a:lnSpc>
                          <a:spcPct val="105000"/>
                        </a:lnSpc>
                        <a:spcAft>
                          <a:spcPts val="0"/>
                        </a:spcAft>
                      </a:pPr>
                      <a:r>
                        <a:rPr sz="950" b="0" i="0">
                          <a:solidFill>
                            <a:srgbClr val="E8ECF2"/>
                          </a:solidFill>
                          <a:latin typeface="Calibri"/>
                        </a:rPr>
                        <a:t>The runtime builds and validates as a deployable artifact while the connector's invocation contract stays unchanged. Validates packaging feasibility only — Mode C itself is Phase 4.</a:t>
                      </a:r>
                    </a:p>
                  </a:txBody>
                  <a:tcPr marL="91440" marR="91440" marT="45720" marB="45720" anchor="ctr">
                    <a:solidFill>
                      <a:srgbClr val="161C23"/>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Appendix — Objection handling</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Pull only the pair that matches the objection raised.</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Source: FAQ.md · AGR-009, AGR-010, AGR-012, AGR-014, AGR-018</a:t>
            </a:r>
          </a:p>
        </p:txBody>
      </p:sp>
      <p:graphicFrame>
        <p:nvGraphicFramePr>
          <p:cNvPr id="6" name="Table 5"/>
          <p:cNvGraphicFramePr>
            <a:graphicFrameLocks noGrp="1"/>
          </p:cNvGraphicFramePr>
          <p:nvPr/>
        </p:nvGraphicFramePr>
        <p:xfrm>
          <a:off x="685800" y="1828800"/>
          <a:ext cx="10820094" cy="4133088"/>
        </p:xfrm>
        <a:graphic>
          <a:graphicData uri="http://schemas.openxmlformats.org/drawingml/2006/table">
            <a:tbl>
              <a:tblPr firstRow="1">
                <a:tableStyleId>{5C22544A-7EE6-4342-B048-85BDC9FD1C3A}</a:tableStyleId>
              </a:tblPr>
              <a:tblGrid>
                <a:gridCol w="3029626"/>
                <a:gridCol w="7790468"/>
              </a:tblGrid>
              <a:tr h="310896">
                <a:tc>
                  <a:txBody>
                    <a:bodyPr wrap="square"/>
                    <a:lstStyle/>
                    <a:p>
                      <a:pPr algn="l">
                        <a:lnSpc>
                          <a:spcPct val="105000"/>
                        </a:lnSpc>
                        <a:spcAft>
                          <a:spcPts val="0"/>
                        </a:spcAft>
                      </a:pPr>
                      <a:r>
                        <a:rPr sz="1100" b="1" i="0">
                          <a:solidFill>
                            <a:srgbClr val="5AA0E0"/>
                          </a:solidFill>
                          <a:latin typeface="Calibri"/>
                        </a:rPr>
                        <a:t>Question</a:t>
                      </a:r>
                    </a:p>
                  </a:txBody>
                  <a:tcPr marL="91440" marR="91440" marT="45720" marB="45720" anchor="ctr">
                    <a:solidFill>
                      <a:srgbClr val="1D242C"/>
                    </a:solidFill>
                  </a:tcPr>
                </a:tc>
                <a:tc>
                  <a:txBody>
                    <a:bodyPr wrap="square"/>
                    <a:lstStyle/>
                    <a:p>
                      <a:pPr algn="l">
                        <a:lnSpc>
                          <a:spcPct val="105000"/>
                        </a:lnSpc>
                        <a:spcAft>
                          <a:spcPts val="0"/>
                        </a:spcAft>
                      </a:pPr>
                      <a:r>
                        <a:rPr sz="1100" b="1" i="0">
                          <a:solidFill>
                            <a:srgbClr val="5AA0E0"/>
                          </a:solidFill>
                          <a:latin typeface="Calibri"/>
                        </a:rPr>
                        <a:t>Answer</a:t>
                      </a:r>
                    </a:p>
                  </a:txBody>
                  <a:tcPr marL="91440" marR="91440" marT="45720" marB="45720" anchor="ctr">
                    <a:solidFill>
                      <a:srgbClr val="1D242C"/>
                    </a:solidFill>
                  </a:tcPr>
                </a:tc>
              </a:tr>
              <a:tr h="585216">
                <a:tc>
                  <a:txBody>
                    <a:bodyPr wrap="square"/>
                    <a:lstStyle/>
                    <a:p>
                      <a:pPr algn="l">
                        <a:lnSpc>
                          <a:spcPct val="105000"/>
                        </a:lnSpc>
                        <a:spcAft>
                          <a:spcPts val="0"/>
                        </a:spcAft>
                      </a:pPr>
                      <a:r>
                        <a:rPr sz="1100" b="1" i="0">
                          <a:solidFill>
                            <a:srgbClr val="E8ECF2"/>
                          </a:solidFill>
                          <a:latin typeface="Calibri"/>
                        </a:rPr>
                        <a:t>Is Remote Evaluation data-local?</a:t>
                      </a:r>
                    </a:p>
                  </a:txBody>
                  <a:tcPr marL="91440" marR="91440" marT="45720" marB="45720" anchor="ctr">
                    <a:solidFill>
                      <a:srgbClr val="161C23"/>
                    </a:solidFill>
                  </a:tcPr>
                </a:tc>
                <a:tc>
                  <a:txBody>
                    <a:bodyPr wrap="square"/>
                    <a:lstStyle/>
                    <a:p>
                      <a:pPr algn="l">
                        <a:lnSpc>
                          <a:spcPct val="105000"/>
                        </a:lnSpc>
                        <a:spcAft>
                          <a:spcPts val="0"/>
                        </a:spcAft>
                      </a:pPr>
                      <a:r>
                        <a:rPr sz="1100" b="0" i="0">
                          <a:solidFill>
                            <a:srgbClr val="E8ECF2"/>
                          </a:solidFill>
                          <a:latin typeface="Calibri"/>
                        </a:rPr>
                        <a:t>No. In Mode A, prompts, responses, and any evaluated content are transmitted to the hosted Evaluation API. Workloads with residency requirements belong in Customer-Managed Runtime (AGR-009).</a:t>
                      </a:r>
                    </a:p>
                  </a:txBody>
                  <a:tcPr marL="91440" marR="91440" marT="45720" marB="45720" anchor="ctr">
                    <a:solidFill>
                      <a:srgbClr val="161C23"/>
                    </a:solidFill>
                  </a:tcPr>
                </a:tc>
              </a:tr>
              <a:tr h="585216">
                <a:tc>
                  <a:txBody>
                    <a:bodyPr wrap="square"/>
                    <a:lstStyle/>
                    <a:p>
                      <a:pPr algn="l">
                        <a:lnSpc>
                          <a:spcPct val="105000"/>
                        </a:lnSpc>
                        <a:spcAft>
                          <a:spcPts val="0"/>
                        </a:spcAft>
                      </a:pPr>
                      <a:r>
                        <a:rPr sz="1100" b="1" i="0">
                          <a:solidFill>
                            <a:srgbClr val="E8ECF2"/>
                          </a:solidFill>
                          <a:latin typeface="Calibri"/>
                        </a:rPr>
                        <a:t>Does my prompt data get stored?</a:t>
                      </a:r>
                    </a:p>
                  </a:txBody>
                  <a:tcPr marL="91440" marR="91440" marT="45720" marB="45720" anchor="ctr">
                    <a:solidFill>
                      <a:srgbClr val="12161B"/>
                    </a:solidFill>
                  </a:tcPr>
                </a:tc>
                <a:tc>
                  <a:txBody>
                    <a:bodyPr wrap="square"/>
                    <a:lstStyle/>
                    <a:p>
                      <a:pPr algn="l">
                        <a:lnSpc>
                          <a:spcPct val="105000"/>
                        </a:lnSpc>
                        <a:spcAft>
                          <a:spcPts val="0"/>
                        </a:spcAft>
                      </a:pPr>
                      <a:r>
                        <a:rPr sz="1100" b="0" i="0">
                          <a:solidFill>
                            <a:srgbClr val="E8ECF2"/>
                          </a:solidFill>
                          <a:latin typeface="Calibri"/>
                        </a:rPr>
                        <a:t>Not by default. The hosted runtime persists decision metadata, not raw prompts and responses; identifiers are hashed where possible. Retention requires explicit tenant-level configuration (AGR-014).</a:t>
                      </a:r>
                    </a:p>
                  </a:txBody>
                  <a:tcPr marL="91440" marR="91440" marT="45720" marB="45720" anchor="ctr">
                    <a:solidFill>
                      <a:srgbClr val="12161B"/>
                    </a:solidFill>
                  </a:tcPr>
                </a:tc>
              </a:tr>
              <a:tr h="640080">
                <a:tc>
                  <a:txBody>
                    <a:bodyPr wrap="square"/>
                    <a:lstStyle/>
                    <a:p>
                      <a:pPr algn="l">
                        <a:lnSpc>
                          <a:spcPct val="105000"/>
                        </a:lnSpc>
                        <a:spcAft>
                          <a:spcPts val="0"/>
                        </a:spcAft>
                      </a:pPr>
                      <a:r>
                        <a:rPr sz="1100" b="1" i="0">
                          <a:solidFill>
                            <a:srgbClr val="E8ECF2"/>
                          </a:solidFill>
                          <a:latin typeface="Calibri"/>
                        </a:rPr>
                        <a:t>Is the connector a hard security boundary?</a:t>
                      </a:r>
                    </a:p>
                  </a:txBody>
                  <a:tcPr marL="91440" marR="91440" marT="45720" marB="45720" anchor="ctr">
                    <a:solidFill>
                      <a:srgbClr val="161C23"/>
                    </a:solidFill>
                  </a:tcPr>
                </a:tc>
                <a:tc>
                  <a:txBody>
                    <a:bodyPr wrap="square"/>
                    <a:lstStyle/>
                    <a:p>
                      <a:pPr algn="l">
                        <a:lnSpc>
                          <a:spcPct val="105000"/>
                        </a:lnSpc>
                        <a:spcAft>
                          <a:spcPts val="0"/>
                        </a:spcAft>
                      </a:pPr>
                      <a:r>
                        <a:rPr sz="1100" b="0" i="0">
                          <a:solidFill>
                            <a:srgbClr val="E8ECF2"/>
                          </a:solidFill>
                          <a:latin typeface="Calibri"/>
                        </a:rPr>
                        <a:t>Not under cooperative integration — a team that installs its own connector can disable, remove, or misconfigure it. Platform-managed and network/IAM-enforced postures exist for workloads that need bypass resistance (AGR-018).</a:t>
                      </a:r>
                    </a:p>
                  </a:txBody>
                  <a:tcPr marL="91440" marR="91440" marT="45720" marB="45720" anchor="ctr">
                    <a:solidFill>
                      <a:srgbClr val="161C23"/>
                    </a:solidFill>
                  </a:tcPr>
                </a:tc>
              </a:tr>
              <a:tr h="585216">
                <a:tc>
                  <a:txBody>
                    <a:bodyPr wrap="square"/>
                    <a:lstStyle/>
                    <a:p>
                      <a:pPr algn="l">
                        <a:lnSpc>
                          <a:spcPct val="105000"/>
                        </a:lnSpc>
                        <a:spcAft>
                          <a:spcPts val="0"/>
                        </a:spcAft>
                      </a:pPr>
                      <a:r>
                        <a:rPr sz="1100" b="1" i="0">
                          <a:solidFill>
                            <a:srgbClr val="E8ECF2"/>
                          </a:solidFill>
                          <a:latin typeface="Calibri"/>
                        </a:rPr>
                        <a:t>Does it do user authorization?</a:t>
                      </a:r>
                    </a:p>
                  </a:txBody>
                  <a:tcPr marL="91440" marR="91440" marT="45720" marB="45720" anchor="ctr">
                    <a:solidFill>
                      <a:srgbClr val="12161B"/>
                    </a:solidFill>
                  </a:tcPr>
                </a:tc>
                <a:tc>
                  <a:txBody>
                    <a:bodyPr wrap="square"/>
                    <a:lstStyle/>
                    <a:p>
                      <a:pPr algn="l">
                        <a:lnSpc>
                          <a:spcPct val="105000"/>
                        </a:lnSpc>
                        <a:spcAft>
                          <a:spcPts val="0"/>
                        </a:spcAft>
                      </a:pPr>
                      <a:r>
                        <a:rPr sz="1100" b="0" i="0">
                          <a:solidFill>
                            <a:srgbClr val="E8ECF2"/>
                          </a:solidFill>
                          <a:latin typeface="Calibri"/>
                        </a:rPr>
                        <a:t>No. A decision that content appears safe does not determine whether this user may perform this action. Authentication, business authorization, tenant isolation, and approval workflows stay with the application (AGR-010).</a:t>
                      </a:r>
                    </a:p>
                  </a:txBody>
                  <a:tcPr marL="91440" marR="91440" marT="45720" marB="45720" anchor="ctr">
                    <a:solidFill>
                      <a:srgbClr val="12161B"/>
                    </a:solidFill>
                  </a:tcPr>
                </a:tc>
              </a:tr>
              <a:tr h="640080">
                <a:tc>
                  <a:txBody>
                    <a:bodyPr wrap="square"/>
                    <a:lstStyle/>
                    <a:p>
                      <a:pPr algn="l">
                        <a:lnSpc>
                          <a:spcPct val="105000"/>
                        </a:lnSpc>
                        <a:spcAft>
                          <a:spcPts val="0"/>
                        </a:spcAft>
                      </a:pPr>
                      <a:r>
                        <a:rPr sz="1100" b="1" i="0">
                          <a:solidFill>
                            <a:srgbClr val="E8ECF2"/>
                          </a:solidFill>
                          <a:latin typeface="Calibri"/>
                        </a:rPr>
                        <a:t>What happens on evaluation timeout?</a:t>
                      </a:r>
                    </a:p>
                  </a:txBody>
                  <a:tcPr marL="91440" marR="91440" marT="45720" marB="45720" anchor="ctr">
                    <a:solidFill>
                      <a:srgbClr val="161C23"/>
                    </a:solidFill>
                  </a:tcPr>
                </a:tc>
                <a:tc>
                  <a:txBody>
                    <a:bodyPr wrap="square"/>
                    <a:lstStyle/>
                    <a:p>
                      <a:pPr algn="l">
                        <a:lnSpc>
                          <a:spcPct val="105000"/>
                        </a:lnSpc>
                        <a:spcAft>
                          <a:spcPts val="0"/>
                        </a:spcAft>
                      </a:pPr>
                      <a:r>
                        <a:rPr sz="1100" b="0" i="0">
                          <a:solidFill>
                            <a:srgbClr val="E8ECF2"/>
                          </a:solidFill>
                          <a:latin typeface="Calibri"/>
                        </a:rPr>
                        <a:t>Whatever the workload's policy configures. Failure behaviour — timeout, detector unavailability, unresolved policy, control-plane outage — is a mandatory part of every policy, and the path taken is captured in the audit record (AGR-012).</a:t>
                      </a:r>
                    </a:p>
                  </a:txBody>
                  <a:tcPr marL="91440" marR="91440" marT="45720" marB="45720" anchor="ctr">
                    <a:solidFill>
                      <a:srgbClr val="161C23"/>
                    </a:solidFill>
                  </a:tcPr>
                </a:tc>
              </a:tr>
              <a:tr h="786384">
                <a:tc>
                  <a:txBody>
                    <a:bodyPr wrap="square"/>
                    <a:lstStyle/>
                    <a:p>
                      <a:pPr algn="l">
                        <a:lnSpc>
                          <a:spcPct val="105000"/>
                        </a:lnSpc>
                        <a:spcAft>
                          <a:spcPts val="0"/>
                        </a:spcAft>
                      </a:pPr>
                      <a:r>
                        <a:rPr sz="1100" b="1" i="0">
                          <a:solidFill>
                            <a:srgbClr val="E8ECF2"/>
                          </a:solidFill>
                          <a:latin typeface="Calibri"/>
                        </a:rPr>
                        <a:t>Who sees our observe-mode findings?</a:t>
                      </a:r>
                    </a:p>
                  </a:txBody>
                  <a:tcPr marL="91440" marR="91440" marT="45720" marB="45720" anchor="ctr">
                    <a:solidFill>
                      <a:srgbClr val="12161B"/>
                    </a:solidFill>
                  </a:tcPr>
                </a:tc>
                <a:tc>
                  <a:txBody>
                    <a:bodyPr wrap="square"/>
                    <a:lstStyle/>
                    <a:p>
                      <a:pPr algn="l">
                        <a:lnSpc>
                          <a:spcPct val="105000"/>
                        </a:lnSpc>
                        <a:spcAft>
                          <a:spcPts val="0"/>
                        </a:spcAft>
                      </a:pPr>
                      <a:r>
                        <a:rPr sz="1100" b="0" i="0">
                          <a:solidFill>
                            <a:srgbClr val="E8ECF2"/>
                          </a:solidFill>
                          <a:latin typeface="Calibri"/>
                        </a:rPr>
                        <a:t>The consuming team owns the review and is accountable for it; the guardrail team and security and governance are consulted. Decision metadata is stored in the provider-operated audit archive, scoped per tenant. No routing of a per-workload findings report to anyone else is defined, and no review tooling is specified (TEAM-AND-OWNERSHIP.md §3.4).</a:t>
                      </a:r>
                    </a:p>
                  </a:txBody>
                  <a:tcPr marL="91440" marR="91440" marT="45720" marB="45720" anchor="ctr">
                    <a:solidFill>
                      <a:srgbClr val="12161B"/>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Appendix — Core domain model</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Six entities. Everything in the architecture is expressed in these terms.</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Source: AGR-017 · GLOSSARY.md · REQUIREMENTS.md (FR-001, FR-007, FR-008, FR-012–FR-016)</a:t>
            </a:r>
          </a:p>
        </p:txBody>
      </p:sp>
      <p:sp>
        <p:nvSpPr>
          <p:cNvPr id="6" name="Rounded Rectangle 5"/>
          <p:cNvSpPr/>
          <p:nvPr/>
        </p:nvSpPr>
        <p:spPr>
          <a:xfrm>
            <a:off x="685800" y="1874519"/>
            <a:ext cx="5318607" cy="114300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2039112"/>
            <a:ext cx="4806543" cy="914400"/>
          </a:xfrm>
          <a:prstGeom prst="rect">
            <a:avLst/>
          </a:prstGeom>
          <a:noFill/>
        </p:spPr>
        <p:txBody>
          <a:bodyPr wrap="square" lIns="0" rIns="0" tIns="0" bIns="0" anchor="t">
            <a:spAutoFit/>
          </a:bodyPr>
          <a:lstStyle/>
          <a:p>
            <a:pPr algn="l">
              <a:lnSpc>
                <a:spcPct val="115000"/>
              </a:lnSpc>
              <a:spcAft>
                <a:spcPts val="500"/>
              </a:spcAft>
            </a:pPr>
            <a:r>
              <a:rPr sz="1400" b="1" i="0">
                <a:solidFill>
                  <a:srgbClr val="5AA0E0"/>
                </a:solidFill>
                <a:latin typeface="Calibri"/>
              </a:rPr>
              <a:t>Tenant</a:t>
            </a:r>
          </a:p>
          <a:p>
            <a:pPr algn="l">
              <a:lnSpc>
                <a:spcPct val="120000"/>
              </a:lnSpc>
              <a:spcAft>
                <a:spcPts val="0"/>
              </a:spcAft>
            </a:pPr>
            <a:r>
              <a:rPr sz="1150" b="0" i="0">
                <a:solidFill>
                  <a:srgbClr val="98A4B3"/>
                </a:solidFill>
                <a:latin typeface="Calibri"/>
              </a:rPr>
              <a:t>An organization, business unit, or consuming team. Carries ownership, AWS account, data classification, allowed Regions, retention configuration, and deployment mode.</a:t>
            </a:r>
          </a:p>
        </p:txBody>
      </p:sp>
      <p:sp>
        <p:nvSpPr>
          <p:cNvPr id="8" name="Rounded Rectangle 7"/>
          <p:cNvSpPr/>
          <p:nvPr/>
        </p:nvSpPr>
        <p:spPr>
          <a:xfrm>
            <a:off x="6187287" y="1874519"/>
            <a:ext cx="5318607" cy="114300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3319" y="2039112"/>
            <a:ext cx="4806543" cy="914400"/>
          </a:xfrm>
          <a:prstGeom prst="rect">
            <a:avLst/>
          </a:prstGeom>
          <a:noFill/>
        </p:spPr>
        <p:txBody>
          <a:bodyPr wrap="square" lIns="0" rIns="0" tIns="0" bIns="0" anchor="t">
            <a:spAutoFit/>
          </a:bodyPr>
          <a:lstStyle/>
          <a:p>
            <a:pPr algn="l">
              <a:lnSpc>
                <a:spcPct val="115000"/>
              </a:lnSpc>
              <a:spcAft>
                <a:spcPts val="500"/>
              </a:spcAft>
            </a:pPr>
            <a:r>
              <a:rPr sz="1400" b="1" i="0">
                <a:solidFill>
                  <a:srgbClr val="5AA0E0"/>
                </a:solidFill>
                <a:latin typeface="Calibri"/>
              </a:rPr>
              <a:t>Workload</a:t>
            </a:r>
          </a:p>
          <a:p>
            <a:pPr algn="l">
              <a:lnSpc>
                <a:spcPct val="120000"/>
              </a:lnSpc>
              <a:spcAft>
                <a:spcPts val="0"/>
              </a:spcAft>
            </a:pPr>
            <a:r>
              <a:rPr sz="1150" b="0" i="0">
                <a:solidFill>
                  <a:srgbClr val="98A4B3"/>
                </a:solidFill>
                <a:latin typeface="Calibri"/>
              </a:rPr>
              <a:t>An application, assistant, agent, gateway, or inference service using guardrails. Carries owner, environment, risk classification, gateway type, assigned policy, and enforcement mode.</a:t>
            </a:r>
          </a:p>
        </p:txBody>
      </p:sp>
      <p:sp>
        <p:nvSpPr>
          <p:cNvPr id="10" name="Rounded Rectangle 9"/>
          <p:cNvSpPr/>
          <p:nvPr/>
        </p:nvSpPr>
        <p:spPr>
          <a:xfrm>
            <a:off x="685800" y="3172968"/>
            <a:ext cx="5318607" cy="114300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3337560"/>
            <a:ext cx="4806543" cy="914400"/>
          </a:xfrm>
          <a:prstGeom prst="rect">
            <a:avLst/>
          </a:prstGeom>
          <a:noFill/>
        </p:spPr>
        <p:txBody>
          <a:bodyPr wrap="square" lIns="0" rIns="0" tIns="0" bIns="0" anchor="t">
            <a:spAutoFit/>
          </a:bodyPr>
          <a:lstStyle/>
          <a:p>
            <a:pPr algn="l">
              <a:lnSpc>
                <a:spcPct val="115000"/>
              </a:lnSpc>
              <a:spcAft>
                <a:spcPts val="500"/>
              </a:spcAft>
            </a:pPr>
            <a:r>
              <a:rPr sz="1400" b="1" i="0">
                <a:solidFill>
                  <a:srgbClr val="5AA0E0"/>
                </a:solidFill>
                <a:latin typeface="Calibri"/>
              </a:rPr>
              <a:t>Policy</a:t>
            </a:r>
          </a:p>
          <a:p>
            <a:pPr algn="l">
              <a:lnSpc>
                <a:spcPct val="120000"/>
              </a:lnSpc>
              <a:spcAft>
                <a:spcPts val="0"/>
              </a:spcAft>
            </a:pPr>
            <a:r>
              <a:rPr sz="1150" b="0" i="0">
                <a:solidFill>
                  <a:srgbClr val="98A4B3"/>
                </a:solidFill>
                <a:latin typeface="Calibri"/>
              </a:rPr>
              <a:t>What must be evaluated and how violations are handled — versioned and immutable, independent of any gateway or provider.</a:t>
            </a:r>
          </a:p>
        </p:txBody>
      </p:sp>
      <p:sp>
        <p:nvSpPr>
          <p:cNvPr id="12" name="Rounded Rectangle 11"/>
          <p:cNvSpPr/>
          <p:nvPr/>
        </p:nvSpPr>
        <p:spPr>
          <a:xfrm>
            <a:off x="6187287" y="3172968"/>
            <a:ext cx="5318607" cy="114300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3319" y="3337560"/>
            <a:ext cx="4806543" cy="914400"/>
          </a:xfrm>
          <a:prstGeom prst="rect">
            <a:avLst/>
          </a:prstGeom>
          <a:noFill/>
        </p:spPr>
        <p:txBody>
          <a:bodyPr wrap="square" lIns="0" rIns="0" tIns="0" bIns="0" anchor="t">
            <a:spAutoFit/>
          </a:bodyPr>
          <a:lstStyle/>
          <a:p>
            <a:pPr algn="l">
              <a:lnSpc>
                <a:spcPct val="115000"/>
              </a:lnSpc>
              <a:spcAft>
                <a:spcPts val="500"/>
              </a:spcAft>
            </a:pPr>
            <a:r>
              <a:rPr sz="1400" b="1" i="0">
                <a:solidFill>
                  <a:srgbClr val="5AA0E0"/>
                </a:solidFill>
                <a:latin typeface="Calibri"/>
              </a:rPr>
              <a:t>Policy binding</a:t>
            </a:r>
          </a:p>
          <a:p>
            <a:pPr algn="l">
              <a:lnSpc>
                <a:spcPct val="120000"/>
              </a:lnSpc>
              <a:spcAft>
                <a:spcPts val="0"/>
              </a:spcAft>
            </a:pPr>
            <a:r>
              <a:rPr sz="1150" b="0" i="0">
                <a:solidFill>
                  <a:srgbClr val="98A4B3"/>
                </a:solidFill>
                <a:latin typeface="Calibri"/>
              </a:rPr>
              <a:t>The association between a workload and a specific policy version: observe or enforce mode, allowed overrides, effective date, rollback version.</a:t>
            </a:r>
          </a:p>
        </p:txBody>
      </p:sp>
      <p:sp>
        <p:nvSpPr>
          <p:cNvPr id="14" name="Rounded Rectangle 13"/>
          <p:cNvSpPr/>
          <p:nvPr/>
        </p:nvSpPr>
        <p:spPr>
          <a:xfrm>
            <a:off x="685800" y="4471416"/>
            <a:ext cx="5318607" cy="114300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4636007"/>
            <a:ext cx="4806543" cy="914400"/>
          </a:xfrm>
          <a:prstGeom prst="rect">
            <a:avLst/>
          </a:prstGeom>
          <a:noFill/>
        </p:spPr>
        <p:txBody>
          <a:bodyPr wrap="square" lIns="0" rIns="0" tIns="0" bIns="0" anchor="t">
            <a:spAutoFit/>
          </a:bodyPr>
          <a:lstStyle/>
          <a:p>
            <a:pPr algn="l">
              <a:lnSpc>
                <a:spcPct val="115000"/>
              </a:lnSpc>
              <a:spcAft>
                <a:spcPts val="500"/>
              </a:spcAft>
            </a:pPr>
            <a:r>
              <a:rPr sz="1400" b="1" i="0">
                <a:solidFill>
                  <a:srgbClr val="5AA0E0"/>
                </a:solidFill>
                <a:latin typeface="Calibri"/>
              </a:rPr>
              <a:t>Evaluation</a:t>
            </a:r>
          </a:p>
          <a:p>
            <a:pPr algn="l">
              <a:lnSpc>
                <a:spcPct val="120000"/>
              </a:lnSpc>
              <a:spcAft>
                <a:spcPts val="0"/>
              </a:spcAft>
            </a:pPr>
            <a:r>
              <a:rPr sz="1150" b="0" i="0">
                <a:solidFill>
                  <a:srgbClr val="98A4B3"/>
                </a:solidFill>
                <a:latin typeface="Calibri"/>
              </a:rPr>
              <a:t>A request to inspect content at a particular stage of an interaction.</a:t>
            </a:r>
          </a:p>
        </p:txBody>
      </p:sp>
      <p:sp>
        <p:nvSpPr>
          <p:cNvPr id="16" name="Rounded Rectangle 15"/>
          <p:cNvSpPr/>
          <p:nvPr/>
        </p:nvSpPr>
        <p:spPr>
          <a:xfrm>
            <a:off x="6187287" y="4471416"/>
            <a:ext cx="5318607" cy="114300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3319" y="4636007"/>
            <a:ext cx="4806543" cy="914400"/>
          </a:xfrm>
          <a:prstGeom prst="rect">
            <a:avLst/>
          </a:prstGeom>
          <a:noFill/>
        </p:spPr>
        <p:txBody>
          <a:bodyPr wrap="square" lIns="0" rIns="0" tIns="0" bIns="0" anchor="t">
            <a:spAutoFit/>
          </a:bodyPr>
          <a:lstStyle/>
          <a:p>
            <a:pPr algn="l">
              <a:lnSpc>
                <a:spcPct val="115000"/>
              </a:lnSpc>
              <a:spcAft>
                <a:spcPts val="500"/>
              </a:spcAft>
            </a:pPr>
            <a:r>
              <a:rPr sz="1400" b="1" i="0">
                <a:solidFill>
                  <a:srgbClr val="5AA0E0"/>
                </a:solidFill>
                <a:latin typeface="Calibri"/>
              </a:rPr>
              <a:t>Decision</a:t>
            </a:r>
          </a:p>
          <a:p>
            <a:pPr algn="l">
              <a:lnSpc>
                <a:spcPct val="120000"/>
              </a:lnSpc>
              <a:spcAft>
                <a:spcPts val="0"/>
              </a:spcAft>
            </a:pPr>
            <a:r>
              <a:rPr sz="1150" b="0" i="0">
                <a:solidFill>
                  <a:srgbClr val="98A4B3"/>
                </a:solidFill>
                <a:latin typeface="Calibri"/>
              </a:rPr>
              <a:t>The normalized result: action (allow / block / redact / log_only), allowed status, reason codes, policy name and version, evaluator metadata, correlation and audit identifiers, latency.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Application>AI Guardrails deck generator</Application>
  <PresentationFormat>Widescreen</PresentationFormat>
  <Company/>
  <Manager/>
  <ScaleCrop>false</ScaleCrop>
  <LinksUpToDate>false</LinksUpToDate>
  <SharedDoc>false</SharedDoc>
  <HyperlinksChanged>false</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Guardrails — Internal platform investment review</dc:title>
  <dc:subject>Approve the solution — full feature set, five phases</dc:subject>
  <dc:creator>AI Guardrails — generated from solution-docs</dc:creator>
  <cp:keywords/>
  <dc:description>Generated from the solution-docs set. Rebuild rather than edit — hand edits are overwritten.</dc:description>
  <cp:lastModifiedBy>AI Guardrails — generated from solution-docs</cp:lastModifiedBy>
  <cp:revision>1</cp:revision>
  <dcterms:created xsi:type="dcterms:W3CDTF">2026-07-26T00:00:00Z</dcterms:created>
  <dcterms:modified xsi:type="dcterms:W3CDTF">2026-07-26T00:00:00Z</dcterms:modified>
  <cp:category>Internal</cp:category>
  <cp:contentStatus>Draft — design intent and delivery plan; nothing built or piloted</cp:contentStatus>
  <dc:language>en</dc:language>
</cp:coreProperties>
</file>