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Segoe UI"/>
              </a:rPr>
              <a:t>DEVELOPER INTEGRATION GUIDE —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Mode C — Customer-Managed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Segoe UI"/>
              </a:rPr>
              <a:t>The guardrail runtime deploys inside your own AWS account. Raw prompts and responses stay in-account by default, and evaluation keeps working with no control-plane connection.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150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Phase 4 — target state, NOT available today   ·   Companion to AI-Guardrails-Internal-Proposal.pptx
Code on the following slides is ILLUSTRATIVE. The evaluation contract's shape (stages, decision fields, actions, reason codes) is fixed by 50-architecture/INTEGRATION-ARCHITECTURE.md §3; concrete endpoint paths, field names and package names are not yet ratified and will be pinned by the published API spec.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C · CUSTOMER-MANAGED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When Mode C is the right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It answers exactly one objection: “content can't leave our account.”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515258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3515258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20665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CHOOSE MODE C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40864"/>
            <a:ext cx="31129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Content must stay 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871216"/>
            <a:ext cx="3112922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Regulated workloads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Data-residency requirements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Very high evaluation volume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Air-gapped or heavily restricted environments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1847088"/>
            <a:ext cx="3515258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218" y="1847088"/>
            <a:ext cx="3515258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39386" y="20665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YOU OPERATE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386" y="2340864"/>
            <a:ext cx="31129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The runtime and its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386" y="2871216"/>
            <a:ext cx="3112922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Runtime infrastructure and availability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Model credentials and routing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Local audit storage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Runtime upgrades (unless managed support is purchased)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9508" y="1847088"/>
            <a:ext cx="3515258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09508" y="1847088"/>
            <a:ext cx="3515258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10676" y="20665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7C3AED"/>
                </a:solidFill>
                <a:latin typeface="Segoe UI"/>
              </a:rPr>
              <a:t>PROVIDER OPERATES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0676" y="2340864"/>
            <a:ext cx="31129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The software and the schemas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676" y="2871216"/>
            <a:ext cx="3112922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Runtime software and deployment artifacts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Policy schemas and compatibility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Control plane for policy authoring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Optional hosted policy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64608"/>
            <a:ext cx="11057839" cy="8229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4864608"/>
            <a:ext cx="45720" cy="822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49834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059669"/>
                </a:solidFill>
                <a:latin typeface="Segoe UI"/>
              </a:rPr>
              <a:t>CAVEAT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212080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Raw content never leaves your account unless you explicitly configure that transmission (CON-013). The telemetry channel back to the control plane is yours to configure — down to, and including, no telemetry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C · CUSTOMER-MANAGED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Step 1 — Deploy the runtime into your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Four supported artifacts. Pick the one that matches your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989320" cy="384048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5623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helm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5586984" cy="3310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A0BC"/>
                </a:solidFill>
                <a:latin typeface="Consolas"/>
              </a:rPr>
              <a:t># Kubernetes — Helm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EFAC"/>
                </a:solidFill>
                <a:latin typeface="Consolas"/>
              </a:rPr>
              <a:t>$ helm repo add ai-guardrails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https://charts.guardrails.internal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EFAC"/>
                </a:solidFill>
                <a:latin typeface="Consolas"/>
              </a:rPr>
              <a:t>$ helm install guardrails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ai-guardrails/guardrails-runtime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-n guardrails --create-namespace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-f values.yaml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A0BC"/>
                </a:solidFill>
                <a:latin typeface="Consolas"/>
              </a:rPr>
              <a:t># values.yaml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tenantId: payments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policyCache: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enabled: true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syncIntervalSeconds: 300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staleAfterSeconds: 86400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telemetry: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mode: aggregate        # none | health | aggregate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bedrock: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region: eu-west-1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0568" y="1847088"/>
            <a:ext cx="4809744" cy="384048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1736" y="1956816"/>
            <a:ext cx="4443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terraform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2249424"/>
            <a:ext cx="4407408" cy="33101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A0BC"/>
                </a:solidFill>
                <a:latin typeface="Consolas"/>
              </a:rPr>
              <a:t># ECS / Terraform — IaC module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module "guardrails_runtime" 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source  = "ai-guardrails/runtime/aws"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version = "1.0.0"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tenant_id      = "payments"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vpc_id         = var.vpc_id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subnet_ids     = var.private_subnet_ids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kms_key_arn    = aws_kms_key.gr.arn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telemetry_mode = "none"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policy_cache = 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sync_interval_seconds = 300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stale_after_seconds   = 86400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C · CUSTOMER-MANAGED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Step 2 — Point your client at the local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This is the only application-visible difference from Mode A: the endpoint.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989320" cy="301752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5623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litellm_config.yaml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5586984" cy="2487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A0BC"/>
                </a:solidFill>
                <a:latin typeface="Consolas"/>
              </a:rPr>
              <a:t># litellm_config.yaml — same connector, local endpoint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guardrails: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endpoint: http://guardrails-runtime.guardrails.svc:8080/v1/evaluate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workload_id: checkout-assistant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tenant_id:   payments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auth:        iam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timeout_ms:  250          # local hop, tighter budget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stages:      [input, output]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0568" y="1847088"/>
            <a:ext cx="4809744" cy="301752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1736" y="1956816"/>
            <a:ext cx="4443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2249424"/>
            <a:ext cx="4407408" cy="24871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A0BC"/>
                </a:solidFill>
                <a:latin typeface="Consolas"/>
              </a:rPr>
              <a:t># python sdk — identical, new base URL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gr = Guardrails(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endpoint="http://guardrails-runtime" +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   ".guardrails.svc:8080",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workload_id="checkout-assistant",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tenant_id="payments",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timeout_ms=250,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A0BC"/>
                </a:solidFill>
                <a:latin typeface="Consolas"/>
              </a:rPr>
              <a:t># every call site below is unchanged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93208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5093208"/>
            <a:ext cx="45720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96" y="52120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Segoe UI"/>
              </a:rPr>
              <a:t>ONE CONTRACT, THREE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440680"/>
            <a:ext cx="10600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The connector's invocation contract does not change between hosted and customer-managed deployment. That property is validated architecturally at M1/M2 (MVP-09) and shipped at M4.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C · CUSTOMER-MANAGED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Running without the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The local cache is what makes Mode C survivable.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5852160" cy="437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Policies are cached locally and synchronized asynchronously.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Evaluation never blocks on a control-plane call.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A control-plane outage does not stop evaluation.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      –  </a:t>
            </a:r>
            <a:r>
              <a:rPr sz="1200" b="0">
                <a:solidFill>
                  <a:srgbClr val="475569"/>
                </a:solidFill>
                <a:latin typeface="Segoe UI"/>
              </a:rPr>
              <a:t>The runtime keeps executing the cached policy version.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A stale cache is a policy question, not an accident.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      –  </a:t>
            </a:r>
            <a:r>
              <a:rPr sz="1200" b="0">
                <a:solidFill>
                  <a:srgbClr val="475569"/>
                </a:solidFill>
                <a:latin typeface="Segoe UI"/>
              </a:rPr>
              <a:t>You declare what happens once the cache passes its staleness bound — keep evaluating, block, or require approval.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Promotion and rollback propagate asynchronously.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Segoe UI"/>
              </a:rPr>
              <a:t>      –  </a:t>
            </a:r>
            <a:r>
              <a:rPr sz="1200" b="0">
                <a:solidFill>
                  <a:srgbClr val="475569"/>
                </a:solidFill>
                <a:latin typeface="Segoe UI"/>
              </a:rPr>
              <a:t>Your failure behavior must say what happens if a rollback is issued while the cache is stale.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4848" y="1847088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policy (yaml)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2249424"/>
            <a:ext cx="4992624" cy="2212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A0BC"/>
                </a:solidFill>
                <a:latin typeface="Consolas"/>
              </a:rPr>
              <a:t># policy excerpt — Mode C additions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failure_behavior: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control_plane_unavailable: use_cached_policy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cache_stale:               block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audit_delivery_failed:     allow_and_log_locally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policy_cache: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stale_after_seconds: 86400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956048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4956048"/>
            <a:ext cx="45720" cy="7498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5074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303520"/>
            <a:ext cx="10600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Degraded-mode behavior for a stale cache must be an explicit part of the workload's failure behavior. An undocumented fallback is a defect, not a default (AGR-012, AGR-015).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C · CUSTOMER-MANAGED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Proving content stayed in your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The telemetry channel is the only line that leaves — and you draw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47088"/>
          <a:ext cx="11057838" cy="25420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8768"/>
                <a:gridCol w="5691534"/>
                <a:gridCol w="3577536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Telemetry mode</a:t>
                      </a:r>
                    </a:p>
                  </a:txBody>
                  <a:tcPr marL="82296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crosses the boundary</a:t>
                      </a:r>
                    </a:p>
                  </a:txBody>
                  <a:tcPr marL="82296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Typical use</a:t>
                      </a:r>
                    </a:p>
                  </a:txBody>
                  <a:tcPr marL="82296" marR="54864" marT="36576" marB="36576" anchor="ctr"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Nothing at all — a fully supported configuration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Air-gapped, maximal restriction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health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Health status, product version, policy version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Minimum needed for support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aggregate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+ evaluation counts, reason-code totals, latency metrics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Default for most regulated teams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metadata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+ sanitized decision metadata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Teams wanting central dashboards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raw content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Never included unless explicitly configured by you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0F172A"/>
                          </a:solidFill>
                          <a:latin typeface="Segoe UI"/>
                        </a:rPr>
                        <a:t>Rarely — requires a deliberate decision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681728"/>
            <a:ext cx="11057839" cy="153619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▪  </a:t>
            </a:r>
            <a:r>
              <a:rPr sz="1250" b="0">
                <a:solidFill>
                  <a:srgbClr val="0F172A"/>
                </a:solidFill>
                <a:latin typeface="Segoe UI"/>
              </a:rPr>
              <a:t>Verify before go-live: audit records land in your own store; the audit field 'raw content retained' reads false; the only egress is the telemetry mode you chose.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▪  </a:t>
            </a:r>
            <a:r>
              <a:rPr sz="1250" b="0">
                <a:solidFill>
                  <a:srgbClr val="0F172A"/>
                </a:solidFill>
                <a:latin typeface="Segoe UI"/>
              </a:rPr>
              <a:t>Upgrade compatibility checks validate that a runtime upgrade still supports the policy versions currently bound to your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C · CUSTOMER-MANAGED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Before you plan on Mode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Status and caveats, stated plainly.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11057839" cy="437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1">
                <a:solidFill>
                  <a:srgbClr val="B91C1C"/>
                </a:solidFill>
                <a:latin typeface="Segoe UI"/>
              </a:rPr>
              <a:t>Phase 4 deliverable. Not available at the Phase 1–2 launch. What Phases 1–2 prove is only that the runtime CAN later be packaged this way without changing the connector contract.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You take on infrastructure ownership: availability, capacity, networking, and runtime upgrades — unless managed support is purchased.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Air-gapped installation is a stronger guarantee than Mode C's standard 'no synchronous control-plane connection required', and is a separate later-phase capability (CAP-033).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Dedicated per-tenant runtimes are also separate and later-phase (CAP-032).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Mode C is the correct answer for 'no content leaves our network' — not PrivateLink, which remains a separate, unscheduled item.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1">
                <a:solidFill>
                  <a:srgbClr val="059669"/>
                </a:solidFill>
                <a:latin typeface="Segoe UI"/>
              </a:rPr>
              <a:t>Same policies, same decisions, same reason codes, same audit shape as Modes A and B. Moving between modes is a client change, not a policy rewrite.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