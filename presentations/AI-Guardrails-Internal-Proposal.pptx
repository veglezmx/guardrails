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it: sections 1-3 are 'what we are building and how you plug in'. Sections 4-5 are the ask. Everything except section 5 traces to solution-docs; section 5 numbers are ours and are explicitly labelled as such.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overclaim: per-tenant residency ENFORCEMENT is later-phase; only availability is core.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proves this works?': UC-001 is the falsifiable hypothesis — two organizationally independent LiteLLM instances, same policy version, consistent normalized decisions, no shared model-provider credentials. One instance tested twice does not count.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challenged on the numbers: they are a bottom-up FTE×duration model built for this deck. The solution docs deliberately say TBD because no figures exist in the seed. These are ours, labelled as ours, and are meant to be argued with.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1417320"/>
            <a:ext cx="10058400" cy="365760"/>
          </a:xfrm>
          <a:prstGeom prst="rect">
            <a:avLst/>
          </a:prstGeom>
          <a:noFill/>
        </p:spPr>
        <p:txBody>
          <a:bodyPr wrap="square" lIns="0" rIns="0" tIns="0" bIns="0" anchor="t">
            <a:spAutoFit/>
          </a:bodyPr>
          <a:lstStyle/>
          <a:p>
            <a:pPr algn="l">
              <a:lnSpc>
                <a:spcPct val="100000"/>
              </a:lnSpc>
              <a:spcAft>
                <a:spcPts val="600"/>
              </a:spcAft>
            </a:pPr>
            <a:r>
              <a:rPr sz="1300" b="1">
                <a:solidFill>
                  <a:srgbClr val="93C5FD"/>
                </a:solidFill>
                <a:latin typeface="Segoe UI"/>
              </a:rPr>
              <a:t>INTERNAL TEAM PROPOSAL</a:t>
            </a:r>
          </a:p>
        </p:txBody>
      </p:sp>
      <p:sp>
        <p:nvSpPr>
          <p:cNvPr id="5" name="TextBox 4"/>
          <p:cNvSpPr txBox="1"/>
          <p:nvPr/>
        </p:nvSpPr>
        <p:spPr>
          <a:xfrm>
            <a:off x="1005840" y="1874519"/>
            <a:ext cx="10058400" cy="1737360"/>
          </a:xfrm>
          <a:prstGeom prst="rect">
            <a:avLst/>
          </a:prstGeom>
          <a:noFill/>
        </p:spPr>
        <p:txBody>
          <a:bodyPr wrap="square" lIns="0" rIns="0" tIns="0" bIns="0" anchor="t">
            <a:spAutoFit/>
          </a:bodyPr>
          <a:lstStyle/>
          <a:p>
            <a:pPr algn="l">
              <a:lnSpc>
                <a:spcPct val="105000"/>
              </a:lnSpc>
              <a:spcAft>
                <a:spcPts val="600"/>
              </a:spcAft>
            </a:pPr>
            <a:r>
              <a:rPr sz="4400" b="1">
                <a:solidFill>
                  <a:srgbClr val="FFFFFF"/>
                </a:solidFill>
                <a:latin typeface="Segoe UI"/>
              </a:rPr>
              <a:t>AI Guardrails</a:t>
            </a:r>
          </a:p>
        </p:txBody>
      </p:sp>
      <p:sp>
        <p:nvSpPr>
          <p:cNvPr id="6" name="TextBox 5"/>
          <p:cNvSpPr txBox="1"/>
          <p:nvPr/>
        </p:nvSpPr>
        <p:spPr>
          <a:xfrm>
            <a:off x="1005840" y="3794760"/>
            <a:ext cx="9144000" cy="1097280"/>
          </a:xfrm>
          <a:prstGeom prst="rect">
            <a:avLst/>
          </a:prstGeom>
          <a:noFill/>
        </p:spPr>
        <p:txBody>
          <a:bodyPr wrap="square" lIns="0" rIns="0" tIns="0" bIns="0" anchor="t">
            <a:spAutoFit/>
          </a:bodyPr>
          <a:lstStyle/>
          <a:p>
            <a:pPr algn="l">
              <a:lnSpc>
                <a:spcPct val="125000"/>
              </a:lnSpc>
              <a:spcAft>
                <a:spcPts val="600"/>
              </a:spcAft>
            </a:pPr>
            <a:r>
              <a:rPr sz="1700" b="0">
                <a:solidFill>
                  <a:srgbClr val="CBD5E1"/>
                </a:solidFill>
                <a:latin typeface="Segoe UI"/>
              </a:rPr>
              <a:t>One reusable guardrail policy, applied consistently across every LLM gateway a team already runs — hosted, managed, or in the customer's own account.</a:t>
            </a:r>
          </a:p>
        </p:txBody>
      </p:sp>
      <p:sp>
        <p:nvSpPr>
          <p:cNvPr id="7" name="TextBox 6"/>
          <p:cNvSpPr txBox="1"/>
          <p:nvPr/>
        </p:nvSpPr>
        <p:spPr>
          <a:xfrm>
            <a:off x="1005840" y="5715000"/>
            <a:ext cx="10058400" cy="731520"/>
          </a:xfrm>
          <a:prstGeom prst="rect">
            <a:avLst/>
          </a:prstGeom>
          <a:noFill/>
        </p:spPr>
        <p:txBody>
          <a:bodyPr wrap="square" lIns="0" rIns="0" tIns="0" bIns="0" anchor="t">
            <a:spAutoFit/>
          </a:bodyPr>
          <a:lstStyle/>
          <a:p>
            <a:pPr algn="l">
              <a:lnSpc>
                <a:spcPct val="135000"/>
              </a:lnSpc>
              <a:spcAft>
                <a:spcPts val="600"/>
              </a:spcAft>
            </a:pPr>
            <a:r>
              <a:rPr sz="1100" b="0">
                <a:solidFill>
                  <a:srgbClr val="94A3B8"/>
                </a:solidFill>
                <a:latin typeface="Segoe UI"/>
              </a:rPr>
              <a:t>Derived from solution-docs/ (L1 AGREEMENTS · CONSTRAINTS · DECISIONS)   ·   Status: proposal for internal review   ·   2026-07-24
Effort and duration figures in section 5 are planning estimates authored for this deck — they are NOT part of the source-of-truth register.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AGENDA</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1</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What we are asking you to review</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Five sections. Sections 3–5 are the ones that need a decision.</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1847088"/>
            <a:ext cx="3515258" cy="2148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847088"/>
            <a:ext cx="3515258" cy="45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2066544"/>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2563EB"/>
                </a:solidFill>
                <a:latin typeface="Segoe UI"/>
              </a:rPr>
              <a:t>01</a:t>
            </a:r>
          </a:p>
        </p:txBody>
      </p:sp>
      <p:sp>
        <p:nvSpPr>
          <p:cNvPr id="12" name="TextBox 11"/>
          <p:cNvSpPr txBox="1"/>
          <p:nvPr/>
        </p:nvSpPr>
        <p:spPr>
          <a:xfrm>
            <a:off x="768096" y="2340864"/>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Capabilities</a:t>
            </a:r>
          </a:p>
        </p:txBody>
      </p:sp>
      <p:sp>
        <p:nvSpPr>
          <p:cNvPr id="13" name="TextBox 12"/>
          <p:cNvSpPr txBox="1"/>
          <p:nvPr/>
        </p:nvSpPr>
        <p:spPr>
          <a:xfrm>
            <a:off x="768096" y="2871216"/>
            <a:ext cx="3112922" cy="96012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37 cataloged capabilities</a:t>
            </a:r>
          </a:p>
          <a:p>
            <a:pPr>
              <a:lnSpc>
                <a:spcPct val="115000"/>
              </a:lnSpc>
              <a:spcAft>
                <a:spcPts val="500"/>
              </a:spcAft>
            </a:pPr>
            <a:r>
              <a:rPr sz="1150">
                <a:solidFill>
                  <a:srgbClr val="475569"/>
                </a:solidFill>
                <a:latin typeface="Segoe UI"/>
              </a:rPr>
              <a:t>· 17 core (Phases 1–2)</a:t>
            </a:r>
          </a:p>
          <a:p>
            <a:pPr>
              <a:lnSpc>
                <a:spcPct val="115000"/>
              </a:lnSpc>
              <a:spcAft>
                <a:spcPts val="500"/>
              </a:spcAft>
            </a:pPr>
            <a:r>
              <a:rPr sz="1150">
                <a:solidFill>
                  <a:srgbClr val="475569"/>
                </a:solidFill>
                <a:latin typeface="Segoe UI"/>
              </a:rPr>
              <a:t>· 20 committed later-phase</a:t>
            </a:r>
          </a:p>
          <a:p>
            <a:pPr>
              <a:lnSpc>
                <a:spcPct val="115000"/>
              </a:lnSpc>
              <a:spcAft>
                <a:spcPts val="500"/>
              </a:spcAft>
            </a:pPr>
            <a:r>
              <a:rPr sz="1150">
                <a:solidFill>
                  <a:srgbClr val="475569"/>
                </a:solidFill>
                <a:latin typeface="Segoe UI"/>
              </a:rPr>
              <a:t>· 13 explicit exclusions</a:t>
            </a:r>
          </a:p>
        </p:txBody>
      </p:sp>
      <p:sp>
        <p:nvSpPr>
          <p:cNvPr id="14" name="Rounded Rectangle 13"/>
          <p:cNvSpPr/>
          <p:nvPr/>
        </p:nvSpPr>
        <p:spPr>
          <a:xfrm>
            <a:off x="4338218" y="1847088"/>
            <a:ext cx="3515258" cy="2148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38218" y="1847088"/>
            <a:ext cx="3515258" cy="45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9386" y="2066544"/>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7C3AED"/>
                </a:solidFill>
                <a:latin typeface="Segoe UI"/>
              </a:rPr>
              <a:t>02</a:t>
            </a:r>
          </a:p>
        </p:txBody>
      </p:sp>
      <p:sp>
        <p:nvSpPr>
          <p:cNvPr id="17" name="TextBox 16"/>
          <p:cNvSpPr txBox="1"/>
          <p:nvPr/>
        </p:nvSpPr>
        <p:spPr>
          <a:xfrm>
            <a:off x="4539386" y="2340864"/>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Use cases &amp; modes</a:t>
            </a:r>
          </a:p>
        </p:txBody>
      </p:sp>
      <p:sp>
        <p:nvSpPr>
          <p:cNvPr id="18" name="TextBox 17"/>
          <p:cNvSpPr txBox="1"/>
          <p:nvPr/>
        </p:nvSpPr>
        <p:spPr>
          <a:xfrm>
            <a:off x="4539386" y="2871216"/>
            <a:ext cx="3112922" cy="96012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3 deployment modes (A/B/C)</a:t>
            </a:r>
          </a:p>
          <a:p>
            <a:pPr>
              <a:lnSpc>
                <a:spcPct val="115000"/>
              </a:lnSpc>
              <a:spcAft>
                <a:spcPts val="500"/>
              </a:spcAft>
            </a:pPr>
            <a:r>
              <a:rPr sz="1150">
                <a:solidFill>
                  <a:srgbClr val="475569"/>
                </a:solidFill>
                <a:latin typeface="Segoe UI"/>
              </a:rPr>
              <a:t>· 7 actor-driven use cases</a:t>
            </a:r>
          </a:p>
          <a:p>
            <a:pPr>
              <a:lnSpc>
                <a:spcPct val="115000"/>
              </a:lnSpc>
              <a:spcAft>
                <a:spcPts val="500"/>
              </a:spcAft>
            </a:pPr>
            <a:r>
              <a:rPr sz="1150">
                <a:solidFill>
                  <a:srgbClr val="475569"/>
                </a:solidFill>
                <a:latin typeface="Segoe UI"/>
              </a:rPr>
              <a:t>· Mode A is the front door</a:t>
            </a:r>
          </a:p>
          <a:p>
            <a:pPr>
              <a:lnSpc>
                <a:spcPct val="115000"/>
              </a:lnSpc>
              <a:spcAft>
                <a:spcPts val="500"/>
              </a:spcAft>
            </a:pPr>
            <a:r>
              <a:rPr sz="1150">
                <a:solidFill>
                  <a:srgbClr val="475569"/>
                </a:solidFill>
                <a:latin typeface="Segoe UI"/>
              </a:rPr>
              <a:t>· B and C are graduation paths</a:t>
            </a:r>
          </a:p>
        </p:txBody>
      </p:sp>
      <p:sp>
        <p:nvSpPr>
          <p:cNvPr id="19" name="Rounded Rectangle 18"/>
          <p:cNvSpPr/>
          <p:nvPr/>
        </p:nvSpPr>
        <p:spPr>
          <a:xfrm>
            <a:off x="8109508" y="1847088"/>
            <a:ext cx="3515258" cy="2148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109508" y="1847088"/>
            <a:ext cx="3515258" cy="4572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10676" y="2066544"/>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059669"/>
                </a:solidFill>
                <a:latin typeface="Segoe UI"/>
              </a:rPr>
              <a:t>03</a:t>
            </a:r>
          </a:p>
        </p:txBody>
      </p:sp>
      <p:sp>
        <p:nvSpPr>
          <p:cNvPr id="22" name="TextBox 21"/>
          <p:cNvSpPr txBox="1"/>
          <p:nvPr/>
        </p:nvSpPr>
        <p:spPr>
          <a:xfrm>
            <a:off x="8310676" y="2340864"/>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Developer integration</a:t>
            </a:r>
          </a:p>
        </p:txBody>
      </p:sp>
      <p:sp>
        <p:nvSpPr>
          <p:cNvPr id="23" name="TextBox 22"/>
          <p:cNvSpPr txBox="1"/>
          <p:nvPr/>
        </p:nvSpPr>
        <p:spPr>
          <a:xfrm>
            <a:off x="8310676" y="2871216"/>
            <a:ext cx="3112922" cy="96012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One evaluation contract</a:t>
            </a:r>
          </a:p>
          <a:p>
            <a:pPr>
              <a:lnSpc>
                <a:spcPct val="115000"/>
              </a:lnSpc>
              <a:spcAft>
                <a:spcPts val="500"/>
              </a:spcAft>
            </a:pPr>
            <a:r>
              <a:rPr sz="1150">
                <a:solidFill>
                  <a:srgbClr val="475569"/>
                </a:solidFill>
                <a:latin typeface="Segoe UI"/>
              </a:rPr>
              <a:t>· Connector · SDK · raw HTTP</a:t>
            </a:r>
          </a:p>
          <a:p>
            <a:pPr>
              <a:lnSpc>
                <a:spcPct val="115000"/>
              </a:lnSpc>
              <a:spcAft>
                <a:spcPts val="500"/>
              </a:spcAft>
            </a:pPr>
            <a:r>
              <a:rPr sz="1150">
                <a:solidFill>
                  <a:srgbClr val="475569"/>
                </a:solidFill>
                <a:latin typeface="Segoe UI"/>
              </a:rPr>
              <a:t>· One companion deck per mode</a:t>
            </a:r>
          </a:p>
          <a:p>
            <a:pPr>
              <a:lnSpc>
                <a:spcPct val="115000"/>
              </a:lnSpc>
              <a:spcAft>
                <a:spcPts val="500"/>
              </a:spcAft>
            </a:pPr>
            <a:r>
              <a:rPr sz="1150">
                <a:solidFill>
                  <a:srgbClr val="475569"/>
                </a:solidFill>
                <a:latin typeface="Segoe UI"/>
              </a:rPr>
              <a:t>· Copy-paste examples</a:t>
            </a:r>
          </a:p>
        </p:txBody>
      </p:sp>
      <p:sp>
        <p:nvSpPr>
          <p:cNvPr id="24" name="Rounded Rectangle 23"/>
          <p:cNvSpPr/>
          <p:nvPr/>
        </p:nvSpPr>
        <p:spPr>
          <a:xfrm>
            <a:off x="566928" y="4169664"/>
            <a:ext cx="3515258" cy="2148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4169664"/>
            <a:ext cx="3515258"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4389120"/>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B45309"/>
                </a:solidFill>
                <a:latin typeface="Segoe UI"/>
              </a:rPr>
              <a:t>04</a:t>
            </a:r>
          </a:p>
        </p:txBody>
      </p:sp>
      <p:sp>
        <p:nvSpPr>
          <p:cNvPr id="27" name="TextBox 26"/>
          <p:cNvSpPr txBox="1"/>
          <p:nvPr/>
        </p:nvSpPr>
        <p:spPr>
          <a:xfrm>
            <a:off x="768096" y="4663440"/>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Delivery plan</a:t>
            </a:r>
          </a:p>
        </p:txBody>
      </p:sp>
      <p:sp>
        <p:nvSpPr>
          <p:cNvPr id="28" name="TextBox 27"/>
          <p:cNvSpPr txBox="1"/>
          <p:nvPr/>
        </p:nvSpPr>
        <p:spPr>
          <a:xfrm>
            <a:off x="768096" y="5193792"/>
            <a:ext cx="3112922" cy="96012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Five phases, M1–M5</a:t>
            </a:r>
          </a:p>
          <a:p>
            <a:pPr>
              <a:lnSpc>
                <a:spcPct val="115000"/>
              </a:lnSpc>
              <a:spcAft>
                <a:spcPts val="500"/>
              </a:spcAft>
            </a:pPr>
            <a:r>
              <a:rPr sz="1150">
                <a:solidFill>
                  <a:srgbClr val="475569"/>
                </a:solidFill>
                <a:latin typeface="Segoe UI"/>
              </a:rPr>
              <a:t>· Nine-criterion validation gate at M2</a:t>
            </a:r>
          </a:p>
          <a:p>
            <a:pPr>
              <a:lnSpc>
                <a:spcPct val="115000"/>
              </a:lnSpc>
              <a:spcAft>
                <a:spcPts val="500"/>
              </a:spcAft>
            </a:pPr>
            <a:r>
              <a:rPr sz="1150">
                <a:solidFill>
                  <a:srgbClr val="475569"/>
                </a:solidFill>
                <a:latin typeface="Segoe UI"/>
              </a:rPr>
              <a:t>· Sequencing fixed; dates are new</a:t>
            </a:r>
          </a:p>
        </p:txBody>
      </p:sp>
      <p:sp>
        <p:nvSpPr>
          <p:cNvPr id="29" name="Rounded Rectangle 28"/>
          <p:cNvSpPr/>
          <p:nvPr/>
        </p:nvSpPr>
        <p:spPr>
          <a:xfrm>
            <a:off x="4338218" y="4169664"/>
            <a:ext cx="3515258" cy="2148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338218" y="4169664"/>
            <a:ext cx="3515258" cy="45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39386" y="4389120"/>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B91C1C"/>
                </a:solidFill>
                <a:latin typeface="Segoe UI"/>
              </a:rPr>
              <a:t>05</a:t>
            </a:r>
          </a:p>
        </p:txBody>
      </p:sp>
      <p:sp>
        <p:nvSpPr>
          <p:cNvPr id="32" name="TextBox 31"/>
          <p:cNvSpPr txBox="1"/>
          <p:nvPr/>
        </p:nvSpPr>
        <p:spPr>
          <a:xfrm>
            <a:off x="4539386" y="4663440"/>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Effort estimation</a:t>
            </a:r>
          </a:p>
        </p:txBody>
      </p:sp>
      <p:sp>
        <p:nvSpPr>
          <p:cNvPr id="33" name="TextBox 32"/>
          <p:cNvSpPr txBox="1"/>
          <p:nvPr/>
        </p:nvSpPr>
        <p:spPr>
          <a:xfrm>
            <a:off x="4539386" y="5193792"/>
            <a:ext cx="3112922" cy="96012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Full team roster, 9 roles</a:t>
            </a:r>
          </a:p>
          <a:p>
            <a:pPr>
              <a:lnSpc>
                <a:spcPct val="115000"/>
              </a:lnSpc>
              <a:spcAft>
                <a:spcPts val="500"/>
              </a:spcAft>
            </a:pPr>
            <a:r>
              <a:rPr sz="1150">
                <a:solidFill>
                  <a:srgbClr val="475569"/>
                </a:solidFill>
                <a:latin typeface="Segoe UI"/>
              </a:rPr>
              <a:t>· ~545 person-weeks / ~21,800 h</a:t>
            </a:r>
          </a:p>
          <a:p>
            <a:pPr>
              <a:lnSpc>
                <a:spcPct val="115000"/>
              </a:lnSpc>
              <a:spcAft>
                <a:spcPts val="500"/>
              </a:spcAft>
            </a:pPr>
            <a:r>
              <a:rPr sz="1150">
                <a:solidFill>
                  <a:srgbClr val="475569"/>
                </a:solidFill>
                <a:latin typeface="Segoe UI"/>
              </a:rPr>
              <a:t>· Cost/hr fields left open for finance</a:t>
            </a:r>
          </a:p>
        </p:txBody>
      </p:sp>
      <p:sp>
        <p:nvSpPr>
          <p:cNvPr id="34" name="Rounded Rectangle 33"/>
          <p:cNvSpPr/>
          <p:nvPr/>
        </p:nvSpPr>
        <p:spPr>
          <a:xfrm>
            <a:off x="8109508" y="4169664"/>
            <a:ext cx="3515258" cy="2148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8109508" y="4169664"/>
            <a:ext cx="3515258" cy="4572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310676" y="4389120"/>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0F172A"/>
                </a:solidFill>
                <a:latin typeface="Segoe UI"/>
              </a:rPr>
              <a:t>→</a:t>
            </a:r>
          </a:p>
        </p:txBody>
      </p:sp>
      <p:sp>
        <p:nvSpPr>
          <p:cNvPr id="37" name="TextBox 36"/>
          <p:cNvSpPr txBox="1"/>
          <p:nvPr/>
        </p:nvSpPr>
        <p:spPr>
          <a:xfrm>
            <a:off x="8310676" y="4663440"/>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Decision asked for</a:t>
            </a:r>
          </a:p>
        </p:txBody>
      </p:sp>
      <p:sp>
        <p:nvSpPr>
          <p:cNvPr id="38" name="TextBox 37"/>
          <p:cNvSpPr txBox="1"/>
          <p:nvPr/>
        </p:nvSpPr>
        <p:spPr>
          <a:xfrm>
            <a:off x="8310676" y="5193792"/>
            <a:ext cx="3112922" cy="96012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Approve Phase 1–2 execution</a:t>
            </a:r>
          </a:p>
          <a:p>
            <a:pPr>
              <a:lnSpc>
                <a:spcPct val="115000"/>
              </a:lnSpc>
              <a:spcAft>
                <a:spcPts val="500"/>
              </a:spcAft>
            </a:pPr>
            <a:r>
              <a:rPr sz="1150">
                <a:solidFill>
                  <a:srgbClr val="475569"/>
                </a:solidFill>
                <a:latin typeface="Segoe UI"/>
              </a:rPr>
              <a:t>· Name the two pilot LiteLLM teams</a:t>
            </a:r>
          </a:p>
          <a:p>
            <a:pPr>
              <a:lnSpc>
                <a:spcPct val="115000"/>
              </a:lnSpc>
              <a:spcAft>
                <a:spcPts val="500"/>
              </a:spcAft>
            </a:pPr>
            <a:r>
              <a:rPr sz="1150">
                <a:solidFill>
                  <a:srgbClr val="475569"/>
                </a:solidFill>
                <a:latin typeface="Segoe UI"/>
              </a:rPr>
              <a:t>· Supply blended rates to close the estimate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CONTEXT</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2</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What AI Guardrails is</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A hosted policy and evaluation service that attaches to a gateway you already run.</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847088"/>
            <a:ext cx="6400800" cy="4370832"/>
          </a:xfrm>
          <a:prstGeom prst="rect">
            <a:avLst/>
          </a:prstGeom>
          <a:noFill/>
        </p:spPr>
        <p:txBody>
          <a:bodyPr wrap="square" lIns="0" tIns="0">
            <a:spAutoFit/>
          </a:bodyPr>
          <a:lstStyle/>
          <a:p>
            <a:pPr>
              <a:lnSpc>
                <a:spcPct val="116000"/>
              </a:lnSpc>
              <a:spcAft>
                <a:spcPts val="900"/>
              </a:spcAft>
            </a:pPr>
            <a:r>
              <a:rPr sz="1400" b="1">
                <a:solidFill>
                  <a:srgbClr val="2563EB"/>
                </a:solidFill>
                <a:latin typeface="Segoe UI"/>
              </a:rPr>
              <a:t>▪  </a:t>
            </a:r>
            <a:r>
              <a:rPr sz="1400" b="0">
                <a:solidFill>
                  <a:srgbClr val="0F172A"/>
                </a:solidFill>
                <a:latin typeface="Segoe UI"/>
              </a:rPr>
              <a:t>The consumer keeps their gateway, their model provider and their data path.</a:t>
            </a:r>
          </a:p>
          <a:p>
            <a:pPr>
              <a:lnSpc>
                <a:spcPct val="116000"/>
              </a:lnSpc>
              <a:spcAft>
                <a:spcPts val="900"/>
              </a:spcAft>
            </a:pPr>
            <a:r>
              <a:rPr sz="1400" b="1">
                <a:solidFill>
                  <a:srgbClr val="2563EB"/>
                </a:solidFill>
                <a:latin typeface="Segoe UI"/>
              </a:rPr>
              <a:t>▪  </a:t>
            </a:r>
            <a:r>
              <a:rPr sz="1400" b="0">
                <a:solidFill>
                  <a:srgbClr val="0F172A"/>
                </a:solidFill>
                <a:latin typeface="Segoe UI"/>
              </a:rPr>
              <a:t>The platform hosts policy storage, evaluation, and the audited decision.</a:t>
            </a:r>
          </a:p>
          <a:p>
            <a:pPr>
              <a:lnSpc>
                <a:spcPct val="116000"/>
              </a:lnSpc>
              <a:spcAft>
                <a:spcPts val="900"/>
              </a:spcAft>
            </a:pPr>
            <a:r>
              <a:rPr sz="1400" b="1">
                <a:solidFill>
                  <a:srgbClr val="2563EB"/>
                </a:solidFill>
                <a:latin typeface="Segoe UI"/>
              </a:rPr>
              <a:t>▪  </a:t>
            </a:r>
            <a:r>
              <a:rPr sz="1400" b="0">
                <a:solidFill>
                  <a:srgbClr val="0F172A"/>
                </a:solidFill>
                <a:latin typeface="Segoe UI"/>
              </a:rPr>
              <a:t>A policy is defined once — checks, thresholds, actions, failure behavior — and bound to a workload at a specific immutable version.</a:t>
            </a:r>
          </a:p>
          <a:p>
            <a:pPr>
              <a:lnSpc>
                <a:spcPct val="116000"/>
              </a:lnSpc>
              <a:spcAft>
                <a:spcPts val="900"/>
              </a:spcAft>
            </a:pPr>
            <a:r>
              <a:rPr sz="1400" b="1">
                <a:solidFill>
                  <a:srgbClr val="2563EB"/>
                </a:solidFill>
                <a:latin typeface="Segoe UI"/>
              </a:rPr>
              <a:t>▪  </a:t>
            </a:r>
            <a:r>
              <a:rPr sz="1400" b="0">
                <a:solidFill>
                  <a:srgbClr val="0F172A"/>
                </a:solidFill>
                <a:latin typeface="Segoe UI"/>
              </a:rPr>
              <a:t>LiteLLM is the first connector, Bedrock Guardrails the first engine. Neither is the product boundary: the contract is vendor-independent by design.</a:t>
            </a:r>
          </a:p>
          <a:p>
            <a:pPr>
              <a:lnSpc>
                <a:spcPct val="116000"/>
              </a:lnSpc>
              <a:spcAft>
                <a:spcPts val="900"/>
              </a:spcAft>
            </a:pPr>
            <a:r>
              <a:rPr sz="1400" b="1">
                <a:solidFill>
                  <a:srgbClr val="2563EB"/>
                </a:solidFill>
                <a:latin typeface="Segoe UI"/>
              </a:rPr>
              <a:t>▪  </a:t>
            </a:r>
            <a:r>
              <a:rPr sz="1400" b="0">
                <a:solidFill>
                  <a:srgbClr val="0F172A"/>
                </a:solidFill>
                <a:latin typeface="Segoe UI"/>
              </a:rPr>
              <a:t>Security sets the floor (mandatory policies); application teams may strengthen it, never weaken it.</a:t>
            </a:r>
          </a:p>
        </p:txBody>
      </p:sp>
      <p:sp>
        <p:nvSpPr>
          <p:cNvPr id="10" name="Rounded Rectangle 9"/>
          <p:cNvSpPr/>
          <p:nvPr/>
        </p:nvSpPr>
        <p:spPr>
          <a:xfrm>
            <a:off x="7360920" y="1801368"/>
            <a:ext cx="4261104" cy="3657600"/>
          </a:xfrm>
          <a:prstGeom prst="roundRect">
            <a:avLst>
              <a:gd name="adj" fmla="val 3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07808" y="2029968"/>
            <a:ext cx="3749039" cy="274320"/>
          </a:xfrm>
          <a:prstGeom prst="rect">
            <a:avLst/>
          </a:prstGeom>
          <a:noFill/>
        </p:spPr>
        <p:txBody>
          <a:bodyPr wrap="square" lIns="0" rIns="0" tIns="0" bIns="0" anchor="t">
            <a:spAutoFit/>
          </a:bodyPr>
          <a:lstStyle/>
          <a:p>
            <a:pPr algn="l">
              <a:lnSpc>
                <a:spcPct val="100000"/>
              </a:lnSpc>
              <a:spcAft>
                <a:spcPts val="600"/>
              </a:spcAft>
            </a:pPr>
            <a:r>
              <a:rPr sz="950" b="1">
                <a:solidFill>
                  <a:srgbClr val="2563EB"/>
                </a:solidFill>
                <a:latin typeface="Segoe UI"/>
              </a:rPr>
              <a:t>THE SIX-ENTITY DOMAIN MODEL (AGR-017)</a:t>
            </a:r>
          </a:p>
        </p:txBody>
      </p:sp>
      <p:sp>
        <p:nvSpPr>
          <p:cNvPr id="12" name="TextBox 11"/>
          <p:cNvSpPr txBox="1"/>
          <p:nvPr/>
        </p:nvSpPr>
        <p:spPr>
          <a:xfrm>
            <a:off x="7607808" y="2414016"/>
            <a:ext cx="1234440" cy="274320"/>
          </a:xfrm>
          <a:prstGeom prst="rect">
            <a:avLst/>
          </a:prstGeom>
          <a:noFill/>
        </p:spPr>
        <p:txBody>
          <a:bodyPr wrap="square" lIns="0" rIns="0" tIns="0" bIns="0" anchor="t">
            <a:spAutoFit/>
          </a:bodyPr>
          <a:lstStyle/>
          <a:p>
            <a:pPr algn="l">
              <a:lnSpc>
                <a:spcPct val="100000"/>
              </a:lnSpc>
              <a:spcAft>
                <a:spcPts val="600"/>
              </a:spcAft>
            </a:pPr>
            <a:r>
              <a:rPr sz="1200" b="1">
                <a:solidFill>
                  <a:srgbClr val="0F172A"/>
                </a:solidFill>
                <a:latin typeface="Segoe UI"/>
              </a:rPr>
              <a:t>Tenant</a:t>
            </a:r>
          </a:p>
        </p:txBody>
      </p:sp>
      <p:sp>
        <p:nvSpPr>
          <p:cNvPr id="13" name="TextBox 12"/>
          <p:cNvSpPr txBox="1"/>
          <p:nvPr/>
        </p:nvSpPr>
        <p:spPr>
          <a:xfrm>
            <a:off x="8796528" y="2432304"/>
            <a:ext cx="2606040" cy="365760"/>
          </a:xfrm>
          <a:prstGeom prst="rect">
            <a:avLst/>
          </a:prstGeom>
          <a:noFill/>
        </p:spPr>
        <p:txBody>
          <a:bodyPr wrap="square" lIns="0" rIns="0" tIns="0" bIns="0" anchor="t">
            <a:spAutoFit/>
          </a:bodyPr>
          <a:lstStyle/>
          <a:p>
            <a:pPr algn="l">
              <a:lnSpc>
                <a:spcPct val="100000"/>
              </a:lnSpc>
              <a:spcAft>
                <a:spcPts val="600"/>
              </a:spcAft>
            </a:pPr>
            <a:r>
              <a:rPr sz="1100" b="0">
                <a:solidFill>
                  <a:srgbClr val="475569"/>
                </a:solidFill>
                <a:latin typeface="Segoe UI"/>
              </a:rPr>
              <a:t>an organization or team</a:t>
            </a:r>
          </a:p>
        </p:txBody>
      </p:sp>
      <p:sp>
        <p:nvSpPr>
          <p:cNvPr id="14" name="TextBox 13"/>
          <p:cNvSpPr txBox="1"/>
          <p:nvPr/>
        </p:nvSpPr>
        <p:spPr>
          <a:xfrm>
            <a:off x="7607808" y="2907792"/>
            <a:ext cx="1234440" cy="274320"/>
          </a:xfrm>
          <a:prstGeom prst="rect">
            <a:avLst/>
          </a:prstGeom>
          <a:noFill/>
        </p:spPr>
        <p:txBody>
          <a:bodyPr wrap="square" lIns="0" rIns="0" tIns="0" bIns="0" anchor="t">
            <a:spAutoFit/>
          </a:bodyPr>
          <a:lstStyle/>
          <a:p>
            <a:pPr algn="l">
              <a:lnSpc>
                <a:spcPct val="100000"/>
              </a:lnSpc>
              <a:spcAft>
                <a:spcPts val="600"/>
              </a:spcAft>
            </a:pPr>
            <a:r>
              <a:rPr sz="1200" b="1">
                <a:solidFill>
                  <a:srgbClr val="0F172A"/>
                </a:solidFill>
                <a:latin typeface="Segoe UI"/>
              </a:rPr>
              <a:t>Workload</a:t>
            </a:r>
          </a:p>
        </p:txBody>
      </p:sp>
      <p:sp>
        <p:nvSpPr>
          <p:cNvPr id="15" name="TextBox 14"/>
          <p:cNvSpPr txBox="1"/>
          <p:nvPr/>
        </p:nvSpPr>
        <p:spPr>
          <a:xfrm>
            <a:off x="8796528" y="2926080"/>
            <a:ext cx="2606040" cy="365760"/>
          </a:xfrm>
          <a:prstGeom prst="rect">
            <a:avLst/>
          </a:prstGeom>
          <a:noFill/>
        </p:spPr>
        <p:txBody>
          <a:bodyPr wrap="square" lIns="0" rIns="0" tIns="0" bIns="0" anchor="t">
            <a:spAutoFit/>
          </a:bodyPr>
          <a:lstStyle/>
          <a:p>
            <a:pPr algn="l">
              <a:lnSpc>
                <a:spcPct val="100000"/>
              </a:lnSpc>
              <a:spcAft>
                <a:spcPts val="600"/>
              </a:spcAft>
            </a:pPr>
            <a:r>
              <a:rPr sz="1100" b="0">
                <a:solidFill>
                  <a:srgbClr val="475569"/>
                </a:solidFill>
                <a:latin typeface="Segoe UI"/>
              </a:rPr>
              <a:t>an app, assistant, agent or gateway</a:t>
            </a:r>
          </a:p>
        </p:txBody>
      </p:sp>
      <p:sp>
        <p:nvSpPr>
          <p:cNvPr id="16" name="TextBox 15"/>
          <p:cNvSpPr txBox="1"/>
          <p:nvPr/>
        </p:nvSpPr>
        <p:spPr>
          <a:xfrm>
            <a:off x="7607808" y="3401568"/>
            <a:ext cx="1234440" cy="274320"/>
          </a:xfrm>
          <a:prstGeom prst="rect">
            <a:avLst/>
          </a:prstGeom>
          <a:noFill/>
        </p:spPr>
        <p:txBody>
          <a:bodyPr wrap="square" lIns="0" rIns="0" tIns="0" bIns="0" anchor="t">
            <a:spAutoFit/>
          </a:bodyPr>
          <a:lstStyle/>
          <a:p>
            <a:pPr algn="l">
              <a:lnSpc>
                <a:spcPct val="100000"/>
              </a:lnSpc>
              <a:spcAft>
                <a:spcPts val="600"/>
              </a:spcAft>
            </a:pPr>
            <a:r>
              <a:rPr sz="1200" b="1">
                <a:solidFill>
                  <a:srgbClr val="0F172A"/>
                </a:solidFill>
                <a:latin typeface="Segoe UI"/>
              </a:rPr>
              <a:t>Policy</a:t>
            </a:r>
          </a:p>
        </p:txBody>
      </p:sp>
      <p:sp>
        <p:nvSpPr>
          <p:cNvPr id="17" name="TextBox 16"/>
          <p:cNvSpPr txBox="1"/>
          <p:nvPr/>
        </p:nvSpPr>
        <p:spPr>
          <a:xfrm>
            <a:off x="8796528" y="3419856"/>
            <a:ext cx="2606040" cy="365760"/>
          </a:xfrm>
          <a:prstGeom prst="rect">
            <a:avLst/>
          </a:prstGeom>
          <a:noFill/>
        </p:spPr>
        <p:txBody>
          <a:bodyPr wrap="square" lIns="0" rIns="0" tIns="0" bIns="0" anchor="t">
            <a:spAutoFit/>
          </a:bodyPr>
          <a:lstStyle/>
          <a:p>
            <a:pPr algn="l">
              <a:lnSpc>
                <a:spcPct val="100000"/>
              </a:lnSpc>
              <a:spcAft>
                <a:spcPts val="600"/>
              </a:spcAft>
            </a:pPr>
            <a:r>
              <a:rPr sz="1100" b="0">
                <a:solidFill>
                  <a:srgbClr val="475569"/>
                </a:solidFill>
                <a:latin typeface="Segoe UI"/>
              </a:rPr>
              <a:t>versioned checks + actions</a:t>
            </a:r>
          </a:p>
        </p:txBody>
      </p:sp>
      <p:sp>
        <p:nvSpPr>
          <p:cNvPr id="18" name="TextBox 17"/>
          <p:cNvSpPr txBox="1"/>
          <p:nvPr/>
        </p:nvSpPr>
        <p:spPr>
          <a:xfrm>
            <a:off x="7607808" y="3895344"/>
            <a:ext cx="1234440" cy="274320"/>
          </a:xfrm>
          <a:prstGeom prst="rect">
            <a:avLst/>
          </a:prstGeom>
          <a:noFill/>
        </p:spPr>
        <p:txBody>
          <a:bodyPr wrap="square" lIns="0" rIns="0" tIns="0" bIns="0" anchor="t">
            <a:spAutoFit/>
          </a:bodyPr>
          <a:lstStyle/>
          <a:p>
            <a:pPr algn="l">
              <a:lnSpc>
                <a:spcPct val="100000"/>
              </a:lnSpc>
              <a:spcAft>
                <a:spcPts val="600"/>
              </a:spcAft>
            </a:pPr>
            <a:r>
              <a:rPr sz="1200" b="1">
                <a:solidFill>
                  <a:srgbClr val="0F172A"/>
                </a:solidFill>
                <a:latin typeface="Segoe UI"/>
              </a:rPr>
              <a:t>Binding</a:t>
            </a:r>
          </a:p>
        </p:txBody>
      </p:sp>
      <p:sp>
        <p:nvSpPr>
          <p:cNvPr id="19" name="TextBox 18"/>
          <p:cNvSpPr txBox="1"/>
          <p:nvPr/>
        </p:nvSpPr>
        <p:spPr>
          <a:xfrm>
            <a:off x="8796528" y="3913632"/>
            <a:ext cx="2606040" cy="365760"/>
          </a:xfrm>
          <a:prstGeom prst="rect">
            <a:avLst/>
          </a:prstGeom>
          <a:noFill/>
        </p:spPr>
        <p:txBody>
          <a:bodyPr wrap="square" lIns="0" rIns="0" tIns="0" bIns="0" anchor="t">
            <a:spAutoFit/>
          </a:bodyPr>
          <a:lstStyle/>
          <a:p>
            <a:pPr algn="l">
              <a:lnSpc>
                <a:spcPct val="100000"/>
              </a:lnSpc>
              <a:spcAft>
                <a:spcPts val="600"/>
              </a:spcAft>
            </a:pPr>
            <a:r>
              <a:rPr sz="1100" b="0">
                <a:solidFill>
                  <a:srgbClr val="475569"/>
                </a:solidFill>
                <a:latin typeface="Segoe UI"/>
              </a:rPr>
              <a:t>workload ↔ policy version + mode</a:t>
            </a:r>
          </a:p>
        </p:txBody>
      </p:sp>
      <p:sp>
        <p:nvSpPr>
          <p:cNvPr id="20" name="TextBox 19"/>
          <p:cNvSpPr txBox="1"/>
          <p:nvPr/>
        </p:nvSpPr>
        <p:spPr>
          <a:xfrm>
            <a:off x="7607808" y="4389120"/>
            <a:ext cx="1234440" cy="274320"/>
          </a:xfrm>
          <a:prstGeom prst="rect">
            <a:avLst/>
          </a:prstGeom>
          <a:noFill/>
        </p:spPr>
        <p:txBody>
          <a:bodyPr wrap="square" lIns="0" rIns="0" tIns="0" bIns="0" anchor="t">
            <a:spAutoFit/>
          </a:bodyPr>
          <a:lstStyle/>
          <a:p>
            <a:pPr algn="l">
              <a:lnSpc>
                <a:spcPct val="100000"/>
              </a:lnSpc>
              <a:spcAft>
                <a:spcPts val="600"/>
              </a:spcAft>
            </a:pPr>
            <a:r>
              <a:rPr sz="1200" b="1">
                <a:solidFill>
                  <a:srgbClr val="0F172A"/>
                </a:solidFill>
                <a:latin typeface="Segoe UI"/>
              </a:rPr>
              <a:t>Evaluation</a:t>
            </a:r>
          </a:p>
        </p:txBody>
      </p:sp>
      <p:sp>
        <p:nvSpPr>
          <p:cNvPr id="21" name="TextBox 20"/>
          <p:cNvSpPr txBox="1"/>
          <p:nvPr/>
        </p:nvSpPr>
        <p:spPr>
          <a:xfrm>
            <a:off x="8796528" y="4407408"/>
            <a:ext cx="2606040" cy="365760"/>
          </a:xfrm>
          <a:prstGeom prst="rect">
            <a:avLst/>
          </a:prstGeom>
          <a:noFill/>
        </p:spPr>
        <p:txBody>
          <a:bodyPr wrap="square" lIns="0" rIns="0" tIns="0" bIns="0" anchor="t">
            <a:spAutoFit/>
          </a:bodyPr>
          <a:lstStyle/>
          <a:p>
            <a:pPr algn="l">
              <a:lnSpc>
                <a:spcPct val="100000"/>
              </a:lnSpc>
              <a:spcAft>
                <a:spcPts val="600"/>
              </a:spcAft>
            </a:pPr>
            <a:r>
              <a:rPr sz="1100" b="0">
                <a:solidFill>
                  <a:srgbClr val="475569"/>
                </a:solidFill>
                <a:latin typeface="Segoe UI"/>
              </a:rPr>
              <a:t>a request to inspect content</a:t>
            </a:r>
          </a:p>
        </p:txBody>
      </p:sp>
      <p:sp>
        <p:nvSpPr>
          <p:cNvPr id="22" name="TextBox 21"/>
          <p:cNvSpPr txBox="1"/>
          <p:nvPr/>
        </p:nvSpPr>
        <p:spPr>
          <a:xfrm>
            <a:off x="7607808" y="4882896"/>
            <a:ext cx="1234440" cy="274320"/>
          </a:xfrm>
          <a:prstGeom prst="rect">
            <a:avLst/>
          </a:prstGeom>
          <a:noFill/>
        </p:spPr>
        <p:txBody>
          <a:bodyPr wrap="square" lIns="0" rIns="0" tIns="0" bIns="0" anchor="t">
            <a:spAutoFit/>
          </a:bodyPr>
          <a:lstStyle/>
          <a:p>
            <a:pPr algn="l">
              <a:lnSpc>
                <a:spcPct val="100000"/>
              </a:lnSpc>
              <a:spcAft>
                <a:spcPts val="600"/>
              </a:spcAft>
            </a:pPr>
            <a:r>
              <a:rPr sz="1200" b="1">
                <a:solidFill>
                  <a:srgbClr val="0F172A"/>
                </a:solidFill>
                <a:latin typeface="Segoe UI"/>
              </a:rPr>
              <a:t>Decision</a:t>
            </a:r>
          </a:p>
        </p:txBody>
      </p:sp>
      <p:sp>
        <p:nvSpPr>
          <p:cNvPr id="23" name="TextBox 22"/>
          <p:cNvSpPr txBox="1"/>
          <p:nvPr/>
        </p:nvSpPr>
        <p:spPr>
          <a:xfrm>
            <a:off x="8796528" y="4901184"/>
            <a:ext cx="2606040" cy="365760"/>
          </a:xfrm>
          <a:prstGeom prst="rect">
            <a:avLst/>
          </a:prstGeom>
          <a:noFill/>
        </p:spPr>
        <p:txBody>
          <a:bodyPr wrap="square" lIns="0" rIns="0" tIns="0" bIns="0" anchor="t">
            <a:spAutoFit/>
          </a:bodyPr>
          <a:lstStyle/>
          <a:p>
            <a:pPr algn="l">
              <a:lnSpc>
                <a:spcPct val="100000"/>
              </a:lnSpc>
              <a:spcAft>
                <a:spcPts val="600"/>
              </a:spcAft>
            </a:pPr>
            <a:r>
              <a:rPr sz="1100" b="0">
                <a:solidFill>
                  <a:srgbClr val="475569"/>
                </a:solidFill>
                <a:latin typeface="Segoe UI"/>
              </a:rPr>
              <a:t>allow · block · redact · log_only</a:t>
            </a:r>
          </a:p>
        </p:txBody>
      </p:sp>
      <p:sp>
        <p:nvSpPr>
          <p:cNvPr id="24" name="Rounded Rectangle 23"/>
          <p:cNvSpPr/>
          <p:nvPr/>
        </p:nvSpPr>
        <p:spPr>
          <a:xfrm>
            <a:off x="566928" y="5166360"/>
            <a:ext cx="6400800" cy="914400"/>
          </a:xfrm>
          <a:prstGeom prst="roundRect">
            <a:avLst>
              <a:gd name="adj" fmla="val 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5166360"/>
            <a:ext cx="45720" cy="9144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5285232"/>
            <a:ext cx="2743200" cy="201168"/>
          </a:xfrm>
          <a:prstGeom prst="rect">
            <a:avLst/>
          </a:prstGeom>
          <a:noFill/>
        </p:spPr>
        <p:txBody>
          <a:bodyPr wrap="square" lIns="0" rIns="0" tIns="0" bIns="0" anchor="t">
            <a:spAutoFit/>
          </a:bodyPr>
          <a:lstStyle/>
          <a:p>
            <a:pPr algn="l">
              <a:lnSpc>
                <a:spcPct val="100000"/>
              </a:lnSpc>
              <a:spcAft>
                <a:spcPts val="600"/>
              </a:spcAft>
            </a:pPr>
            <a:r>
              <a:rPr sz="900" b="1">
                <a:solidFill>
                  <a:srgbClr val="B45309"/>
                </a:solidFill>
                <a:latin typeface="Segoe UI"/>
              </a:rPr>
              <a:t>CAVEAT</a:t>
            </a:r>
          </a:p>
        </p:txBody>
      </p:sp>
      <p:sp>
        <p:nvSpPr>
          <p:cNvPr id="27" name="TextBox 26"/>
          <p:cNvSpPr txBox="1"/>
          <p:nvPr/>
        </p:nvSpPr>
        <p:spPr>
          <a:xfrm>
            <a:off x="768096" y="5513832"/>
            <a:ext cx="5943600" cy="457200"/>
          </a:xfrm>
          <a:prstGeom prst="rect">
            <a:avLst/>
          </a:prstGeom>
          <a:noFill/>
        </p:spPr>
        <p:txBody>
          <a:bodyPr wrap="square" lIns="0" rIns="0" tIns="0" bIns="0" anchor="t">
            <a:spAutoFit/>
          </a:bodyPr>
          <a:lstStyle/>
          <a:p>
            <a:pPr algn="l">
              <a:lnSpc>
                <a:spcPct val="120000"/>
              </a:lnSpc>
              <a:spcAft>
                <a:spcPts val="600"/>
              </a:spcAft>
            </a:pPr>
            <a:r>
              <a:rPr sz="1150" b="0">
                <a:solidFill>
                  <a:srgbClr val="0F172A"/>
                </a:solidFill>
                <a:latin typeface="Segoe UI"/>
              </a:rPr>
              <a:t>Mode A is never a private-data or data-local model. Evaluated content reaches the hosted Evaluation API regardless of who runs the gateway (AGR-009). Residency requirements route to Mode C.</a:t>
            </a:r>
          </a:p>
        </p:txBody>
      </p:sp>
      <p:sp>
        <p:nvSpPr>
          <p:cNvPr id="28" name="TextBox 27"/>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solution-docs/20-product/SERVING-MODEL.md §1 · README §1 · AGREEMENTS AGR-003/004/017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148840"/>
            <a:ext cx="1828800" cy="1280160"/>
          </a:xfrm>
          <a:prstGeom prst="rect">
            <a:avLst/>
          </a:prstGeom>
          <a:noFill/>
        </p:spPr>
        <p:txBody>
          <a:bodyPr wrap="square" lIns="0" rIns="0" tIns="0" bIns="0" anchor="t">
            <a:spAutoFit/>
          </a:bodyPr>
          <a:lstStyle/>
          <a:p>
            <a:pPr algn="l">
              <a:lnSpc>
                <a:spcPct val="100000"/>
              </a:lnSpc>
              <a:spcAft>
                <a:spcPts val="600"/>
              </a:spcAft>
            </a:pPr>
            <a:r>
              <a:rPr sz="6400" b="1">
                <a:solidFill>
                  <a:srgbClr val="7C3AED"/>
                </a:solidFill>
                <a:latin typeface="Segoe UI"/>
              </a:rPr>
              <a:t>01</a:t>
            </a:r>
          </a:p>
        </p:txBody>
      </p:sp>
      <p:sp>
        <p:nvSpPr>
          <p:cNvPr id="5" name="TextBox 4"/>
          <p:cNvSpPr txBox="1"/>
          <p:nvPr/>
        </p:nvSpPr>
        <p:spPr>
          <a:xfrm>
            <a:off x="2377440" y="2331720"/>
            <a:ext cx="8686800" cy="914400"/>
          </a:xfrm>
          <a:prstGeom prst="rect">
            <a:avLst/>
          </a:prstGeom>
          <a:noFill/>
        </p:spPr>
        <p:txBody>
          <a:bodyPr wrap="square" lIns="0" rIns="0" tIns="0" bIns="0" anchor="t">
            <a:spAutoFit/>
          </a:bodyPr>
          <a:lstStyle/>
          <a:p>
            <a:pPr algn="l">
              <a:lnSpc>
                <a:spcPct val="100000"/>
              </a:lnSpc>
              <a:spcAft>
                <a:spcPts val="600"/>
              </a:spcAft>
            </a:pPr>
            <a:r>
              <a:rPr sz="3400" b="1">
                <a:solidFill>
                  <a:srgbClr val="FFFFFF"/>
                </a:solidFill>
                <a:latin typeface="Segoe UI"/>
              </a:rPr>
              <a:t>Capabilities</a:t>
            </a:r>
          </a:p>
        </p:txBody>
      </p:sp>
      <p:sp>
        <p:nvSpPr>
          <p:cNvPr id="6" name="TextBox 5"/>
          <p:cNvSpPr txBox="1"/>
          <p:nvPr/>
        </p:nvSpPr>
        <p:spPr>
          <a:xfrm>
            <a:off x="2423160" y="3246120"/>
            <a:ext cx="8229600" cy="1097280"/>
          </a:xfrm>
          <a:prstGeom prst="rect">
            <a:avLst/>
          </a:prstGeom>
          <a:noFill/>
        </p:spPr>
        <p:txBody>
          <a:bodyPr wrap="square" lIns="0" rIns="0" tIns="0" bIns="0" anchor="t">
            <a:spAutoFit/>
          </a:bodyPr>
          <a:lstStyle/>
          <a:p>
            <a:pPr algn="l">
              <a:lnSpc>
                <a:spcPct val="130000"/>
              </a:lnSpc>
              <a:spcAft>
                <a:spcPts val="600"/>
              </a:spcAft>
            </a:pPr>
            <a:r>
              <a:rPr sz="1500" b="0">
                <a:solidFill>
                  <a:srgbClr val="CBD5E1"/>
                </a:solidFill>
                <a:latin typeface="Segoe UI"/>
              </a:rPr>
              <a:t>37 cataloged capabilities, split by delivery status — plus the 13 things this product deliberately will not become.</a:t>
            </a:r>
          </a:p>
        </p:txBody>
      </p:sp>
      <p:sp>
        <p:nvSpPr>
          <p:cNvPr id="7" name="TextBox 6"/>
          <p:cNvSpPr txBox="1"/>
          <p:nvPr/>
        </p:nvSpPr>
        <p:spPr>
          <a:xfrm>
            <a:off x="10527487" y="630936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CAPABILITIES</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4</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The capability model in one picture</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Everything a consumer touches rides over one Evaluation API.</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1847088"/>
            <a:ext cx="2572435" cy="3291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847088"/>
            <a:ext cx="2572435"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1947672"/>
            <a:ext cx="2298115" cy="274320"/>
          </a:xfrm>
          <a:prstGeom prst="rect">
            <a:avLst/>
          </a:prstGeom>
          <a:noFill/>
        </p:spPr>
        <p:txBody>
          <a:bodyPr wrap="square" lIns="0" rIns="0" tIns="0" bIns="0" anchor="t">
            <a:spAutoFit/>
          </a:bodyPr>
          <a:lstStyle/>
          <a:p>
            <a:pPr algn="l">
              <a:lnSpc>
                <a:spcPct val="100000"/>
              </a:lnSpc>
              <a:spcAft>
                <a:spcPts val="600"/>
              </a:spcAft>
            </a:pPr>
            <a:r>
              <a:rPr sz="1050" b="1">
                <a:solidFill>
                  <a:srgbClr val="FFFFFF"/>
                </a:solidFill>
                <a:latin typeface="Segoe UI"/>
              </a:rPr>
              <a:t>CONTROL PLANE</a:t>
            </a:r>
          </a:p>
        </p:txBody>
      </p:sp>
      <p:sp>
        <p:nvSpPr>
          <p:cNvPr id="12" name="TextBox 11"/>
          <p:cNvSpPr txBox="1"/>
          <p:nvPr/>
        </p:nvSpPr>
        <p:spPr>
          <a:xfrm>
            <a:off x="768096" y="2468880"/>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Tenants &amp; workloads</a:t>
            </a:r>
          </a:p>
        </p:txBody>
      </p:sp>
      <p:sp>
        <p:nvSpPr>
          <p:cNvPr id="13" name="TextBox 12"/>
          <p:cNvSpPr txBox="1"/>
          <p:nvPr/>
        </p:nvSpPr>
        <p:spPr>
          <a:xfrm>
            <a:off x="768096" y="2944368"/>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Policies &amp; versions</a:t>
            </a:r>
          </a:p>
        </p:txBody>
      </p:sp>
      <p:sp>
        <p:nvSpPr>
          <p:cNvPr id="14" name="TextBox 13"/>
          <p:cNvSpPr txBox="1"/>
          <p:nvPr/>
        </p:nvSpPr>
        <p:spPr>
          <a:xfrm>
            <a:off x="768096" y="3419856"/>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Bindings &amp; rollouts</a:t>
            </a:r>
          </a:p>
        </p:txBody>
      </p:sp>
      <p:sp>
        <p:nvSpPr>
          <p:cNvPr id="15" name="TextBox 14"/>
          <p:cNvSpPr txBox="1"/>
          <p:nvPr/>
        </p:nvSpPr>
        <p:spPr>
          <a:xfrm>
            <a:off x="768096" y="3895344"/>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Promotion / rollback</a:t>
            </a:r>
          </a:p>
        </p:txBody>
      </p:sp>
      <p:sp>
        <p:nvSpPr>
          <p:cNvPr id="16" name="TextBox 15"/>
          <p:cNvSpPr txBox="1"/>
          <p:nvPr/>
        </p:nvSpPr>
        <p:spPr>
          <a:xfrm>
            <a:off x="768096" y="4370832"/>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Dashboards</a:t>
            </a:r>
          </a:p>
        </p:txBody>
      </p:sp>
      <p:sp>
        <p:nvSpPr>
          <p:cNvPr id="17" name="Rounded Rectangle 16"/>
          <p:cNvSpPr/>
          <p:nvPr/>
        </p:nvSpPr>
        <p:spPr>
          <a:xfrm>
            <a:off x="3395395" y="1847088"/>
            <a:ext cx="2572435" cy="3291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395395" y="1847088"/>
            <a:ext cx="2572435"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559987" y="1947672"/>
            <a:ext cx="2298115" cy="274320"/>
          </a:xfrm>
          <a:prstGeom prst="rect">
            <a:avLst/>
          </a:prstGeom>
          <a:noFill/>
        </p:spPr>
        <p:txBody>
          <a:bodyPr wrap="square" lIns="0" rIns="0" tIns="0" bIns="0" anchor="t">
            <a:spAutoFit/>
          </a:bodyPr>
          <a:lstStyle/>
          <a:p>
            <a:pPr algn="l">
              <a:lnSpc>
                <a:spcPct val="100000"/>
              </a:lnSpc>
              <a:spcAft>
                <a:spcPts val="600"/>
              </a:spcAft>
            </a:pPr>
            <a:r>
              <a:rPr sz="1050" b="1">
                <a:solidFill>
                  <a:srgbClr val="FFFFFF"/>
                </a:solidFill>
                <a:latin typeface="Segoe UI"/>
              </a:rPr>
              <a:t>GUARDRAILS RUNTIME</a:t>
            </a:r>
          </a:p>
        </p:txBody>
      </p:sp>
      <p:sp>
        <p:nvSpPr>
          <p:cNvPr id="20" name="TextBox 19"/>
          <p:cNvSpPr txBox="1"/>
          <p:nvPr/>
        </p:nvSpPr>
        <p:spPr>
          <a:xfrm>
            <a:off x="3596563" y="2468880"/>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Evaluation API</a:t>
            </a:r>
          </a:p>
        </p:txBody>
      </p:sp>
      <p:sp>
        <p:nvSpPr>
          <p:cNvPr id="21" name="TextBox 20"/>
          <p:cNvSpPr txBox="1"/>
          <p:nvPr/>
        </p:nvSpPr>
        <p:spPr>
          <a:xfrm>
            <a:off x="3596563" y="2944368"/>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Policy resolver</a:t>
            </a:r>
          </a:p>
        </p:txBody>
      </p:sp>
      <p:sp>
        <p:nvSpPr>
          <p:cNvPr id="22" name="TextBox 21"/>
          <p:cNvSpPr txBox="1"/>
          <p:nvPr/>
        </p:nvSpPr>
        <p:spPr>
          <a:xfrm>
            <a:off x="3596563" y="3419856"/>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Decision engine</a:t>
            </a:r>
          </a:p>
        </p:txBody>
      </p:sp>
      <p:sp>
        <p:nvSpPr>
          <p:cNvPr id="23" name="TextBox 22"/>
          <p:cNvSpPr txBox="1"/>
          <p:nvPr/>
        </p:nvSpPr>
        <p:spPr>
          <a:xfrm>
            <a:off x="3596563" y="3895344"/>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Evaluator adapters</a:t>
            </a:r>
          </a:p>
        </p:txBody>
      </p:sp>
      <p:sp>
        <p:nvSpPr>
          <p:cNvPr id="24" name="TextBox 23"/>
          <p:cNvSpPr txBox="1"/>
          <p:nvPr/>
        </p:nvSpPr>
        <p:spPr>
          <a:xfrm>
            <a:off x="3596563" y="4370832"/>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Audit producer</a:t>
            </a:r>
          </a:p>
        </p:txBody>
      </p:sp>
      <p:sp>
        <p:nvSpPr>
          <p:cNvPr id="25" name="Rounded Rectangle 24"/>
          <p:cNvSpPr/>
          <p:nvPr/>
        </p:nvSpPr>
        <p:spPr>
          <a:xfrm>
            <a:off x="6223863" y="1847088"/>
            <a:ext cx="2572435" cy="3291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223863" y="1847088"/>
            <a:ext cx="2572435" cy="38404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88455" y="1947672"/>
            <a:ext cx="2298115" cy="274320"/>
          </a:xfrm>
          <a:prstGeom prst="rect">
            <a:avLst/>
          </a:prstGeom>
          <a:noFill/>
        </p:spPr>
        <p:txBody>
          <a:bodyPr wrap="square" lIns="0" rIns="0" tIns="0" bIns="0" anchor="t">
            <a:spAutoFit/>
          </a:bodyPr>
          <a:lstStyle/>
          <a:p>
            <a:pPr algn="l">
              <a:lnSpc>
                <a:spcPct val="100000"/>
              </a:lnSpc>
              <a:spcAft>
                <a:spcPts val="600"/>
              </a:spcAft>
            </a:pPr>
            <a:r>
              <a:rPr sz="1050" b="1">
                <a:solidFill>
                  <a:srgbClr val="FFFFFF"/>
                </a:solidFill>
                <a:latin typeface="Segoe UI"/>
              </a:rPr>
              <a:t>EVALUATION ENGINES</a:t>
            </a:r>
          </a:p>
        </p:txBody>
      </p:sp>
      <p:sp>
        <p:nvSpPr>
          <p:cNvPr id="28" name="TextBox 27"/>
          <p:cNvSpPr txBox="1"/>
          <p:nvPr/>
        </p:nvSpPr>
        <p:spPr>
          <a:xfrm>
            <a:off x="6425031" y="2468880"/>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Bedrock Guardrails</a:t>
            </a:r>
          </a:p>
        </p:txBody>
      </p:sp>
      <p:sp>
        <p:nvSpPr>
          <p:cNvPr id="29" name="TextBox 28"/>
          <p:cNvSpPr txBox="1"/>
          <p:nvPr/>
        </p:nvSpPr>
        <p:spPr>
          <a:xfrm>
            <a:off x="6425031" y="2944368"/>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Deterministic org rules</a:t>
            </a:r>
          </a:p>
        </p:txBody>
      </p:sp>
      <p:sp>
        <p:nvSpPr>
          <p:cNvPr id="30" name="TextBox 29"/>
          <p:cNvSpPr txBox="1"/>
          <p:nvPr/>
        </p:nvSpPr>
        <p:spPr>
          <a:xfrm>
            <a:off x="6425031" y="3419856"/>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Sensitive-data (PII)</a:t>
            </a:r>
          </a:p>
        </p:txBody>
      </p:sp>
      <p:sp>
        <p:nvSpPr>
          <p:cNvPr id="31" name="TextBox 30"/>
          <p:cNvSpPr txBox="1"/>
          <p:nvPr/>
        </p:nvSpPr>
        <p:spPr>
          <a:xfrm>
            <a:off x="6425031" y="3895344"/>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Schema validators</a:t>
            </a:r>
          </a:p>
        </p:txBody>
      </p:sp>
      <p:sp>
        <p:nvSpPr>
          <p:cNvPr id="32" name="TextBox 31"/>
          <p:cNvSpPr txBox="1"/>
          <p:nvPr/>
        </p:nvSpPr>
        <p:spPr>
          <a:xfrm>
            <a:off x="6425031" y="4370832"/>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(future engines)</a:t>
            </a:r>
          </a:p>
        </p:txBody>
      </p:sp>
      <p:sp>
        <p:nvSpPr>
          <p:cNvPr id="33" name="Rounded Rectangle 32"/>
          <p:cNvSpPr/>
          <p:nvPr/>
        </p:nvSpPr>
        <p:spPr>
          <a:xfrm>
            <a:off x="9052331" y="1847088"/>
            <a:ext cx="2572435" cy="3291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9052331" y="1847088"/>
            <a:ext cx="2572435" cy="3840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216923" y="1947672"/>
            <a:ext cx="2298115" cy="274320"/>
          </a:xfrm>
          <a:prstGeom prst="rect">
            <a:avLst/>
          </a:prstGeom>
          <a:noFill/>
        </p:spPr>
        <p:txBody>
          <a:bodyPr wrap="square" lIns="0" rIns="0" tIns="0" bIns="0" anchor="t">
            <a:spAutoFit/>
          </a:bodyPr>
          <a:lstStyle/>
          <a:p>
            <a:pPr algn="l">
              <a:lnSpc>
                <a:spcPct val="100000"/>
              </a:lnSpc>
              <a:spcAft>
                <a:spcPts val="600"/>
              </a:spcAft>
            </a:pPr>
            <a:r>
              <a:rPr sz="1050" b="1">
                <a:solidFill>
                  <a:srgbClr val="FFFFFF"/>
                </a:solidFill>
                <a:latin typeface="Segoe UI"/>
              </a:rPr>
              <a:t>INTEGRATION CLIENTS</a:t>
            </a:r>
          </a:p>
        </p:txBody>
      </p:sp>
      <p:sp>
        <p:nvSpPr>
          <p:cNvPr id="36" name="TextBox 35"/>
          <p:cNvSpPr txBox="1"/>
          <p:nvPr/>
        </p:nvSpPr>
        <p:spPr>
          <a:xfrm>
            <a:off x="9253499" y="2468880"/>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LiteLLM connector</a:t>
            </a:r>
          </a:p>
        </p:txBody>
      </p:sp>
      <p:sp>
        <p:nvSpPr>
          <p:cNvPr id="37" name="TextBox 36"/>
          <p:cNvSpPr txBox="1"/>
          <p:nvPr/>
        </p:nvSpPr>
        <p:spPr>
          <a:xfrm>
            <a:off x="9253499" y="2944368"/>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Python SDK</a:t>
            </a:r>
          </a:p>
        </p:txBody>
      </p:sp>
      <p:sp>
        <p:nvSpPr>
          <p:cNvPr id="38" name="TextBox 37"/>
          <p:cNvSpPr txBox="1"/>
          <p:nvPr/>
        </p:nvSpPr>
        <p:spPr>
          <a:xfrm>
            <a:off x="9253499" y="3419856"/>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TypeScript SDK</a:t>
            </a:r>
          </a:p>
        </p:txBody>
      </p:sp>
      <p:sp>
        <p:nvSpPr>
          <p:cNvPr id="39" name="TextBox 38"/>
          <p:cNvSpPr txBox="1"/>
          <p:nvPr/>
        </p:nvSpPr>
        <p:spPr>
          <a:xfrm>
            <a:off x="9253499" y="3895344"/>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Raw HTTP API</a:t>
            </a:r>
          </a:p>
        </p:txBody>
      </p:sp>
      <p:sp>
        <p:nvSpPr>
          <p:cNvPr id="40" name="TextBox 39"/>
          <p:cNvSpPr txBox="1"/>
          <p:nvPr/>
        </p:nvSpPr>
        <p:spPr>
          <a:xfrm>
            <a:off x="9253499" y="4370832"/>
            <a:ext cx="2206675" cy="365760"/>
          </a:xfrm>
          <a:prstGeom prst="rect">
            <a:avLst/>
          </a:prstGeom>
          <a:noFill/>
        </p:spPr>
        <p:txBody>
          <a:bodyPr wrap="square" lIns="0" rIns="0" tIns="0" bIns="0" anchor="t">
            <a:spAutoFit/>
          </a:bodyPr>
          <a:lstStyle/>
          <a:p>
            <a:pPr algn="l">
              <a:lnSpc>
                <a:spcPct val="100000"/>
              </a:lnSpc>
              <a:spcAft>
                <a:spcPts val="600"/>
              </a:spcAft>
            </a:pPr>
            <a:r>
              <a:rPr sz="1150" b="0">
                <a:solidFill>
                  <a:srgbClr val="0F172A"/>
                </a:solidFill>
                <a:latin typeface="Segoe UI"/>
              </a:rPr>
              <a:t>· Guarded Gateway</a:t>
            </a:r>
          </a:p>
        </p:txBody>
      </p:sp>
      <p:sp>
        <p:nvSpPr>
          <p:cNvPr id="41" name="TextBox 40"/>
          <p:cNvSpPr txBox="1"/>
          <p:nvPr/>
        </p:nvSpPr>
        <p:spPr>
          <a:xfrm>
            <a:off x="566928" y="5367528"/>
            <a:ext cx="11057839" cy="457200"/>
          </a:xfrm>
          <a:prstGeom prst="rect">
            <a:avLst/>
          </a:prstGeom>
          <a:noFill/>
        </p:spPr>
        <p:txBody>
          <a:bodyPr wrap="square" lIns="0" rIns="0" tIns="0" bIns="0" anchor="t">
            <a:spAutoFit/>
          </a:bodyPr>
          <a:lstStyle/>
          <a:p>
            <a:pPr algn="l">
              <a:lnSpc>
                <a:spcPct val="125000"/>
              </a:lnSpc>
              <a:spcAft>
                <a:spcPts val="600"/>
              </a:spcAft>
            </a:pPr>
            <a:r>
              <a:rPr sz="1200" b="0">
                <a:solidFill>
                  <a:srgbClr val="475569"/>
                </a:solidFill>
                <a:latin typeface="Segoe UI"/>
              </a:rPr>
              <a:t>Parity rule: a connector or SDK may never add evaluation semantics the API does not itself expose. That is what keeps a policy identical across every integration path (AGR-005, AGR-006).</a:t>
            </a:r>
          </a:p>
        </p:txBody>
      </p:sp>
      <p:sp>
        <p:nvSpPr>
          <p:cNvPr id="42" name="TextBox 41"/>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50-architecture/INTEGRATION-ARCHITECTURE.md §2 · 20-product/SERVING-MODEL.md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CAPABILITIES</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5</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Core capabilities — Phases 1–2 (available at GA)</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17 capabilities, CAP-001 … CAP-017. These are what the Phase 1–2 release gate is judged against.</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Table 8"/>
          <p:cNvGraphicFramePr>
            <a:graphicFrameLocks noGrp="1"/>
          </p:cNvGraphicFramePr>
          <p:nvPr/>
        </p:nvGraphicFramePr>
        <p:xfrm>
          <a:off x="566928" y="1847088"/>
          <a:ext cx="11057837" cy="3712464"/>
        </p:xfrm>
        <a:graphic>
          <a:graphicData uri="http://schemas.openxmlformats.org/drawingml/2006/table">
            <a:tbl>
              <a:tblPr firstRow="1">
                <a:tableStyleId>{5C22544A-7EE6-4342-B048-85BDC9FD1C3A}</a:tableStyleId>
              </a:tblPr>
              <a:tblGrid>
                <a:gridCol w="2211567"/>
                <a:gridCol w="2211567"/>
                <a:gridCol w="6634703"/>
              </a:tblGrid>
              <a:tr h="347472">
                <a:tc>
                  <a:txBody>
                    <a:bodyPr/>
                    <a:lstStyle/>
                    <a:p>
                      <a:r>
                        <a:rPr sz="1100" b="1">
                          <a:solidFill>
                            <a:srgbClr val="FFFFFF"/>
                          </a:solidFill>
                          <a:latin typeface="Segoe UI"/>
                        </a:rPr>
                        <a:t>Area</a:t>
                      </a:r>
                    </a:p>
                  </a:txBody>
                  <a:tcPr marL="82296" marR="54864" marT="36576" marB="36576" anchor="ctr">
                    <a:solidFill>
                      <a:srgbClr val="0F172A"/>
                    </a:solidFill>
                  </a:tcPr>
                </a:tc>
                <a:tc>
                  <a:txBody>
                    <a:bodyPr/>
                    <a:lstStyle/>
                    <a:p>
                      <a:r>
                        <a:rPr sz="1100" b="1">
                          <a:solidFill>
                            <a:srgbClr val="FFFFFF"/>
                          </a:solidFill>
                          <a:latin typeface="Segoe UI"/>
                        </a:rPr>
                        <a:t>Capabilities</a:t>
                      </a:r>
                    </a:p>
                  </a:txBody>
                  <a:tcPr marL="82296" marR="54864" marT="36576" marB="36576" anchor="ctr">
                    <a:solidFill>
                      <a:srgbClr val="0F172A"/>
                    </a:solidFill>
                  </a:tcPr>
                </a:tc>
                <a:tc>
                  <a:txBody>
                    <a:bodyPr/>
                    <a:lstStyle/>
                    <a:p>
                      <a:r>
                        <a:rPr sz="1100" b="1">
                          <a:solidFill>
                            <a:srgbClr val="FFFFFF"/>
                          </a:solidFill>
                          <a:latin typeface="Segoe UI"/>
                        </a:rPr>
                        <a:t>What it gives a team</a:t>
                      </a:r>
                    </a:p>
                  </a:txBody>
                  <a:tcPr marL="82296" marR="54864" marT="36576" marB="36576" anchor="ctr">
                    <a:solidFill>
                      <a:srgbClr val="0F172A"/>
                    </a:solidFill>
                  </a:tcPr>
                </a:tc>
              </a:tr>
              <a:tr h="420624">
                <a:tc>
                  <a:txBody>
                    <a:bodyPr/>
                    <a:lstStyle/>
                    <a:p>
                      <a:pPr>
                        <a:lnSpc>
                          <a:spcPct val="105000"/>
                        </a:lnSpc>
                      </a:pPr>
                      <a:r>
                        <a:rPr sz="1200" b="1">
                          <a:solidFill>
                            <a:srgbClr val="0F172A"/>
                          </a:solidFill>
                          <a:latin typeface="Segoe UI"/>
                        </a:rPr>
                        <a:t>Policy governance</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CAP-001</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Versioned, immutable, rollback-able policies</a:t>
                      </a:r>
                    </a:p>
                  </a:txBody>
                  <a:tcPr marL="82296" marR="54864" marT="27432" marB="27432" anchor="ctr">
                    <a:solidFill>
                      <a:srgbClr val="FFFFFF"/>
                    </a:solidFill>
                  </a:tcPr>
                </a:tc>
              </a:tr>
              <a:tr h="420624">
                <a:tc>
                  <a:txBody>
                    <a:bodyPr/>
                    <a:lstStyle/>
                    <a:p>
                      <a:pPr>
                        <a:lnSpc>
                          <a:spcPct val="105000"/>
                        </a:lnSpc>
                      </a:pPr>
                      <a:r>
                        <a:rPr sz="1200" b="1">
                          <a:solidFill>
                            <a:srgbClr val="0F172A"/>
                          </a:solidFill>
                          <a:latin typeface="Segoe UI"/>
                        </a:rPr>
                        <a:t>Workload &amp; binding</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CAP-002, 003</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Register a workload; bind it to a policy version + mode</a:t>
                      </a:r>
                    </a:p>
                  </a:txBody>
                  <a:tcPr marL="82296" marR="54864" marT="27432" marB="27432" anchor="ctr">
                    <a:solidFill>
                      <a:srgbClr val="F1F5F9"/>
                    </a:solidFill>
                  </a:tcPr>
                </a:tc>
              </a:tr>
              <a:tr h="420624">
                <a:tc>
                  <a:txBody>
                    <a:bodyPr/>
                    <a:lstStyle/>
                    <a:p>
                      <a:pPr>
                        <a:lnSpc>
                          <a:spcPct val="105000"/>
                        </a:lnSpc>
                      </a:pPr>
                      <a:r>
                        <a:rPr sz="1200" b="1">
                          <a:solidFill>
                            <a:srgbClr val="0F172A"/>
                          </a:solidFill>
                          <a:latin typeface="Segoe UI"/>
                        </a:rPr>
                        <a:t>Evaluation</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CAP-004, 005</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Input (pre-model) and output (post-model) evaluation</a:t>
                      </a:r>
                    </a:p>
                  </a:txBody>
                  <a:tcPr marL="82296" marR="54864" marT="27432" marB="27432" anchor="ctr">
                    <a:solidFill>
                      <a:srgbClr val="FFFFFF"/>
                    </a:solidFill>
                  </a:tcPr>
                </a:tc>
              </a:tr>
              <a:tr h="420624">
                <a:tc>
                  <a:txBody>
                    <a:bodyPr/>
                    <a:lstStyle/>
                    <a:p>
                      <a:pPr>
                        <a:lnSpc>
                          <a:spcPct val="105000"/>
                        </a:lnSpc>
                      </a:pPr>
                      <a:r>
                        <a:rPr sz="1200" b="1">
                          <a:solidFill>
                            <a:srgbClr val="0F172A"/>
                          </a:solidFill>
                          <a:latin typeface="Segoe UI"/>
                        </a:rPr>
                        <a:t>Connectors &amp; APIs</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CAP-006 … 008</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LiteLLM pre/post-call connector + generic HTTP API</a:t>
                      </a:r>
                    </a:p>
                  </a:txBody>
                  <a:tcPr marL="82296" marR="54864" marT="27432" marB="27432" anchor="ctr">
                    <a:solidFill>
                      <a:srgbClr val="F1F5F9"/>
                    </a:solidFill>
                  </a:tcPr>
                </a:tc>
              </a:tr>
              <a:tr h="420624">
                <a:tc>
                  <a:txBody>
                    <a:bodyPr/>
                    <a:lstStyle/>
                    <a:p>
                      <a:pPr>
                        <a:lnSpc>
                          <a:spcPct val="105000"/>
                        </a:lnSpc>
                      </a:pPr>
                      <a:r>
                        <a:rPr sz="1200" b="1">
                          <a:solidFill>
                            <a:srgbClr val="0F172A"/>
                          </a:solidFill>
                          <a:latin typeface="Segoe UI"/>
                        </a:rPr>
                        <a:t>Evaluation engines</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CAP-009 … 011</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Bedrock adapter, deterministic rules, basic PII handling</a:t>
                      </a:r>
                    </a:p>
                  </a:txBody>
                  <a:tcPr marL="82296" marR="54864" marT="27432" marB="27432" anchor="ctr">
                    <a:solidFill>
                      <a:srgbClr val="FFFFFF"/>
                    </a:solidFill>
                  </a:tcPr>
                </a:tc>
              </a:tr>
              <a:tr h="420624">
                <a:tc>
                  <a:txBody>
                    <a:bodyPr/>
                    <a:lstStyle/>
                    <a:p>
                      <a:pPr>
                        <a:lnSpc>
                          <a:spcPct val="105000"/>
                        </a:lnSpc>
                      </a:pPr>
                      <a:r>
                        <a:rPr sz="1200" b="1">
                          <a:solidFill>
                            <a:srgbClr val="0F172A"/>
                          </a:solidFill>
                          <a:latin typeface="Segoe UI"/>
                        </a:rPr>
                        <a:t>Decisions &amp; audit</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CAP-012 … 015</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Normalized decisions, observe/enforce, latency, audit metadata</a:t>
                      </a:r>
                    </a:p>
                  </a:txBody>
                  <a:tcPr marL="82296" marR="54864" marT="27432" marB="27432" anchor="ctr">
                    <a:solidFill>
                      <a:srgbClr val="F1F5F9"/>
                    </a:solidFill>
                  </a:tcPr>
                </a:tc>
              </a:tr>
              <a:tr h="420624">
                <a:tc>
                  <a:txBody>
                    <a:bodyPr/>
                    <a:lstStyle/>
                    <a:p>
                      <a:pPr>
                        <a:lnSpc>
                          <a:spcPct val="105000"/>
                        </a:lnSpc>
                      </a:pPr>
                      <a:r>
                        <a:rPr sz="1200" b="1">
                          <a:solidFill>
                            <a:srgbClr val="0F172A"/>
                          </a:solidFill>
                          <a:latin typeface="Segoe UI"/>
                        </a:rPr>
                        <a:t>Deployment</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CAP-016, 017</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Hosted runtime + architected path to customer-managed</a:t>
                      </a:r>
                    </a:p>
                  </a:txBody>
                  <a:tcPr marL="82296" marR="54864" marT="27432" marB="27432" anchor="ctr">
                    <a:solidFill>
                      <a:srgbClr val="FFFFFF"/>
                    </a:solidFill>
                  </a:tcPr>
                </a:tc>
              </a:tr>
              <a:tr h="420624">
                <a:tc>
                  <a:txBody>
                    <a:bodyPr/>
                    <a:lstStyle/>
                    <a:p>
                      <a:pPr>
                        <a:lnSpc>
                          <a:spcPct val="105000"/>
                        </a:lnSpc>
                      </a:pPr>
                      <a:r>
                        <a:rPr sz="1200" b="1">
                          <a:solidFill>
                            <a:srgbClr val="0F172A"/>
                          </a:solidFill>
                          <a:latin typeface="Segoe UI"/>
                        </a:rPr>
                        <a:t>Availability</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CAP-035 (avail.)</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Multi-region availability, tenant pinned to one region</a:t>
                      </a:r>
                    </a:p>
                  </a:txBody>
                  <a:tcPr marL="82296" marR="54864" marT="27432" marB="27432" anchor="ctr">
                    <a:solidFill>
                      <a:srgbClr val="F1F5F9"/>
                    </a:solidFill>
                  </a:tcPr>
                </a:tc>
              </a:tr>
            </a:tbl>
          </a:graphicData>
        </a:graphic>
      </p:graphicFrame>
      <p:sp>
        <p:nvSpPr>
          <p:cNvPr id="10" name="TextBox 9"/>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20-product/CAPABILITIES.md — Core capabilities, Phases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CAPABILITIES</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6</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Committed later-phase capabilities — Phases 3–5</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20 capabilities, CAP-018 … CAP-037. Estimated and committed, not built during Phases 1–2, not available today.</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Table 8"/>
          <p:cNvGraphicFramePr>
            <a:graphicFrameLocks noGrp="1"/>
          </p:cNvGraphicFramePr>
          <p:nvPr/>
        </p:nvGraphicFramePr>
        <p:xfrm>
          <a:off x="566928" y="1847088"/>
          <a:ext cx="11057837" cy="3502152"/>
        </p:xfrm>
        <a:graphic>
          <a:graphicData uri="http://schemas.openxmlformats.org/drawingml/2006/table">
            <a:tbl>
              <a:tblPr firstRow="1">
                <a:tableStyleId>{5C22544A-7EE6-4342-B048-85BDC9FD1C3A}</a:tableStyleId>
              </a:tblPr>
              <a:tblGrid>
                <a:gridCol w="2281776"/>
                <a:gridCol w="7547413"/>
                <a:gridCol w="1228648"/>
              </a:tblGrid>
              <a:tr h="347472">
                <a:tc>
                  <a:txBody>
                    <a:bodyPr/>
                    <a:lstStyle/>
                    <a:p>
                      <a:r>
                        <a:rPr sz="1100" b="1">
                          <a:solidFill>
                            <a:srgbClr val="FFFFFF"/>
                          </a:solidFill>
                          <a:latin typeface="Segoe UI"/>
                        </a:rPr>
                        <a:t>Theme</a:t>
                      </a:r>
                    </a:p>
                  </a:txBody>
                  <a:tcPr marL="82296" marR="54864" marT="36576" marB="36576" anchor="ctr">
                    <a:solidFill>
                      <a:srgbClr val="0F172A"/>
                    </a:solidFill>
                  </a:tcPr>
                </a:tc>
                <a:tc>
                  <a:txBody>
                    <a:bodyPr/>
                    <a:lstStyle/>
                    <a:p>
                      <a:r>
                        <a:rPr sz="1100" b="1">
                          <a:solidFill>
                            <a:srgbClr val="FFFFFF"/>
                          </a:solidFill>
                          <a:latin typeface="Segoe UI"/>
                        </a:rPr>
                        <a:t>Capabilities</a:t>
                      </a:r>
                    </a:p>
                  </a:txBody>
                  <a:tcPr marL="82296" marR="54864" marT="36576" marB="36576" anchor="ctr">
                    <a:solidFill>
                      <a:srgbClr val="0F172A"/>
                    </a:solidFill>
                  </a:tcPr>
                </a:tc>
                <a:tc>
                  <a:txBody>
                    <a:bodyPr/>
                    <a:lstStyle/>
                    <a:p>
                      <a:r>
                        <a:rPr sz="1100" b="1">
                          <a:solidFill>
                            <a:srgbClr val="FFFFFF"/>
                          </a:solidFill>
                          <a:latin typeface="Segoe UI"/>
                        </a:rPr>
                        <a:t>Phase</a:t>
                      </a:r>
                    </a:p>
                  </a:txBody>
                  <a:tcPr marL="82296" marR="54864" marT="36576" marB="36576" anchor="ctr">
                    <a:solidFill>
                      <a:srgbClr val="0F172A"/>
                    </a:solidFill>
                  </a:tcPr>
                </a:tc>
              </a:tr>
              <a:tr h="1051560">
                <a:tc>
                  <a:txBody>
                    <a:bodyPr/>
                    <a:lstStyle/>
                    <a:p>
                      <a:pPr>
                        <a:lnSpc>
                          <a:spcPct val="105000"/>
                        </a:lnSpc>
                      </a:pPr>
                      <a:r>
                        <a:rPr sz="1150" b="1">
                          <a:solidFill>
                            <a:srgbClr val="0F172A"/>
                          </a:solidFill>
                          <a:latin typeface="Segoe UI"/>
                        </a:rPr>
                        <a:t>Extended evaluation scope</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Retrieval content, indirect prompt injection, streaming output, tool-call validation, MCP authorization, memory-write, groundedness, automated reasoning, multilingual packs</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Mostly 5</a:t>
                      </a:r>
                    </a:p>
                  </a:txBody>
                  <a:tcPr marL="82296" marR="54864" marT="27432" marB="27432" anchor="ctr">
                    <a:solidFill>
                      <a:srgbClr val="FFFFFF"/>
                    </a:solidFill>
                  </a:tcPr>
                </a:tc>
              </a:tr>
              <a:tr h="1051560">
                <a:tc>
                  <a:txBody>
                    <a:bodyPr/>
                    <a:lstStyle/>
                    <a:p>
                      <a:pPr>
                        <a:lnSpc>
                          <a:spcPct val="105000"/>
                        </a:lnSpc>
                      </a:pPr>
                      <a:r>
                        <a:rPr sz="1150" b="1">
                          <a:solidFill>
                            <a:srgbClr val="0F172A"/>
                          </a:solidFill>
                          <a:latin typeface="Segoe UI"/>
                        </a:rPr>
                        <a:t>Extended governance</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Human approval workflows, policy signing, policy inheritance, customer evaluator plugins, policy marketplace</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3–5</a:t>
                      </a:r>
                    </a:p>
                  </a:txBody>
                  <a:tcPr marL="82296" marR="54864" marT="27432" marB="27432" anchor="ctr">
                    <a:solidFill>
                      <a:srgbClr val="F1F5F9"/>
                    </a:solidFill>
                  </a:tcPr>
                </a:tc>
              </a:tr>
              <a:tr h="1051560">
                <a:tc>
                  <a:txBody>
                    <a:bodyPr/>
                    <a:lstStyle/>
                    <a:p>
                      <a:pPr>
                        <a:lnSpc>
                          <a:spcPct val="105000"/>
                        </a:lnSpc>
                      </a:pPr>
                      <a:r>
                        <a:rPr sz="1150" b="1">
                          <a:solidFill>
                            <a:srgbClr val="0F172A"/>
                          </a:solidFill>
                          <a:latin typeface="Segoe UI"/>
                        </a:rPr>
                        <a:t>Deployment &amp; commercial</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Dedicated hosted runtimes, air-gapped install, commercial metering, per-tenant residency enforcement, multi-region active-active, per-category decision metrics</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3–5</a:t>
                      </a:r>
                    </a:p>
                  </a:txBody>
                  <a:tcPr marL="82296" marR="54864" marT="27432" marB="27432" anchor="ctr">
                    <a:solidFill>
                      <a:srgbClr val="FFFFFF"/>
                    </a:solidFill>
                  </a:tcPr>
                </a:tc>
              </a:tr>
            </a:tbl>
          </a:graphicData>
        </a:graphic>
      </p:graphicFrame>
      <p:sp>
        <p:nvSpPr>
          <p:cNvPr id="10" name="Rounded Rectangle 9"/>
          <p:cNvSpPr/>
          <p:nvPr/>
        </p:nvSpPr>
        <p:spPr>
          <a:xfrm>
            <a:off x="566928" y="5522975"/>
            <a:ext cx="11057839" cy="841248"/>
          </a:xfrm>
          <a:prstGeom prst="roundRect">
            <a:avLst>
              <a:gd name="adj" fmla="val 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522975"/>
            <a:ext cx="45720" cy="8412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8096" y="5641847"/>
            <a:ext cx="2743200" cy="201168"/>
          </a:xfrm>
          <a:prstGeom prst="rect">
            <a:avLst/>
          </a:prstGeom>
          <a:noFill/>
        </p:spPr>
        <p:txBody>
          <a:bodyPr wrap="square" lIns="0" rIns="0" tIns="0" bIns="0" anchor="t">
            <a:spAutoFit/>
          </a:bodyPr>
          <a:lstStyle/>
          <a:p>
            <a:pPr algn="l">
              <a:lnSpc>
                <a:spcPct val="100000"/>
              </a:lnSpc>
              <a:spcAft>
                <a:spcPts val="600"/>
              </a:spcAft>
            </a:pPr>
            <a:r>
              <a:rPr sz="900" b="1">
                <a:solidFill>
                  <a:srgbClr val="B45309"/>
                </a:solidFill>
                <a:latin typeface="Segoe UI"/>
              </a:rPr>
              <a:t>CAVEAT</a:t>
            </a:r>
          </a:p>
        </p:txBody>
      </p:sp>
      <p:sp>
        <p:nvSpPr>
          <p:cNvPr id="13" name="TextBox 12"/>
          <p:cNvSpPr txBox="1"/>
          <p:nvPr/>
        </p:nvSpPr>
        <p:spPr>
          <a:xfrm>
            <a:off x="768096" y="5870447"/>
            <a:ext cx="10600639" cy="384048"/>
          </a:xfrm>
          <a:prstGeom prst="rect">
            <a:avLst/>
          </a:prstGeom>
          <a:noFill/>
        </p:spPr>
        <p:txBody>
          <a:bodyPr wrap="square" lIns="0" rIns="0" tIns="0" bIns="0" anchor="t">
            <a:spAutoFit/>
          </a:bodyPr>
          <a:lstStyle/>
          <a:p>
            <a:pPr algn="l">
              <a:lnSpc>
                <a:spcPct val="120000"/>
              </a:lnSpc>
              <a:spcAft>
                <a:spcPts val="600"/>
              </a:spcAft>
            </a:pPr>
            <a:r>
              <a:rPr sz="1150" b="0">
                <a:solidFill>
                  <a:srgbClr val="0F172A"/>
                </a:solidFill>
                <a:latin typeface="Segoe UI"/>
              </a:rPr>
              <a:t>Phase assignment is a scope decision, not an editorial one. Nothing in this table may be pulled forward into Phases 1–2 without a recorded change to the L1 registers (DEC-008, AGR-020).</a:t>
            </a:r>
          </a:p>
        </p:txBody>
      </p:sp>
      <p:sp>
        <p:nvSpPr>
          <p:cNvPr id="14" name="TextBox 13"/>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20-product/CAPABILITIES.md — Later-phase capabilities · DECISIONS DEC-008, DEC-018–020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CAPABILITIES</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7</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What this product deliberately is not</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13 product-category exclusions. They are not a backlog — re-entering any of them needs a new agreement.</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847088"/>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General-purpose LLM gateway replacement</a:t>
            </a:r>
          </a:p>
        </p:txBody>
      </p:sp>
      <p:sp>
        <p:nvSpPr>
          <p:cNvPr id="10" name="TextBox 9"/>
          <p:cNvSpPr txBox="1"/>
          <p:nvPr/>
        </p:nvSpPr>
        <p:spPr>
          <a:xfrm>
            <a:off x="566928" y="2231136"/>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Complete AI governance platform</a:t>
            </a:r>
          </a:p>
        </p:txBody>
      </p:sp>
      <p:sp>
        <p:nvSpPr>
          <p:cNvPr id="11" name="TextBox 10"/>
          <p:cNvSpPr txBox="1"/>
          <p:nvPr/>
        </p:nvSpPr>
        <p:spPr>
          <a:xfrm>
            <a:off x="566928" y="2615184"/>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Model training or fine-tuning</a:t>
            </a:r>
          </a:p>
        </p:txBody>
      </p:sp>
      <p:sp>
        <p:nvSpPr>
          <p:cNvPr id="12" name="TextBox 11"/>
          <p:cNvSpPr txBox="1"/>
          <p:nvPr/>
        </p:nvSpPr>
        <p:spPr>
          <a:xfrm>
            <a:off x="566928" y="2999232"/>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Proprietary prompt-injection model</a:t>
            </a:r>
          </a:p>
        </p:txBody>
      </p:sp>
      <p:sp>
        <p:nvSpPr>
          <p:cNvPr id="13" name="TextBox 12"/>
          <p:cNvSpPr txBox="1"/>
          <p:nvPr/>
        </p:nvSpPr>
        <p:spPr>
          <a:xfrm>
            <a:off x="566928" y="3383280"/>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Proprietary moderation model</a:t>
            </a:r>
          </a:p>
        </p:txBody>
      </p:sp>
      <p:sp>
        <p:nvSpPr>
          <p:cNvPr id="14" name="TextBox 13"/>
          <p:cNvSpPr txBox="1"/>
          <p:nvPr/>
        </p:nvSpPr>
        <p:spPr>
          <a:xfrm>
            <a:off x="4344314" y="1847088"/>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Complete DLP platform</a:t>
            </a:r>
          </a:p>
        </p:txBody>
      </p:sp>
      <p:sp>
        <p:nvSpPr>
          <p:cNvPr id="15" name="TextBox 14"/>
          <p:cNvSpPr txBox="1"/>
          <p:nvPr/>
        </p:nvSpPr>
        <p:spPr>
          <a:xfrm>
            <a:off x="4344314" y="2231136"/>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End-user authentication</a:t>
            </a:r>
          </a:p>
        </p:txBody>
      </p:sp>
      <p:sp>
        <p:nvSpPr>
          <p:cNvPr id="16" name="TextBox 15"/>
          <p:cNvSpPr txBox="1"/>
          <p:nvPr/>
        </p:nvSpPr>
        <p:spPr>
          <a:xfrm>
            <a:off x="4344314" y="2615184"/>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Application business authorization</a:t>
            </a:r>
          </a:p>
        </p:txBody>
      </p:sp>
      <p:sp>
        <p:nvSpPr>
          <p:cNvPr id="17" name="TextBox 16"/>
          <p:cNvSpPr txBox="1"/>
          <p:nvPr/>
        </p:nvSpPr>
        <p:spPr>
          <a:xfrm>
            <a:off x="4344314" y="2999232"/>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Fully autonomous agent governance</a:t>
            </a:r>
          </a:p>
        </p:txBody>
      </p:sp>
      <p:sp>
        <p:nvSpPr>
          <p:cNvPr id="18" name="TextBox 17"/>
          <p:cNvSpPr txBox="1"/>
          <p:nvPr/>
        </p:nvSpPr>
        <p:spPr>
          <a:xfrm>
            <a:off x="4344314" y="3383280"/>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Organization-wide AWS enforcement</a:t>
            </a:r>
          </a:p>
        </p:txBody>
      </p:sp>
      <p:sp>
        <p:nvSpPr>
          <p:cNvPr id="19" name="TextBox 18"/>
          <p:cNvSpPr txBox="1"/>
          <p:nvPr/>
        </p:nvSpPr>
        <p:spPr>
          <a:xfrm>
            <a:off x="8121700" y="1847088"/>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Cross-cloud deployment</a:t>
            </a:r>
          </a:p>
        </p:txBody>
      </p:sp>
      <p:sp>
        <p:nvSpPr>
          <p:cNvPr id="20" name="TextBox 19"/>
          <p:cNvSpPr txBox="1"/>
          <p:nvPr/>
        </p:nvSpPr>
        <p:spPr>
          <a:xfrm>
            <a:off x="8121700" y="2231136"/>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Full compliance certification</a:t>
            </a:r>
          </a:p>
        </p:txBody>
      </p:sp>
      <p:sp>
        <p:nvSpPr>
          <p:cNvPr id="21" name="TextBox 20"/>
          <p:cNvSpPr txBox="1"/>
          <p:nvPr/>
        </p:nvSpPr>
        <p:spPr>
          <a:xfrm>
            <a:off x="8121700" y="2615184"/>
            <a:ext cx="3503066" cy="329184"/>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  General MCP security platform</a:t>
            </a:r>
          </a:p>
        </p:txBody>
      </p:sp>
      <p:sp>
        <p:nvSpPr>
          <p:cNvPr id="22" name="Rounded Rectangle 21"/>
          <p:cNvSpPr/>
          <p:nvPr/>
        </p:nvSpPr>
        <p:spPr>
          <a:xfrm>
            <a:off x="566928" y="4087368"/>
            <a:ext cx="11057839" cy="105156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6928" y="4087368"/>
            <a:ext cx="45720" cy="10515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68096" y="4206240"/>
            <a:ext cx="2743200" cy="201168"/>
          </a:xfrm>
          <a:prstGeom prst="rect">
            <a:avLst/>
          </a:prstGeom>
          <a:noFill/>
        </p:spPr>
        <p:txBody>
          <a:bodyPr wrap="square" lIns="0" rIns="0" tIns="0" bIns="0" anchor="t">
            <a:spAutoFit/>
          </a:bodyPr>
          <a:lstStyle/>
          <a:p>
            <a:pPr algn="l">
              <a:lnSpc>
                <a:spcPct val="100000"/>
              </a:lnSpc>
              <a:spcAft>
                <a:spcPts val="600"/>
              </a:spcAft>
            </a:pPr>
            <a:r>
              <a:rPr sz="900" b="1">
                <a:solidFill>
                  <a:srgbClr val="B91C1C"/>
                </a:solidFill>
                <a:latin typeface="Segoe UI"/>
              </a:rPr>
              <a:t>NON-NEGOTIABLE FRAMING</a:t>
            </a:r>
          </a:p>
        </p:txBody>
      </p:sp>
      <p:sp>
        <p:nvSpPr>
          <p:cNvPr id="25" name="TextBox 24"/>
          <p:cNvSpPr txBox="1"/>
          <p:nvPr/>
        </p:nvSpPr>
        <p:spPr>
          <a:xfrm>
            <a:off x="768096" y="4434840"/>
            <a:ext cx="10600639" cy="594360"/>
          </a:xfrm>
          <a:prstGeom prst="rect">
            <a:avLst/>
          </a:prstGeom>
          <a:noFill/>
        </p:spPr>
        <p:txBody>
          <a:bodyPr wrap="square" lIns="0" rIns="0" tIns="0" bIns="0" anchor="t">
            <a:spAutoFit/>
          </a:bodyPr>
          <a:lstStyle/>
          <a:p>
            <a:pPr algn="l">
              <a:lnSpc>
                <a:spcPct val="120000"/>
              </a:lnSpc>
              <a:spcAft>
                <a:spcPts val="600"/>
              </a:spcAft>
            </a:pPr>
            <a:r>
              <a:rPr sz="1150" b="0">
                <a:solidFill>
                  <a:srgbClr val="0F172A"/>
                </a:solidFill>
                <a:latin typeface="Segoe UI"/>
              </a:rPr>
              <a:t>Two honesty caveats we carry into every conversation: (1) a cooperatively installed connector can always be disabled or misconfigured — 'mandatory' in Mode A is a governance guarantee, not a physical one (AGR-018); (2) a guardrail decision is never an authorization decision (AGR-010).</a:t>
            </a:r>
          </a:p>
        </p:txBody>
      </p:sp>
      <p:sp>
        <p:nvSpPr>
          <p:cNvPr id="26" name="TextBox 25"/>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20-product/CAPABILITIES.md · 70-governance/CLAIMS-REGISTER.md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148840"/>
            <a:ext cx="1828800" cy="1280160"/>
          </a:xfrm>
          <a:prstGeom prst="rect">
            <a:avLst/>
          </a:prstGeom>
          <a:noFill/>
        </p:spPr>
        <p:txBody>
          <a:bodyPr wrap="square" lIns="0" rIns="0" tIns="0" bIns="0" anchor="t">
            <a:spAutoFit/>
          </a:bodyPr>
          <a:lstStyle/>
          <a:p>
            <a:pPr algn="l">
              <a:lnSpc>
                <a:spcPct val="100000"/>
              </a:lnSpc>
              <a:spcAft>
                <a:spcPts val="600"/>
              </a:spcAft>
            </a:pPr>
            <a:r>
              <a:rPr sz="6400" b="1">
                <a:solidFill>
                  <a:srgbClr val="7C3AED"/>
                </a:solidFill>
                <a:latin typeface="Segoe UI"/>
              </a:rPr>
              <a:t>02</a:t>
            </a:r>
          </a:p>
        </p:txBody>
      </p:sp>
      <p:sp>
        <p:nvSpPr>
          <p:cNvPr id="5" name="TextBox 4"/>
          <p:cNvSpPr txBox="1"/>
          <p:nvPr/>
        </p:nvSpPr>
        <p:spPr>
          <a:xfrm>
            <a:off x="2377440" y="2331720"/>
            <a:ext cx="8686800" cy="914400"/>
          </a:xfrm>
          <a:prstGeom prst="rect">
            <a:avLst/>
          </a:prstGeom>
          <a:noFill/>
        </p:spPr>
        <p:txBody>
          <a:bodyPr wrap="square" lIns="0" rIns="0" tIns="0" bIns="0" anchor="t">
            <a:spAutoFit/>
          </a:bodyPr>
          <a:lstStyle/>
          <a:p>
            <a:pPr algn="l">
              <a:lnSpc>
                <a:spcPct val="100000"/>
              </a:lnSpc>
              <a:spcAft>
                <a:spcPts val="600"/>
              </a:spcAft>
            </a:pPr>
            <a:r>
              <a:rPr sz="3400" b="1">
                <a:solidFill>
                  <a:srgbClr val="FFFFFF"/>
                </a:solidFill>
                <a:latin typeface="Segoe UI"/>
              </a:rPr>
              <a:t>Use cases — the three modes</a:t>
            </a:r>
          </a:p>
        </p:txBody>
      </p:sp>
      <p:sp>
        <p:nvSpPr>
          <p:cNvPr id="6" name="TextBox 5"/>
          <p:cNvSpPr txBox="1"/>
          <p:nvPr/>
        </p:nvSpPr>
        <p:spPr>
          <a:xfrm>
            <a:off x="2423160" y="3246120"/>
            <a:ext cx="8229600" cy="1097280"/>
          </a:xfrm>
          <a:prstGeom prst="rect">
            <a:avLst/>
          </a:prstGeom>
          <a:noFill/>
        </p:spPr>
        <p:txBody>
          <a:bodyPr wrap="square" lIns="0" rIns="0" tIns="0" bIns="0" anchor="t">
            <a:spAutoFit/>
          </a:bodyPr>
          <a:lstStyle/>
          <a:p>
            <a:pPr algn="l">
              <a:lnSpc>
                <a:spcPct val="130000"/>
              </a:lnSpc>
              <a:spcAft>
                <a:spcPts val="600"/>
              </a:spcAft>
            </a:pPr>
            <a:r>
              <a:rPr sz="1500" b="0">
                <a:solidFill>
                  <a:srgbClr val="CBD5E1"/>
                </a:solidFill>
                <a:latin typeface="Segoe UI"/>
              </a:rPr>
              <a:t>Mode A is the front door. Modes B and C exist to answer two specific objections, not to compete for the first conversation.</a:t>
            </a:r>
          </a:p>
        </p:txBody>
      </p:sp>
      <p:sp>
        <p:nvSpPr>
          <p:cNvPr id="7" name="TextBox 6"/>
          <p:cNvSpPr txBox="1"/>
          <p:nvPr/>
        </p:nvSpPr>
        <p:spPr>
          <a:xfrm>
            <a:off x="10527487" y="630936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MODES</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9</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Three deployment modes at a glance</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One logical evaluation contract across all three. Only the network location of the Evaluation API changes.</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1847088"/>
            <a:ext cx="3515258" cy="278892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847088"/>
            <a:ext cx="3515258" cy="45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2066544"/>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2563EB"/>
                </a:solidFill>
                <a:latin typeface="Segoe UI"/>
              </a:rPr>
              <a:t>MODE A · PHASES 1–2 · FRONT DOOR</a:t>
            </a:r>
          </a:p>
        </p:txBody>
      </p:sp>
      <p:sp>
        <p:nvSpPr>
          <p:cNvPr id="12" name="TextBox 11"/>
          <p:cNvSpPr txBox="1"/>
          <p:nvPr/>
        </p:nvSpPr>
        <p:spPr>
          <a:xfrm>
            <a:off x="768096" y="2340864"/>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Remote Evaluation</a:t>
            </a:r>
          </a:p>
        </p:txBody>
      </p:sp>
      <p:sp>
        <p:nvSpPr>
          <p:cNvPr id="13" name="TextBox 12"/>
          <p:cNvSpPr txBox="1"/>
          <p:nvPr/>
        </p:nvSpPr>
        <p:spPr>
          <a:xfrm>
            <a:off x="768096" y="2871216"/>
            <a:ext cx="3112922" cy="160020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You keep your own gateway (LiteLLM) or call the API directly</a:t>
            </a:r>
          </a:p>
          <a:p>
            <a:pPr>
              <a:lnSpc>
                <a:spcPct val="115000"/>
              </a:lnSpc>
              <a:spcAft>
                <a:spcPts val="500"/>
              </a:spcAft>
            </a:pPr>
            <a:r>
              <a:rPr sz="1150">
                <a:solidFill>
                  <a:srgbClr val="475569"/>
                </a:solidFill>
                <a:latin typeface="Segoe UI"/>
              </a:rPr>
              <a:t>· Connector calls the hosted Evaluation API pre- and post-call</a:t>
            </a:r>
          </a:p>
          <a:p>
            <a:pPr>
              <a:lnSpc>
                <a:spcPct val="115000"/>
              </a:lnSpc>
              <a:spcAft>
                <a:spcPts val="500"/>
              </a:spcAft>
            </a:pPr>
            <a:r>
              <a:rPr sz="1150">
                <a:solidFill>
                  <a:srgbClr val="475569"/>
                </a:solidFill>
                <a:latin typeface="Segoe UI"/>
              </a:rPr>
              <a:t>· Smallest footprint for both sides</a:t>
            </a:r>
          </a:p>
          <a:p>
            <a:pPr>
              <a:lnSpc>
                <a:spcPct val="115000"/>
              </a:lnSpc>
              <a:spcAft>
                <a:spcPts val="500"/>
              </a:spcAft>
            </a:pPr>
            <a:r>
              <a:rPr sz="1150">
                <a:solidFill>
                  <a:srgbClr val="475569"/>
                </a:solidFill>
                <a:latin typeface="Segoe UI"/>
              </a:rPr>
              <a:t>· Content DOES reach the hosted API</a:t>
            </a:r>
          </a:p>
        </p:txBody>
      </p:sp>
      <p:sp>
        <p:nvSpPr>
          <p:cNvPr id="14" name="Rounded Rectangle 13"/>
          <p:cNvSpPr/>
          <p:nvPr/>
        </p:nvSpPr>
        <p:spPr>
          <a:xfrm>
            <a:off x="4338218" y="1847088"/>
            <a:ext cx="3515258" cy="278892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38218" y="1847088"/>
            <a:ext cx="3515258" cy="45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9386" y="2066544"/>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7C3AED"/>
                </a:solidFill>
                <a:latin typeface="Segoe UI"/>
              </a:rPr>
              <a:t>MODE B · PHASE 3</a:t>
            </a:r>
          </a:p>
        </p:txBody>
      </p:sp>
      <p:sp>
        <p:nvSpPr>
          <p:cNvPr id="17" name="TextBox 16"/>
          <p:cNvSpPr txBox="1"/>
          <p:nvPr/>
        </p:nvSpPr>
        <p:spPr>
          <a:xfrm>
            <a:off x="4539386" y="2340864"/>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Guarded Gateway</a:t>
            </a:r>
          </a:p>
        </p:txBody>
      </p:sp>
      <p:sp>
        <p:nvSpPr>
          <p:cNvPr id="18" name="TextBox 17"/>
          <p:cNvSpPr txBox="1"/>
          <p:nvPr/>
        </p:nvSpPr>
        <p:spPr>
          <a:xfrm>
            <a:off x="4539386" y="2871216"/>
            <a:ext cx="3112922" cy="160020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Answers: "we have no gateway"</a:t>
            </a:r>
          </a:p>
          <a:p>
            <a:pPr>
              <a:lnSpc>
                <a:spcPct val="115000"/>
              </a:lnSpc>
              <a:spcAft>
                <a:spcPts val="500"/>
              </a:spcAft>
            </a:pPr>
            <a:r>
              <a:rPr sz="1150">
                <a:solidFill>
                  <a:srgbClr val="475569"/>
                </a:solidFill>
                <a:latin typeface="Segoe UI"/>
              </a:rPr>
              <a:t>· Provider-run, OpenAI-compatible endpoint</a:t>
            </a:r>
          </a:p>
          <a:p>
            <a:pPr>
              <a:lnSpc>
                <a:spcPct val="115000"/>
              </a:lnSpc>
              <a:spcAft>
                <a:spcPts val="500"/>
              </a:spcAft>
            </a:pPr>
            <a:r>
              <a:rPr sz="1150">
                <a:solidFill>
                  <a:srgbClr val="475569"/>
                </a:solidFill>
                <a:latin typeface="Segoe UI"/>
              </a:rPr>
              <a:t>· Provider owns credentials, routing, retries, quotas</a:t>
            </a:r>
          </a:p>
          <a:p>
            <a:pPr>
              <a:lnSpc>
                <a:spcPct val="115000"/>
              </a:lnSpc>
              <a:spcAft>
                <a:spcPts val="500"/>
              </a:spcAft>
            </a:pPr>
            <a:r>
              <a:rPr sz="1150">
                <a:solidFill>
                  <a:srgbClr val="475569"/>
                </a:solidFill>
                <a:latin typeface="Segoe UI"/>
              </a:rPr>
              <a:t>· Largest provider operational + compliance scope</a:t>
            </a:r>
          </a:p>
        </p:txBody>
      </p:sp>
      <p:sp>
        <p:nvSpPr>
          <p:cNvPr id="19" name="Rounded Rectangle 18"/>
          <p:cNvSpPr/>
          <p:nvPr/>
        </p:nvSpPr>
        <p:spPr>
          <a:xfrm>
            <a:off x="8109508" y="1847088"/>
            <a:ext cx="3515258" cy="278892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109508" y="1847088"/>
            <a:ext cx="3515258" cy="4572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10676" y="2066544"/>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059669"/>
                </a:solidFill>
                <a:latin typeface="Segoe UI"/>
              </a:rPr>
              <a:t>MODE C · PHASE 4</a:t>
            </a:r>
          </a:p>
        </p:txBody>
      </p:sp>
      <p:sp>
        <p:nvSpPr>
          <p:cNvPr id="22" name="TextBox 21"/>
          <p:cNvSpPr txBox="1"/>
          <p:nvPr/>
        </p:nvSpPr>
        <p:spPr>
          <a:xfrm>
            <a:off x="8310676" y="2340864"/>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Customer-Managed Runtime</a:t>
            </a:r>
          </a:p>
        </p:txBody>
      </p:sp>
      <p:sp>
        <p:nvSpPr>
          <p:cNvPr id="23" name="TextBox 22"/>
          <p:cNvSpPr txBox="1"/>
          <p:nvPr/>
        </p:nvSpPr>
        <p:spPr>
          <a:xfrm>
            <a:off x="8310676" y="2871216"/>
            <a:ext cx="3112922" cy="160020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Answers: "content can't leave our account"</a:t>
            </a:r>
          </a:p>
          <a:p>
            <a:pPr>
              <a:lnSpc>
                <a:spcPct val="115000"/>
              </a:lnSpc>
              <a:spcAft>
                <a:spcPts val="500"/>
              </a:spcAft>
            </a:pPr>
            <a:r>
              <a:rPr sz="1150">
                <a:solidFill>
                  <a:srgbClr val="475569"/>
                </a:solidFill>
                <a:latin typeface="Segoe UI"/>
              </a:rPr>
              <a:t>· Runtime deploys into the customer's AWS account</a:t>
            </a:r>
          </a:p>
          <a:p>
            <a:pPr>
              <a:lnSpc>
                <a:spcPct val="115000"/>
              </a:lnSpc>
              <a:spcAft>
                <a:spcPts val="500"/>
              </a:spcAft>
            </a:pPr>
            <a:r>
              <a:rPr sz="1150">
                <a:solidFill>
                  <a:srgbClr val="475569"/>
                </a:solidFill>
                <a:latin typeface="Segoe UI"/>
              </a:rPr>
              <a:t>· Local policy cache; runs without control plane</a:t>
            </a:r>
          </a:p>
          <a:p>
            <a:pPr>
              <a:lnSpc>
                <a:spcPct val="115000"/>
              </a:lnSpc>
              <a:spcAft>
                <a:spcPts val="500"/>
              </a:spcAft>
            </a:pPr>
            <a:r>
              <a:rPr sz="1150">
                <a:solidFill>
                  <a:srgbClr val="475569"/>
                </a:solidFill>
                <a:latin typeface="Segoe UI"/>
              </a:rPr>
              <a:t>· Raw content stays in-account by default</a:t>
            </a:r>
          </a:p>
        </p:txBody>
      </p:sp>
      <p:graphicFrame>
        <p:nvGraphicFramePr>
          <p:cNvPr id="24" name="Table 23"/>
          <p:cNvGraphicFramePr>
            <a:graphicFrameLocks noGrp="1"/>
          </p:cNvGraphicFramePr>
          <p:nvPr/>
        </p:nvGraphicFramePr>
        <p:xfrm>
          <a:off x="566928" y="4864608"/>
          <a:ext cx="11057836" cy="1280160"/>
        </p:xfrm>
        <a:graphic>
          <a:graphicData uri="http://schemas.openxmlformats.org/drawingml/2006/table">
            <a:tbl>
              <a:tblPr firstRow="1">
                <a:tableStyleId>{5C22544A-7EE6-4342-B048-85BDC9FD1C3A}</a:tableStyleId>
              </a:tblPr>
              <a:tblGrid>
                <a:gridCol w="2494249"/>
                <a:gridCol w="2826815"/>
                <a:gridCol w="2909957"/>
                <a:gridCol w="2826815"/>
              </a:tblGrid>
              <a:tr h="347472">
                <a:tc>
                  <a:txBody>
                    <a:bodyPr/>
                    <a:lstStyle/>
                    <a:p>
                      <a:r>
                        <a:rPr sz="1100" b="1">
                          <a:solidFill>
                            <a:srgbClr val="FFFFFF"/>
                          </a:solidFill>
                          <a:latin typeface="Segoe UI"/>
                        </a:rPr>
                        <a:t>Concern</a:t>
                      </a:r>
                    </a:p>
                  </a:txBody>
                  <a:tcPr marL="82296" marR="54864" marT="36576" marB="36576" anchor="ctr">
                    <a:solidFill>
                      <a:srgbClr val="0F172A"/>
                    </a:solidFill>
                  </a:tcPr>
                </a:tc>
                <a:tc>
                  <a:txBody>
                    <a:bodyPr/>
                    <a:lstStyle/>
                    <a:p>
                      <a:r>
                        <a:rPr sz="1100" b="1">
                          <a:solidFill>
                            <a:srgbClr val="FFFFFF"/>
                          </a:solidFill>
                          <a:latin typeface="Segoe UI"/>
                        </a:rPr>
                        <a:t>Mode A</a:t>
                      </a:r>
                    </a:p>
                  </a:txBody>
                  <a:tcPr marL="82296" marR="54864" marT="36576" marB="36576" anchor="ctr">
                    <a:solidFill>
                      <a:srgbClr val="0F172A"/>
                    </a:solidFill>
                  </a:tcPr>
                </a:tc>
                <a:tc>
                  <a:txBody>
                    <a:bodyPr/>
                    <a:lstStyle/>
                    <a:p>
                      <a:r>
                        <a:rPr sz="1100" b="1">
                          <a:solidFill>
                            <a:srgbClr val="FFFFFF"/>
                          </a:solidFill>
                          <a:latin typeface="Segoe UI"/>
                        </a:rPr>
                        <a:t>Mode B</a:t>
                      </a:r>
                    </a:p>
                  </a:txBody>
                  <a:tcPr marL="82296" marR="54864" marT="36576" marB="36576" anchor="ctr">
                    <a:solidFill>
                      <a:srgbClr val="0F172A"/>
                    </a:solidFill>
                  </a:tcPr>
                </a:tc>
                <a:tc>
                  <a:txBody>
                    <a:bodyPr/>
                    <a:lstStyle/>
                    <a:p>
                      <a:r>
                        <a:rPr sz="1100" b="1">
                          <a:solidFill>
                            <a:srgbClr val="FFFFFF"/>
                          </a:solidFill>
                          <a:latin typeface="Segoe UI"/>
                        </a:rPr>
                        <a:t>Mode C</a:t>
                      </a:r>
                    </a:p>
                  </a:txBody>
                  <a:tcPr marL="82296" marR="54864" marT="36576" marB="36576" anchor="ctr">
                    <a:solidFill>
                      <a:srgbClr val="0F172A"/>
                    </a:solidFill>
                  </a:tcPr>
                </a:tc>
              </a:tr>
              <a:tr h="310896">
                <a:tc>
                  <a:txBody>
                    <a:bodyPr/>
                    <a:lstStyle/>
                    <a:p>
                      <a:pPr>
                        <a:lnSpc>
                          <a:spcPct val="105000"/>
                        </a:lnSpc>
                      </a:pPr>
                      <a:r>
                        <a:rPr sz="1150" b="1">
                          <a:solidFill>
                            <a:srgbClr val="0F172A"/>
                          </a:solidFill>
                          <a:latin typeface="Segoe UI"/>
                        </a:rPr>
                        <a:t>Gateway owned by</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Consuming team</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Provider</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Consuming team</a:t>
                      </a:r>
                    </a:p>
                  </a:txBody>
                  <a:tcPr marL="82296" marR="54864" marT="27432" marB="27432" anchor="ctr">
                    <a:solidFill>
                      <a:srgbClr val="FFFFFF"/>
                    </a:solidFill>
                  </a:tcPr>
                </a:tc>
              </a:tr>
              <a:tr h="310896">
                <a:tc>
                  <a:txBody>
                    <a:bodyPr/>
                    <a:lstStyle/>
                    <a:p>
                      <a:pPr>
                        <a:lnSpc>
                          <a:spcPct val="105000"/>
                        </a:lnSpc>
                      </a:pPr>
                      <a:r>
                        <a:rPr sz="1150" b="1">
                          <a:solidFill>
                            <a:srgbClr val="0F172A"/>
                          </a:solidFill>
                          <a:latin typeface="Segoe UI"/>
                        </a:rPr>
                        <a:t>Evaluation API runs</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Hosted (provider)</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Hosted, inside the gateway</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Customer AWS account</a:t>
                      </a:r>
                    </a:p>
                  </a:txBody>
                  <a:tcPr marL="82296" marR="54864" marT="27432" marB="27432" anchor="ctr">
                    <a:solidFill>
                      <a:srgbClr val="F1F5F9"/>
                    </a:solidFill>
                  </a:tcPr>
                </a:tc>
              </a:tr>
              <a:tr h="310896">
                <a:tc>
                  <a:txBody>
                    <a:bodyPr/>
                    <a:lstStyle/>
                    <a:p>
                      <a:pPr>
                        <a:lnSpc>
                          <a:spcPct val="105000"/>
                        </a:lnSpc>
                      </a:pPr>
                      <a:r>
                        <a:rPr sz="1150" b="1">
                          <a:solidFill>
                            <a:srgbClr val="0F172A"/>
                          </a:solidFill>
                          <a:latin typeface="Segoe UI"/>
                        </a:rPr>
                        <a:t>Contract shape</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Unchanged</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Unchanged</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Unchanged</a:t>
                      </a:r>
                    </a:p>
                  </a:txBody>
                  <a:tcPr marL="82296" marR="54864" marT="27432" marB="27432" anchor="ctr">
                    <a:solidFill>
                      <a:srgbClr val="FFFFFF"/>
                    </a:solidFill>
                  </a:tcPr>
                </a:tc>
              </a:tr>
            </a:tbl>
          </a:graphicData>
        </a:graphic>
      </p:graphicFrame>
      <p:sp>
        <p:nvSpPr>
          <p:cNvPr id="25" name="TextBox 24"/>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20-product/SERVING-MODEL.md §2/§6 · 50-architecture/INTEGRATION-ARCHITECTURE.md §8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MODES</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10</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Who owns what, per mode</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Adopting a mode is a commitment on both sides. This table is the commitment.</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Table 8"/>
          <p:cNvGraphicFramePr>
            <a:graphicFrameLocks noGrp="1"/>
          </p:cNvGraphicFramePr>
          <p:nvPr/>
        </p:nvGraphicFramePr>
        <p:xfrm>
          <a:off x="566928" y="1847088"/>
          <a:ext cx="11057836" cy="3547872"/>
        </p:xfrm>
        <a:graphic>
          <a:graphicData uri="http://schemas.openxmlformats.org/drawingml/2006/table">
            <a:tbl>
              <a:tblPr firstRow="1">
                <a:tableStyleId>{5C22544A-7EE6-4342-B048-85BDC9FD1C3A}</a:tableStyleId>
              </a:tblPr>
              <a:tblGrid>
                <a:gridCol w="2660532"/>
                <a:gridCol w="2826815"/>
                <a:gridCol w="2743674"/>
                <a:gridCol w="2826815"/>
              </a:tblGrid>
              <a:tr h="347472">
                <a:tc>
                  <a:txBody>
                    <a:bodyPr/>
                    <a:lstStyle/>
                    <a:p>
                      <a:r>
                        <a:rPr sz="1100" b="1">
                          <a:solidFill>
                            <a:srgbClr val="FFFFFF"/>
                          </a:solidFill>
                          <a:latin typeface="Segoe UI"/>
                        </a:rPr>
                        <a:t>Ownership item</a:t>
                      </a:r>
                    </a:p>
                  </a:txBody>
                  <a:tcPr marL="82296" marR="54864" marT="36576" marB="36576" anchor="ctr">
                    <a:solidFill>
                      <a:srgbClr val="0F172A"/>
                    </a:solidFill>
                  </a:tcPr>
                </a:tc>
                <a:tc>
                  <a:txBody>
                    <a:bodyPr/>
                    <a:lstStyle/>
                    <a:p>
                      <a:r>
                        <a:rPr sz="1100" b="1">
                          <a:solidFill>
                            <a:srgbClr val="FFFFFF"/>
                          </a:solidFill>
                          <a:latin typeface="Segoe UI"/>
                        </a:rPr>
                        <a:t>Mode A — Remote Evaluation</a:t>
                      </a:r>
                    </a:p>
                  </a:txBody>
                  <a:tcPr marL="82296" marR="54864" marT="36576" marB="36576" anchor="ctr">
                    <a:solidFill>
                      <a:srgbClr val="0F172A"/>
                    </a:solidFill>
                  </a:tcPr>
                </a:tc>
                <a:tc>
                  <a:txBody>
                    <a:bodyPr/>
                    <a:lstStyle/>
                    <a:p>
                      <a:r>
                        <a:rPr sz="1100" b="1">
                          <a:solidFill>
                            <a:srgbClr val="FFFFFF"/>
                          </a:solidFill>
                          <a:latin typeface="Segoe UI"/>
                        </a:rPr>
                        <a:t>Mode B — Guarded Gateway</a:t>
                      </a:r>
                    </a:p>
                  </a:txBody>
                  <a:tcPr marL="82296" marR="54864" marT="36576" marB="36576" anchor="ctr">
                    <a:solidFill>
                      <a:srgbClr val="0F172A"/>
                    </a:solidFill>
                  </a:tcPr>
                </a:tc>
                <a:tc>
                  <a:txBody>
                    <a:bodyPr/>
                    <a:lstStyle/>
                    <a:p>
                      <a:r>
                        <a:rPr sz="1100" b="1">
                          <a:solidFill>
                            <a:srgbClr val="FFFFFF"/>
                          </a:solidFill>
                          <a:latin typeface="Segoe UI"/>
                        </a:rPr>
                        <a:t>Mode C — Customer-Managed</a:t>
                      </a:r>
                    </a:p>
                  </a:txBody>
                  <a:tcPr marL="82296" marR="54864" marT="36576" marB="36576" anchor="ctr">
                    <a:solidFill>
                      <a:srgbClr val="0F172A"/>
                    </a:solidFill>
                  </a:tcPr>
                </a:tc>
              </a:tr>
              <a:tr h="457200">
                <a:tc>
                  <a:txBody>
                    <a:bodyPr/>
                    <a:lstStyle/>
                    <a:p>
                      <a:pPr>
                        <a:lnSpc>
                          <a:spcPct val="105000"/>
                        </a:lnSpc>
                      </a:pPr>
                      <a:r>
                        <a:rPr sz="1100" b="1">
                          <a:solidFill>
                            <a:srgbClr val="0F172A"/>
                          </a:solidFill>
                          <a:latin typeface="Segoe UI"/>
                        </a:rPr>
                        <a:t>Gateway infra &amp; availability</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Consuming team</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Platform operations</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Consuming team</a:t>
                      </a:r>
                    </a:p>
                  </a:txBody>
                  <a:tcPr marL="82296" marR="54864" marT="27432" marB="27432" anchor="ctr">
                    <a:solidFill>
                      <a:srgbClr val="FFFFFF"/>
                    </a:solidFill>
                  </a:tcPr>
                </a:tc>
              </a:tr>
              <a:tr h="457200">
                <a:tc>
                  <a:txBody>
                    <a:bodyPr/>
                    <a:lstStyle/>
                    <a:p>
                      <a:pPr>
                        <a:lnSpc>
                          <a:spcPct val="105000"/>
                        </a:lnSpc>
                      </a:pPr>
                      <a:r>
                        <a:rPr sz="1100" b="1">
                          <a:solidFill>
                            <a:srgbClr val="0F172A"/>
                          </a:solidFill>
                          <a:latin typeface="Segoe UI"/>
                        </a:rPr>
                        <a:t>Model credentials &amp; routing</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Consuming team</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Platform operations</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Consuming team</a:t>
                      </a:r>
                    </a:p>
                  </a:txBody>
                  <a:tcPr marL="82296" marR="54864" marT="27432" marB="27432" anchor="ctr">
                    <a:solidFill>
                      <a:srgbClr val="F1F5F9"/>
                    </a:solidFill>
                  </a:tcPr>
                </a:tc>
              </a:tr>
              <a:tr h="457200">
                <a:tc>
                  <a:txBody>
                    <a:bodyPr/>
                    <a:lstStyle/>
                    <a:p>
                      <a:pPr>
                        <a:lnSpc>
                          <a:spcPct val="105000"/>
                        </a:lnSpc>
                      </a:pPr>
                      <a:r>
                        <a:rPr sz="1100" b="1">
                          <a:solidFill>
                            <a:srgbClr val="0F172A"/>
                          </a:solidFill>
                          <a:latin typeface="Segoe UI"/>
                        </a:rPr>
                        <a:t>Retry / fallback / model cost</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Consuming team</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Platform operations</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Consuming team</a:t>
                      </a:r>
                    </a:p>
                  </a:txBody>
                  <a:tcPr marL="82296" marR="54864" marT="27432" marB="27432" anchor="ctr">
                    <a:solidFill>
                      <a:srgbClr val="FFFFFF"/>
                    </a:solidFill>
                  </a:tcPr>
                </a:tc>
              </a:tr>
              <a:tr h="457200">
                <a:tc>
                  <a:txBody>
                    <a:bodyPr/>
                    <a:lstStyle/>
                    <a:p>
                      <a:pPr>
                        <a:lnSpc>
                          <a:spcPct val="105000"/>
                        </a:lnSpc>
                      </a:pPr>
                      <a:r>
                        <a:rPr sz="1100" b="1">
                          <a:solidFill>
                            <a:srgbClr val="0F172A"/>
                          </a:solidFill>
                          <a:latin typeface="Segoe UI"/>
                        </a:rPr>
                        <a:t>Policy execution &amp; decisions</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AI Guardrails team + Platform ops</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AI Guardrails team (in gateway)</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AI Guardrails team (shipped runtime)</a:t>
                      </a:r>
                    </a:p>
                  </a:txBody>
                  <a:tcPr marL="82296" marR="54864" marT="27432" marB="27432" anchor="ctr">
                    <a:solidFill>
                      <a:srgbClr val="F1F5F9"/>
                    </a:solidFill>
                  </a:tcPr>
                </a:tc>
              </a:tr>
              <a:tr h="457200">
                <a:tc>
                  <a:txBody>
                    <a:bodyPr/>
                    <a:lstStyle/>
                    <a:p>
                      <a:pPr>
                        <a:lnSpc>
                          <a:spcPct val="105000"/>
                        </a:lnSpc>
                      </a:pPr>
                      <a:r>
                        <a:rPr sz="1100" b="1">
                          <a:solidFill>
                            <a:srgbClr val="0F172A"/>
                          </a:solidFill>
                          <a:latin typeface="Segoe UI"/>
                        </a:rPr>
                        <a:t>Audit storage</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Platform operations</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Platform operations</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Consuming team (local)</a:t>
                      </a:r>
                    </a:p>
                  </a:txBody>
                  <a:tcPr marL="82296" marR="54864" marT="27432" marB="27432" anchor="ctr">
                    <a:solidFill>
                      <a:srgbClr val="FFFFFF"/>
                    </a:solidFill>
                  </a:tcPr>
                </a:tc>
              </a:tr>
              <a:tr h="457200">
                <a:tc>
                  <a:txBody>
                    <a:bodyPr/>
                    <a:lstStyle/>
                    <a:p>
                      <a:pPr>
                        <a:lnSpc>
                          <a:spcPct val="105000"/>
                        </a:lnSpc>
                      </a:pPr>
                      <a:r>
                        <a:rPr sz="1100" b="1">
                          <a:solidFill>
                            <a:srgbClr val="0F172A"/>
                          </a:solidFill>
                          <a:latin typeface="Segoe UI"/>
                        </a:rPr>
                        <a:t>Runtime upgrades</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Provider applies</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Provider applies</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Consuming team, unless managed support</a:t>
                      </a:r>
                    </a:p>
                  </a:txBody>
                  <a:tcPr marL="82296" marR="54864" marT="27432" marB="27432" anchor="ctr">
                    <a:solidFill>
                      <a:srgbClr val="F1F5F9"/>
                    </a:solidFill>
                  </a:tcPr>
                </a:tc>
              </a:tr>
              <a:tr h="457200">
                <a:tc>
                  <a:txBody>
                    <a:bodyPr/>
                    <a:lstStyle/>
                    <a:p>
                      <a:pPr>
                        <a:lnSpc>
                          <a:spcPct val="105000"/>
                        </a:lnSpc>
                      </a:pPr>
                      <a:r>
                        <a:rPr sz="1100" b="1">
                          <a:solidFill>
                            <a:srgbClr val="0F172A"/>
                          </a:solidFill>
                          <a:latin typeface="Segoe UI"/>
                        </a:rPr>
                        <a:t>Policy approval, retention, audit rules</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Security &amp; governance</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Security &amp; governance</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Security &amp; governance</a:t>
                      </a:r>
                    </a:p>
                  </a:txBody>
                  <a:tcPr marL="82296" marR="54864" marT="27432" marB="27432" anchor="ctr">
                    <a:solidFill>
                      <a:srgbClr val="FFFFFF"/>
                    </a:solidFill>
                  </a:tcPr>
                </a:tc>
              </a:tr>
            </a:tbl>
          </a:graphicData>
        </a:graphic>
      </p:graphicFrame>
      <p:sp>
        <p:nvSpPr>
          <p:cNvPr id="10" name="TextBox 9"/>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60-delivery/TEAM-AND-OWNERSHIP.md §4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USE CASES</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11</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Seven use cases, and when each becomes real</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UC-001, 005, 006 and 007 together are the Phase 1–2 validation demonstration — all four, or the gate does not pass.</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Table 8"/>
          <p:cNvGraphicFramePr>
            <a:graphicFrameLocks noGrp="1"/>
          </p:cNvGraphicFramePr>
          <p:nvPr/>
        </p:nvGraphicFramePr>
        <p:xfrm>
          <a:off x="566928" y="1847088"/>
          <a:ext cx="11057837" cy="3035808"/>
        </p:xfrm>
        <a:graphic>
          <a:graphicData uri="http://schemas.openxmlformats.org/drawingml/2006/table">
            <a:tbl>
              <a:tblPr firstRow="1">
                <a:tableStyleId>{5C22544A-7EE6-4342-B048-85BDC9FD1C3A}</a:tableStyleId>
              </a:tblPr>
              <a:tblGrid>
                <a:gridCol w="980937"/>
                <a:gridCol w="6509856"/>
                <a:gridCol w="891761"/>
                <a:gridCol w="2675283"/>
              </a:tblGrid>
              <a:tr h="347472">
                <a:tc>
                  <a:txBody>
                    <a:bodyPr/>
                    <a:lstStyle/>
                    <a:p>
                      <a:r>
                        <a:rPr sz="1100" b="1">
                          <a:solidFill>
                            <a:srgbClr val="FFFFFF"/>
                          </a:solidFill>
                          <a:latin typeface="Segoe UI"/>
                        </a:rPr>
                        <a:t>ID</a:t>
                      </a:r>
                    </a:p>
                  </a:txBody>
                  <a:tcPr marL="82296" marR="54864" marT="36576" marB="36576" anchor="ctr">
                    <a:solidFill>
                      <a:srgbClr val="0F172A"/>
                    </a:solidFill>
                  </a:tcPr>
                </a:tc>
                <a:tc>
                  <a:txBody>
                    <a:bodyPr/>
                    <a:lstStyle/>
                    <a:p>
                      <a:r>
                        <a:rPr sz="1100" b="1">
                          <a:solidFill>
                            <a:srgbClr val="FFFFFF"/>
                          </a:solidFill>
                          <a:latin typeface="Segoe UI"/>
                        </a:rPr>
                        <a:t>Use case</a:t>
                      </a:r>
                    </a:p>
                  </a:txBody>
                  <a:tcPr marL="82296" marR="54864" marT="36576" marB="36576" anchor="ctr">
                    <a:solidFill>
                      <a:srgbClr val="0F172A"/>
                    </a:solidFill>
                  </a:tcPr>
                </a:tc>
                <a:tc>
                  <a:txBody>
                    <a:bodyPr/>
                    <a:lstStyle/>
                    <a:p>
                      <a:r>
                        <a:rPr sz="1100" b="1">
                          <a:solidFill>
                            <a:srgbClr val="FFFFFF"/>
                          </a:solidFill>
                          <a:latin typeface="Segoe UI"/>
                        </a:rPr>
                        <a:t>Mode</a:t>
                      </a:r>
                    </a:p>
                  </a:txBody>
                  <a:tcPr marL="82296" marR="54864" marT="36576" marB="36576" anchor="ctr">
                    <a:solidFill>
                      <a:srgbClr val="0F172A"/>
                    </a:solidFill>
                  </a:tcPr>
                </a:tc>
                <a:tc>
                  <a:txBody>
                    <a:bodyPr/>
                    <a:lstStyle/>
                    <a:p>
                      <a:r>
                        <a:rPr sz="1100" b="1">
                          <a:solidFill>
                            <a:srgbClr val="FFFFFF"/>
                          </a:solidFill>
                          <a:latin typeface="Segoe UI"/>
                        </a:rPr>
                        <a:t>Status</a:t>
                      </a:r>
                    </a:p>
                  </a:txBody>
                  <a:tcPr marL="82296" marR="54864" marT="36576" marB="36576" anchor="ctr">
                    <a:solidFill>
                      <a:srgbClr val="0F172A"/>
                    </a:solidFill>
                  </a:tcPr>
                </a:tc>
              </a:tr>
              <a:tr h="384048">
                <a:tc>
                  <a:txBody>
                    <a:bodyPr/>
                    <a:lstStyle/>
                    <a:p>
                      <a:pPr>
                        <a:lnSpc>
                          <a:spcPct val="105000"/>
                        </a:lnSpc>
                      </a:pPr>
                      <a:r>
                        <a:rPr sz="1150" b="1">
                          <a:solidFill>
                            <a:srgbClr val="0F172A"/>
                          </a:solidFill>
                          <a:latin typeface="Segoe UI"/>
                        </a:rPr>
                        <a:t>UC-001</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Two independent LiteLLM instances share one central policy</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A</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Phases 1–2 · core demo</a:t>
                      </a:r>
                    </a:p>
                  </a:txBody>
                  <a:tcPr marL="82296" marR="54864" marT="27432" marB="27432" anchor="ctr">
                    <a:solidFill>
                      <a:srgbClr val="FFFFFF"/>
                    </a:solidFill>
                  </a:tcPr>
                </a:tc>
              </a:tr>
              <a:tr h="384048">
                <a:tc>
                  <a:txBody>
                    <a:bodyPr/>
                    <a:lstStyle/>
                    <a:p>
                      <a:pPr>
                        <a:lnSpc>
                          <a:spcPct val="105000"/>
                        </a:lnSpc>
                      </a:pPr>
                      <a:r>
                        <a:rPr sz="1150" b="1">
                          <a:solidFill>
                            <a:srgbClr val="0F172A"/>
                          </a:solidFill>
                          <a:latin typeface="Segoe UI"/>
                        </a:rPr>
                        <a:t>UC-002</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Onboard in observe mode, then promote to enforce</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Any</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Phases 1–2</a:t>
                      </a:r>
                    </a:p>
                  </a:txBody>
                  <a:tcPr marL="82296" marR="54864" marT="27432" marB="27432" anchor="ctr">
                    <a:solidFill>
                      <a:srgbClr val="F1F5F9"/>
                    </a:solidFill>
                  </a:tcPr>
                </a:tc>
              </a:tr>
              <a:tr h="384048">
                <a:tc>
                  <a:txBody>
                    <a:bodyPr/>
                    <a:lstStyle/>
                    <a:p>
                      <a:pPr>
                        <a:lnSpc>
                          <a:spcPct val="105000"/>
                        </a:lnSpc>
                      </a:pPr>
                      <a:r>
                        <a:rPr sz="1150" b="1">
                          <a:solidFill>
                            <a:srgbClr val="0F172A"/>
                          </a:solidFill>
                          <a:latin typeface="Segoe UI"/>
                        </a:rPr>
                        <a:t>UC-003</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Regulated workload keeps content inside its own account</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C</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Target state — Phase 4</a:t>
                      </a:r>
                    </a:p>
                  </a:txBody>
                  <a:tcPr marL="82296" marR="54864" marT="27432" marB="27432" anchor="ctr">
                    <a:solidFill>
                      <a:srgbClr val="FFFFFF"/>
                    </a:solidFill>
                  </a:tcPr>
                </a:tc>
              </a:tr>
              <a:tr h="384048">
                <a:tc>
                  <a:txBody>
                    <a:bodyPr/>
                    <a:lstStyle/>
                    <a:p>
                      <a:pPr>
                        <a:lnSpc>
                          <a:spcPct val="105000"/>
                        </a:lnSpc>
                      </a:pPr>
                      <a:r>
                        <a:rPr sz="1150" b="1">
                          <a:solidFill>
                            <a:srgbClr val="0F172A"/>
                          </a:solidFill>
                          <a:latin typeface="Segoe UI"/>
                        </a:rPr>
                        <a:t>UC-004</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A team with no gateway uses the Guarded Gateway</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B</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Target state — Phase 3</a:t>
                      </a:r>
                    </a:p>
                  </a:txBody>
                  <a:tcPr marL="82296" marR="54864" marT="27432" marB="27432" anchor="ctr">
                    <a:solidFill>
                      <a:srgbClr val="F1F5F9"/>
                    </a:solidFill>
                  </a:tcPr>
                </a:tc>
              </a:tr>
              <a:tr h="384048">
                <a:tc>
                  <a:txBody>
                    <a:bodyPr/>
                    <a:lstStyle/>
                    <a:p>
                      <a:pPr>
                        <a:lnSpc>
                          <a:spcPct val="105000"/>
                        </a:lnSpc>
                      </a:pPr>
                      <a:r>
                        <a:rPr sz="1150" b="1">
                          <a:solidFill>
                            <a:srgbClr val="0F172A"/>
                          </a:solidFill>
                          <a:latin typeface="Segoe UI"/>
                        </a:rPr>
                        <a:t>UC-005</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Central policy upgrade and immediate rollback</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Any</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Phases 1–2 · core demo</a:t>
                      </a:r>
                    </a:p>
                  </a:txBody>
                  <a:tcPr marL="82296" marR="54864" marT="27432" marB="27432" anchor="ctr">
                    <a:solidFill>
                      <a:srgbClr val="FFFFFF"/>
                    </a:solidFill>
                  </a:tcPr>
                </a:tc>
              </a:tr>
              <a:tr h="384048">
                <a:tc>
                  <a:txBody>
                    <a:bodyPr/>
                    <a:lstStyle/>
                    <a:p>
                      <a:pPr>
                        <a:lnSpc>
                          <a:spcPct val="105000"/>
                        </a:lnSpc>
                      </a:pPr>
                      <a:r>
                        <a:rPr sz="1150" b="1">
                          <a:solidFill>
                            <a:srgbClr val="0F172A"/>
                          </a:solidFill>
                          <a:latin typeface="Segoe UI"/>
                        </a:rPr>
                        <a:t>UC-006</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Disable raw-content persistence for a sensitive workload</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Any</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Phases 1–2 · core demo</a:t>
                      </a:r>
                    </a:p>
                  </a:txBody>
                  <a:tcPr marL="82296" marR="54864" marT="27432" marB="27432" anchor="ctr">
                    <a:solidFill>
                      <a:srgbClr val="F1F5F9"/>
                    </a:solidFill>
                  </a:tcPr>
                </a:tc>
              </a:tr>
              <a:tr h="384048">
                <a:tc>
                  <a:txBody>
                    <a:bodyPr/>
                    <a:lstStyle/>
                    <a:p>
                      <a:pPr>
                        <a:lnSpc>
                          <a:spcPct val="105000"/>
                        </a:lnSpc>
                      </a:pPr>
                      <a:r>
                        <a:rPr sz="1150" b="1">
                          <a:solidFill>
                            <a:srgbClr val="0F172A"/>
                          </a:solidFill>
                          <a:latin typeface="Segoe UI"/>
                        </a:rPr>
                        <a:t>UC-007</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Configured failure behavior on evaluation timeout</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Any</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Phases 1–2 · core demo</a:t>
                      </a:r>
                    </a:p>
                  </a:txBody>
                  <a:tcPr marL="82296" marR="54864" marT="27432" marB="27432" anchor="ctr">
                    <a:solidFill>
                      <a:srgbClr val="FFFFFF"/>
                    </a:solidFill>
                  </a:tcPr>
                </a:tc>
              </a:tr>
            </a:tbl>
          </a:graphicData>
        </a:graphic>
      </p:graphicFrame>
      <p:sp>
        <p:nvSpPr>
          <p:cNvPr id="10" name="TextBox 9"/>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20-product/USE-CASES.md — use case index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USE CASES</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12</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The canonical onboarding flow</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Seven steps. This is what 'import a policy' means — and what it never means.</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1847088"/>
            <a:ext cx="1407261" cy="1143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847088"/>
            <a:ext cx="1407261"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928" y="2048256"/>
            <a:ext cx="1407261" cy="274320"/>
          </a:xfrm>
          <a:prstGeom prst="rect">
            <a:avLst/>
          </a:prstGeom>
          <a:noFill/>
        </p:spPr>
        <p:txBody>
          <a:bodyPr wrap="square" lIns="0" rIns="0" tIns="0" bIns="0" anchor="t">
            <a:spAutoFit/>
          </a:bodyPr>
          <a:lstStyle/>
          <a:p>
            <a:pPr algn="ctr">
              <a:lnSpc>
                <a:spcPct val="100000"/>
              </a:lnSpc>
              <a:spcAft>
                <a:spcPts val="600"/>
              </a:spcAft>
            </a:pPr>
            <a:r>
              <a:rPr sz="1300" b="1">
                <a:solidFill>
                  <a:srgbClr val="2563EB"/>
                </a:solidFill>
                <a:latin typeface="Segoe UI"/>
              </a:rPr>
              <a:t>1</a:t>
            </a:r>
          </a:p>
        </p:txBody>
      </p:sp>
      <p:sp>
        <p:nvSpPr>
          <p:cNvPr id="12" name="TextBox 11"/>
          <p:cNvSpPr txBox="1"/>
          <p:nvPr/>
        </p:nvSpPr>
        <p:spPr>
          <a:xfrm>
            <a:off x="640080" y="2377440"/>
            <a:ext cx="1260957" cy="548640"/>
          </a:xfrm>
          <a:prstGeom prst="rect">
            <a:avLst/>
          </a:prstGeom>
          <a:noFill/>
        </p:spPr>
        <p:txBody>
          <a:bodyPr wrap="square" lIns="0" rIns="0" tIns="0" bIns="0" anchor="t">
            <a:spAutoFit/>
          </a:bodyPr>
          <a:lstStyle/>
          <a:p>
            <a:pPr algn="ctr">
              <a:lnSpc>
                <a:spcPct val="110000"/>
              </a:lnSpc>
              <a:spcAft>
                <a:spcPts val="600"/>
              </a:spcAft>
            </a:pPr>
            <a:r>
              <a:rPr sz="1150" b="0">
                <a:solidFill>
                  <a:srgbClr val="0F172A"/>
                </a:solidFill>
                <a:latin typeface="Segoe UI"/>
              </a:rPr>
              <a:t>Register
workload</a:t>
            </a:r>
          </a:p>
        </p:txBody>
      </p:sp>
      <p:sp>
        <p:nvSpPr>
          <p:cNvPr id="13" name="Rounded Rectangle 12"/>
          <p:cNvSpPr/>
          <p:nvPr/>
        </p:nvSpPr>
        <p:spPr>
          <a:xfrm>
            <a:off x="2175357" y="1847088"/>
            <a:ext cx="1407261" cy="1143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175357" y="1847088"/>
            <a:ext cx="1407261"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175357" y="2048256"/>
            <a:ext cx="1407261" cy="274320"/>
          </a:xfrm>
          <a:prstGeom prst="rect">
            <a:avLst/>
          </a:prstGeom>
          <a:noFill/>
        </p:spPr>
        <p:txBody>
          <a:bodyPr wrap="square" lIns="0" rIns="0" tIns="0" bIns="0" anchor="t">
            <a:spAutoFit/>
          </a:bodyPr>
          <a:lstStyle/>
          <a:p>
            <a:pPr algn="ctr">
              <a:lnSpc>
                <a:spcPct val="100000"/>
              </a:lnSpc>
              <a:spcAft>
                <a:spcPts val="600"/>
              </a:spcAft>
            </a:pPr>
            <a:r>
              <a:rPr sz="1300" b="1">
                <a:solidFill>
                  <a:srgbClr val="2563EB"/>
                </a:solidFill>
                <a:latin typeface="Segoe UI"/>
              </a:rPr>
              <a:t>2</a:t>
            </a:r>
          </a:p>
        </p:txBody>
      </p:sp>
      <p:sp>
        <p:nvSpPr>
          <p:cNvPr id="16" name="TextBox 15"/>
          <p:cNvSpPr txBox="1"/>
          <p:nvPr/>
        </p:nvSpPr>
        <p:spPr>
          <a:xfrm>
            <a:off x="2248509" y="2377440"/>
            <a:ext cx="1260957" cy="548640"/>
          </a:xfrm>
          <a:prstGeom prst="rect">
            <a:avLst/>
          </a:prstGeom>
          <a:noFill/>
        </p:spPr>
        <p:txBody>
          <a:bodyPr wrap="square" lIns="0" rIns="0" tIns="0" bIns="0" anchor="t">
            <a:spAutoFit/>
          </a:bodyPr>
          <a:lstStyle/>
          <a:p>
            <a:pPr algn="ctr">
              <a:lnSpc>
                <a:spcPct val="110000"/>
              </a:lnSpc>
              <a:spcAft>
                <a:spcPts val="600"/>
              </a:spcAft>
            </a:pPr>
            <a:r>
              <a:rPr sz="1150" b="0">
                <a:solidFill>
                  <a:srgbClr val="0F172A"/>
                </a:solidFill>
                <a:latin typeface="Segoe UI"/>
              </a:rPr>
              <a:t>Select
policy</a:t>
            </a:r>
          </a:p>
        </p:txBody>
      </p:sp>
      <p:sp>
        <p:nvSpPr>
          <p:cNvPr id="17" name="Rounded Rectangle 16"/>
          <p:cNvSpPr/>
          <p:nvPr/>
        </p:nvSpPr>
        <p:spPr>
          <a:xfrm>
            <a:off x="3783787" y="1847088"/>
            <a:ext cx="1407261" cy="1143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783787" y="1847088"/>
            <a:ext cx="1407261"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783787" y="2048256"/>
            <a:ext cx="1407261" cy="274320"/>
          </a:xfrm>
          <a:prstGeom prst="rect">
            <a:avLst/>
          </a:prstGeom>
          <a:noFill/>
        </p:spPr>
        <p:txBody>
          <a:bodyPr wrap="square" lIns="0" rIns="0" tIns="0" bIns="0" anchor="t">
            <a:spAutoFit/>
          </a:bodyPr>
          <a:lstStyle/>
          <a:p>
            <a:pPr algn="ctr">
              <a:lnSpc>
                <a:spcPct val="100000"/>
              </a:lnSpc>
              <a:spcAft>
                <a:spcPts val="600"/>
              </a:spcAft>
            </a:pPr>
            <a:r>
              <a:rPr sz="1300" b="1">
                <a:solidFill>
                  <a:srgbClr val="2563EB"/>
                </a:solidFill>
                <a:latin typeface="Segoe UI"/>
              </a:rPr>
              <a:t>3</a:t>
            </a:r>
          </a:p>
        </p:txBody>
      </p:sp>
      <p:sp>
        <p:nvSpPr>
          <p:cNvPr id="20" name="TextBox 19"/>
          <p:cNvSpPr txBox="1"/>
          <p:nvPr/>
        </p:nvSpPr>
        <p:spPr>
          <a:xfrm>
            <a:off x="3856939" y="2377440"/>
            <a:ext cx="1260957" cy="548640"/>
          </a:xfrm>
          <a:prstGeom prst="rect">
            <a:avLst/>
          </a:prstGeom>
          <a:noFill/>
        </p:spPr>
        <p:txBody>
          <a:bodyPr wrap="square" lIns="0" rIns="0" tIns="0" bIns="0" anchor="t">
            <a:spAutoFit/>
          </a:bodyPr>
          <a:lstStyle/>
          <a:p>
            <a:pPr algn="ctr">
              <a:lnSpc>
                <a:spcPct val="110000"/>
              </a:lnSpc>
              <a:spcAft>
                <a:spcPts val="600"/>
              </a:spcAft>
            </a:pPr>
            <a:r>
              <a:rPr sz="1150" b="0">
                <a:solidFill>
                  <a:srgbClr val="0F172A"/>
                </a:solidFill>
                <a:latin typeface="Segoe UI"/>
              </a:rPr>
              <a:t>Generate
manifest</a:t>
            </a:r>
          </a:p>
        </p:txBody>
      </p:sp>
      <p:sp>
        <p:nvSpPr>
          <p:cNvPr id="21" name="Rounded Rectangle 20"/>
          <p:cNvSpPr/>
          <p:nvPr/>
        </p:nvSpPr>
        <p:spPr>
          <a:xfrm>
            <a:off x="5392216" y="1847088"/>
            <a:ext cx="1407261" cy="1143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392216" y="1847088"/>
            <a:ext cx="1407261"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392216" y="2048256"/>
            <a:ext cx="1407261" cy="274320"/>
          </a:xfrm>
          <a:prstGeom prst="rect">
            <a:avLst/>
          </a:prstGeom>
          <a:noFill/>
        </p:spPr>
        <p:txBody>
          <a:bodyPr wrap="square" lIns="0" rIns="0" tIns="0" bIns="0" anchor="t">
            <a:spAutoFit/>
          </a:bodyPr>
          <a:lstStyle/>
          <a:p>
            <a:pPr algn="ctr">
              <a:lnSpc>
                <a:spcPct val="100000"/>
              </a:lnSpc>
              <a:spcAft>
                <a:spcPts val="600"/>
              </a:spcAft>
            </a:pPr>
            <a:r>
              <a:rPr sz="1300" b="1">
                <a:solidFill>
                  <a:srgbClr val="2563EB"/>
                </a:solidFill>
                <a:latin typeface="Segoe UI"/>
              </a:rPr>
              <a:t>4</a:t>
            </a:r>
          </a:p>
        </p:txBody>
      </p:sp>
      <p:sp>
        <p:nvSpPr>
          <p:cNvPr id="24" name="TextBox 23"/>
          <p:cNvSpPr txBox="1"/>
          <p:nvPr/>
        </p:nvSpPr>
        <p:spPr>
          <a:xfrm>
            <a:off x="5465368" y="2377440"/>
            <a:ext cx="1260957" cy="548640"/>
          </a:xfrm>
          <a:prstGeom prst="rect">
            <a:avLst/>
          </a:prstGeom>
          <a:noFill/>
        </p:spPr>
        <p:txBody>
          <a:bodyPr wrap="square" lIns="0" rIns="0" tIns="0" bIns="0" anchor="t">
            <a:spAutoFit/>
          </a:bodyPr>
          <a:lstStyle/>
          <a:p>
            <a:pPr algn="ctr">
              <a:lnSpc>
                <a:spcPct val="110000"/>
              </a:lnSpc>
              <a:spcAft>
                <a:spcPts val="600"/>
              </a:spcAft>
            </a:pPr>
            <a:r>
              <a:rPr sz="1150" b="0">
                <a:solidFill>
                  <a:srgbClr val="0F172A"/>
                </a:solidFill>
                <a:latin typeface="Segoe UI"/>
              </a:rPr>
              <a:t>Install
connector</a:t>
            </a:r>
          </a:p>
        </p:txBody>
      </p:sp>
      <p:sp>
        <p:nvSpPr>
          <p:cNvPr id="25" name="Rounded Rectangle 24"/>
          <p:cNvSpPr/>
          <p:nvPr/>
        </p:nvSpPr>
        <p:spPr>
          <a:xfrm>
            <a:off x="7000646" y="1847088"/>
            <a:ext cx="1407261" cy="1143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7000646" y="1847088"/>
            <a:ext cx="1407261"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000646" y="2048256"/>
            <a:ext cx="1407261" cy="274320"/>
          </a:xfrm>
          <a:prstGeom prst="rect">
            <a:avLst/>
          </a:prstGeom>
          <a:noFill/>
        </p:spPr>
        <p:txBody>
          <a:bodyPr wrap="square" lIns="0" rIns="0" tIns="0" bIns="0" anchor="t">
            <a:spAutoFit/>
          </a:bodyPr>
          <a:lstStyle/>
          <a:p>
            <a:pPr algn="ctr">
              <a:lnSpc>
                <a:spcPct val="100000"/>
              </a:lnSpc>
              <a:spcAft>
                <a:spcPts val="600"/>
              </a:spcAft>
            </a:pPr>
            <a:r>
              <a:rPr sz="1300" b="1">
                <a:solidFill>
                  <a:srgbClr val="B45309"/>
                </a:solidFill>
                <a:latin typeface="Segoe UI"/>
              </a:rPr>
              <a:t>5</a:t>
            </a:r>
          </a:p>
        </p:txBody>
      </p:sp>
      <p:sp>
        <p:nvSpPr>
          <p:cNvPr id="28" name="TextBox 27"/>
          <p:cNvSpPr txBox="1"/>
          <p:nvPr/>
        </p:nvSpPr>
        <p:spPr>
          <a:xfrm>
            <a:off x="7073798" y="2377440"/>
            <a:ext cx="1260957" cy="548640"/>
          </a:xfrm>
          <a:prstGeom prst="rect">
            <a:avLst/>
          </a:prstGeom>
          <a:noFill/>
        </p:spPr>
        <p:txBody>
          <a:bodyPr wrap="square" lIns="0" rIns="0" tIns="0" bIns="0" anchor="t">
            <a:spAutoFit/>
          </a:bodyPr>
          <a:lstStyle/>
          <a:p>
            <a:pPr algn="ctr">
              <a:lnSpc>
                <a:spcPct val="110000"/>
              </a:lnSpc>
              <a:spcAft>
                <a:spcPts val="600"/>
              </a:spcAft>
            </a:pPr>
            <a:r>
              <a:rPr sz="1150" b="0">
                <a:solidFill>
                  <a:srgbClr val="0F172A"/>
                </a:solidFill>
                <a:latin typeface="Segoe UI"/>
              </a:rPr>
              <a:t>Run in
observe</a:t>
            </a:r>
          </a:p>
        </p:txBody>
      </p:sp>
      <p:sp>
        <p:nvSpPr>
          <p:cNvPr id="29" name="Rounded Rectangle 28"/>
          <p:cNvSpPr/>
          <p:nvPr/>
        </p:nvSpPr>
        <p:spPr>
          <a:xfrm>
            <a:off x="8609075" y="1847088"/>
            <a:ext cx="1407261" cy="1143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8609075" y="1847088"/>
            <a:ext cx="1407261"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609075" y="2048256"/>
            <a:ext cx="1407261" cy="274320"/>
          </a:xfrm>
          <a:prstGeom prst="rect">
            <a:avLst/>
          </a:prstGeom>
          <a:noFill/>
        </p:spPr>
        <p:txBody>
          <a:bodyPr wrap="square" lIns="0" rIns="0" tIns="0" bIns="0" anchor="t">
            <a:spAutoFit/>
          </a:bodyPr>
          <a:lstStyle/>
          <a:p>
            <a:pPr algn="ctr">
              <a:lnSpc>
                <a:spcPct val="100000"/>
              </a:lnSpc>
              <a:spcAft>
                <a:spcPts val="600"/>
              </a:spcAft>
            </a:pPr>
            <a:r>
              <a:rPr sz="1300" b="1">
                <a:solidFill>
                  <a:srgbClr val="B45309"/>
                </a:solidFill>
                <a:latin typeface="Segoe UI"/>
              </a:rPr>
              <a:t>6</a:t>
            </a:r>
          </a:p>
        </p:txBody>
      </p:sp>
      <p:sp>
        <p:nvSpPr>
          <p:cNvPr id="32" name="TextBox 31"/>
          <p:cNvSpPr txBox="1"/>
          <p:nvPr/>
        </p:nvSpPr>
        <p:spPr>
          <a:xfrm>
            <a:off x="8682227" y="2377440"/>
            <a:ext cx="1260957" cy="548640"/>
          </a:xfrm>
          <a:prstGeom prst="rect">
            <a:avLst/>
          </a:prstGeom>
          <a:noFill/>
        </p:spPr>
        <p:txBody>
          <a:bodyPr wrap="square" lIns="0" rIns="0" tIns="0" bIns="0" anchor="t">
            <a:spAutoFit/>
          </a:bodyPr>
          <a:lstStyle/>
          <a:p>
            <a:pPr algn="ctr">
              <a:lnSpc>
                <a:spcPct val="110000"/>
              </a:lnSpc>
              <a:spcAft>
                <a:spcPts val="600"/>
              </a:spcAft>
            </a:pPr>
            <a:r>
              <a:rPr sz="1150" b="0">
                <a:solidFill>
                  <a:srgbClr val="0F172A"/>
                </a:solidFill>
                <a:latin typeface="Segoe UI"/>
              </a:rPr>
              <a:t>Review
results</a:t>
            </a:r>
          </a:p>
        </p:txBody>
      </p:sp>
      <p:sp>
        <p:nvSpPr>
          <p:cNvPr id="33" name="Rounded Rectangle 32"/>
          <p:cNvSpPr/>
          <p:nvPr/>
        </p:nvSpPr>
        <p:spPr>
          <a:xfrm>
            <a:off x="10217505" y="1847088"/>
            <a:ext cx="1407261" cy="1143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0217505" y="1847088"/>
            <a:ext cx="1407261" cy="54864"/>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17505" y="2048256"/>
            <a:ext cx="1407261" cy="274320"/>
          </a:xfrm>
          <a:prstGeom prst="rect">
            <a:avLst/>
          </a:prstGeom>
          <a:noFill/>
        </p:spPr>
        <p:txBody>
          <a:bodyPr wrap="square" lIns="0" rIns="0" tIns="0" bIns="0" anchor="t">
            <a:spAutoFit/>
          </a:bodyPr>
          <a:lstStyle/>
          <a:p>
            <a:pPr algn="ctr">
              <a:lnSpc>
                <a:spcPct val="100000"/>
              </a:lnSpc>
              <a:spcAft>
                <a:spcPts val="600"/>
              </a:spcAft>
            </a:pPr>
            <a:r>
              <a:rPr sz="1300" b="1">
                <a:solidFill>
                  <a:srgbClr val="059669"/>
                </a:solidFill>
                <a:latin typeface="Segoe UI"/>
              </a:rPr>
              <a:t>7</a:t>
            </a:r>
          </a:p>
        </p:txBody>
      </p:sp>
      <p:sp>
        <p:nvSpPr>
          <p:cNvPr id="36" name="TextBox 35"/>
          <p:cNvSpPr txBox="1"/>
          <p:nvPr/>
        </p:nvSpPr>
        <p:spPr>
          <a:xfrm>
            <a:off x="10290657" y="2377440"/>
            <a:ext cx="1260957" cy="548640"/>
          </a:xfrm>
          <a:prstGeom prst="rect">
            <a:avLst/>
          </a:prstGeom>
          <a:noFill/>
        </p:spPr>
        <p:txBody>
          <a:bodyPr wrap="square" lIns="0" rIns="0" tIns="0" bIns="0" anchor="t">
            <a:spAutoFit/>
          </a:bodyPr>
          <a:lstStyle/>
          <a:p>
            <a:pPr algn="ctr">
              <a:lnSpc>
                <a:spcPct val="110000"/>
              </a:lnSpc>
              <a:spcAft>
                <a:spcPts val="600"/>
              </a:spcAft>
            </a:pPr>
            <a:r>
              <a:rPr sz="1150" b="0">
                <a:solidFill>
                  <a:srgbClr val="0F172A"/>
                </a:solidFill>
                <a:latin typeface="Segoe UI"/>
              </a:rPr>
              <a:t>Enable
enforcement</a:t>
            </a:r>
          </a:p>
        </p:txBody>
      </p:sp>
      <p:sp>
        <p:nvSpPr>
          <p:cNvPr id="37" name="TextBox 36"/>
          <p:cNvSpPr txBox="1"/>
          <p:nvPr/>
        </p:nvSpPr>
        <p:spPr>
          <a:xfrm>
            <a:off x="566928" y="3264408"/>
            <a:ext cx="11057839" cy="365760"/>
          </a:xfrm>
          <a:prstGeom prst="rect">
            <a:avLst/>
          </a:prstGeom>
          <a:noFill/>
        </p:spPr>
        <p:txBody>
          <a:bodyPr wrap="square" lIns="0" rIns="0" tIns="0" bIns="0" anchor="t">
            <a:spAutoFit/>
          </a:bodyPr>
          <a:lstStyle/>
          <a:p>
            <a:pPr algn="l">
              <a:lnSpc>
                <a:spcPct val="100000"/>
              </a:lnSpc>
              <a:spcAft>
                <a:spcPts val="600"/>
              </a:spcAft>
            </a:pPr>
            <a:r>
              <a:rPr sz="1250" b="1">
                <a:solidFill>
                  <a:srgbClr val="0F172A"/>
                </a:solidFill>
                <a:latin typeface="Segoe UI"/>
              </a:rPr>
              <a:t>Enforcement progression on a binding:   Disabled  →  Observe  →  Warn  →  Redact  →  Block      (every promotion is explicit and audited; a new binding never defaults to Block)</a:t>
            </a:r>
          </a:p>
        </p:txBody>
      </p:sp>
      <p:sp>
        <p:nvSpPr>
          <p:cNvPr id="38" name="Rounded Rectangle 37"/>
          <p:cNvSpPr/>
          <p:nvPr/>
        </p:nvSpPr>
        <p:spPr>
          <a:xfrm>
            <a:off x="566928" y="3813048"/>
            <a:ext cx="11057839" cy="9144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66928" y="3813048"/>
            <a:ext cx="45720" cy="9144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8096" y="3931920"/>
            <a:ext cx="2743200" cy="201168"/>
          </a:xfrm>
          <a:prstGeom prst="rect">
            <a:avLst/>
          </a:prstGeom>
          <a:noFill/>
        </p:spPr>
        <p:txBody>
          <a:bodyPr wrap="square" lIns="0" rIns="0" tIns="0" bIns="0" anchor="t">
            <a:spAutoFit/>
          </a:bodyPr>
          <a:lstStyle/>
          <a:p>
            <a:pPr algn="l">
              <a:lnSpc>
                <a:spcPct val="100000"/>
              </a:lnSpc>
              <a:spcAft>
                <a:spcPts val="600"/>
              </a:spcAft>
            </a:pPr>
            <a:r>
              <a:rPr sz="900" b="1">
                <a:solidFill>
                  <a:srgbClr val="059669"/>
                </a:solidFill>
                <a:latin typeface="Segoe UI"/>
              </a:rPr>
              <a:t>WHAT IMPORT IS NOT</a:t>
            </a:r>
          </a:p>
        </p:txBody>
      </p:sp>
      <p:sp>
        <p:nvSpPr>
          <p:cNvPr id="41" name="TextBox 40"/>
          <p:cNvSpPr txBox="1"/>
          <p:nvPr/>
        </p:nvSpPr>
        <p:spPr>
          <a:xfrm>
            <a:off x="768096" y="4160520"/>
            <a:ext cx="10600639" cy="457200"/>
          </a:xfrm>
          <a:prstGeom prst="rect">
            <a:avLst/>
          </a:prstGeom>
          <a:noFill/>
        </p:spPr>
        <p:txBody>
          <a:bodyPr wrap="square" lIns="0" rIns="0" tIns="0" bIns="0" anchor="t">
            <a:spAutoFit/>
          </a:bodyPr>
          <a:lstStyle/>
          <a:p>
            <a:pPr algn="l">
              <a:lnSpc>
                <a:spcPct val="120000"/>
              </a:lnSpc>
              <a:spcAft>
                <a:spcPts val="600"/>
              </a:spcAft>
            </a:pPr>
            <a:r>
              <a:rPr sz="1150" b="0">
                <a:solidFill>
                  <a:srgbClr val="0F172A"/>
                </a:solidFill>
                <a:latin typeface="Segoe UI"/>
              </a:rPr>
              <a:t>Import never requires: copying your LiteLLM database · transferring model-provider credentials · exposing gateway admin endpoints · replacing your model routing · granting the provider admin access to your gateway (AGR-019).</a:t>
            </a:r>
          </a:p>
        </p:txBody>
      </p:sp>
      <p:sp>
        <p:nvSpPr>
          <p:cNvPr id="42" name="TextBox 41"/>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60-delivery/IMPLEMENTATION-STRATEGY.md §7 · AGREEMENTS AGR-011, AGR-019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148840"/>
            <a:ext cx="1828800" cy="1280160"/>
          </a:xfrm>
          <a:prstGeom prst="rect">
            <a:avLst/>
          </a:prstGeom>
          <a:noFill/>
        </p:spPr>
        <p:txBody>
          <a:bodyPr wrap="square" lIns="0" rIns="0" tIns="0" bIns="0" anchor="t">
            <a:spAutoFit/>
          </a:bodyPr>
          <a:lstStyle/>
          <a:p>
            <a:pPr algn="l">
              <a:lnSpc>
                <a:spcPct val="100000"/>
              </a:lnSpc>
              <a:spcAft>
                <a:spcPts val="600"/>
              </a:spcAft>
            </a:pPr>
            <a:r>
              <a:rPr sz="6400" b="1">
                <a:solidFill>
                  <a:srgbClr val="7C3AED"/>
                </a:solidFill>
                <a:latin typeface="Segoe UI"/>
              </a:rPr>
              <a:t>03</a:t>
            </a:r>
          </a:p>
        </p:txBody>
      </p:sp>
      <p:sp>
        <p:nvSpPr>
          <p:cNvPr id="5" name="TextBox 4"/>
          <p:cNvSpPr txBox="1"/>
          <p:nvPr/>
        </p:nvSpPr>
        <p:spPr>
          <a:xfrm>
            <a:off x="2377440" y="2331720"/>
            <a:ext cx="8686800" cy="914400"/>
          </a:xfrm>
          <a:prstGeom prst="rect">
            <a:avLst/>
          </a:prstGeom>
          <a:noFill/>
        </p:spPr>
        <p:txBody>
          <a:bodyPr wrap="square" lIns="0" rIns="0" tIns="0" bIns="0" anchor="t">
            <a:spAutoFit/>
          </a:bodyPr>
          <a:lstStyle/>
          <a:p>
            <a:pPr algn="l">
              <a:lnSpc>
                <a:spcPct val="100000"/>
              </a:lnSpc>
              <a:spcAft>
                <a:spcPts val="600"/>
              </a:spcAft>
            </a:pPr>
            <a:r>
              <a:rPr sz="3400" b="1">
                <a:solidFill>
                  <a:srgbClr val="FFFFFF"/>
                </a:solidFill>
                <a:latin typeface="Segoe UI"/>
              </a:rPr>
              <a:t>Developer integration</a:t>
            </a:r>
          </a:p>
        </p:txBody>
      </p:sp>
      <p:sp>
        <p:nvSpPr>
          <p:cNvPr id="6" name="TextBox 5"/>
          <p:cNvSpPr txBox="1"/>
          <p:nvPr/>
        </p:nvSpPr>
        <p:spPr>
          <a:xfrm>
            <a:off x="2423160" y="3246120"/>
            <a:ext cx="8229600" cy="1097280"/>
          </a:xfrm>
          <a:prstGeom prst="rect">
            <a:avLst/>
          </a:prstGeom>
          <a:noFill/>
        </p:spPr>
        <p:txBody>
          <a:bodyPr wrap="square" lIns="0" rIns="0" tIns="0" bIns="0" anchor="t">
            <a:spAutoFit/>
          </a:bodyPr>
          <a:lstStyle/>
          <a:p>
            <a:pPr algn="l">
              <a:lnSpc>
                <a:spcPct val="130000"/>
              </a:lnSpc>
              <a:spcAft>
                <a:spcPts val="600"/>
              </a:spcAft>
            </a:pPr>
            <a:r>
              <a:rPr sz="1500" b="0">
                <a:solidFill>
                  <a:srgbClr val="CBD5E1"/>
                </a:solidFill>
                <a:latin typeface="Segoe UI"/>
              </a:rPr>
              <a:t>One contract, three clients. Detailed, copy-paste integration walkthroughs ship as one companion deck per mode.</a:t>
            </a:r>
          </a:p>
        </p:txBody>
      </p:sp>
      <p:sp>
        <p:nvSpPr>
          <p:cNvPr id="7" name="TextBox 6"/>
          <p:cNvSpPr txBox="1"/>
          <p:nvPr/>
        </p:nvSpPr>
        <p:spPr>
          <a:xfrm>
            <a:off x="10527487" y="630936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INTEGRATION</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14</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One contract, three clients</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A policy behaves identically whether it is reached through the connector, an SDK, or a raw HTTP call.</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1847088"/>
            <a:ext cx="3515258" cy="228600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847088"/>
            <a:ext cx="3515258" cy="45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2066544"/>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2563EB"/>
                </a:solidFill>
                <a:latin typeface="Segoe UI"/>
              </a:rPr>
              <a:t>PAVED PATH</a:t>
            </a:r>
          </a:p>
        </p:txBody>
      </p:sp>
      <p:sp>
        <p:nvSpPr>
          <p:cNvPr id="12" name="TextBox 11"/>
          <p:cNvSpPr txBox="1"/>
          <p:nvPr/>
        </p:nvSpPr>
        <p:spPr>
          <a:xfrm>
            <a:off x="768096" y="2340864"/>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LiteLLM connector</a:t>
            </a:r>
          </a:p>
        </p:txBody>
      </p:sp>
      <p:sp>
        <p:nvSpPr>
          <p:cNvPr id="13" name="TextBox 12"/>
          <p:cNvSpPr txBox="1"/>
          <p:nvPr/>
        </p:nvSpPr>
        <p:spPr>
          <a:xfrm>
            <a:off x="768096" y="2871216"/>
            <a:ext cx="3112922" cy="109728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Pre-call + post-call callbacks</a:t>
            </a:r>
          </a:p>
          <a:p>
            <a:pPr>
              <a:lnSpc>
                <a:spcPct val="115000"/>
              </a:lnSpc>
              <a:spcAft>
                <a:spcPts val="500"/>
              </a:spcAft>
            </a:pPr>
            <a:r>
              <a:rPr sz="1150">
                <a:solidFill>
                  <a:srgbClr val="475569"/>
                </a:solidFill>
                <a:latin typeface="Segoe UI"/>
              </a:rPr>
              <a:t>· Config-only install, no app code change</a:t>
            </a:r>
          </a:p>
          <a:p>
            <a:pPr>
              <a:lnSpc>
                <a:spcPct val="115000"/>
              </a:lnSpc>
              <a:spcAft>
                <a:spcPts val="500"/>
              </a:spcAft>
            </a:pPr>
            <a:r>
              <a:rPr sz="1150">
                <a:solidFill>
                  <a:srgbClr val="475569"/>
                </a:solidFill>
                <a:latin typeface="Segoe UI"/>
              </a:rPr>
              <a:t>· Enforces block / redact in the request path</a:t>
            </a:r>
          </a:p>
          <a:p>
            <a:pPr>
              <a:lnSpc>
                <a:spcPct val="115000"/>
              </a:lnSpc>
              <a:spcAft>
                <a:spcPts val="500"/>
              </a:spcAft>
            </a:pPr>
            <a:r>
              <a:rPr sz="1150">
                <a:solidFill>
                  <a:srgbClr val="475569"/>
                </a:solidFill>
                <a:latin typeface="Segoe UI"/>
              </a:rPr>
              <a:t>· Propagates the correlation id</a:t>
            </a:r>
          </a:p>
        </p:txBody>
      </p:sp>
      <p:sp>
        <p:nvSpPr>
          <p:cNvPr id="14" name="Rounded Rectangle 13"/>
          <p:cNvSpPr/>
          <p:nvPr/>
        </p:nvSpPr>
        <p:spPr>
          <a:xfrm>
            <a:off x="4338218" y="1847088"/>
            <a:ext cx="3515258" cy="228600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38218" y="1847088"/>
            <a:ext cx="3515258" cy="45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9386" y="2066544"/>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7C3AED"/>
                </a:solidFill>
                <a:latin typeface="Segoe UI"/>
              </a:rPr>
              <a:t>DIRECT</a:t>
            </a:r>
          </a:p>
        </p:txBody>
      </p:sp>
      <p:sp>
        <p:nvSpPr>
          <p:cNvPr id="17" name="TextBox 16"/>
          <p:cNvSpPr txBox="1"/>
          <p:nvPr/>
        </p:nvSpPr>
        <p:spPr>
          <a:xfrm>
            <a:off x="4539386" y="2340864"/>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Python / TypeScript SDK</a:t>
            </a:r>
          </a:p>
        </p:txBody>
      </p:sp>
      <p:sp>
        <p:nvSpPr>
          <p:cNvPr id="18" name="TextBox 17"/>
          <p:cNvSpPr txBox="1"/>
          <p:nvPr/>
        </p:nvSpPr>
        <p:spPr>
          <a:xfrm>
            <a:off x="4539386" y="2871216"/>
            <a:ext cx="3112922" cy="109728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For apps not fronted by a supported gateway</a:t>
            </a:r>
          </a:p>
          <a:p>
            <a:pPr>
              <a:lnSpc>
                <a:spcPct val="115000"/>
              </a:lnSpc>
              <a:spcAft>
                <a:spcPts val="500"/>
              </a:spcAft>
            </a:pPr>
            <a:r>
              <a:rPr sz="1150">
                <a:solidFill>
                  <a:srgbClr val="475569"/>
                </a:solidFill>
                <a:latin typeface="Segoe UI"/>
              </a:rPr>
              <a:t>· Request construction + timeout handling</a:t>
            </a:r>
          </a:p>
          <a:p>
            <a:pPr>
              <a:lnSpc>
                <a:spcPct val="115000"/>
              </a:lnSpc>
              <a:spcAft>
                <a:spcPts val="500"/>
              </a:spcAft>
            </a:pPr>
            <a:r>
              <a:rPr sz="1150">
                <a:solidFill>
                  <a:srgbClr val="475569"/>
                </a:solidFill>
                <a:latin typeface="Segoe UI"/>
              </a:rPr>
              <a:t>· Same decision object as the connector</a:t>
            </a:r>
          </a:p>
          <a:p>
            <a:pPr>
              <a:lnSpc>
                <a:spcPct val="115000"/>
              </a:lnSpc>
              <a:spcAft>
                <a:spcPts val="500"/>
              </a:spcAft>
            </a:pPr>
            <a:r>
              <a:rPr sz="1150">
                <a:solidFill>
                  <a:srgbClr val="475569"/>
                </a:solidFill>
                <a:latin typeface="Segoe UI"/>
              </a:rPr>
              <a:t>· No added evaluation semantics</a:t>
            </a:r>
          </a:p>
        </p:txBody>
      </p:sp>
      <p:sp>
        <p:nvSpPr>
          <p:cNvPr id="19" name="Rounded Rectangle 18"/>
          <p:cNvSpPr/>
          <p:nvPr/>
        </p:nvSpPr>
        <p:spPr>
          <a:xfrm>
            <a:off x="8109508" y="1847088"/>
            <a:ext cx="3515258" cy="228600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109508" y="1847088"/>
            <a:ext cx="3515258" cy="4572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10676" y="2066544"/>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059669"/>
                </a:solidFill>
                <a:latin typeface="Segoe UI"/>
              </a:rPr>
              <a:t>ALWAYS OPEN</a:t>
            </a:r>
          </a:p>
        </p:txBody>
      </p:sp>
      <p:sp>
        <p:nvSpPr>
          <p:cNvPr id="22" name="TextBox 21"/>
          <p:cNvSpPr txBox="1"/>
          <p:nvPr/>
        </p:nvSpPr>
        <p:spPr>
          <a:xfrm>
            <a:off x="8310676" y="2340864"/>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Raw HTTP Evaluation API</a:t>
            </a:r>
          </a:p>
        </p:txBody>
      </p:sp>
      <p:sp>
        <p:nvSpPr>
          <p:cNvPr id="23" name="TextBox 22"/>
          <p:cNvSpPr txBox="1"/>
          <p:nvPr/>
        </p:nvSpPr>
        <p:spPr>
          <a:xfrm>
            <a:off x="8310676" y="2871216"/>
            <a:ext cx="3112922" cy="109728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Any stack with an authenticated HTTP client</a:t>
            </a:r>
          </a:p>
          <a:p>
            <a:pPr>
              <a:lnSpc>
                <a:spcPct val="115000"/>
              </a:lnSpc>
              <a:spcAft>
                <a:spcPts val="500"/>
              </a:spcAft>
            </a:pPr>
            <a:r>
              <a:rPr sz="1150">
                <a:solidFill>
                  <a:srgbClr val="475569"/>
                </a:solidFill>
                <a:latin typeface="Segoe UI"/>
              </a:rPr>
              <a:t>· The real product surface</a:t>
            </a:r>
          </a:p>
          <a:p>
            <a:pPr>
              <a:lnSpc>
                <a:spcPct val="115000"/>
              </a:lnSpc>
              <a:spcAft>
                <a:spcPts val="500"/>
              </a:spcAft>
            </a:pPr>
            <a:r>
              <a:rPr sz="1150">
                <a:solidFill>
                  <a:srgbClr val="475569"/>
                </a:solidFill>
                <a:latin typeface="Segoe UI"/>
              </a:rPr>
              <a:t>· No consumer is locked out for lacking an SDK</a:t>
            </a:r>
          </a:p>
          <a:p>
            <a:pPr>
              <a:lnSpc>
                <a:spcPct val="115000"/>
              </a:lnSpc>
              <a:spcAft>
                <a:spcPts val="500"/>
              </a:spcAft>
            </a:pPr>
            <a:r>
              <a:rPr sz="1150">
                <a:solidFill>
                  <a:srgbClr val="475569"/>
                </a:solidFill>
                <a:latin typeface="Segoe UI"/>
              </a:rPr>
              <a:t>· Conformance-testable</a:t>
            </a:r>
          </a:p>
        </p:txBody>
      </p:sp>
      <p:graphicFrame>
        <p:nvGraphicFramePr>
          <p:cNvPr id="24" name="Table 23"/>
          <p:cNvGraphicFramePr>
            <a:graphicFrameLocks noGrp="1"/>
          </p:cNvGraphicFramePr>
          <p:nvPr/>
        </p:nvGraphicFramePr>
        <p:xfrm>
          <a:off x="566928" y="4389120"/>
          <a:ext cx="11057838" cy="1216152"/>
        </p:xfrm>
        <a:graphic>
          <a:graphicData uri="http://schemas.openxmlformats.org/drawingml/2006/table">
            <a:tbl>
              <a:tblPr firstRow="1">
                <a:tableStyleId>{5C22544A-7EE6-4342-B048-85BDC9FD1C3A}</a:tableStyleId>
              </a:tblPr>
              <a:tblGrid>
                <a:gridCol w="4065381"/>
                <a:gridCol w="6992457"/>
              </a:tblGrid>
              <a:tr h="347472">
                <a:tc>
                  <a:txBody>
                    <a:bodyPr/>
                    <a:lstStyle/>
                    <a:p>
                      <a:r>
                        <a:rPr sz="1100" b="1">
                          <a:solidFill>
                            <a:srgbClr val="FFFFFF"/>
                          </a:solidFill>
                          <a:latin typeface="Segoe UI"/>
                        </a:rPr>
                        <a:t>The evaluation request carries</a:t>
                      </a:r>
                    </a:p>
                  </a:txBody>
                  <a:tcPr marL="82296" marR="54864" marT="36576" marB="36576" anchor="ctr">
                    <a:solidFill>
                      <a:srgbClr val="0F172A"/>
                    </a:solidFill>
                  </a:tcPr>
                </a:tc>
                <a:tc>
                  <a:txBody>
                    <a:bodyPr/>
                    <a:lstStyle/>
                    <a:p>
                      <a:r>
                        <a:rPr sz="1100" b="1">
                          <a:solidFill>
                            <a:srgbClr val="FFFFFF"/>
                          </a:solidFill>
                          <a:latin typeface="Segoe UI"/>
                        </a:rPr>
                        <a:t>The decision returns</a:t>
                      </a:r>
                    </a:p>
                  </a:txBody>
                  <a:tcPr marL="82296" marR="54864" marT="36576" marB="36576" anchor="ctr">
                    <a:solidFill>
                      <a:srgbClr val="0F172A"/>
                    </a:solidFill>
                  </a:tcPr>
                </a:tc>
              </a:tr>
              <a:tr h="868680">
                <a:tc>
                  <a:txBody>
                    <a:bodyPr/>
                    <a:lstStyle/>
                    <a:p>
                      <a:pPr>
                        <a:lnSpc>
                          <a:spcPct val="105000"/>
                        </a:lnSpc>
                      </a:pPr>
                      <a:r>
                        <a:rPr sz="1100" b="1">
                          <a:solidFill>
                            <a:srgbClr val="0F172A"/>
                          </a:solidFill>
                          <a:latin typeface="Segoe UI"/>
                        </a:rPr>
                        <a:t>tenant id · workload id · stage (input|output) · content payload · correlation id · optional policy hint</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action (allow|block|redact|log_only) · allowed · reason codes · policy name+version · evaluator metadata · transformed content · correlation id · audit id · latency</a:t>
                      </a:r>
                    </a:p>
                  </a:txBody>
                  <a:tcPr marL="82296" marR="54864" marT="27432" marB="27432" anchor="ctr">
                    <a:solidFill>
                      <a:srgbClr val="FFFFFF"/>
                    </a:solidFill>
                  </a:tcPr>
                </a:tc>
              </a:tr>
            </a:tbl>
          </a:graphicData>
        </a:graphic>
      </p:graphicFrame>
      <p:sp>
        <p:nvSpPr>
          <p:cNvPr id="25" name="TextBox 24"/>
          <p:cNvSpPr txBox="1"/>
          <p:nvPr/>
        </p:nvSpPr>
        <p:spPr>
          <a:xfrm>
            <a:off x="566928" y="5852160"/>
            <a:ext cx="11057839" cy="365760"/>
          </a:xfrm>
          <a:prstGeom prst="rect">
            <a:avLst/>
          </a:prstGeom>
          <a:noFill/>
        </p:spPr>
        <p:txBody>
          <a:bodyPr wrap="square" lIns="0" rIns="0" tIns="0" bIns="0" anchor="t">
            <a:spAutoFit/>
          </a:bodyPr>
          <a:lstStyle/>
          <a:p>
            <a:pPr algn="l">
              <a:lnSpc>
                <a:spcPct val="100000"/>
              </a:lnSpc>
              <a:spcAft>
                <a:spcPts val="600"/>
              </a:spcAft>
            </a:pPr>
            <a:r>
              <a:rPr sz="1200" b="1">
                <a:solidFill>
                  <a:srgbClr val="2563EB"/>
                </a:solidFill>
                <a:latin typeface="Segoe UI"/>
              </a:rPr>
              <a:t>Companion decks — one per mode:  Mode-A-Remote-Evaluation.pptx  ·  Mode-B-Guarded-Gateway.pptx  ·  Mode-C-Customer-Managed-Runtime.pptx</a:t>
            </a:r>
          </a:p>
        </p:txBody>
      </p:sp>
      <p:sp>
        <p:nvSpPr>
          <p:cNvPr id="26" name="TextBox 25"/>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50-architecture/INTEGRATION-ARCHITECTURE.md §3, §5 · 20-product/SERVING-MODEL.md §4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INTEGRATION</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15</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The pre-call / post-call pattern</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The same sequence in all three modes — only the destination of the Evaluation API changes.</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1847088"/>
            <a:ext cx="11057839" cy="3200400"/>
          </a:xfrm>
          <a:prstGeom prst="roundRect">
            <a:avLst>
              <a:gd name="adj" fmla="val 2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1956816"/>
            <a:ext cx="10692079" cy="219456"/>
          </a:xfrm>
          <a:prstGeom prst="rect">
            <a:avLst/>
          </a:prstGeom>
          <a:noFill/>
        </p:spPr>
        <p:txBody>
          <a:bodyPr wrap="square" lIns="0" rIns="0" tIns="0" bIns="0" anchor="t">
            <a:spAutoFit/>
          </a:bodyPr>
          <a:lstStyle/>
          <a:p>
            <a:pPr algn="l">
              <a:lnSpc>
                <a:spcPct val="100000"/>
              </a:lnSpc>
              <a:spcAft>
                <a:spcPts val="600"/>
              </a:spcAft>
            </a:pPr>
            <a:r>
              <a:rPr sz="900" b="1">
                <a:solidFill>
                  <a:srgbClr val="7DD3FC"/>
                </a:solidFill>
                <a:latin typeface="Consolas"/>
              </a:rPr>
              <a:t>evaluation flow</a:t>
            </a:r>
          </a:p>
        </p:txBody>
      </p:sp>
      <p:sp>
        <p:nvSpPr>
          <p:cNvPr id="11" name="TextBox 10"/>
          <p:cNvSpPr txBox="1"/>
          <p:nvPr/>
        </p:nvSpPr>
        <p:spPr>
          <a:xfrm>
            <a:off x="768096" y="2249424"/>
            <a:ext cx="10655503" cy="2670048"/>
          </a:xfrm>
          <a:prstGeom prst="rect">
            <a:avLst/>
          </a:prstGeom>
          <a:noFill/>
        </p:spPr>
        <p:txBody>
          <a:bodyPr wrap="square" lIns="0" tIns="0">
            <a:spAutoFit/>
          </a:bodyPr>
          <a:lstStyle/>
          <a:p>
            <a:pPr>
              <a:lnSpc>
                <a:spcPct val="114000"/>
              </a:lnSpc>
              <a:spcAft>
                <a:spcPts val="0"/>
              </a:spcAft>
            </a:pPr>
            <a:r>
              <a:rPr sz="1250">
                <a:solidFill>
                  <a:srgbClr val="E2E8F0"/>
                </a:solidFill>
                <a:latin typeface="Consolas"/>
              </a:rPr>
              <a:t> </a:t>
            </a:r>
          </a:p>
          <a:p>
            <a:pPr>
              <a:lnSpc>
                <a:spcPct val="114000"/>
              </a:lnSpc>
              <a:spcAft>
                <a:spcPts val="0"/>
              </a:spcAft>
            </a:pPr>
            <a:r>
              <a:rPr sz="1250">
                <a:solidFill>
                  <a:srgbClr val="E2E8F0"/>
                </a:solidFill>
                <a:latin typeface="Consolas"/>
              </a:rPr>
              <a:t>Application ──► Gateway / SDK ──► Evaluation API (stage=input, correlation_id=X)</a:t>
            </a:r>
          </a:p>
          <a:p>
            <a:pPr>
              <a:lnSpc>
                <a:spcPct val="114000"/>
              </a:lnSpc>
              <a:spcAft>
                <a:spcPts val="0"/>
              </a:spcAft>
            </a:pPr>
            <a:r>
              <a:rPr sz="1250">
                <a:solidFill>
                  <a:srgbClr val="E2E8F0"/>
                </a:solidFill>
                <a:latin typeface="Consolas"/>
              </a:rPr>
              <a:t>                                  ◄── decision: allow | block | redact | log_only</a:t>
            </a:r>
          </a:p>
          <a:p>
            <a:pPr>
              <a:lnSpc>
                <a:spcPct val="114000"/>
              </a:lnSpc>
              <a:spcAft>
                <a:spcPts val="0"/>
              </a:spcAft>
            </a:pPr>
            <a:r>
              <a:rPr sz="1250">
                <a:solidFill>
                  <a:srgbClr val="E2E8F0"/>
                </a:solidFill>
                <a:latin typeface="Consolas"/>
              </a:rPr>
              <a:t>     block   ──► safe rejection returned to the caller, model never invoked</a:t>
            </a:r>
          </a:p>
          <a:p>
            <a:pPr>
              <a:lnSpc>
                <a:spcPct val="114000"/>
              </a:lnSpc>
              <a:spcAft>
                <a:spcPts val="0"/>
              </a:spcAft>
            </a:pPr>
            <a:r>
              <a:rPr sz="1250">
                <a:solidFill>
                  <a:srgbClr val="E2E8F0"/>
                </a:solidFill>
                <a:latin typeface="Consolas"/>
              </a:rPr>
              <a:t>     redact  ──► model invoked with the transformed content from the decision</a:t>
            </a:r>
          </a:p>
          <a:p>
            <a:pPr>
              <a:lnSpc>
                <a:spcPct val="114000"/>
              </a:lnSpc>
              <a:spcAft>
                <a:spcPts val="0"/>
              </a:spcAft>
            </a:pPr>
            <a:r>
              <a:rPr sz="1250">
                <a:solidFill>
                  <a:srgbClr val="E2E8F0"/>
                </a:solidFill>
                <a:latin typeface="Consolas"/>
              </a:rPr>
              <a:t>     allow   ──► model invoked with the original content</a:t>
            </a:r>
          </a:p>
          <a:p>
            <a:pPr>
              <a:lnSpc>
                <a:spcPct val="114000"/>
              </a:lnSpc>
              <a:spcAft>
                <a:spcPts val="0"/>
              </a:spcAft>
            </a:pPr>
            <a:r>
              <a:rPr sz="1250">
                <a:solidFill>
                  <a:srgbClr val="E2E8F0"/>
                </a:solidFill>
                <a:latin typeface="Consolas"/>
              </a:rPr>
              <a:t> </a:t>
            </a:r>
          </a:p>
          <a:p>
            <a:pPr>
              <a:lnSpc>
                <a:spcPct val="114000"/>
              </a:lnSpc>
              <a:spcAft>
                <a:spcPts val="0"/>
              </a:spcAft>
            </a:pPr>
            <a:r>
              <a:rPr sz="1250">
                <a:solidFill>
                  <a:srgbClr val="E2E8F0"/>
                </a:solidFill>
                <a:latin typeface="Consolas"/>
              </a:rPr>
              <a:t>Model ──► Gateway / SDK ──► Evaluation API (stage=output, correlation_id=X)</a:t>
            </a:r>
          </a:p>
          <a:p>
            <a:pPr>
              <a:lnSpc>
                <a:spcPct val="114000"/>
              </a:lnSpc>
              <a:spcAft>
                <a:spcPts val="0"/>
              </a:spcAft>
            </a:pPr>
            <a:r>
              <a:rPr sz="1250">
                <a:solidFill>
                  <a:srgbClr val="E2E8F0"/>
                </a:solidFill>
                <a:latin typeface="Consolas"/>
              </a:rPr>
              <a:t>                            ◄── decision: allow | block | redact | log_only</a:t>
            </a:r>
          </a:p>
          <a:p>
            <a:pPr>
              <a:lnSpc>
                <a:spcPct val="114000"/>
              </a:lnSpc>
              <a:spcAft>
                <a:spcPts val="0"/>
              </a:spcAft>
            </a:pPr>
            <a:r>
              <a:rPr sz="1250">
                <a:solidFill>
                  <a:srgbClr val="E2E8F0"/>
                </a:solidFill>
                <a:latin typeface="Consolas"/>
              </a:rPr>
              <a:t>     block   ──► safe fallback response returned instead of the raw model output</a:t>
            </a:r>
          </a:p>
          <a:p>
            <a:pPr>
              <a:lnSpc>
                <a:spcPct val="114000"/>
              </a:lnSpc>
              <a:spcAft>
                <a:spcPts val="0"/>
              </a:spcAft>
            </a:pPr>
            <a:r>
              <a:rPr sz="1250">
                <a:solidFill>
                  <a:srgbClr val="E2E8F0"/>
                </a:solidFill>
                <a:latin typeface="Consolas"/>
              </a:rPr>
              <a:t>     redact  ──► transformed response returned</a:t>
            </a:r>
          </a:p>
          <a:p>
            <a:pPr>
              <a:lnSpc>
                <a:spcPct val="114000"/>
              </a:lnSpc>
              <a:spcAft>
                <a:spcPts val="0"/>
              </a:spcAft>
            </a:pPr>
            <a:r>
              <a:rPr sz="1250">
                <a:solidFill>
                  <a:srgbClr val="E2E8F0"/>
                </a:solidFill>
                <a:latin typeface="Consolas"/>
              </a:rPr>
              <a:t>     allow   ──► original response returned</a:t>
            </a:r>
          </a:p>
          <a:p>
            <a:pPr>
              <a:lnSpc>
                <a:spcPct val="114000"/>
              </a:lnSpc>
              <a:spcAft>
                <a:spcPts val="0"/>
              </a:spcAft>
            </a:pPr>
            <a:r>
              <a:rPr sz="1250">
                <a:solidFill>
                  <a:srgbClr val="E2E8F0"/>
                </a:solidFill>
                <a:latin typeface="Consolas"/>
              </a:rPr>
              <a:t> </a:t>
            </a:r>
          </a:p>
          <a:p>
            <a:pPr>
              <a:lnSpc>
                <a:spcPct val="114000"/>
              </a:lnSpc>
              <a:spcAft>
                <a:spcPts val="0"/>
              </a:spcAft>
            </a:pPr>
            <a:r>
              <a:rPr sz="1250">
                <a:solidFill>
                  <a:srgbClr val="E2E8F0"/>
                </a:solidFill>
                <a:latin typeface="Consolas"/>
              </a:rPr>
              <a:t>Timeout / detector down / policy unresolvable ──► the workload's CONFIGURED failure</a:t>
            </a:r>
          </a:p>
          <a:p>
            <a:pPr>
              <a:lnSpc>
                <a:spcPct val="114000"/>
              </a:lnSpc>
              <a:spcAft>
                <a:spcPts val="0"/>
              </a:spcAft>
            </a:pPr>
            <a:r>
              <a:rPr sz="1250">
                <a:solidFill>
                  <a:srgbClr val="E2E8F0"/>
                </a:solidFill>
                <a:latin typeface="Consolas"/>
              </a:rPr>
              <a:t>behavior runs. There is no undocumented fallback (AGR-012).</a:t>
            </a:r>
          </a:p>
        </p:txBody>
      </p:sp>
      <p:sp>
        <p:nvSpPr>
          <p:cNvPr id="12" name="Rounded Rectangle 11"/>
          <p:cNvSpPr/>
          <p:nvPr/>
        </p:nvSpPr>
        <p:spPr>
          <a:xfrm>
            <a:off x="566928" y="5276088"/>
            <a:ext cx="11057839" cy="77724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5276088"/>
            <a:ext cx="45720" cy="7772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68096" y="5394960"/>
            <a:ext cx="2743200" cy="201168"/>
          </a:xfrm>
          <a:prstGeom prst="rect">
            <a:avLst/>
          </a:prstGeom>
          <a:noFill/>
        </p:spPr>
        <p:txBody>
          <a:bodyPr wrap="square" lIns="0" rIns="0" tIns="0" bIns="0" anchor="t">
            <a:spAutoFit/>
          </a:bodyPr>
          <a:lstStyle/>
          <a:p>
            <a:pPr algn="l">
              <a:lnSpc>
                <a:spcPct val="100000"/>
              </a:lnSpc>
              <a:spcAft>
                <a:spcPts val="600"/>
              </a:spcAft>
            </a:pPr>
            <a:r>
              <a:rPr sz="900" b="1">
                <a:solidFill>
                  <a:srgbClr val="2563EB"/>
                </a:solidFill>
                <a:latin typeface="Segoe UI"/>
              </a:rPr>
              <a:t>CORRELATION</a:t>
            </a:r>
          </a:p>
        </p:txBody>
      </p:sp>
      <p:sp>
        <p:nvSpPr>
          <p:cNvPr id="15" name="TextBox 14"/>
          <p:cNvSpPr txBox="1"/>
          <p:nvPr/>
        </p:nvSpPr>
        <p:spPr>
          <a:xfrm>
            <a:off x="768096" y="5623560"/>
            <a:ext cx="10600639" cy="320040"/>
          </a:xfrm>
          <a:prstGeom prst="rect">
            <a:avLst/>
          </a:prstGeom>
          <a:noFill/>
        </p:spPr>
        <p:txBody>
          <a:bodyPr wrap="square" lIns="0" rIns="0" tIns="0" bIns="0" anchor="t">
            <a:spAutoFit/>
          </a:bodyPr>
          <a:lstStyle/>
          <a:p>
            <a:pPr algn="l">
              <a:lnSpc>
                <a:spcPct val="120000"/>
              </a:lnSpc>
              <a:spcAft>
                <a:spcPts val="600"/>
              </a:spcAft>
            </a:pPr>
            <a:r>
              <a:rPr sz="1150" b="0">
                <a:solidFill>
                  <a:srgbClr val="0F172A"/>
                </a:solidFill>
                <a:latin typeface="Segoe UI"/>
              </a:rPr>
              <a:t>Two evaluations share one correlation id, so the input decision, the model call, the output decision and both audit records join into a single traceable request.</a:t>
            </a:r>
          </a:p>
        </p:txBody>
      </p:sp>
      <p:sp>
        <p:nvSpPr>
          <p:cNvPr id="16" name="TextBox 15"/>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50-architecture/INTEGRATION-ARCHITECTURE.md §4.1, §4.4, §4.6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148840"/>
            <a:ext cx="1828800" cy="1280160"/>
          </a:xfrm>
          <a:prstGeom prst="rect">
            <a:avLst/>
          </a:prstGeom>
          <a:noFill/>
        </p:spPr>
        <p:txBody>
          <a:bodyPr wrap="square" lIns="0" rIns="0" tIns="0" bIns="0" anchor="t">
            <a:spAutoFit/>
          </a:bodyPr>
          <a:lstStyle/>
          <a:p>
            <a:pPr algn="l">
              <a:lnSpc>
                <a:spcPct val="100000"/>
              </a:lnSpc>
              <a:spcAft>
                <a:spcPts val="600"/>
              </a:spcAft>
            </a:pPr>
            <a:r>
              <a:rPr sz="6400" b="1">
                <a:solidFill>
                  <a:srgbClr val="7C3AED"/>
                </a:solidFill>
                <a:latin typeface="Segoe UI"/>
              </a:rPr>
              <a:t>04</a:t>
            </a:r>
          </a:p>
        </p:txBody>
      </p:sp>
      <p:sp>
        <p:nvSpPr>
          <p:cNvPr id="5" name="TextBox 4"/>
          <p:cNvSpPr txBox="1"/>
          <p:nvPr/>
        </p:nvSpPr>
        <p:spPr>
          <a:xfrm>
            <a:off x="2377440" y="2331720"/>
            <a:ext cx="8686800" cy="914400"/>
          </a:xfrm>
          <a:prstGeom prst="rect">
            <a:avLst/>
          </a:prstGeom>
          <a:noFill/>
        </p:spPr>
        <p:txBody>
          <a:bodyPr wrap="square" lIns="0" rIns="0" tIns="0" bIns="0" anchor="t">
            <a:spAutoFit/>
          </a:bodyPr>
          <a:lstStyle/>
          <a:p>
            <a:pPr algn="l">
              <a:lnSpc>
                <a:spcPct val="100000"/>
              </a:lnSpc>
              <a:spcAft>
                <a:spcPts val="600"/>
              </a:spcAft>
            </a:pPr>
            <a:r>
              <a:rPr sz="3400" b="1">
                <a:solidFill>
                  <a:srgbClr val="FFFFFF"/>
                </a:solidFill>
                <a:latin typeface="Segoe UI"/>
              </a:rPr>
              <a:t>Delivery plan</a:t>
            </a:r>
          </a:p>
        </p:txBody>
      </p:sp>
      <p:sp>
        <p:nvSpPr>
          <p:cNvPr id="6" name="TextBox 5"/>
          <p:cNvSpPr txBox="1"/>
          <p:nvPr/>
        </p:nvSpPr>
        <p:spPr>
          <a:xfrm>
            <a:off x="2423160" y="3246120"/>
            <a:ext cx="8229600" cy="1097280"/>
          </a:xfrm>
          <a:prstGeom prst="rect">
            <a:avLst/>
          </a:prstGeom>
          <a:noFill/>
        </p:spPr>
        <p:txBody>
          <a:bodyPr wrap="square" lIns="0" rIns="0" tIns="0" bIns="0" anchor="t">
            <a:spAutoFit/>
          </a:bodyPr>
          <a:lstStyle/>
          <a:p>
            <a:pPr algn="l">
              <a:lnSpc>
                <a:spcPct val="130000"/>
              </a:lnSpc>
              <a:spcAft>
                <a:spcPts val="600"/>
              </a:spcAft>
            </a:pPr>
            <a:r>
              <a:rPr sz="1500" b="0">
                <a:solidFill>
                  <a:srgbClr val="CBD5E1"/>
                </a:solidFill>
                <a:latin typeface="Segoe UI"/>
              </a:rPr>
              <a:t>Five phases, five milestones, one hard validation gate. Sequencing is agreed; the calendar in this section is our proposal.</a:t>
            </a:r>
          </a:p>
        </p:txBody>
      </p:sp>
      <p:sp>
        <p:nvSpPr>
          <p:cNvPr id="7" name="TextBox 6"/>
          <p:cNvSpPr txBox="1"/>
          <p:nvPr/>
        </p:nvSpPr>
        <p:spPr>
          <a:xfrm>
            <a:off x="10527487" y="630936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DELIVERY</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17</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Five phases — sequencing is fixed by agreement</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Each phase's deliverables must be completed and validated before the next phase's scope is committed (AGR-020).</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1847088"/>
            <a:ext cx="2050633" cy="370332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847088"/>
            <a:ext cx="2050633"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13232" y="2048256"/>
            <a:ext cx="1776313" cy="228600"/>
          </a:xfrm>
          <a:prstGeom prst="rect">
            <a:avLst/>
          </a:prstGeom>
          <a:noFill/>
        </p:spPr>
        <p:txBody>
          <a:bodyPr wrap="square" lIns="0" rIns="0" tIns="0" bIns="0" anchor="t">
            <a:spAutoFit/>
          </a:bodyPr>
          <a:lstStyle/>
          <a:p>
            <a:pPr algn="l">
              <a:lnSpc>
                <a:spcPct val="100000"/>
              </a:lnSpc>
              <a:spcAft>
                <a:spcPts val="600"/>
              </a:spcAft>
            </a:pPr>
            <a:r>
              <a:rPr sz="950" b="1">
                <a:solidFill>
                  <a:srgbClr val="2563EB"/>
                </a:solidFill>
                <a:latin typeface="Segoe UI"/>
              </a:rPr>
              <a:t>PHASE 1</a:t>
            </a:r>
          </a:p>
        </p:txBody>
      </p:sp>
      <p:sp>
        <p:nvSpPr>
          <p:cNvPr id="12" name="TextBox 11"/>
          <p:cNvSpPr txBox="1"/>
          <p:nvPr/>
        </p:nvSpPr>
        <p:spPr>
          <a:xfrm>
            <a:off x="713232" y="2304288"/>
            <a:ext cx="1776313" cy="548640"/>
          </a:xfrm>
          <a:prstGeom prst="rect">
            <a:avLst/>
          </a:prstGeom>
          <a:noFill/>
        </p:spPr>
        <p:txBody>
          <a:bodyPr wrap="square" lIns="0" rIns="0" tIns="0" bIns="0" anchor="t">
            <a:spAutoFit/>
          </a:bodyPr>
          <a:lstStyle/>
          <a:p>
            <a:pPr algn="l">
              <a:lnSpc>
                <a:spcPct val="105000"/>
              </a:lnSpc>
              <a:spcAft>
                <a:spcPts val="600"/>
              </a:spcAft>
            </a:pPr>
            <a:r>
              <a:rPr sz="1350" b="1">
                <a:solidFill>
                  <a:srgbClr val="0F172A"/>
                </a:solidFill>
                <a:latin typeface="Segoe UI"/>
              </a:rPr>
              <a:t>Integration proof</a:t>
            </a:r>
          </a:p>
        </p:txBody>
      </p:sp>
      <p:sp>
        <p:nvSpPr>
          <p:cNvPr id="13" name="TextBox 12"/>
          <p:cNvSpPr txBox="1"/>
          <p:nvPr/>
        </p:nvSpPr>
        <p:spPr>
          <a:xfrm>
            <a:off x="713232" y="2962656"/>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Evaluation contract</a:t>
            </a:r>
          </a:p>
        </p:txBody>
      </p:sp>
      <p:sp>
        <p:nvSpPr>
          <p:cNvPr id="14" name="TextBox 13"/>
          <p:cNvSpPr txBox="1"/>
          <p:nvPr/>
        </p:nvSpPr>
        <p:spPr>
          <a:xfrm>
            <a:off x="713232" y="3310128"/>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Policy format</a:t>
            </a:r>
          </a:p>
        </p:txBody>
      </p:sp>
      <p:sp>
        <p:nvSpPr>
          <p:cNvPr id="15" name="TextBox 14"/>
          <p:cNvSpPr txBox="1"/>
          <p:nvPr/>
        </p:nvSpPr>
        <p:spPr>
          <a:xfrm>
            <a:off x="713232" y="3657600"/>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Bedrock adapter</a:t>
            </a:r>
          </a:p>
        </p:txBody>
      </p:sp>
      <p:sp>
        <p:nvSpPr>
          <p:cNvPr id="16" name="TextBox 15"/>
          <p:cNvSpPr txBox="1"/>
          <p:nvPr/>
        </p:nvSpPr>
        <p:spPr>
          <a:xfrm>
            <a:off x="713232" y="4005072"/>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LiteLLM connector</a:t>
            </a:r>
          </a:p>
        </p:txBody>
      </p:sp>
      <p:sp>
        <p:nvSpPr>
          <p:cNvPr id="17" name="TextBox 16"/>
          <p:cNvSpPr txBox="1"/>
          <p:nvPr/>
        </p:nvSpPr>
        <p:spPr>
          <a:xfrm>
            <a:off x="713232" y="4352544"/>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Observe mode</a:t>
            </a:r>
          </a:p>
        </p:txBody>
      </p:sp>
      <p:sp>
        <p:nvSpPr>
          <p:cNvPr id="18" name="TextBox 17"/>
          <p:cNvSpPr txBox="1"/>
          <p:nvPr/>
        </p:nvSpPr>
        <p:spPr>
          <a:xfrm>
            <a:off x="713232" y="4700016"/>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Basic auditing</a:t>
            </a:r>
          </a:p>
        </p:txBody>
      </p:sp>
      <p:sp>
        <p:nvSpPr>
          <p:cNvPr id="19" name="TextBox 18"/>
          <p:cNvSpPr txBox="1"/>
          <p:nvPr/>
        </p:nvSpPr>
        <p:spPr>
          <a:xfrm>
            <a:off x="713232" y="5047488"/>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Internal deployment</a:t>
            </a:r>
          </a:p>
        </p:txBody>
      </p:sp>
      <p:sp>
        <p:nvSpPr>
          <p:cNvPr id="20" name="Rounded Rectangle 19"/>
          <p:cNvSpPr/>
          <p:nvPr/>
        </p:nvSpPr>
        <p:spPr>
          <a:xfrm>
            <a:off x="2818729" y="1847088"/>
            <a:ext cx="2050633" cy="370332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2818729" y="1847088"/>
            <a:ext cx="2050633"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965033" y="2048256"/>
            <a:ext cx="1776313" cy="228600"/>
          </a:xfrm>
          <a:prstGeom prst="rect">
            <a:avLst/>
          </a:prstGeom>
          <a:noFill/>
        </p:spPr>
        <p:txBody>
          <a:bodyPr wrap="square" lIns="0" rIns="0" tIns="0" bIns="0" anchor="t">
            <a:spAutoFit/>
          </a:bodyPr>
          <a:lstStyle/>
          <a:p>
            <a:pPr algn="l">
              <a:lnSpc>
                <a:spcPct val="100000"/>
              </a:lnSpc>
              <a:spcAft>
                <a:spcPts val="600"/>
              </a:spcAft>
            </a:pPr>
            <a:r>
              <a:rPr sz="950" b="1">
                <a:solidFill>
                  <a:srgbClr val="2563EB"/>
                </a:solidFill>
                <a:latin typeface="Segoe UI"/>
              </a:rPr>
              <a:t>PHASE 2</a:t>
            </a:r>
          </a:p>
        </p:txBody>
      </p:sp>
      <p:sp>
        <p:nvSpPr>
          <p:cNvPr id="23" name="TextBox 22"/>
          <p:cNvSpPr txBox="1"/>
          <p:nvPr/>
        </p:nvSpPr>
        <p:spPr>
          <a:xfrm>
            <a:off x="2965033" y="2304288"/>
            <a:ext cx="1776313" cy="548640"/>
          </a:xfrm>
          <a:prstGeom prst="rect">
            <a:avLst/>
          </a:prstGeom>
          <a:noFill/>
        </p:spPr>
        <p:txBody>
          <a:bodyPr wrap="square" lIns="0" rIns="0" tIns="0" bIns="0" anchor="t">
            <a:spAutoFit/>
          </a:bodyPr>
          <a:lstStyle/>
          <a:p>
            <a:pPr algn="l">
              <a:lnSpc>
                <a:spcPct val="105000"/>
              </a:lnSpc>
              <a:spcAft>
                <a:spcPts val="600"/>
              </a:spcAft>
            </a:pPr>
            <a:r>
              <a:rPr sz="1350" b="1">
                <a:solidFill>
                  <a:srgbClr val="0F172A"/>
                </a:solidFill>
                <a:latin typeface="Segoe UI"/>
              </a:rPr>
              <a:t>Multi-team platform</a:t>
            </a:r>
          </a:p>
        </p:txBody>
      </p:sp>
      <p:sp>
        <p:nvSpPr>
          <p:cNvPr id="24" name="TextBox 23"/>
          <p:cNvSpPr txBox="1"/>
          <p:nvPr/>
        </p:nvSpPr>
        <p:spPr>
          <a:xfrm>
            <a:off x="2965033" y="2962656"/>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Tenant + workload registry</a:t>
            </a:r>
          </a:p>
        </p:txBody>
      </p:sp>
      <p:sp>
        <p:nvSpPr>
          <p:cNvPr id="25" name="TextBox 24"/>
          <p:cNvSpPr txBox="1"/>
          <p:nvPr/>
        </p:nvSpPr>
        <p:spPr>
          <a:xfrm>
            <a:off x="2965033" y="3310128"/>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Policy bindings</a:t>
            </a:r>
          </a:p>
        </p:txBody>
      </p:sp>
      <p:sp>
        <p:nvSpPr>
          <p:cNvPr id="26" name="TextBox 25"/>
          <p:cNvSpPr txBox="1"/>
          <p:nvPr/>
        </p:nvSpPr>
        <p:spPr>
          <a:xfrm>
            <a:off x="2965033" y="3657600"/>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IAM auth</a:t>
            </a:r>
          </a:p>
        </p:txBody>
      </p:sp>
      <p:sp>
        <p:nvSpPr>
          <p:cNvPr id="27" name="TextBox 26"/>
          <p:cNvSpPr txBox="1"/>
          <p:nvPr/>
        </p:nvSpPr>
        <p:spPr>
          <a:xfrm>
            <a:off x="2965033" y="4005072"/>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Quotas</a:t>
            </a:r>
          </a:p>
        </p:txBody>
      </p:sp>
      <p:sp>
        <p:nvSpPr>
          <p:cNvPr id="28" name="TextBox 27"/>
          <p:cNvSpPr txBox="1"/>
          <p:nvPr/>
        </p:nvSpPr>
        <p:spPr>
          <a:xfrm>
            <a:off x="2965033" y="4352544"/>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Promotion + rollback</a:t>
            </a:r>
          </a:p>
        </p:txBody>
      </p:sp>
      <p:sp>
        <p:nvSpPr>
          <p:cNvPr id="29" name="TextBox 28"/>
          <p:cNvSpPr txBox="1"/>
          <p:nvPr/>
        </p:nvSpPr>
        <p:spPr>
          <a:xfrm>
            <a:off x="2965033" y="4700016"/>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Service monitoring</a:t>
            </a:r>
          </a:p>
        </p:txBody>
      </p:sp>
      <p:sp>
        <p:nvSpPr>
          <p:cNvPr id="30" name="TextBox 29"/>
          <p:cNvSpPr txBox="1"/>
          <p:nvPr/>
        </p:nvSpPr>
        <p:spPr>
          <a:xfrm>
            <a:off x="2965033" y="5047488"/>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Basic admin workflow</a:t>
            </a:r>
          </a:p>
        </p:txBody>
      </p:sp>
      <p:sp>
        <p:nvSpPr>
          <p:cNvPr id="31" name="Rounded Rectangle 30"/>
          <p:cNvSpPr/>
          <p:nvPr/>
        </p:nvSpPr>
        <p:spPr>
          <a:xfrm>
            <a:off x="5070530" y="1847088"/>
            <a:ext cx="2050633" cy="370332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070530" y="1847088"/>
            <a:ext cx="2050633"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216834" y="2048256"/>
            <a:ext cx="1776313" cy="228600"/>
          </a:xfrm>
          <a:prstGeom prst="rect">
            <a:avLst/>
          </a:prstGeom>
          <a:noFill/>
        </p:spPr>
        <p:txBody>
          <a:bodyPr wrap="square" lIns="0" rIns="0" tIns="0" bIns="0" anchor="t">
            <a:spAutoFit/>
          </a:bodyPr>
          <a:lstStyle/>
          <a:p>
            <a:pPr algn="l">
              <a:lnSpc>
                <a:spcPct val="100000"/>
              </a:lnSpc>
              <a:spcAft>
                <a:spcPts val="600"/>
              </a:spcAft>
            </a:pPr>
            <a:r>
              <a:rPr sz="950" b="1">
                <a:solidFill>
                  <a:srgbClr val="7C3AED"/>
                </a:solidFill>
                <a:latin typeface="Segoe UI"/>
              </a:rPr>
              <a:t>PHASE 3</a:t>
            </a:r>
          </a:p>
        </p:txBody>
      </p:sp>
      <p:sp>
        <p:nvSpPr>
          <p:cNvPr id="34" name="TextBox 33"/>
          <p:cNvSpPr txBox="1"/>
          <p:nvPr/>
        </p:nvSpPr>
        <p:spPr>
          <a:xfrm>
            <a:off x="5216834" y="2304288"/>
            <a:ext cx="1776313" cy="548640"/>
          </a:xfrm>
          <a:prstGeom prst="rect">
            <a:avLst/>
          </a:prstGeom>
          <a:noFill/>
        </p:spPr>
        <p:txBody>
          <a:bodyPr wrap="square" lIns="0" rIns="0" tIns="0" bIns="0" anchor="t">
            <a:spAutoFit/>
          </a:bodyPr>
          <a:lstStyle/>
          <a:p>
            <a:pPr algn="l">
              <a:lnSpc>
                <a:spcPct val="105000"/>
              </a:lnSpc>
              <a:spcAft>
                <a:spcPts val="600"/>
              </a:spcAft>
            </a:pPr>
            <a:r>
              <a:rPr sz="1350" b="1">
                <a:solidFill>
                  <a:srgbClr val="0F172A"/>
                </a:solidFill>
                <a:latin typeface="Segoe UI"/>
              </a:rPr>
              <a:t>Guarded gateway</a:t>
            </a:r>
          </a:p>
        </p:txBody>
      </p:sp>
      <p:sp>
        <p:nvSpPr>
          <p:cNvPr id="35" name="TextBox 34"/>
          <p:cNvSpPr txBox="1"/>
          <p:nvPr/>
        </p:nvSpPr>
        <p:spPr>
          <a:xfrm>
            <a:off x="5216834" y="2962656"/>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Managed gateway</a:t>
            </a:r>
          </a:p>
        </p:txBody>
      </p:sp>
      <p:sp>
        <p:nvSpPr>
          <p:cNvPr id="36" name="TextBox 35"/>
          <p:cNvSpPr txBox="1"/>
          <p:nvPr/>
        </p:nvSpPr>
        <p:spPr>
          <a:xfrm>
            <a:off x="5216834" y="3310128"/>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Model-provider config</a:t>
            </a:r>
          </a:p>
        </p:txBody>
      </p:sp>
      <p:sp>
        <p:nvSpPr>
          <p:cNvPr id="37" name="TextBox 36"/>
          <p:cNvSpPr txBox="1"/>
          <p:nvPr/>
        </p:nvSpPr>
        <p:spPr>
          <a:xfrm>
            <a:off x="5216834" y="3657600"/>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Per-tenant routing</a:t>
            </a:r>
          </a:p>
        </p:txBody>
      </p:sp>
      <p:sp>
        <p:nvSpPr>
          <p:cNvPr id="38" name="TextBox 37"/>
          <p:cNvSpPr txBox="1"/>
          <p:nvPr/>
        </p:nvSpPr>
        <p:spPr>
          <a:xfrm>
            <a:off x="5216834" y="4005072"/>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Cost + rate controls</a:t>
            </a:r>
          </a:p>
        </p:txBody>
      </p:sp>
      <p:sp>
        <p:nvSpPr>
          <p:cNvPr id="39" name="TextBox 38"/>
          <p:cNvSpPr txBox="1"/>
          <p:nvPr/>
        </p:nvSpPr>
        <p:spPr>
          <a:xfrm>
            <a:off x="5216834" y="4352544"/>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Managed credentials</a:t>
            </a:r>
          </a:p>
        </p:txBody>
      </p:sp>
      <p:sp>
        <p:nvSpPr>
          <p:cNvPr id="40" name="TextBox 39"/>
          <p:cNvSpPr txBox="1"/>
          <p:nvPr/>
        </p:nvSpPr>
        <p:spPr>
          <a:xfrm>
            <a:off x="5216834" y="4700016"/>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Residency enforcement</a:t>
            </a:r>
          </a:p>
        </p:txBody>
      </p:sp>
      <p:sp>
        <p:nvSpPr>
          <p:cNvPr id="41" name="TextBox 40"/>
          <p:cNvSpPr txBox="1"/>
          <p:nvPr/>
        </p:nvSpPr>
        <p:spPr>
          <a:xfrm>
            <a:off x="5216834" y="5047488"/>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Active-active</a:t>
            </a:r>
          </a:p>
        </p:txBody>
      </p:sp>
      <p:sp>
        <p:nvSpPr>
          <p:cNvPr id="42" name="Rounded Rectangle 41"/>
          <p:cNvSpPr/>
          <p:nvPr/>
        </p:nvSpPr>
        <p:spPr>
          <a:xfrm>
            <a:off x="7322332" y="1847088"/>
            <a:ext cx="2050633" cy="370332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322332" y="1847088"/>
            <a:ext cx="2050633" cy="54864"/>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468636" y="2048256"/>
            <a:ext cx="1776313" cy="228600"/>
          </a:xfrm>
          <a:prstGeom prst="rect">
            <a:avLst/>
          </a:prstGeom>
          <a:noFill/>
        </p:spPr>
        <p:txBody>
          <a:bodyPr wrap="square" lIns="0" rIns="0" tIns="0" bIns="0" anchor="t">
            <a:spAutoFit/>
          </a:bodyPr>
          <a:lstStyle/>
          <a:p>
            <a:pPr algn="l">
              <a:lnSpc>
                <a:spcPct val="100000"/>
              </a:lnSpc>
              <a:spcAft>
                <a:spcPts val="600"/>
              </a:spcAft>
            </a:pPr>
            <a:r>
              <a:rPr sz="950" b="1">
                <a:solidFill>
                  <a:srgbClr val="059669"/>
                </a:solidFill>
                <a:latin typeface="Segoe UI"/>
              </a:rPr>
              <a:t>PHASE 4</a:t>
            </a:r>
          </a:p>
        </p:txBody>
      </p:sp>
      <p:sp>
        <p:nvSpPr>
          <p:cNvPr id="45" name="TextBox 44"/>
          <p:cNvSpPr txBox="1"/>
          <p:nvPr/>
        </p:nvSpPr>
        <p:spPr>
          <a:xfrm>
            <a:off x="7468636" y="2304288"/>
            <a:ext cx="1776313" cy="548640"/>
          </a:xfrm>
          <a:prstGeom prst="rect">
            <a:avLst/>
          </a:prstGeom>
          <a:noFill/>
        </p:spPr>
        <p:txBody>
          <a:bodyPr wrap="square" lIns="0" rIns="0" tIns="0" bIns="0" anchor="t">
            <a:spAutoFit/>
          </a:bodyPr>
          <a:lstStyle/>
          <a:p>
            <a:pPr algn="l">
              <a:lnSpc>
                <a:spcPct val="105000"/>
              </a:lnSpc>
              <a:spcAft>
                <a:spcPts val="600"/>
              </a:spcAft>
            </a:pPr>
            <a:r>
              <a:rPr sz="1350" b="1">
                <a:solidFill>
                  <a:srgbClr val="0F172A"/>
                </a:solidFill>
                <a:latin typeface="Segoe UI"/>
              </a:rPr>
              <a:t>Customer-managed runtime</a:t>
            </a:r>
          </a:p>
        </p:txBody>
      </p:sp>
      <p:sp>
        <p:nvSpPr>
          <p:cNvPr id="46" name="TextBox 45"/>
          <p:cNvSpPr txBox="1"/>
          <p:nvPr/>
        </p:nvSpPr>
        <p:spPr>
          <a:xfrm>
            <a:off x="7468636" y="2962656"/>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Runtime container</a:t>
            </a:r>
          </a:p>
        </p:txBody>
      </p:sp>
      <p:sp>
        <p:nvSpPr>
          <p:cNvPr id="47" name="TextBox 46"/>
          <p:cNvSpPr txBox="1"/>
          <p:nvPr/>
        </p:nvSpPr>
        <p:spPr>
          <a:xfrm>
            <a:off x="7468636" y="3310128"/>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Helm chart</a:t>
            </a:r>
          </a:p>
        </p:txBody>
      </p:sp>
      <p:sp>
        <p:nvSpPr>
          <p:cNvPr id="48" name="TextBox 47"/>
          <p:cNvSpPr txBox="1"/>
          <p:nvPr/>
        </p:nvSpPr>
        <p:spPr>
          <a:xfrm>
            <a:off x="7468636" y="3657600"/>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ECS template</a:t>
            </a:r>
          </a:p>
        </p:txBody>
      </p:sp>
      <p:sp>
        <p:nvSpPr>
          <p:cNvPr id="49" name="TextBox 48"/>
          <p:cNvSpPr txBox="1"/>
          <p:nvPr/>
        </p:nvSpPr>
        <p:spPr>
          <a:xfrm>
            <a:off x="7468636" y="4005072"/>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IaC module</a:t>
            </a:r>
          </a:p>
        </p:txBody>
      </p:sp>
      <p:sp>
        <p:nvSpPr>
          <p:cNvPr id="50" name="TextBox 49"/>
          <p:cNvSpPr txBox="1"/>
          <p:nvPr/>
        </p:nvSpPr>
        <p:spPr>
          <a:xfrm>
            <a:off x="7468636" y="4352544"/>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Local policy cache</a:t>
            </a:r>
          </a:p>
        </p:txBody>
      </p:sp>
      <p:sp>
        <p:nvSpPr>
          <p:cNvPr id="51" name="TextBox 50"/>
          <p:cNvSpPr txBox="1"/>
          <p:nvPr/>
        </p:nvSpPr>
        <p:spPr>
          <a:xfrm>
            <a:off x="7468636" y="4700016"/>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Async policy sync</a:t>
            </a:r>
          </a:p>
        </p:txBody>
      </p:sp>
      <p:sp>
        <p:nvSpPr>
          <p:cNvPr id="52" name="TextBox 51"/>
          <p:cNvSpPr txBox="1"/>
          <p:nvPr/>
        </p:nvSpPr>
        <p:spPr>
          <a:xfrm>
            <a:off x="7468636" y="5047488"/>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Customer telemetry</a:t>
            </a:r>
          </a:p>
        </p:txBody>
      </p:sp>
      <p:sp>
        <p:nvSpPr>
          <p:cNvPr id="53" name="Rounded Rectangle 52"/>
          <p:cNvSpPr/>
          <p:nvPr/>
        </p:nvSpPr>
        <p:spPr>
          <a:xfrm>
            <a:off x="9574133" y="1847088"/>
            <a:ext cx="2050633" cy="370332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9574133" y="1847088"/>
            <a:ext cx="2050633"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9720437" y="2048256"/>
            <a:ext cx="1776313" cy="228600"/>
          </a:xfrm>
          <a:prstGeom prst="rect">
            <a:avLst/>
          </a:prstGeom>
          <a:noFill/>
        </p:spPr>
        <p:txBody>
          <a:bodyPr wrap="square" lIns="0" rIns="0" tIns="0" bIns="0" anchor="t">
            <a:spAutoFit/>
          </a:bodyPr>
          <a:lstStyle/>
          <a:p>
            <a:pPr algn="l">
              <a:lnSpc>
                <a:spcPct val="100000"/>
              </a:lnSpc>
              <a:spcAft>
                <a:spcPts val="600"/>
              </a:spcAft>
            </a:pPr>
            <a:r>
              <a:rPr sz="950" b="1">
                <a:solidFill>
                  <a:srgbClr val="B45309"/>
                </a:solidFill>
                <a:latin typeface="Segoe UI"/>
              </a:rPr>
              <a:t>PHASE 5</a:t>
            </a:r>
          </a:p>
        </p:txBody>
      </p:sp>
      <p:sp>
        <p:nvSpPr>
          <p:cNvPr id="56" name="TextBox 55"/>
          <p:cNvSpPr txBox="1"/>
          <p:nvPr/>
        </p:nvSpPr>
        <p:spPr>
          <a:xfrm>
            <a:off x="9720437" y="2304288"/>
            <a:ext cx="1776313" cy="548640"/>
          </a:xfrm>
          <a:prstGeom prst="rect">
            <a:avLst/>
          </a:prstGeom>
          <a:noFill/>
        </p:spPr>
        <p:txBody>
          <a:bodyPr wrap="square" lIns="0" rIns="0" tIns="0" bIns="0" anchor="t">
            <a:spAutoFit/>
          </a:bodyPr>
          <a:lstStyle/>
          <a:p>
            <a:pPr algn="l">
              <a:lnSpc>
                <a:spcPct val="105000"/>
              </a:lnSpc>
              <a:spcAft>
                <a:spcPts val="600"/>
              </a:spcAft>
            </a:pPr>
            <a:r>
              <a:rPr sz="1350" b="1">
                <a:solidFill>
                  <a:srgbClr val="0F172A"/>
                </a:solidFill>
                <a:latin typeface="Segoe UI"/>
              </a:rPr>
              <a:t>Advanced agent protection</a:t>
            </a:r>
          </a:p>
        </p:txBody>
      </p:sp>
      <p:sp>
        <p:nvSpPr>
          <p:cNvPr id="57" name="TextBox 56"/>
          <p:cNvSpPr txBox="1"/>
          <p:nvPr/>
        </p:nvSpPr>
        <p:spPr>
          <a:xfrm>
            <a:off x="9720437" y="2962656"/>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Retrieval evaluation</a:t>
            </a:r>
          </a:p>
        </p:txBody>
      </p:sp>
      <p:sp>
        <p:nvSpPr>
          <p:cNvPr id="58" name="TextBox 57"/>
          <p:cNvSpPr txBox="1"/>
          <p:nvPr/>
        </p:nvSpPr>
        <p:spPr>
          <a:xfrm>
            <a:off x="9720437" y="3310128"/>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Tool-call validation</a:t>
            </a:r>
          </a:p>
        </p:txBody>
      </p:sp>
      <p:sp>
        <p:nvSpPr>
          <p:cNvPr id="59" name="TextBox 58"/>
          <p:cNvSpPr txBox="1"/>
          <p:nvPr/>
        </p:nvSpPr>
        <p:spPr>
          <a:xfrm>
            <a:off x="9720437" y="3657600"/>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Tool-result evaluation</a:t>
            </a:r>
          </a:p>
        </p:txBody>
      </p:sp>
      <p:sp>
        <p:nvSpPr>
          <p:cNvPr id="60" name="TextBox 59"/>
          <p:cNvSpPr txBox="1"/>
          <p:nvPr/>
        </p:nvSpPr>
        <p:spPr>
          <a:xfrm>
            <a:off x="9720437" y="4005072"/>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Memory-write control</a:t>
            </a:r>
          </a:p>
        </p:txBody>
      </p:sp>
      <p:sp>
        <p:nvSpPr>
          <p:cNvPr id="61" name="TextBox 60"/>
          <p:cNvSpPr txBox="1"/>
          <p:nvPr/>
        </p:nvSpPr>
        <p:spPr>
          <a:xfrm>
            <a:off x="9720437" y="4352544"/>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Human approvals</a:t>
            </a:r>
          </a:p>
        </p:txBody>
      </p:sp>
      <p:sp>
        <p:nvSpPr>
          <p:cNvPr id="62" name="TextBox 61"/>
          <p:cNvSpPr txBox="1"/>
          <p:nvPr/>
        </p:nvSpPr>
        <p:spPr>
          <a:xfrm>
            <a:off x="9720437" y="4700016"/>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MCP integration</a:t>
            </a:r>
          </a:p>
        </p:txBody>
      </p:sp>
      <p:sp>
        <p:nvSpPr>
          <p:cNvPr id="63" name="TextBox 62"/>
          <p:cNvSpPr txBox="1"/>
          <p:nvPr/>
        </p:nvSpPr>
        <p:spPr>
          <a:xfrm>
            <a:off x="9720437" y="5047488"/>
            <a:ext cx="1776313" cy="310896"/>
          </a:xfrm>
          <a:prstGeom prst="rect">
            <a:avLst/>
          </a:prstGeom>
          <a:noFill/>
        </p:spPr>
        <p:txBody>
          <a:bodyPr wrap="square" lIns="0" rIns="0" tIns="0" bIns="0" anchor="t">
            <a:spAutoFit/>
          </a:bodyPr>
          <a:lstStyle/>
          <a:p>
            <a:pPr algn="l">
              <a:lnSpc>
                <a:spcPct val="100000"/>
              </a:lnSpc>
              <a:spcAft>
                <a:spcPts val="600"/>
              </a:spcAft>
            </a:pPr>
            <a:r>
              <a:rPr sz="1050" b="0">
                <a:solidFill>
                  <a:srgbClr val="475569"/>
                </a:solidFill>
                <a:latin typeface="Segoe UI"/>
              </a:rPr>
              <a:t>· Delegation limits</a:t>
            </a:r>
          </a:p>
        </p:txBody>
      </p:sp>
      <p:sp>
        <p:nvSpPr>
          <p:cNvPr id="64" name="TextBox 63"/>
          <p:cNvSpPr txBox="1"/>
          <p:nvPr/>
        </p:nvSpPr>
        <p:spPr>
          <a:xfrm>
            <a:off x="566928" y="5733288"/>
            <a:ext cx="11057839" cy="365760"/>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Phases 1–2 = the core platform (Mode A).   Phase 3 = Mode B.   Phase 4 = Mode C.   Phase 5 is committed and estimated, but sequenced last and never resourced inside Phases 1–4.</a:t>
            </a:r>
          </a:p>
        </p:txBody>
      </p:sp>
      <p:sp>
        <p:nvSpPr>
          <p:cNvPr id="65" name="TextBox 64"/>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20-product/PRODUCT-ROADMAP.md · 60-delivery/MILESTONES.md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DELIVERY</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18</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The gate: nine criteria, all together, at M2</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Phases 1–2 are not validated when the components exist. They are validated when all nine of these hold simultaneously.</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Table 8"/>
          <p:cNvGraphicFramePr>
            <a:graphicFrameLocks noGrp="1"/>
          </p:cNvGraphicFramePr>
          <p:nvPr/>
        </p:nvGraphicFramePr>
        <p:xfrm>
          <a:off x="566928" y="1847088"/>
          <a:ext cx="11057838" cy="3474720"/>
        </p:xfrm>
        <a:graphic>
          <a:graphicData uri="http://schemas.openxmlformats.org/drawingml/2006/table">
            <a:tbl>
              <a:tblPr firstRow="1">
                <a:tableStyleId>{5C22544A-7EE6-4342-B048-85BDC9FD1C3A}</a:tableStyleId>
              </a:tblPr>
              <a:tblGrid>
                <a:gridCol w="907733"/>
                <a:gridCol w="7096822"/>
                <a:gridCol w="3053283"/>
              </a:tblGrid>
              <a:tr h="347472">
                <a:tc>
                  <a:txBody>
                    <a:bodyPr/>
                    <a:lstStyle/>
                    <a:p>
                      <a:r>
                        <a:rPr sz="1100" b="1">
                          <a:solidFill>
                            <a:srgbClr val="FFFFFF"/>
                          </a:solidFill>
                          <a:latin typeface="Segoe UI"/>
                        </a:rPr>
                        <a:t>#</a:t>
                      </a:r>
                    </a:p>
                  </a:txBody>
                  <a:tcPr marL="82296" marR="54864" marT="36576" marB="36576" anchor="ctr">
                    <a:solidFill>
                      <a:srgbClr val="0F172A"/>
                    </a:solidFill>
                  </a:tcPr>
                </a:tc>
                <a:tc>
                  <a:txBody>
                    <a:bodyPr/>
                    <a:lstStyle/>
                    <a:p>
                      <a:r>
                        <a:rPr sz="1100" b="1">
                          <a:solidFill>
                            <a:srgbClr val="FFFFFF"/>
                          </a:solidFill>
                          <a:latin typeface="Segoe UI"/>
                        </a:rPr>
                        <a:t>Criterion</a:t>
                      </a:r>
                    </a:p>
                  </a:txBody>
                  <a:tcPr marL="82296" marR="54864" marT="36576" marB="36576" anchor="ctr">
                    <a:solidFill>
                      <a:srgbClr val="0F172A"/>
                    </a:solidFill>
                  </a:tcPr>
                </a:tc>
                <a:tc>
                  <a:txBody>
                    <a:bodyPr/>
                    <a:lstStyle/>
                    <a:p>
                      <a:r>
                        <a:rPr sz="1100" b="1">
                          <a:solidFill>
                            <a:srgbClr val="FFFFFF"/>
                          </a:solidFill>
                          <a:latin typeface="Segoe UI"/>
                        </a:rPr>
                        <a:t>First demonstrable</a:t>
                      </a:r>
                    </a:p>
                  </a:txBody>
                  <a:tcPr marL="82296" marR="54864" marT="36576" marB="36576" anchor="ctr">
                    <a:solidFill>
                      <a:srgbClr val="0F172A"/>
                    </a:solidFill>
                  </a:tcPr>
                </a:tc>
              </a:tr>
              <a:tr h="347472">
                <a:tc>
                  <a:txBody>
                    <a:bodyPr/>
                    <a:lstStyle/>
                    <a:p>
                      <a:pPr>
                        <a:lnSpc>
                          <a:spcPct val="105000"/>
                        </a:lnSpc>
                      </a:pPr>
                      <a:r>
                        <a:rPr sz="1150" b="1">
                          <a:solidFill>
                            <a:srgbClr val="0F172A"/>
                          </a:solidFill>
                          <a:latin typeface="Segoe UI"/>
                        </a:rPr>
                        <a:t>MVP-01</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Two separate LiteLLM instances consume the same policy</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M1</a:t>
                      </a:r>
                    </a:p>
                  </a:txBody>
                  <a:tcPr marL="82296" marR="54864" marT="27432" marB="27432" anchor="ctr">
                    <a:solidFill>
                      <a:srgbClr val="FFFFFF"/>
                    </a:solidFill>
                  </a:tcPr>
                </a:tc>
              </a:tr>
              <a:tr h="347472">
                <a:tc>
                  <a:txBody>
                    <a:bodyPr/>
                    <a:lstStyle/>
                    <a:p>
                      <a:pPr>
                        <a:lnSpc>
                          <a:spcPct val="105000"/>
                        </a:lnSpc>
                      </a:pPr>
                      <a:r>
                        <a:rPr sz="1150" b="1">
                          <a:solidFill>
                            <a:srgbClr val="0F172A"/>
                          </a:solidFill>
                          <a:latin typeface="Segoe UI"/>
                        </a:rPr>
                        <a:t>MVP-02</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Neither instance shares model-provider credentials with the platform</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M1</a:t>
                      </a:r>
                    </a:p>
                  </a:txBody>
                  <a:tcPr marL="82296" marR="54864" marT="27432" marB="27432" anchor="ctr">
                    <a:solidFill>
                      <a:srgbClr val="F1F5F9"/>
                    </a:solidFill>
                  </a:tcPr>
                </a:tc>
              </a:tr>
              <a:tr h="347472">
                <a:tc>
                  <a:txBody>
                    <a:bodyPr/>
                    <a:lstStyle/>
                    <a:p>
                      <a:pPr>
                        <a:lnSpc>
                          <a:spcPct val="105000"/>
                        </a:lnSpc>
                      </a:pPr>
                      <a:r>
                        <a:rPr sz="1150" b="1">
                          <a:solidFill>
                            <a:srgbClr val="0F172A"/>
                          </a:solidFill>
                          <a:latin typeface="Segoe UI"/>
                        </a:rPr>
                        <a:t>MVP-03</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Both receive consistent normalized decisions</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M1</a:t>
                      </a:r>
                    </a:p>
                  </a:txBody>
                  <a:tcPr marL="82296" marR="54864" marT="27432" marB="27432" anchor="ctr">
                    <a:solidFill>
                      <a:srgbClr val="FFFFFF"/>
                    </a:solidFill>
                  </a:tcPr>
                </a:tc>
              </a:tr>
              <a:tr h="347472">
                <a:tc>
                  <a:txBody>
                    <a:bodyPr/>
                    <a:lstStyle/>
                    <a:p>
                      <a:pPr>
                        <a:lnSpc>
                          <a:spcPct val="105000"/>
                        </a:lnSpc>
                      </a:pPr>
                      <a:r>
                        <a:rPr sz="1150" b="1">
                          <a:solidFill>
                            <a:srgbClr val="0F172A"/>
                          </a:solidFill>
                          <a:latin typeface="Segoe UI"/>
                        </a:rPr>
                        <a:t>MVP-04</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One workload runs in observe mode</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M1</a:t>
                      </a:r>
                    </a:p>
                  </a:txBody>
                  <a:tcPr marL="82296" marR="54864" marT="27432" marB="27432" anchor="ctr">
                    <a:solidFill>
                      <a:srgbClr val="F1F5F9"/>
                    </a:solidFill>
                  </a:tcPr>
                </a:tc>
              </a:tr>
              <a:tr h="347472">
                <a:tc>
                  <a:txBody>
                    <a:bodyPr/>
                    <a:lstStyle/>
                    <a:p>
                      <a:pPr>
                        <a:lnSpc>
                          <a:spcPct val="105000"/>
                        </a:lnSpc>
                      </a:pPr>
                      <a:r>
                        <a:rPr sz="1150" b="1">
                          <a:solidFill>
                            <a:srgbClr val="0F172A"/>
                          </a:solidFill>
                          <a:latin typeface="Segoe UI"/>
                        </a:rPr>
                        <a:t>MVP-05</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Another workload runs in enforce mode</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M1</a:t>
                      </a:r>
                    </a:p>
                  </a:txBody>
                  <a:tcPr marL="82296" marR="54864" marT="27432" marB="27432" anchor="ctr">
                    <a:solidFill>
                      <a:srgbClr val="FFFFFF"/>
                    </a:solidFill>
                  </a:tcPr>
                </a:tc>
              </a:tr>
              <a:tr h="347472">
                <a:tc>
                  <a:txBody>
                    <a:bodyPr/>
                    <a:lstStyle/>
                    <a:p>
                      <a:pPr>
                        <a:lnSpc>
                          <a:spcPct val="105000"/>
                        </a:lnSpc>
                      </a:pPr>
                      <a:r>
                        <a:rPr sz="1150" b="1">
                          <a:solidFill>
                            <a:srgbClr val="0F172A"/>
                          </a:solidFill>
                          <a:latin typeface="Segoe UI"/>
                        </a:rPr>
                        <a:t>MVP-06</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A policy can be upgraded and rolled back</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M2  ← the gate closes here</a:t>
                      </a:r>
                    </a:p>
                  </a:txBody>
                  <a:tcPr marL="82296" marR="54864" marT="27432" marB="27432" anchor="ctr">
                    <a:solidFill>
                      <a:srgbClr val="F1F5F9"/>
                    </a:solidFill>
                  </a:tcPr>
                </a:tc>
              </a:tr>
              <a:tr h="347472">
                <a:tc>
                  <a:txBody>
                    <a:bodyPr/>
                    <a:lstStyle/>
                    <a:p>
                      <a:pPr>
                        <a:lnSpc>
                          <a:spcPct val="105000"/>
                        </a:lnSpc>
                      </a:pPr>
                      <a:r>
                        <a:rPr sz="1150" b="1">
                          <a:solidFill>
                            <a:srgbClr val="0F172A"/>
                          </a:solidFill>
                          <a:latin typeface="Segoe UI"/>
                        </a:rPr>
                        <a:t>MVP-07</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Raw content persistence can be disabled</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M1</a:t>
                      </a:r>
                    </a:p>
                  </a:txBody>
                  <a:tcPr marL="82296" marR="54864" marT="27432" marB="27432" anchor="ctr">
                    <a:solidFill>
                      <a:srgbClr val="FFFFFF"/>
                    </a:solidFill>
                  </a:tcPr>
                </a:tc>
              </a:tr>
              <a:tr h="347472">
                <a:tc>
                  <a:txBody>
                    <a:bodyPr/>
                    <a:lstStyle/>
                    <a:p>
                      <a:pPr>
                        <a:lnSpc>
                          <a:spcPct val="105000"/>
                        </a:lnSpc>
                      </a:pPr>
                      <a:r>
                        <a:rPr sz="1150" b="1">
                          <a:solidFill>
                            <a:srgbClr val="0F172A"/>
                          </a:solidFill>
                          <a:latin typeface="Segoe UI"/>
                        </a:rPr>
                        <a:t>MVP-08</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Evaluation failures follow a configured failure policy</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M1</a:t>
                      </a:r>
                    </a:p>
                  </a:txBody>
                  <a:tcPr marL="82296" marR="54864" marT="27432" marB="27432" anchor="ctr">
                    <a:solidFill>
                      <a:srgbClr val="F1F5F9"/>
                    </a:solidFill>
                  </a:tcPr>
                </a:tc>
              </a:tr>
              <a:tr h="347472">
                <a:tc>
                  <a:txBody>
                    <a:bodyPr/>
                    <a:lstStyle/>
                    <a:p>
                      <a:pPr>
                        <a:lnSpc>
                          <a:spcPct val="105000"/>
                        </a:lnSpc>
                      </a:pPr>
                      <a:r>
                        <a:rPr sz="1150" b="1">
                          <a:solidFill>
                            <a:srgbClr val="0F172A"/>
                          </a:solidFill>
                          <a:latin typeface="Segoe UI"/>
                        </a:rPr>
                        <a:t>MVP-09</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Runtime can be packaged for customer-managed use, contract unchanged</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M1 (shipped at M4)</a:t>
                      </a:r>
                    </a:p>
                  </a:txBody>
                  <a:tcPr marL="82296" marR="54864" marT="27432" marB="27432" anchor="ctr">
                    <a:solidFill>
                      <a:srgbClr val="FFFFFF"/>
                    </a:solidFill>
                  </a:tcPr>
                </a:tc>
              </a:tr>
            </a:tbl>
          </a:graphicData>
        </a:graphic>
      </p:graphicFrame>
      <p:sp>
        <p:nvSpPr>
          <p:cNvPr id="10" name="Rounded Rectangle 9"/>
          <p:cNvSpPr/>
          <p:nvPr/>
        </p:nvSpPr>
        <p:spPr>
          <a:xfrm>
            <a:off x="566928" y="5504688"/>
            <a:ext cx="11057839" cy="86868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504688"/>
            <a:ext cx="45720" cy="86868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8096" y="5623560"/>
            <a:ext cx="2743200" cy="201168"/>
          </a:xfrm>
          <a:prstGeom prst="rect">
            <a:avLst/>
          </a:prstGeom>
          <a:noFill/>
        </p:spPr>
        <p:txBody>
          <a:bodyPr wrap="square" lIns="0" rIns="0" tIns="0" bIns="0" anchor="t">
            <a:spAutoFit/>
          </a:bodyPr>
          <a:lstStyle/>
          <a:p>
            <a:pPr algn="l">
              <a:lnSpc>
                <a:spcPct val="100000"/>
              </a:lnSpc>
              <a:spcAft>
                <a:spcPts val="600"/>
              </a:spcAft>
            </a:pPr>
            <a:r>
              <a:rPr sz="900" b="1">
                <a:solidFill>
                  <a:srgbClr val="B91C1C"/>
                </a:solidFill>
                <a:latin typeface="Segoe UI"/>
              </a:rPr>
              <a:t>THE ONE ASK THAT BLOCKS US</a:t>
            </a:r>
          </a:p>
        </p:txBody>
      </p:sp>
      <p:sp>
        <p:nvSpPr>
          <p:cNvPr id="13" name="TextBox 12"/>
          <p:cNvSpPr txBox="1"/>
          <p:nvPr/>
        </p:nvSpPr>
        <p:spPr>
          <a:xfrm>
            <a:off x="768096" y="5852160"/>
            <a:ext cx="10600639" cy="411480"/>
          </a:xfrm>
          <a:prstGeom prst="rect">
            <a:avLst/>
          </a:prstGeom>
          <a:noFill/>
        </p:spPr>
        <p:txBody>
          <a:bodyPr wrap="square" lIns="0" rIns="0" tIns="0" bIns="0" anchor="t">
            <a:spAutoFit/>
          </a:bodyPr>
          <a:lstStyle/>
          <a:p>
            <a:pPr algn="l">
              <a:lnSpc>
                <a:spcPct val="120000"/>
              </a:lnSpc>
              <a:spcAft>
                <a:spcPts val="600"/>
              </a:spcAft>
            </a:pPr>
            <a:r>
              <a:rPr sz="1150" b="0">
                <a:solidFill>
                  <a:srgbClr val="0F172A"/>
                </a:solidFill>
                <a:latin typeface="Segoe UI"/>
              </a:rPr>
              <a:t>Hard dependency on you: two GENUINELY INDEPENDENT LiteLLM deployments — different teams, different instances, different provider credentials. One deployment tested twice does not satisfy MVP-01. We need those two teams named before Phase 1 starts.</a:t>
            </a:r>
          </a:p>
        </p:txBody>
      </p:sp>
      <p:sp>
        <p:nvSpPr>
          <p:cNvPr id="14" name="TextBox 13"/>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60-delivery/MILESTONES.md §8 · 10-charter/SUCCESS-CRITERIA.md §1.2–1.3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DELIVERY</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19</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Proposed schedule and gates</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Sequencing comes from AGR-020. The week counts below are this deck's planning estimate and are not in the source-of-truth set.</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Table 8"/>
          <p:cNvGraphicFramePr>
            <a:graphicFrameLocks noGrp="1"/>
          </p:cNvGraphicFramePr>
          <p:nvPr/>
        </p:nvGraphicFramePr>
        <p:xfrm>
          <a:off x="566928" y="1847088"/>
          <a:ext cx="11057837" cy="2724912"/>
        </p:xfrm>
        <a:graphic>
          <a:graphicData uri="http://schemas.openxmlformats.org/drawingml/2006/table">
            <a:tbl>
              <a:tblPr firstRow="1">
                <a:tableStyleId>{5C22544A-7EE6-4342-B048-85BDC9FD1C3A}</a:tableStyleId>
              </a:tblPr>
              <a:tblGrid>
                <a:gridCol w="1211817"/>
                <a:gridCol w="2726590"/>
                <a:gridCol w="1969204"/>
                <a:gridCol w="1363295"/>
                <a:gridCol w="3786931"/>
              </a:tblGrid>
              <a:tr h="347472">
                <a:tc>
                  <a:txBody>
                    <a:bodyPr/>
                    <a:lstStyle/>
                    <a:p>
                      <a:r>
                        <a:rPr sz="1100" b="1">
                          <a:solidFill>
                            <a:srgbClr val="FFFFFF"/>
                          </a:solidFill>
                          <a:latin typeface="Segoe UI"/>
                        </a:rPr>
                        <a:t>Milestone</a:t>
                      </a:r>
                    </a:p>
                  </a:txBody>
                  <a:tcPr marL="82296" marR="54864" marT="36576" marB="36576" anchor="ctr">
                    <a:solidFill>
                      <a:srgbClr val="0F172A"/>
                    </a:solidFill>
                  </a:tcPr>
                </a:tc>
                <a:tc>
                  <a:txBody>
                    <a:bodyPr/>
                    <a:lstStyle/>
                    <a:p>
                      <a:r>
                        <a:rPr sz="1100" b="1">
                          <a:solidFill>
                            <a:srgbClr val="FFFFFF"/>
                          </a:solidFill>
                          <a:latin typeface="Segoe UI"/>
                        </a:rPr>
                        <a:t>Phase</a:t>
                      </a:r>
                    </a:p>
                  </a:txBody>
                  <a:tcPr marL="82296" marR="54864" marT="36576" marB="36576" anchor="ctr">
                    <a:solidFill>
                      <a:srgbClr val="0F172A"/>
                    </a:solidFill>
                  </a:tcPr>
                </a:tc>
                <a:tc>
                  <a:txBody>
                    <a:bodyPr/>
                    <a:lstStyle/>
                    <a:p>
                      <a:r>
                        <a:rPr sz="1100" b="1">
                          <a:solidFill>
                            <a:srgbClr val="FFFFFF"/>
                          </a:solidFill>
                          <a:latin typeface="Segoe UI"/>
                        </a:rPr>
                        <a:t>Proposed duration</a:t>
                      </a:r>
                    </a:p>
                  </a:txBody>
                  <a:tcPr marL="82296" marR="54864" marT="36576" marB="36576" anchor="ctr">
                    <a:solidFill>
                      <a:srgbClr val="0F172A"/>
                    </a:solidFill>
                  </a:tcPr>
                </a:tc>
                <a:tc>
                  <a:txBody>
                    <a:bodyPr/>
                    <a:lstStyle/>
                    <a:p>
                      <a:r>
                        <a:rPr sz="1100" b="1">
                          <a:solidFill>
                            <a:srgbClr val="FFFFFF"/>
                          </a:solidFill>
                          <a:latin typeface="Segoe UI"/>
                        </a:rPr>
                        <a:t>Cumulative</a:t>
                      </a:r>
                    </a:p>
                  </a:txBody>
                  <a:tcPr marL="82296" marR="54864" marT="36576" marB="36576" anchor="ctr">
                    <a:solidFill>
                      <a:srgbClr val="0F172A"/>
                    </a:solidFill>
                  </a:tcPr>
                </a:tc>
                <a:tc>
                  <a:txBody>
                    <a:bodyPr/>
                    <a:lstStyle/>
                    <a:p>
                      <a:r>
                        <a:rPr sz="1100" b="1">
                          <a:solidFill>
                            <a:srgbClr val="FFFFFF"/>
                          </a:solidFill>
                          <a:latin typeface="Segoe UI"/>
                        </a:rPr>
                        <a:t>Exit gate</a:t>
                      </a:r>
                    </a:p>
                  </a:txBody>
                  <a:tcPr marL="82296" marR="54864" marT="36576" marB="36576" anchor="ctr">
                    <a:solidFill>
                      <a:srgbClr val="0F172A"/>
                    </a:solidFill>
                  </a:tcPr>
                </a:tc>
              </a:tr>
              <a:tr h="475488">
                <a:tc>
                  <a:txBody>
                    <a:bodyPr/>
                    <a:lstStyle/>
                    <a:p>
                      <a:pPr>
                        <a:lnSpc>
                          <a:spcPct val="105000"/>
                        </a:lnSpc>
                      </a:pPr>
                      <a:r>
                        <a:rPr sz="1200" b="1">
                          <a:solidFill>
                            <a:srgbClr val="0F172A"/>
                          </a:solidFill>
                          <a:latin typeface="Segoe UI"/>
                        </a:rPr>
                        <a:t>M1</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Integration proof</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10 weeks</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wk 10</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8 of 9 MVP criteria verified</a:t>
                      </a:r>
                    </a:p>
                  </a:txBody>
                  <a:tcPr marL="82296" marR="54864" marT="27432" marB="27432" anchor="ctr">
                    <a:solidFill>
                      <a:srgbClr val="FFFFFF"/>
                    </a:solidFill>
                  </a:tcPr>
                </a:tc>
              </a:tr>
              <a:tr h="475488">
                <a:tc>
                  <a:txBody>
                    <a:bodyPr/>
                    <a:lstStyle/>
                    <a:p>
                      <a:pPr>
                        <a:lnSpc>
                          <a:spcPct val="105000"/>
                        </a:lnSpc>
                      </a:pPr>
                      <a:r>
                        <a:rPr sz="1200" b="1">
                          <a:solidFill>
                            <a:srgbClr val="0F172A"/>
                          </a:solidFill>
                          <a:latin typeface="Segoe UI"/>
                        </a:rPr>
                        <a:t>M2</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Multi-team platform</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10 weeks</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wk 20</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All 9 criteria — Phases 1–2 VALIDATED</a:t>
                      </a:r>
                    </a:p>
                  </a:txBody>
                  <a:tcPr marL="82296" marR="54864" marT="27432" marB="27432" anchor="ctr">
                    <a:solidFill>
                      <a:srgbClr val="F1F5F9"/>
                    </a:solidFill>
                  </a:tcPr>
                </a:tc>
              </a:tr>
              <a:tr h="475488">
                <a:tc>
                  <a:txBody>
                    <a:bodyPr/>
                    <a:lstStyle/>
                    <a:p>
                      <a:pPr>
                        <a:lnSpc>
                          <a:spcPct val="105000"/>
                        </a:lnSpc>
                      </a:pPr>
                      <a:r>
                        <a:rPr sz="1200" b="1">
                          <a:solidFill>
                            <a:srgbClr val="0F172A"/>
                          </a:solidFill>
                          <a:latin typeface="Segoe UI"/>
                        </a:rPr>
                        <a:t>M3</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Guarded gateway</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14 weeks</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wk 34</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≥1 workload live end-to-end on Mode B</a:t>
                      </a:r>
                    </a:p>
                  </a:txBody>
                  <a:tcPr marL="82296" marR="54864" marT="27432" marB="27432" anchor="ctr">
                    <a:solidFill>
                      <a:srgbClr val="FFFFFF"/>
                    </a:solidFill>
                  </a:tcPr>
                </a:tc>
              </a:tr>
              <a:tr h="475488">
                <a:tc>
                  <a:txBody>
                    <a:bodyPr/>
                    <a:lstStyle/>
                    <a:p>
                      <a:pPr>
                        <a:lnSpc>
                          <a:spcPct val="105000"/>
                        </a:lnSpc>
                      </a:pPr>
                      <a:r>
                        <a:rPr sz="1200" b="1">
                          <a:solidFill>
                            <a:srgbClr val="0F172A"/>
                          </a:solidFill>
                          <a:latin typeface="Segoe UI"/>
                        </a:rPr>
                        <a:t>M4</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Customer-managed runtime</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12 weeks</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wk 46</a:t>
                      </a:r>
                    </a:p>
                  </a:txBody>
                  <a:tcPr marL="82296" marR="54864" marT="27432" marB="27432" anchor="ctr">
                    <a:solidFill>
                      <a:srgbClr val="F1F5F9"/>
                    </a:solidFill>
                  </a:tcPr>
                </a:tc>
                <a:tc>
                  <a:txBody>
                    <a:bodyPr/>
                    <a:lstStyle/>
                    <a:p>
                      <a:pPr>
                        <a:lnSpc>
                          <a:spcPct val="105000"/>
                        </a:lnSpc>
                      </a:pPr>
                      <a:r>
                        <a:rPr sz="1200" b="0">
                          <a:solidFill>
                            <a:srgbClr val="0F172A"/>
                          </a:solidFill>
                          <a:latin typeface="Segoe UI"/>
                        </a:rPr>
                        <a:t>≥1 deployment validated in a customer account</a:t>
                      </a:r>
                    </a:p>
                  </a:txBody>
                  <a:tcPr marL="82296" marR="54864" marT="27432" marB="27432" anchor="ctr">
                    <a:solidFill>
                      <a:srgbClr val="F1F5F9"/>
                    </a:solidFill>
                  </a:tcPr>
                </a:tc>
              </a:tr>
              <a:tr h="475488">
                <a:tc>
                  <a:txBody>
                    <a:bodyPr/>
                    <a:lstStyle/>
                    <a:p>
                      <a:pPr>
                        <a:lnSpc>
                          <a:spcPct val="105000"/>
                        </a:lnSpc>
                      </a:pPr>
                      <a:r>
                        <a:rPr sz="1200" b="1">
                          <a:solidFill>
                            <a:srgbClr val="0F172A"/>
                          </a:solidFill>
                          <a:latin typeface="Segoe UI"/>
                        </a:rPr>
                        <a:t>M5</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Advanced agent protection</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16 weeks</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wk 62</a:t>
                      </a:r>
                    </a:p>
                  </a:txBody>
                  <a:tcPr marL="82296" marR="54864" marT="27432" marB="27432" anchor="ctr">
                    <a:solidFill>
                      <a:srgbClr val="FFFFFF"/>
                    </a:solidFill>
                  </a:tcPr>
                </a:tc>
                <a:tc>
                  <a:txBody>
                    <a:bodyPr/>
                    <a:lstStyle/>
                    <a:p>
                      <a:pPr>
                        <a:lnSpc>
                          <a:spcPct val="105000"/>
                        </a:lnSpc>
                      </a:pPr>
                      <a:r>
                        <a:rPr sz="1200" b="0">
                          <a:solidFill>
                            <a:srgbClr val="0F172A"/>
                          </a:solidFill>
                          <a:latin typeface="Segoe UI"/>
                        </a:rPr>
                        <a:t>All Phase 5 stages behind the same adapter pattern</a:t>
                      </a:r>
                    </a:p>
                  </a:txBody>
                  <a:tcPr marL="82296" marR="54864" marT="27432" marB="27432" anchor="ctr">
                    <a:solidFill>
                      <a:srgbClr val="FFFFFF"/>
                    </a:solidFill>
                  </a:tcPr>
                </a:tc>
              </a:tr>
            </a:tbl>
          </a:graphicData>
        </a:graphic>
      </p:graphicFrame>
      <p:sp>
        <p:nvSpPr>
          <p:cNvPr id="10" name="TextBox 9"/>
          <p:cNvSpPr txBox="1"/>
          <p:nvPr/>
        </p:nvSpPr>
        <p:spPr>
          <a:xfrm>
            <a:off x="566928" y="4910328"/>
            <a:ext cx="11057839" cy="457200"/>
          </a:xfrm>
          <a:prstGeom prst="rect">
            <a:avLst/>
          </a:prstGeom>
          <a:noFill/>
        </p:spPr>
        <p:txBody>
          <a:bodyPr wrap="square" lIns="0" rIns="0" tIns="0" bIns="0" anchor="t">
            <a:spAutoFit/>
          </a:bodyPr>
          <a:lstStyle/>
          <a:p>
            <a:pPr algn="l">
              <a:lnSpc>
                <a:spcPct val="125000"/>
              </a:lnSpc>
              <a:spcAft>
                <a:spcPts val="600"/>
              </a:spcAft>
            </a:pPr>
            <a:r>
              <a:rPr sz="1200" b="0">
                <a:solidFill>
                  <a:srgbClr val="475569"/>
                </a:solidFill>
                <a:latin typeface="Segoe UI"/>
              </a:rPr>
              <a:t>≈ 62 working weeks end to end if phases run strictly back to back (~14 calendar months, before holidays and gate-review time). M3 and M4 are independent extensions of the M2 baseline and could overlap if staffed separately.</a:t>
            </a:r>
          </a:p>
        </p:txBody>
      </p:sp>
      <p:sp>
        <p:nvSpPr>
          <p:cNvPr id="11" name="Rounded Rectangle 10"/>
          <p:cNvSpPr/>
          <p:nvPr/>
        </p:nvSpPr>
        <p:spPr>
          <a:xfrm>
            <a:off x="566928" y="5504688"/>
            <a:ext cx="11057839" cy="77724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66928" y="5504688"/>
            <a:ext cx="45720" cy="7772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68096" y="5623560"/>
            <a:ext cx="2743200" cy="201168"/>
          </a:xfrm>
          <a:prstGeom prst="rect">
            <a:avLst/>
          </a:prstGeom>
          <a:noFill/>
        </p:spPr>
        <p:txBody>
          <a:bodyPr wrap="square" lIns="0" rIns="0" tIns="0" bIns="0" anchor="t">
            <a:spAutoFit/>
          </a:bodyPr>
          <a:lstStyle/>
          <a:p>
            <a:pPr algn="l">
              <a:lnSpc>
                <a:spcPct val="100000"/>
              </a:lnSpc>
              <a:spcAft>
                <a:spcPts val="600"/>
              </a:spcAft>
            </a:pPr>
            <a:r>
              <a:rPr sz="900" b="1">
                <a:solidFill>
                  <a:srgbClr val="2563EB"/>
                </a:solidFill>
                <a:latin typeface="Segoe UI"/>
              </a:rPr>
              <a:t>RECOMMENDATION</a:t>
            </a:r>
          </a:p>
        </p:txBody>
      </p:sp>
      <p:sp>
        <p:nvSpPr>
          <p:cNvPr id="14" name="TextBox 13"/>
          <p:cNvSpPr txBox="1"/>
          <p:nvPr/>
        </p:nvSpPr>
        <p:spPr>
          <a:xfrm>
            <a:off x="768096" y="5852160"/>
            <a:ext cx="10600639" cy="320040"/>
          </a:xfrm>
          <a:prstGeom prst="rect">
            <a:avLst/>
          </a:prstGeom>
          <a:noFill/>
        </p:spPr>
        <p:txBody>
          <a:bodyPr wrap="square" lIns="0" rIns="0" tIns="0" bIns="0" anchor="t">
            <a:spAutoFit/>
          </a:bodyPr>
          <a:lstStyle/>
          <a:p>
            <a:pPr algn="l">
              <a:lnSpc>
                <a:spcPct val="120000"/>
              </a:lnSpc>
              <a:spcAft>
                <a:spcPts val="600"/>
              </a:spcAft>
            </a:pPr>
            <a:r>
              <a:rPr sz="1150" b="0">
                <a:solidFill>
                  <a:srgbClr val="0F172A"/>
                </a:solidFill>
                <a:latin typeface="Segoe UI"/>
              </a:rPr>
              <a:t>Funding decision granularity: approve M1+M2 now; treat M3 and M4 as separate, later-gated decisions. That is the framing the executive brief already uses.</a:t>
            </a:r>
          </a:p>
        </p:txBody>
      </p:sp>
      <p:sp>
        <p:nvSpPr>
          <p:cNvPr id="15" name="TextBox 14"/>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Durations: planning estimate authored for this deck. Phase content: 60-delivery/MILESTONES.md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DELIVERY</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20</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What gates us — dependencies and sequencing risks</a:t>
            </a:r>
          </a:p>
        </p:txBody>
      </p:sp>
      <p:sp>
        <p:nvSpPr>
          <p:cNvPr id="7" name="Rectangle 6"/>
          <p:cNvSpPr/>
          <p:nvPr/>
        </p:nvSpPr>
        <p:spPr>
          <a:xfrm>
            <a:off x="566928" y="11155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8" name="Table 7"/>
          <p:cNvGraphicFramePr>
            <a:graphicFrameLocks noGrp="1"/>
          </p:cNvGraphicFramePr>
          <p:nvPr/>
        </p:nvGraphicFramePr>
        <p:xfrm>
          <a:off x="566928" y="1389888"/>
          <a:ext cx="11057837" cy="3547872"/>
        </p:xfrm>
        <a:graphic>
          <a:graphicData uri="http://schemas.openxmlformats.org/drawingml/2006/table">
            <a:tbl>
              <a:tblPr firstRow="1">
                <a:tableStyleId>{5C22544A-7EE6-4342-B048-85BDC9FD1C3A}</a:tableStyleId>
              </a:tblPr>
              <a:tblGrid>
                <a:gridCol w="2685475"/>
                <a:gridCol w="4186181"/>
                <a:gridCol w="4186181"/>
              </a:tblGrid>
              <a:tr h="347472">
                <a:tc>
                  <a:txBody>
                    <a:bodyPr/>
                    <a:lstStyle/>
                    <a:p>
                      <a:r>
                        <a:rPr sz="1100" b="1">
                          <a:solidFill>
                            <a:srgbClr val="FFFFFF"/>
                          </a:solidFill>
                          <a:latin typeface="Segoe UI"/>
                        </a:rPr>
                        <a:t>Dependency / risk</a:t>
                      </a:r>
                    </a:p>
                  </a:txBody>
                  <a:tcPr marL="82296" marR="54864" marT="36576" marB="36576" anchor="ctr">
                    <a:solidFill>
                      <a:srgbClr val="0F172A"/>
                    </a:solidFill>
                  </a:tcPr>
                </a:tc>
                <a:tc>
                  <a:txBody>
                    <a:bodyPr/>
                    <a:lstStyle/>
                    <a:p>
                      <a:r>
                        <a:rPr sz="1100" b="1">
                          <a:solidFill>
                            <a:srgbClr val="FFFFFF"/>
                          </a:solidFill>
                          <a:latin typeface="Segoe UI"/>
                        </a:rPr>
                        <a:t>Why it gates delivery</a:t>
                      </a:r>
                    </a:p>
                  </a:txBody>
                  <a:tcPr marL="82296" marR="54864" marT="36576" marB="36576" anchor="ctr">
                    <a:solidFill>
                      <a:srgbClr val="0F172A"/>
                    </a:solidFill>
                  </a:tcPr>
                </a:tc>
                <a:tc>
                  <a:txBody>
                    <a:bodyPr/>
                    <a:lstStyle/>
                    <a:p>
                      <a:r>
                        <a:rPr sz="1100" b="1">
                          <a:solidFill>
                            <a:srgbClr val="FFFFFF"/>
                          </a:solidFill>
                          <a:latin typeface="Segoe UI"/>
                        </a:rPr>
                        <a:t>Mitigation in the plan</a:t>
                      </a:r>
                    </a:p>
                  </a:txBody>
                  <a:tcPr marL="82296" marR="54864" marT="36576" marB="36576" anchor="ctr">
                    <a:solidFill>
                      <a:srgbClr val="0F172A"/>
                    </a:solidFill>
                  </a:tcPr>
                </a:tc>
              </a:tr>
              <a:tr h="457200">
                <a:tc>
                  <a:txBody>
                    <a:bodyPr/>
                    <a:lstStyle/>
                    <a:p>
                      <a:pPr>
                        <a:lnSpc>
                          <a:spcPct val="105000"/>
                        </a:lnSpc>
                      </a:pPr>
                      <a:r>
                        <a:rPr sz="1100" b="1">
                          <a:solidFill>
                            <a:srgbClr val="0F172A"/>
                          </a:solidFill>
                          <a:latin typeface="Segoe UI"/>
                        </a:rPr>
                        <a:t>Two independent LiteLLM instances</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MVP-01 cannot be exercised without them</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Name and commit both pilot teams before M1 starts</a:t>
                      </a:r>
                    </a:p>
                  </a:txBody>
                  <a:tcPr marL="82296" marR="54864" marT="27432" marB="27432" anchor="ctr">
                    <a:solidFill>
                      <a:srgbClr val="FFFFFF"/>
                    </a:solidFill>
                  </a:tcPr>
                </a:tc>
              </a:tr>
              <a:tr h="457200">
                <a:tc>
                  <a:txBody>
                    <a:bodyPr/>
                    <a:lstStyle/>
                    <a:p>
                      <a:pPr>
                        <a:lnSpc>
                          <a:spcPct val="105000"/>
                        </a:lnSpc>
                      </a:pPr>
                      <a:r>
                        <a:rPr sz="1100" b="1">
                          <a:solidFill>
                            <a:srgbClr val="0F172A"/>
                          </a:solidFill>
                          <a:latin typeface="Segoe UI"/>
                        </a:rPr>
                        <a:t>Bedrock Guardrails availability</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First evaluation engine; adapter cannot be validated without it</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All vendor shape absorbed at the adapter boundary</a:t>
                      </a:r>
                    </a:p>
                  </a:txBody>
                  <a:tcPr marL="82296" marR="54864" marT="27432" marB="27432" anchor="ctr">
                    <a:solidFill>
                      <a:srgbClr val="F1F5F9"/>
                    </a:solidFill>
                  </a:tcPr>
                </a:tc>
              </a:tr>
              <a:tr h="457200">
                <a:tc>
                  <a:txBody>
                    <a:bodyPr/>
                    <a:lstStyle/>
                    <a:p>
                      <a:pPr>
                        <a:lnSpc>
                          <a:spcPct val="105000"/>
                        </a:lnSpc>
                      </a:pPr>
                      <a:r>
                        <a:rPr sz="1100" b="1">
                          <a:solidFill>
                            <a:srgbClr val="0F172A"/>
                          </a:solidFill>
                          <a:latin typeface="Segoe UI"/>
                        </a:rPr>
                        <a:t>Two-account AWS model provisioned</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Nothing deploys without it</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Minimal model is sufficient; no speculative 3rd account</a:t>
                      </a:r>
                    </a:p>
                  </a:txBody>
                  <a:tcPr marL="82296" marR="54864" marT="27432" marB="27432" anchor="ctr">
                    <a:solidFill>
                      <a:srgbClr val="FFFFFF"/>
                    </a:solidFill>
                  </a:tcPr>
                </a:tc>
              </a:tr>
              <a:tr h="457200">
                <a:tc>
                  <a:txBody>
                    <a:bodyPr/>
                    <a:lstStyle/>
                    <a:p>
                      <a:pPr>
                        <a:lnSpc>
                          <a:spcPct val="105000"/>
                        </a:lnSpc>
                      </a:pPr>
                      <a:r>
                        <a:rPr sz="1100" b="1">
                          <a:solidFill>
                            <a:srgbClr val="0F172A"/>
                          </a:solidFill>
                          <a:latin typeface="Segoe UI"/>
                        </a:rPr>
                        <a:t>Security &amp; governance engagement</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No policy can be authored or promoted without approval</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Engage from Phase 1, not at go-live</a:t>
                      </a:r>
                    </a:p>
                  </a:txBody>
                  <a:tcPr marL="82296" marR="54864" marT="27432" marB="27432" anchor="ctr">
                    <a:solidFill>
                      <a:srgbClr val="F1F5F9"/>
                    </a:solidFill>
                  </a:tcPr>
                </a:tc>
              </a:tr>
              <a:tr h="457200">
                <a:tc>
                  <a:txBody>
                    <a:bodyPr/>
                    <a:lstStyle/>
                    <a:p>
                      <a:pPr>
                        <a:lnSpc>
                          <a:spcPct val="105000"/>
                        </a:lnSpc>
                      </a:pPr>
                      <a:r>
                        <a:rPr sz="1100" b="1">
                          <a:solidFill>
                            <a:srgbClr val="0F172A"/>
                          </a:solidFill>
                          <a:latin typeface="Segoe UI"/>
                        </a:rPr>
                        <a:t>Connector bypass</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A cooperative connector can be removed or misconfigured</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Disclosed, never marketed as a hard boundary</a:t>
                      </a:r>
                    </a:p>
                  </a:txBody>
                  <a:tcPr marL="82296" marR="54864" marT="27432" marB="27432" anchor="ctr">
                    <a:solidFill>
                      <a:srgbClr val="FFFFFF"/>
                    </a:solidFill>
                  </a:tcPr>
                </a:tc>
              </a:tr>
              <a:tr h="457200">
                <a:tc>
                  <a:txBody>
                    <a:bodyPr/>
                    <a:lstStyle/>
                    <a:p>
                      <a:pPr>
                        <a:lnSpc>
                          <a:spcPct val="105000"/>
                        </a:lnSpc>
                      </a:pPr>
                      <a:r>
                        <a:rPr sz="1100" b="1">
                          <a:solidFill>
                            <a:srgbClr val="0F172A"/>
                          </a:solidFill>
                          <a:latin typeface="Segoe UI"/>
                        </a:rPr>
                        <a:t>False confidence</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Teams may read 'evaluation passed' as 'AI is secure'</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LiteLLM first, generic API second, against a stable contract</a:t>
                      </a:r>
                    </a:p>
                  </a:txBody>
                  <a:tcPr marL="82296" marR="54864" marT="27432" marB="27432" anchor="ctr">
                    <a:solidFill>
                      <a:srgbClr val="F1F5F9"/>
                    </a:solidFill>
                  </a:tcPr>
                </a:tc>
              </a:tr>
              <a:tr h="457200">
                <a:tc>
                  <a:txBody>
                    <a:bodyPr/>
                    <a:lstStyle/>
                    <a:p>
                      <a:pPr>
                        <a:lnSpc>
                          <a:spcPct val="105000"/>
                        </a:lnSpc>
                      </a:pPr>
                      <a:r>
                        <a:rPr sz="1100" b="1">
                          <a:solidFill>
                            <a:srgbClr val="0F172A"/>
                          </a:solidFill>
                          <a:latin typeface="Segoe UI"/>
                        </a:rPr>
                        <a:t>Product over-expansion</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Phase 3–5 scope creeping into Phases 1–2</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Phase assignment changes require an L1 register change</a:t>
                      </a:r>
                    </a:p>
                  </a:txBody>
                  <a:tcPr marL="82296" marR="54864" marT="27432" marB="27432" anchor="ctr">
                    <a:solidFill>
                      <a:srgbClr val="FFFFFF"/>
                    </a:solidFill>
                  </a:tcPr>
                </a:tc>
              </a:tr>
            </a:tbl>
          </a:graphicData>
        </a:graphic>
      </p:graphicFrame>
      <p:sp>
        <p:nvSpPr>
          <p:cNvPr id="9" name="TextBox 8"/>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60-delivery/IMPLEMENTATION-STRATEGY.md §6, §9 · 70-governance/RISK-REGISTER.md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148840"/>
            <a:ext cx="1828800" cy="1280160"/>
          </a:xfrm>
          <a:prstGeom prst="rect">
            <a:avLst/>
          </a:prstGeom>
          <a:noFill/>
        </p:spPr>
        <p:txBody>
          <a:bodyPr wrap="square" lIns="0" rIns="0" tIns="0" bIns="0" anchor="t">
            <a:spAutoFit/>
          </a:bodyPr>
          <a:lstStyle/>
          <a:p>
            <a:pPr algn="l">
              <a:lnSpc>
                <a:spcPct val="100000"/>
              </a:lnSpc>
              <a:spcAft>
                <a:spcPts val="600"/>
              </a:spcAft>
            </a:pPr>
            <a:r>
              <a:rPr sz="6400" b="1">
                <a:solidFill>
                  <a:srgbClr val="7C3AED"/>
                </a:solidFill>
                <a:latin typeface="Segoe UI"/>
              </a:rPr>
              <a:t>05</a:t>
            </a:r>
          </a:p>
        </p:txBody>
      </p:sp>
      <p:sp>
        <p:nvSpPr>
          <p:cNvPr id="5" name="TextBox 4"/>
          <p:cNvSpPr txBox="1"/>
          <p:nvPr/>
        </p:nvSpPr>
        <p:spPr>
          <a:xfrm>
            <a:off x="2377440" y="2331720"/>
            <a:ext cx="8686800" cy="914400"/>
          </a:xfrm>
          <a:prstGeom prst="rect">
            <a:avLst/>
          </a:prstGeom>
          <a:noFill/>
        </p:spPr>
        <p:txBody>
          <a:bodyPr wrap="square" lIns="0" rIns="0" tIns="0" bIns="0" anchor="t">
            <a:spAutoFit/>
          </a:bodyPr>
          <a:lstStyle/>
          <a:p>
            <a:pPr algn="l">
              <a:lnSpc>
                <a:spcPct val="100000"/>
              </a:lnSpc>
              <a:spcAft>
                <a:spcPts val="600"/>
              </a:spcAft>
            </a:pPr>
            <a:r>
              <a:rPr sz="3400" b="1">
                <a:solidFill>
                  <a:srgbClr val="FFFFFF"/>
                </a:solidFill>
                <a:latin typeface="Segoe UI"/>
              </a:rPr>
              <a:t>Effort estimation</a:t>
            </a:r>
          </a:p>
        </p:txBody>
      </p:sp>
      <p:sp>
        <p:nvSpPr>
          <p:cNvPr id="6" name="TextBox 5"/>
          <p:cNvSpPr txBox="1"/>
          <p:nvPr/>
        </p:nvSpPr>
        <p:spPr>
          <a:xfrm>
            <a:off x="2423160" y="3246120"/>
            <a:ext cx="8229600" cy="1097280"/>
          </a:xfrm>
          <a:prstGeom prst="rect">
            <a:avLst/>
          </a:prstGeom>
          <a:noFill/>
        </p:spPr>
        <p:txBody>
          <a:bodyPr wrap="square" lIns="0" rIns="0" tIns="0" bIns="0" anchor="t">
            <a:spAutoFit/>
          </a:bodyPr>
          <a:lstStyle/>
          <a:p>
            <a:pPr algn="l">
              <a:lnSpc>
                <a:spcPct val="130000"/>
              </a:lnSpc>
              <a:spcAft>
                <a:spcPts val="600"/>
              </a:spcAft>
            </a:pPr>
            <a:r>
              <a:rPr sz="1500" b="0">
                <a:solidFill>
                  <a:srgbClr val="CBD5E1"/>
                </a:solidFill>
                <a:latin typeface="Segoe UI"/>
              </a:rPr>
              <a:t>A full delivery team, sized per phase, in person-weeks and hours. Rate and cost columns are deliberately left open.</a:t>
            </a:r>
          </a:p>
        </p:txBody>
      </p:sp>
      <p:sp>
        <p:nvSpPr>
          <p:cNvPr id="7" name="TextBox 6"/>
          <p:cNvSpPr txBox="1"/>
          <p:nvPr/>
        </p:nvSpPr>
        <p:spPr>
          <a:xfrm>
            <a:off x="10527487" y="630936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EFFORT</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22</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The team this needs</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Nine roles. Consuming teams participate but are not a program headcount line.</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Table 8"/>
          <p:cNvGraphicFramePr>
            <a:graphicFrameLocks noGrp="1"/>
          </p:cNvGraphicFramePr>
          <p:nvPr/>
        </p:nvGraphicFramePr>
        <p:xfrm>
          <a:off x="566928" y="1847088"/>
          <a:ext cx="11057838" cy="3803904"/>
        </p:xfrm>
        <a:graphic>
          <a:graphicData uri="http://schemas.openxmlformats.org/drawingml/2006/table">
            <a:tbl>
              <a:tblPr firstRow="1">
                <a:tableStyleId>{5C22544A-7EE6-4342-B048-85BDC9FD1C3A}</a:tableStyleId>
              </a:tblPr>
              <a:tblGrid>
                <a:gridCol w="2932002"/>
                <a:gridCol w="6953035"/>
                <a:gridCol w="1172801"/>
              </a:tblGrid>
              <a:tr h="347472">
                <a:tc>
                  <a:txBody>
                    <a:bodyPr/>
                    <a:lstStyle/>
                    <a:p>
                      <a:r>
                        <a:rPr sz="1100" b="1">
                          <a:solidFill>
                            <a:srgbClr val="FFFFFF"/>
                          </a:solidFill>
                          <a:latin typeface="Segoe UI"/>
                        </a:rPr>
                        <a:t>Role</a:t>
                      </a:r>
                    </a:p>
                  </a:txBody>
                  <a:tcPr marL="82296" marR="54864" marT="36576" marB="36576" anchor="ctr">
                    <a:solidFill>
                      <a:srgbClr val="0F172A"/>
                    </a:solidFill>
                  </a:tcPr>
                </a:tc>
                <a:tc>
                  <a:txBody>
                    <a:bodyPr/>
                    <a:lstStyle/>
                    <a:p>
                      <a:r>
                        <a:rPr sz="1100" b="1">
                          <a:solidFill>
                            <a:srgbClr val="FFFFFF"/>
                          </a:solidFill>
                          <a:latin typeface="Segoe UI"/>
                        </a:rPr>
                        <a:t>Owns</a:t>
                      </a:r>
                    </a:p>
                  </a:txBody>
                  <a:tcPr marL="82296" marR="54864" marT="36576" marB="36576" anchor="ctr">
                    <a:solidFill>
                      <a:srgbClr val="0F172A"/>
                    </a:solidFill>
                  </a:tcPr>
                </a:tc>
                <a:tc>
                  <a:txBody>
                    <a:bodyPr/>
                    <a:lstStyle/>
                    <a:p>
                      <a:r>
                        <a:rPr sz="1100" b="1">
                          <a:solidFill>
                            <a:srgbClr val="FFFFFF"/>
                          </a:solidFill>
                          <a:latin typeface="Segoe UI"/>
                        </a:rPr>
                        <a:t>Peak FTE</a:t>
                      </a:r>
                    </a:p>
                  </a:txBody>
                  <a:tcPr marL="82296" marR="54864" marT="36576" marB="36576" anchor="ctr">
                    <a:solidFill>
                      <a:srgbClr val="0F172A"/>
                    </a:solidFill>
                  </a:tcPr>
                </a:tc>
              </a:tr>
              <a:tr h="384048">
                <a:tc>
                  <a:txBody>
                    <a:bodyPr/>
                    <a:lstStyle/>
                    <a:p>
                      <a:pPr>
                        <a:lnSpc>
                          <a:spcPct val="105000"/>
                        </a:lnSpc>
                      </a:pPr>
                      <a:r>
                        <a:rPr sz="1100" b="1">
                          <a:solidFill>
                            <a:srgbClr val="0F172A"/>
                          </a:solidFill>
                          <a:latin typeface="Segoe UI"/>
                        </a:rPr>
                        <a:t>Product lead / PM</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Scope discipline, onboarding experience, success metrics, register hygiene</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0.5</a:t>
                      </a:r>
                    </a:p>
                  </a:txBody>
                  <a:tcPr marL="82296" marR="54864" marT="27432" marB="27432" anchor="ctr">
                    <a:solidFill>
                      <a:srgbClr val="FFFFFF"/>
                    </a:solidFill>
                  </a:tcPr>
                </a:tc>
              </a:tr>
              <a:tr h="384048">
                <a:tc>
                  <a:txBody>
                    <a:bodyPr/>
                    <a:lstStyle/>
                    <a:p>
                      <a:pPr>
                        <a:lnSpc>
                          <a:spcPct val="105000"/>
                        </a:lnSpc>
                      </a:pPr>
                      <a:r>
                        <a:rPr sz="1100" b="1">
                          <a:solidFill>
                            <a:srgbClr val="0F172A"/>
                          </a:solidFill>
                          <a:latin typeface="Segoe UI"/>
                        </a:rPr>
                        <a:t>Tech lead / architect</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Evaluation contract, policy schema, domain model, ADRs, review gate</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1.0</a:t>
                      </a:r>
                    </a:p>
                  </a:txBody>
                  <a:tcPr marL="82296" marR="54864" marT="27432" marB="27432" anchor="ctr">
                    <a:solidFill>
                      <a:srgbClr val="F1F5F9"/>
                    </a:solidFill>
                  </a:tcPr>
                </a:tc>
              </a:tr>
              <a:tr h="384048">
                <a:tc>
                  <a:txBody>
                    <a:bodyPr/>
                    <a:lstStyle/>
                    <a:p>
                      <a:pPr>
                        <a:lnSpc>
                          <a:spcPct val="105000"/>
                        </a:lnSpc>
                      </a:pPr>
                      <a:r>
                        <a:rPr sz="1100" b="1">
                          <a:solidFill>
                            <a:srgbClr val="0F172A"/>
                          </a:solidFill>
                          <a:latin typeface="Segoe UI"/>
                        </a:rPr>
                        <a:t>Backend / platform engineers ×3</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Runtime, policy resolver, decision engine, evaluator adapters, control plane</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3.0</a:t>
                      </a:r>
                    </a:p>
                  </a:txBody>
                  <a:tcPr marL="82296" marR="54864" marT="27432" marB="27432" anchor="ctr">
                    <a:solidFill>
                      <a:srgbClr val="FFFFFF"/>
                    </a:solidFill>
                  </a:tcPr>
                </a:tc>
              </a:tr>
              <a:tr h="384048">
                <a:tc>
                  <a:txBody>
                    <a:bodyPr/>
                    <a:lstStyle/>
                    <a:p>
                      <a:pPr>
                        <a:lnSpc>
                          <a:spcPct val="105000"/>
                        </a:lnSpc>
                      </a:pPr>
                      <a:r>
                        <a:rPr sz="1100" b="1">
                          <a:solidFill>
                            <a:srgbClr val="0F172A"/>
                          </a:solidFill>
                          <a:latin typeface="Segoe UI"/>
                        </a:rPr>
                        <a:t>Connector / SDK engineer</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LiteLLM pre/post-call connector, Python + TypeScript SDKs, conformance suite</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1.0</a:t>
                      </a:r>
                    </a:p>
                  </a:txBody>
                  <a:tcPr marL="82296" marR="54864" marT="27432" marB="27432" anchor="ctr">
                    <a:solidFill>
                      <a:srgbClr val="F1F5F9"/>
                    </a:solidFill>
                  </a:tcPr>
                </a:tc>
              </a:tr>
              <a:tr h="384048">
                <a:tc>
                  <a:txBody>
                    <a:bodyPr/>
                    <a:lstStyle/>
                    <a:p>
                      <a:pPr>
                        <a:lnSpc>
                          <a:spcPct val="105000"/>
                        </a:lnSpc>
                      </a:pPr>
                      <a:r>
                        <a:rPr sz="1100" b="1">
                          <a:solidFill>
                            <a:srgbClr val="0F172A"/>
                          </a:solidFill>
                          <a:latin typeface="Segoe UI"/>
                        </a:rPr>
                        <a:t>Cloud / DevOps engineer</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AWS footprint, IaC, CI/CD, container + Helm + ECS packaging (Phase 4)</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1.0–2.0</a:t>
                      </a:r>
                    </a:p>
                  </a:txBody>
                  <a:tcPr marL="82296" marR="54864" marT="27432" marB="27432" anchor="ctr">
                    <a:solidFill>
                      <a:srgbClr val="FFFFFF"/>
                    </a:solidFill>
                  </a:tcPr>
                </a:tc>
              </a:tr>
              <a:tr h="384048">
                <a:tc>
                  <a:txBody>
                    <a:bodyPr/>
                    <a:lstStyle/>
                    <a:p>
                      <a:pPr>
                        <a:lnSpc>
                          <a:spcPct val="105000"/>
                        </a:lnSpc>
                      </a:pPr>
                      <a:r>
                        <a:rPr sz="1100" b="1">
                          <a:solidFill>
                            <a:srgbClr val="0F172A"/>
                          </a:solidFill>
                          <a:latin typeface="Segoe UI"/>
                        </a:rPr>
                        <a:t>Security engineer</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IAM, KMS, tenant isolation, content-exposure review, threat modelling</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0.3–1.0</a:t>
                      </a:r>
                    </a:p>
                  </a:txBody>
                  <a:tcPr marL="82296" marR="54864" marT="27432" marB="27432" anchor="ctr">
                    <a:solidFill>
                      <a:srgbClr val="F1F5F9"/>
                    </a:solidFill>
                  </a:tcPr>
                </a:tc>
              </a:tr>
              <a:tr h="384048">
                <a:tc>
                  <a:txBody>
                    <a:bodyPr/>
                    <a:lstStyle/>
                    <a:p>
                      <a:pPr>
                        <a:lnSpc>
                          <a:spcPct val="105000"/>
                        </a:lnSpc>
                      </a:pPr>
                      <a:r>
                        <a:rPr sz="1100" b="1">
                          <a:solidFill>
                            <a:srgbClr val="0F172A"/>
                          </a:solidFill>
                          <a:latin typeface="Segoe UI"/>
                        </a:rPr>
                        <a:t>QA / test automation</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Contract conformance, the nine-criterion demo harness, regression, load</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1.0</a:t>
                      </a:r>
                    </a:p>
                  </a:txBody>
                  <a:tcPr marL="82296" marR="54864" marT="27432" marB="27432" anchor="ctr">
                    <a:solidFill>
                      <a:srgbClr val="FFFFFF"/>
                    </a:solidFill>
                  </a:tcPr>
                </a:tc>
              </a:tr>
              <a:tr h="384048">
                <a:tc>
                  <a:txBody>
                    <a:bodyPr/>
                    <a:lstStyle/>
                    <a:p>
                      <a:pPr>
                        <a:lnSpc>
                          <a:spcPct val="105000"/>
                        </a:lnSpc>
                      </a:pPr>
                      <a:r>
                        <a:rPr sz="1100" b="1">
                          <a:solidFill>
                            <a:srgbClr val="0F172A"/>
                          </a:solidFill>
                          <a:latin typeface="Segoe UI"/>
                        </a:rPr>
                        <a:t>Technical writer / DevRel</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Integration docs, runbooks, per-mode developer guides</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0.3–0.5</a:t>
                      </a:r>
                    </a:p>
                  </a:txBody>
                  <a:tcPr marL="82296" marR="54864" marT="27432" marB="27432" anchor="ctr">
                    <a:solidFill>
                      <a:srgbClr val="F1F5F9"/>
                    </a:solidFill>
                  </a:tcPr>
                </a:tc>
              </a:tr>
              <a:tr h="384048">
                <a:tc>
                  <a:txBody>
                    <a:bodyPr/>
                    <a:lstStyle/>
                    <a:p>
                      <a:pPr>
                        <a:lnSpc>
                          <a:spcPct val="105000"/>
                        </a:lnSpc>
                      </a:pPr>
                      <a:r>
                        <a:rPr sz="1100" b="1">
                          <a:solidFill>
                            <a:srgbClr val="0F172A"/>
                          </a:solidFill>
                          <a:latin typeface="Segoe UI"/>
                        </a:rPr>
                        <a:t>SRE / platform operations</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Monitoring, capacity, incident response — scales up from Phase 2</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0.5–1.0</a:t>
                      </a:r>
                    </a:p>
                  </a:txBody>
                  <a:tcPr marL="82296" marR="54864" marT="27432" marB="27432" anchor="ctr">
                    <a:solidFill>
                      <a:srgbClr val="FFFFFF"/>
                    </a:solidFill>
                  </a:tcPr>
                </a:tc>
              </a:tr>
            </a:tbl>
          </a:graphicData>
        </a:graphic>
      </p:graphicFrame>
      <p:sp>
        <p:nvSpPr>
          <p:cNvPr id="10" name="TextBox 9"/>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Roles derived from 30-executive/INVESTMENT-SUMMARY.md §3 and 60-delivery/TEAM-AND-OWNERSHIP.md. FTE figures are this deck's estimate — the source documents state headcount as TBD.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EFFORT</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23</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Effort by phase — person-weeks and hours</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Person-weeks = Σ(role FTE × phase weeks). Hours = person-weeks × 40. Cost columns are for finance to fill.</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Table 8"/>
          <p:cNvGraphicFramePr>
            <a:graphicFrameLocks noGrp="1"/>
          </p:cNvGraphicFramePr>
          <p:nvPr/>
        </p:nvGraphicFramePr>
        <p:xfrm>
          <a:off x="566928" y="1847088"/>
          <a:ext cx="11057834" cy="3163824"/>
        </p:xfrm>
        <a:graphic>
          <a:graphicData uri="http://schemas.openxmlformats.org/drawingml/2006/table">
            <a:tbl>
              <a:tblPr firstRow="1">
                <a:tableStyleId>{5C22544A-7EE6-4342-B048-85BDC9FD1C3A}</a:tableStyleId>
              </a:tblPr>
              <a:tblGrid>
                <a:gridCol w="3008935"/>
                <a:gridCol w="902680"/>
                <a:gridCol w="1128350"/>
                <a:gridCol w="1654914"/>
                <a:gridCol w="1354021"/>
                <a:gridCol w="1504467"/>
                <a:gridCol w="1504467"/>
              </a:tblGrid>
              <a:tr h="347472">
                <a:tc>
                  <a:txBody>
                    <a:bodyPr/>
                    <a:lstStyle/>
                    <a:p>
                      <a:r>
                        <a:rPr sz="1100" b="1">
                          <a:solidFill>
                            <a:srgbClr val="FFFFFF"/>
                          </a:solidFill>
                          <a:latin typeface="Segoe UI"/>
                        </a:rPr>
                        <a:t>Phase</a:t>
                      </a:r>
                    </a:p>
                  </a:txBody>
                  <a:tcPr marL="82296" marR="54864" marT="36576" marB="36576" anchor="ctr">
                    <a:solidFill>
                      <a:srgbClr val="0F172A"/>
                    </a:solidFill>
                  </a:tcPr>
                </a:tc>
                <a:tc>
                  <a:txBody>
                    <a:bodyPr/>
                    <a:lstStyle/>
                    <a:p>
                      <a:r>
                        <a:rPr sz="1100" b="1">
                          <a:solidFill>
                            <a:srgbClr val="FFFFFF"/>
                          </a:solidFill>
                          <a:latin typeface="Segoe UI"/>
                        </a:rPr>
                        <a:t>Weeks</a:t>
                      </a:r>
                    </a:p>
                  </a:txBody>
                  <a:tcPr marL="82296" marR="54864" marT="36576" marB="36576" anchor="ctr">
                    <a:solidFill>
                      <a:srgbClr val="0F172A"/>
                    </a:solidFill>
                  </a:tcPr>
                </a:tc>
                <a:tc>
                  <a:txBody>
                    <a:bodyPr/>
                    <a:lstStyle/>
                    <a:p>
                      <a:r>
                        <a:rPr sz="1100" b="1">
                          <a:solidFill>
                            <a:srgbClr val="FFFFFF"/>
                          </a:solidFill>
                          <a:latin typeface="Segoe UI"/>
                        </a:rPr>
                        <a:t>Team FTE</a:t>
                      </a:r>
                    </a:p>
                  </a:txBody>
                  <a:tcPr marL="82296" marR="54864" marT="36576" marB="36576" anchor="ctr">
                    <a:solidFill>
                      <a:srgbClr val="0F172A"/>
                    </a:solidFill>
                  </a:tcPr>
                </a:tc>
                <a:tc>
                  <a:txBody>
                    <a:bodyPr/>
                    <a:lstStyle/>
                    <a:p>
                      <a:r>
                        <a:rPr sz="1100" b="1">
                          <a:solidFill>
                            <a:srgbClr val="FFFFFF"/>
                          </a:solidFill>
                          <a:latin typeface="Segoe UI"/>
                        </a:rPr>
                        <a:t>Person-weeks</a:t>
                      </a:r>
                    </a:p>
                  </a:txBody>
                  <a:tcPr marL="82296" marR="54864" marT="36576" marB="36576" anchor="ctr">
                    <a:solidFill>
                      <a:srgbClr val="0F172A"/>
                    </a:solidFill>
                  </a:tcPr>
                </a:tc>
                <a:tc>
                  <a:txBody>
                    <a:bodyPr/>
                    <a:lstStyle/>
                    <a:p>
                      <a:r>
                        <a:rPr sz="1100" b="1">
                          <a:solidFill>
                            <a:srgbClr val="FFFFFF"/>
                          </a:solidFill>
                          <a:latin typeface="Segoe UI"/>
                        </a:rPr>
                        <a:t>Hours</a:t>
                      </a:r>
                    </a:p>
                  </a:txBody>
                  <a:tcPr marL="82296" marR="54864" marT="36576" marB="36576" anchor="ctr">
                    <a:solidFill>
                      <a:srgbClr val="0F172A"/>
                    </a:solidFill>
                  </a:tcPr>
                </a:tc>
                <a:tc>
                  <a:txBody>
                    <a:bodyPr/>
                    <a:lstStyle/>
                    <a:p>
                      <a:r>
                        <a:rPr sz="1100" b="1">
                          <a:solidFill>
                            <a:srgbClr val="FFFFFF"/>
                          </a:solidFill>
                          <a:latin typeface="Segoe UI"/>
                        </a:rPr>
                        <a:t>Blended $/hr</a:t>
                      </a:r>
                    </a:p>
                  </a:txBody>
                  <a:tcPr marL="82296" marR="54864" marT="36576" marB="36576" anchor="ctr">
                    <a:solidFill>
                      <a:srgbClr val="0F172A"/>
                    </a:solidFill>
                  </a:tcPr>
                </a:tc>
                <a:tc>
                  <a:txBody>
                    <a:bodyPr/>
                    <a:lstStyle/>
                    <a:p>
                      <a:r>
                        <a:rPr sz="1100" b="1">
                          <a:solidFill>
                            <a:srgbClr val="FFFFFF"/>
                          </a:solidFill>
                          <a:latin typeface="Segoe UI"/>
                        </a:rPr>
                        <a:t>Phase cost</a:t>
                      </a:r>
                    </a:p>
                  </a:txBody>
                  <a:tcPr marL="82296" marR="54864" marT="36576" marB="36576" anchor="ctr">
                    <a:solidFill>
                      <a:srgbClr val="0F172A"/>
                    </a:solidFill>
                  </a:tcPr>
                </a:tc>
              </a:tr>
              <a:tr h="402336">
                <a:tc>
                  <a:txBody>
                    <a:bodyPr/>
                    <a:lstStyle/>
                    <a:p>
                      <a:pPr>
                        <a:lnSpc>
                          <a:spcPct val="105000"/>
                        </a:lnSpc>
                      </a:pPr>
                      <a:r>
                        <a:rPr sz="1150" b="1">
                          <a:solidFill>
                            <a:srgbClr val="0F172A"/>
                          </a:solidFill>
                          <a:latin typeface="Segoe UI"/>
                        </a:rPr>
                        <a:t>1 — Integration proof</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10</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8.1</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81</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3,240</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FFFFF"/>
                    </a:solidFill>
                  </a:tcPr>
                </a:tc>
              </a:tr>
              <a:tr h="402336">
                <a:tc>
                  <a:txBody>
                    <a:bodyPr/>
                    <a:lstStyle/>
                    <a:p>
                      <a:pPr>
                        <a:lnSpc>
                          <a:spcPct val="105000"/>
                        </a:lnSpc>
                      </a:pPr>
                      <a:r>
                        <a:rPr sz="1150" b="1">
                          <a:solidFill>
                            <a:srgbClr val="0F172A"/>
                          </a:solidFill>
                          <a:latin typeface="Segoe UI"/>
                        </a:rPr>
                        <a:t>2 — Multi-team platform</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10</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8.5</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85</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3,400</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1F5F9"/>
                    </a:solidFill>
                  </a:tcPr>
                </a:tc>
              </a:tr>
              <a:tr h="402336">
                <a:tc>
                  <a:txBody>
                    <a:bodyPr/>
                    <a:lstStyle/>
                    <a:p>
                      <a:pPr>
                        <a:lnSpc>
                          <a:spcPct val="105000"/>
                        </a:lnSpc>
                      </a:pPr>
                      <a:r>
                        <a:rPr sz="1150" b="1">
                          <a:solidFill>
                            <a:srgbClr val="0F172A"/>
                          </a:solidFill>
                          <a:latin typeface="Segoe UI"/>
                        </a:rPr>
                        <a:t>Core subtotal (Phases 1–2)</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20</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166</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6,640</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FFFFF"/>
                    </a:solidFill>
                  </a:tcPr>
                </a:tc>
              </a:tr>
              <a:tr h="402336">
                <a:tc>
                  <a:txBody>
                    <a:bodyPr/>
                    <a:lstStyle/>
                    <a:p>
                      <a:pPr>
                        <a:lnSpc>
                          <a:spcPct val="105000"/>
                        </a:lnSpc>
                      </a:pPr>
                      <a:r>
                        <a:rPr sz="1150" b="1">
                          <a:solidFill>
                            <a:srgbClr val="0F172A"/>
                          </a:solidFill>
                          <a:latin typeface="Segoe UI"/>
                        </a:rPr>
                        <a:t>3 — Guarded gateway</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14</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9.5</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133</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5,320</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1F5F9"/>
                    </a:solidFill>
                  </a:tcPr>
                </a:tc>
              </a:tr>
              <a:tr h="402336">
                <a:tc>
                  <a:txBody>
                    <a:bodyPr/>
                    <a:lstStyle/>
                    <a:p>
                      <a:pPr>
                        <a:lnSpc>
                          <a:spcPct val="105000"/>
                        </a:lnSpc>
                      </a:pPr>
                      <a:r>
                        <a:rPr sz="1150" b="1">
                          <a:solidFill>
                            <a:srgbClr val="0F172A"/>
                          </a:solidFill>
                          <a:latin typeface="Segoe UI"/>
                        </a:rPr>
                        <a:t>4 — Customer-managed runtime</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12</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8.5</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102</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4,080</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FFFFF"/>
                    </a:solidFill>
                  </a:tcPr>
                </a:tc>
              </a:tr>
              <a:tr h="402336">
                <a:tc>
                  <a:txBody>
                    <a:bodyPr/>
                    <a:lstStyle/>
                    <a:p>
                      <a:pPr>
                        <a:lnSpc>
                          <a:spcPct val="105000"/>
                        </a:lnSpc>
                      </a:pPr>
                      <a:r>
                        <a:rPr sz="1150" b="1">
                          <a:solidFill>
                            <a:srgbClr val="0F172A"/>
                          </a:solidFill>
                          <a:latin typeface="Segoe UI"/>
                        </a:rPr>
                        <a:t>5 — Advanced agent protection</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16</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9.0</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144</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5,760</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1F5F9"/>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1F5F9"/>
                    </a:solidFill>
                  </a:tcPr>
                </a:tc>
              </a:tr>
              <a:tr h="402336">
                <a:tc>
                  <a:txBody>
                    <a:bodyPr/>
                    <a:lstStyle/>
                    <a:p>
                      <a:pPr>
                        <a:lnSpc>
                          <a:spcPct val="105000"/>
                        </a:lnSpc>
                      </a:pPr>
                      <a:r>
                        <a:rPr sz="1150" b="1">
                          <a:solidFill>
                            <a:srgbClr val="0F172A"/>
                          </a:solidFill>
                          <a:latin typeface="Segoe UI"/>
                        </a:rPr>
                        <a:t>TOTAL — full five-phase scope</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62</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545</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21,800</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FFFFF"/>
                    </a:solidFill>
                  </a:tcPr>
                </a:tc>
                <a:tc>
                  <a:txBody>
                    <a:bodyPr/>
                    <a:lstStyle/>
                    <a:p>
                      <a:pPr>
                        <a:lnSpc>
                          <a:spcPct val="105000"/>
                        </a:lnSpc>
                      </a:pPr>
                      <a:r>
                        <a:rPr sz="1150" b="0">
                          <a:solidFill>
                            <a:srgbClr val="0F172A"/>
                          </a:solidFill>
                          <a:latin typeface="Segoe UI"/>
                        </a:rPr>
                        <a:t>________</a:t>
                      </a:r>
                    </a:p>
                  </a:txBody>
                  <a:tcPr marL="82296" marR="54864" marT="27432" marB="27432" anchor="ctr">
                    <a:solidFill>
                      <a:srgbClr val="FFFFFF"/>
                    </a:solidFill>
                  </a:tcPr>
                </a:tc>
              </a:tr>
            </a:tbl>
          </a:graphicData>
        </a:graphic>
      </p:graphicFrame>
      <p:sp>
        <p:nvSpPr>
          <p:cNvPr id="10" name="TextBox 9"/>
          <p:cNvSpPr txBox="1"/>
          <p:nvPr/>
        </p:nvSpPr>
        <p:spPr>
          <a:xfrm>
            <a:off x="566928" y="4846320"/>
            <a:ext cx="11057839" cy="365760"/>
          </a:xfrm>
          <a:prstGeom prst="rect">
            <a:avLst/>
          </a:prstGeom>
          <a:noFill/>
        </p:spPr>
        <p:txBody>
          <a:bodyPr wrap="square" lIns="0" rIns="0" tIns="0" bIns="0" anchor="t">
            <a:spAutoFit/>
          </a:bodyPr>
          <a:lstStyle/>
          <a:p>
            <a:pPr algn="l">
              <a:lnSpc>
                <a:spcPct val="125000"/>
              </a:lnSpc>
              <a:spcAft>
                <a:spcPts val="600"/>
              </a:spcAft>
            </a:pPr>
            <a:r>
              <a:rPr sz="1200" b="1">
                <a:solidFill>
                  <a:srgbClr val="B45309"/>
                </a:solidFill>
                <a:latin typeface="Segoe UI"/>
              </a:rPr>
              <a:t>Add a risk contingency on top of the hours above before quoting: +20% recommended for Phases 1–2 (new contract, new domain), +25–30% for Phases 3–5 (larger operational surface, unresolved open questions).</a:t>
            </a:r>
          </a:p>
        </p:txBody>
      </p:sp>
      <p:sp>
        <p:nvSpPr>
          <p:cNvPr id="11" name="Rounded Rectangle 10"/>
          <p:cNvSpPr/>
          <p:nvPr/>
        </p:nvSpPr>
        <p:spPr>
          <a:xfrm>
            <a:off x="566928" y="5394960"/>
            <a:ext cx="11057839" cy="86868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66928" y="5394960"/>
            <a:ext cx="45720" cy="86868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68096" y="5513832"/>
            <a:ext cx="2743200" cy="201168"/>
          </a:xfrm>
          <a:prstGeom prst="rect">
            <a:avLst/>
          </a:prstGeom>
          <a:noFill/>
        </p:spPr>
        <p:txBody>
          <a:bodyPr wrap="square" lIns="0" rIns="0" tIns="0" bIns="0" anchor="t">
            <a:spAutoFit/>
          </a:bodyPr>
          <a:lstStyle/>
          <a:p>
            <a:pPr algn="l">
              <a:lnSpc>
                <a:spcPct val="100000"/>
              </a:lnSpc>
              <a:spcAft>
                <a:spcPts val="600"/>
              </a:spcAft>
            </a:pPr>
            <a:r>
              <a:rPr sz="900" b="1">
                <a:solidFill>
                  <a:srgbClr val="B91C1C"/>
                </a:solidFill>
                <a:latin typeface="Segoe UI"/>
              </a:rPr>
              <a:t>NOT IN THE ESTIMATE</a:t>
            </a:r>
          </a:p>
        </p:txBody>
      </p:sp>
      <p:sp>
        <p:nvSpPr>
          <p:cNvPr id="14" name="TextBox 13"/>
          <p:cNvSpPr txBox="1"/>
          <p:nvPr/>
        </p:nvSpPr>
        <p:spPr>
          <a:xfrm>
            <a:off x="768096" y="5742432"/>
            <a:ext cx="10600639" cy="411480"/>
          </a:xfrm>
          <a:prstGeom prst="rect">
            <a:avLst/>
          </a:prstGeom>
          <a:noFill/>
        </p:spPr>
        <p:txBody>
          <a:bodyPr wrap="square" lIns="0" rIns="0" tIns="0" bIns="0" anchor="t">
            <a:spAutoFit/>
          </a:bodyPr>
          <a:lstStyle/>
          <a:p>
            <a:pPr algn="l">
              <a:lnSpc>
                <a:spcPct val="120000"/>
              </a:lnSpc>
              <a:spcAft>
                <a:spcPts val="600"/>
              </a:spcAft>
            </a:pPr>
            <a:r>
              <a:rPr sz="1150" b="0">
                <a:solidFill>
                  <a:srgbClr val="0F172A"/>
                </a:solidFill>
                <a:latin typeface="Segoe UI"/>
              </a:rPr>
              <a:t>Excluded from these hours: AWS run cost (usage-driven, workload volume is unknown — ASM-001); Bedrock Guardrails invocation cost; consuming-team effort to install connectors and review observe-mode findings; compliance certification; any commercial/billing platform.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EFFORT</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24</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Cost worksheet — fill the rates, the totals compute</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Per-role rates let procurement model a blend rather than a single average.</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Table 8"/>
          <p:cNvGraphicFramePr>
            <a:graphicFrameLocks noGrp="1"/>
          </p:cNvGraphicFramePr>
          <p:nvPr/>
        </p:nvGraphicFramePr>
        <p:xfrm>
          <a:off x="566928" y="1847088"/>
          <a:ext cx="11057835" cy="3639312"/>
        </p:xfrm>
        <a:graphic>
          <a:graphicData uri="http://schemas.openxmlformats.org/drawingml/2006/table">
            <a:tbl>
              <a:tblPr firstRow="1">
                <a:tableStyleId>{5C22544A-7EE6-4342-B048-85BDC9FD1C3A}</a:tableStyleId>
              </a:tblPr>
              <a:tblGrid>
                <a:gridCol w="4065381"/>
                <a:gridCol w="2113998"/>
                <a:gridCol w="1626152"/>
                <a:gridCol w="1626152"/>
                <a:gridCol w="1626152"/>
              </a:tblGrid>
              <a:tr h="347472">
                <a:tc>
                  <a:txBody>
                    <a:bodyPr/>
                    <a:lstStyle/>
                    <a:p>
                      <a:r>
                        <a:rPr sz="1100" b="1">
                          <a:solidFill>
                            <a:srgbClr val="FFFFFF"/>
                          </a:solidFill>
                          <a:latin typeface="Segoe UI"/>
                        </a:rPr>
                        <a:t>Role</a:t>
                      </a:r>
                    </a:p>
                  </a:txBody>
                  <a:tcPr marL="82296" marR="54864" marT="36576" marB="36576" anchor="ctr">
                    <a:solidFill>
                      <a:srgbClr val="0F172A"/>
                    </a:solidFill>
                  </a:tcPr>
                </a:tc>
                <a:tc>
                  <a:txBody>
                    <a:bodyPr/>
                    <a:lstStyle/>
                    <a:p>
                      <a:r>
                        <a:rPr sz="1100" b="1">
                          <a:solidFill>
                            <a:srgbClr val="FFFFFF"/>
                          </a:solidFill>
                          <a:latin typeface="Segoe UI"/>
                        </a:rPr>
                        <a:t>Total person-weeks</a:t>
                      </a:r>
                    </a:p>
                  </a:txBody>
                  <a:tcPr marL="82296" marR="54864" marT="36576" marB="36576" anchor="ctr">
                    <a:solidFill>
                      <a:srgbClr val="0F172A"/>
                    </a:solidFill>
                  </a:tcPr>
                </a:tc>
                <a:tc>
                  <a:txBody>
                    <a:bodyPr/>
                    <a:lstStyle/>
                    <a:p>
                      <a:r>
                        <a:rPr sz="1100" b="1">
                          <a:solidFill>
                            <a:srgbClr val="FFFFFF"/>
                          </a:solidFill>
                          <a:latin typeface="Segoe UI"/>
                        </a:rPr>
                        <a:t>Total hours</a:t>
                      </a:r>
                    </a:p>
                  </a:txBody>
                  <a:tcPr marL="82296" marR="54864" marT="36576" marB="36576" anchor="ctr">
                    <a:solidFill>
                      <a:srgbClr val="0F172A"/>
                    </a:solidFill>
                  </a:tcPr>
                </a:tc>
                <a:tc>
                  <a:txBody>
                    <a:bodyPr/>
                    <a:lstStyle/>
                    <a:p>
                      <a:r>
                        <a:rPr sz="1100" b="1">
                          <a:solidFill>
                            <a:srgbClr val="FFFFFF"/>
                          </a:solidFill>
                          <a:latin typeface="Segoe UI"/>
                        </a:rPr>
                        <a:t>Rate $/hr</a:t>
                      </a:r>
                    </a:p>
                  </a:txBody>
                  <a:tcPr marL="82296" marR="54864" marT="36576" marB="36576" anchor="ctr">
                    <a:solidFill>
                      <a:srgbClr val="0F172A"/>
                    </a:solidFill>
                  </a:tcPr>
                </a:tc>
                <a:tc>
                  <a:txBody>
                    <a:bodyPr/>
                    <a:lstStyle/>
                    <a:p>
                      <a:r>
                        <a:rPr sz="1100" b="1">
                          <a:solidFill>
                            <a:srgbClr val="FFFFFF"/>
                          </a:solidFill>
                          <a:latin typeface="Segoe UI"/>
                        </a:rPr>
                        <a:t>Total cost</a:t>
                      </a:r>
                    </a:p>
                  </a:txBody>
                  <a:tcPr marL="82296" marR="54864" marT="36576" marB="36576" anchor="ctr">
                    <a:solidFill>
                      <a:srgbClr val="0F172A"/>
                    </a:solidFill>
                  </a:tcPr>
                </a:tc>
              </a:tr>
              <a:tr h="329184">
                <a:tc>
                  <a:txBody>
                    <a:bodyPr/>
                    <a:lstStyle/>
                    <a:p>
                      <a:pPr>
                        <a:lnSpc>
                          <a:spcPct val="105000"/>
                        </a:lnSpc>
                      </a:pPr>
                      <a:r>
                        <a:rPr sz="1100" b="1">
                          <a:solidFill>
                            <a:srgbClr val="0F172A"/>
                          </a:solidFill>
                          <a:latin typeface="Segoe UI"/>
                        </a:rPr>
                        <a:t>Product lead / PM</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31.5</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1,260</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FFFFF"/>
                    </a:solidFill>
                  </a:tcPr>
                </a:tc>
              </a:tr>
              <a:tr h="329184">
                <a:tc>
                  <a:txBody>
                    <a:bodyPr/>
                    <a:lstStyle/>
                    <a:p>
                      <a:pPr>
                        <a:lnSpc>
                          <a:spcPct val="105000"/>
                        </a:lnSpc>
                      </a:pPr>
                      <a:r>
                        <a:rPr sz="1100" b="1">
                          <a:solidFill>
                            <a:srgbClr val="0F172A"/>
                          </a:solidFill>
                          <a:latin typeface="Segoe UI"/>
                        </a:rPr>
                        <a:t>Tech lead / architect</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62.0</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2,480</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1F5F9"/>
                    </a:solidFill>
                  </a:tcPr>
                </a:tc>
              </a:tr>
              <a:tr h="329184">
                <a:tc>
                  <a:txBody>
                    <a:bodyPr/>
                    <a:lstStyle/>
                    <a:p>
                      <a:pPr>
                        <a:lnSpc>
                          <a:spcPct val="105000"/>
                        </a:lnSpc>
                      </a:pPr>
                      <a:r>
                        <a:rPr sz="1100" b="1">
                          <a:solidFill>
                            <a:srgbClr val="0F172A"/>
                          </a:solidFill>
                          <a:latin typeface="Segoe UI"/>
                        </a:rPr>
                        <a:t>Backend / platform engineers (3)</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174.0</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6,960</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FFFFF"/>
                    </a:solidFill>
                  </a:tcPr>
                </a:tc>
              </a:tr>
              <a:tr h="329184">
                <a:tc>
                  <a:txBody>
                    <a:bodyPr/>
                    <a:lstStyle/>
                    <a:p>
                      <a:pPr>
                        <a:lnSpc>
                          <a:spcPct val="105000"/>
                        </a:lnSpc>
                      </a:pPr>
                      <a:r>
                        <a:rPr sz="1100" b="1">
                          <a:solidFill>
                            <a:srgbClr val="0F172A"/>
                          </a:solidFill>
                          <a:latin typeface="Segoe UI"/>
                        </a:rPr>
                        <a:t>Connector / SDK engineer</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36.0</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1,440</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1F5F9"/>
                    </a:solidFill>
                  </a:tcPr>
                </a:tc>
              </a:tr>
              <a:tr h="329184">
                <a:tc>
                  <a:txBody>
                    <a:bodyPr/>
                    <a:lstStyle/>
                    <a:p>
                      <a:pPr>
                        <a:lnSpc>
                          <a:spcPct val="105000"/>
                        </a:lnSpc>
                      </a:pPr>
                      <a:r>
                        <a:rPr sz="1100" b="1">
                          <a:solidFill>
                            <a:srgbClr val="0F172A"/>
                          </a:solidFill>
                          <a:latin typeface="Segoe UI"/>
                        </a:rPr>
                        <a:t>Cloud / DevOps engineer</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81.0</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3,240</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FFFFF"/>
                    </a:solidFill>
                  </a:tcPr>
                </a:tc>
              </a:tr>
              <a:tr h="329184">
                <a:tc>
                  <a:txBody>
                    <a:bodyPr/>
                    <a:lstStyle/>
                    <a:p>
                      <a:pPr>
                        <a:lnSpc>
                          <a:spcPct val="105000"/>
                        </a:lnSpc>
                      </a:pPr>
                      <a:r>
                        <a:rPr sz="1100" b="1">
                          <a:solidFill>
                            <a:srgbClr val="0F172A"/>
                          </a:solidFill>
                          <a:latin typeface="Segoe UI"/>
                        </a:rPr>
                        <a:t>Security engineer</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37.0</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1,480</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1F5F9"/>
                    </a:solidFill>
                  </a:tcPr>
                </a:tc>
              </a:tr>
              <a:tr h="329184">
                <a:tc>
                  <a:txBody>
                    <a:bodyPr/>
                    <a:lstStyle/>
                    <a:p>
                      <a:pPr>
                        <a:lnSpc>
                          <a:spcPct val="105000"/>
                        </a:lnSpc>
                      </a:pPr>
                      <a:r>
                        <a:rPr sz="1100" b="1">
                          <a:solidFill>
                            <a:srgbClr val="0F172A"/>
                          </a:solidFill>
                          <a:latin typeface="Segoe UI"/>
                        </a:rPr>
                        <a:t>QA / test automation</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62.0</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2,480</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FFFFF"/>
                    </a:solidFill>
                  </a:tcPr>
                </a:tc>
              </a:tr>
              <a:tr h="329184">
                <a:tc>
                  <a:txBody>
                    <a:bodyPr/>
                    <a:lstStyle/>
                    <a:p>
                      <a:pPr>
                        <a:lnSpc>
                          <a:spcPct val="105000"/>
                        </a:lnSpc>
                      </a:pPr>
                      <a:r>
                        <a:rPr sz="1100" b="1">
                          <a:solidFill>
                            <a:srgbClr val="0F172A"/>
                          </a:solidFill>
                          <a:latin typeface="Segoe UI"/>
                        </a:rPr>
                        <a:t>Technical writer / DevRel</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29.0</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1,160</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1F5F9"/>
                    </a:solidFill>
                  </a:tcPr>
                </a:tc>
              </a:tr>
              <a:tr h="329184">
                <a:tc>
                  <a:txBody>
                    <a:bodyPr/>
                    <a:lstStyle/>
                    <a:p>
                      <a:pPr>
                        <a:lnSpc>
                          <a:spcPct val="105000"/>
                        </a:lnSpc>
                      </a:pPr>
                      <a:r>
                        <a:rPr sz="1100" b="1">
                          <a:solidFill>
                            <a:srgbClr val="0F172A"/>
                          </a:solidFill>
                          <a:latin typeface="Segoe UI"/>
                        </a:rPr>
                        <a:t>SRE / platform operations</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33.0</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1,320</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FFFFF"/>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FFFFF"/>
                    </a:solidFill>
                  </a:tcPr>
                </a:tc>
              </a:tr>
              <a:tr h="329184">
                <a:tc>
                  <a:txBody>
                    <a:bodyPr/>
                    <a:lstStyle/>
                    <a:p>
                      <a:pPr>
                        <a:lnSpc>
                          <a:spcPct val="105000"/>
                        </a:lnSpc>
                      </a:pPr>
                      <a:r>
                        <a:rPr sz="1100" b="1">
                          <a:solidFill>
                            <a:srgbClr val="0F172A"/>
                          </a:solidFill>
                          <a:latin typeface="Segoe UI"/>
                        </a:rPr>
                        <a:t>TOTAL</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545.5</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21,820</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a:t>
                      </a:r>
                    </a:p>
                  </a:txBody>
                  <a:tcPr marL="82296" marR="54864" marT="27432" marB="27432" anchor="ctr">
                    <a:solidFill>
                      <a:srgbClr val="F1F5F9"/>
                    </a:solidFill>
                  </a:tcPr>
                </a:tc>
                <a:tc>
                  <a:txBody>
                    <a:bodyPr/>
                    <a:lstStyle/>
                    <a:p>
                      <a:pPr>
                        <a:lnSpc>
                          <a:spcPct val="105000"/>
                        </a:lnSpc>
                      </a:pPr>
                      <a:r>
                        <a:rPr sz="1100" b="0">
                          <a:solidFill>
                            <a:srgbClr val="0F172A"/>
                          </a:solidFill>
                          <a:latin typeface="Segoe UI"/>
                        </a:rPr>
                        <a:t>________</a:t>
                      </a:r>
                    </a:p>
                  </a:txBody>
                  <a:tcPr marL="82296" marR="54864" marT="27432" marB="27432" anchor="ctr">
                    <a:solidFill>
                      <a:srgbClr val="F1F5F9"/>
                    </a:solidFill>
                  </a:tcPr>
                </a:tc>
              </a:tr>
            </a:tbl>
          </a:graphicData>
        </a:graphic>
      </p:graphicFrame>
      <p:sp>
        <p:nvSpPr>
          <p:cNvPr id="10" name="TextBox 9"/>
          <p:cNvSpPr txBox="1"/>
          <p:nvPr/>
        </p:nvSpPr>
        <p:spPr>
          <a:xfrm>
            <a:off x="566928" y="5550408"/>
            <a:ext cx="11057839" cy="365760"/>
          </a:xfrm>
          <a:prstGeom prst="rect">
            <a:avLst/>
          </a:prstGeom>
          <a:noFill/>
        </p:spPr>
        <p:txBody>
          <a:bodyPr wrap="square" lIns="0" rIns="0" tIns="0" bIns="0" anchor="t">
            <a:spAutoFit/>
          </a:bodyPr>
          <a:lstStyle/>
          <a:p>
            <a:pPr algn="l">
              <a:lnSpc>
                <a:spcPct val="100000"/>
              </a:lnSpc>
              <a:spcAft>
                <a:spcPts val="600"/>
              </a:spcAft>
            </a:pPr>
            <a:r>
              <a:rPr sz="1200" b="0">
                <a:solidFill>
                  <a:srgbClr val="475569"/>
                </a:solidFill>
                <a:latin typeface="Segoe UI"/>
              </a:rPr>
              <a:t>Plus, as separate lines finance should add:   AWS run cost (TBD, usage-driven)   ·   Bedrock Guardrails invocations (TBD)   ·   contingency %   ·   post-GA run-and-maintain</a:t>
            </a:r>
          </a:p>
        </p:txBody>
      </p:sp>
      <p:sp>
        <p:nvSpPr>
          <p:cNvPr id="11" name="TextBox 10"/>
          <p:cNvSpPr txBox="1"/>
          <p:nvPr/>
        </p:nvSpPr>
        <p:spPr>
          <a:xfrm>
            <a:off x="566928" y="6144768"/>
            <a:ext cx="11057839" cy="274320"/>
          </a:xfrm>
          <a:prstGeom prst="rect">
            <a:avLst/>
          </a:prstGeom>
          <a:noFill/>
        </p:spPr>
        <p:txBody>
          <a:bodyPr wrap="square" lIns="0" rIns="0" tIns="0" bIns="0" anchor="t">
            <a:spAutoFit/>
          </a:bodyPr>
          <a:lstStyle/>
          <a:p>
            <a:pPr algn="l">
              <a:lnSpc>
                <a:spcPct val="100000"/>
              </a:lnSpc>
              <a:spcAft>
                <a:spcPts val="600"/>
              </a:spcAft>
            </a:pPr>
            <a:r>
              <a:rPr sz="850" b="0">
                <a:solidFill>
                  <a:srgbClr val="94A3B8"/>
                </a:solidFill>
                <a:latin typeface="Segoe UI"/>
              </a:rPr>
              <a:t>Source: Role totals are the per-phase FTE model rolled up; they sum to the 545 person-weeks on the previous slide (rounding aside). All rates and costs intentionally blank.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EFFORT</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25</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What the estimate assumes</a:t>
            </a:r>
          </a:p>
        </p:txBody>
      </p:sp>
      <p:sp>
        <p:nvSpPr>
          <p:cNvPr id="7" name="TextBox 6"/>
          <p:cNvSpPr txBox="1"/>
          <p:nvPr/>
        </p:nvSpPr>
        <p:spPr>
          <a:xfrm>
            <a:off x="566928" y="1115568"/>
            <a:ext cx="11057839" cy="384048"/>
          </a:xfrm>
          <a:prstGeom prst="rect">
            <a:avLst/>
          </a:prstGeom>
          <a:noFill/>
        </p:spPr>
        <p:txBody>
          <a:bodyPr wrap="square" lIns="0" rIns="0" tIns="0" bIns="0" anchor="t">
            <a:spAutoFit/>
          </a:bodyPr>
          <a:lstStyle/>
          <a:p>
            <a:pPr algn="l">
              <a:lnSpc>
                <a:spcPct val="120000"/>
              </a:lnSpc>
              <a:spcAft>
                <a:spcPts val="600"/>
              </a:spcAft>
            </a:pPr>
            <a:r>
              <a:rPr sz="1300" b="0">
                <a:solidFill>
                  <a:srgbClr val="475569"/>
                </a:solidFill>
                <a:latin typeface="Segoe UI"/>
              </a:rPr>
              <a:t>State these out loud before anyone quotes the number.</a:t>
            </a:r>
          </a:p>
        </p:txBody>
      </p:sp>
      <p:sp>
        <p:nvSpPr>
          <p:cNvPr id="8" name="Rectangle 7"/>
          <p:cNvSpPr/>
          <p:nvPr/>
        </p:nvSpPr>
        <p:spPr>
          <a:xfrm>
            <a:off x="566928" y="15727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847088"/>
            <a:ext cx="5760720" cy="4370832"/>
          </a:xfrm>
          <a:prstGeom prst="rect">
            <a:avLst/>
          </a:prstGeom>
          <a:noFill/>
        </p:spPr>
        <p:txBody>
          <a:bodyPr wrap="square" lIns="0" tIns="0">
            <a:spAutoFit/>
          </a:bodyPr>
          <a:lstStyle/>
          <a:p>
            <a:pPr>
              <a:lnSpc>
                <a:spcPct val="116000"/>
              </a:lnSpc>
              <a:spcAft>
                <a:spcPts val="900"/>
              </a:spcAft>
            </a:pPr>
            <a:r>
              <a:rPr sz="1300" b="1">
                <a:solidFill>
                  <a:srgbClr val="2563EB"/>
                </a:solidFill>
                <a:latin typeface="Segoe UI"/>
              </a:rPr>
              <a:t>▪  </a:t>
            </a:r>
            <a:r>
              <a:rPr sz="1300" b="0">
                <a:solidFill>
                  <a:srgbClr val="0F172A"/>
                </a:solidFill>
                <a:latin typeface="Segoe UI"/>
              </a:rPr>
              <a:t>Phases run strictly sequentially, with a validation gate between each.</a:t>
            </a:r>
          </a:p>
          <a:p>
            <a:pPr>
              <a:lnSpc>
                <a:spcPct val="116000"/>
              </a:lnSpc>
              <a:spcAft>
                <a:spcPts val="900"/>
              </a:spcAft>
            </a:pPr>
            <a:r>
              <a:rPr sz="1300" b="1">
                <a:solidFill>
                  <a:srgbClr val="2563EB"/>
                </a:solidFill>
                <a:latin typeface="Segoe UI"/>
              </a:rPr>
              <a:t>▪  </a:t>
            </a:r>
            <a:r>
              <a:rPr sz="1300" b="0">
                <a:solidFill>
                  <a:srgbClr val="0F172A"/>
                </a:solidFill>
                <a:latin typeface="Segoe UI"/>
              </a:rPr>
              <a:t>A 40-hour person-week; no overtime absorbed into the model.</a:t>
            </a:r>
          </a:p>
          <a:p>
            <a:pPr>
              <a:lnSpc>
                <a:spcPct val="116000"/>
              </a:lnSpc>
              <a:spcAft>
                <a:spcPts val="900"/>
              </a:spcAft>
            </a:pPr>
            <a:r>
              <a:rPr sz="1300" b="1">
                <a:solidFill>
                  <a:srgbClr val="2563EB"/>
                </a:solidFill>
                <a:latin typeface="Segoe UI"/>
              </a:rPr>
              <a:t>▪  </a:t>
            </a:r>
            <a:r>
              <a:rPr sz="1300" b="0">
                <a:solidFill>
                  <a:srgbClr val="0F172A"/>
                </a:solidFill>
                <a:latin typeface="Segoe UI"/>
              </a:rPr>
              <a:t>The team is dedicated, not time-sliced across other programs.</a:t>
            </a:r>
          </a:p>
          <a:p>
            <a:pPr>
              <a:lnSpc>
                <a:spcPct val="116000"/>
              </a:lnSpc>
              <a:spcAft>
                <a:spcPts val="900"/>
              </a:spcAft>
            </a:pPr>
            <a:r>
              <a:rPr sz="1300" b="1">
                <a:solidFill>
                  <a:srgbClr val="2563EB"/>
                </a:solidFill>
                <a:latin typeface="Segoe UI"/>
              </a:rPr>
              <a:t>▪  </a:t>
            </a:r>
            <a:r>
              <a:rPr sz="1300" b="0">
                <a:solidFill>
                  <a:srgbClr val="0F172A"/>
                </a:solidFill>
                <a:latin typeface="Segoe UI"/>
              </a:rPr>
              <a:t>Bedrock Guardrails is available in the target account and region from day one.</a:t>
            </a:r>
          </a:p>
          <a:p>
            <a:pPr>
              <a:lnSpc>
                <a:spcPct val="116000"/>
              </a:lnSpc>
              <a:spcAft>
                <a:spcPts val="900"/>
              </a:spcAft>
            </a:pPr>
            <a:r>
              <a:rPr sz="1300" b="1">
                <a:solidFill>
                  <a:srgbClr val="2563EB"/>
                </a:solidFill>
                <a:latin typeface="Segoe UI"/>
              </a:rPr>
              <a:t>▪  </a:t>
            </a:r>
            <a:r>
              <a:rPr sz="1300" b="0">
                <a:solidFill>
                  <a:srgbClr val="0F172A"/>
                </a:solidFill>
                <a:latin typeface="Segoe UI"/>
              </a:rPr>
              <a:t>The two-account AWS model is provisioned before Phase 1 build starts.</a:t>
            </a:r>
          </a:p>
          <a:p>
            <a:pPr>
              <a:lnSpc>
                <a:spcPct val="116000"/>
              </a:lnSpc>
              <a:spcAft>
                <a:spcPts val="900"/>
              </a:spcAft>
            </a:pPr>
            <a:r>
              <a:rPr sz="1300" b="1">
                <a:solidFill>
                  <a:srgbClr val="2563EB"/>
                </a:solidFill>
                <a:latin typeface="Segoe UI"/>
              </a:rPr>
              <a:t>▪  </a:t>
            </a:r>
            <a:r>
              <a:rPr sz="1300" b="0">
                <a:solidFill>
                  <a:srgbClr val="0F172A"/>
                </a:solidFill>
                <a:latin typeface="Segoe UI"/>
              </a:rPr>
              <a:t>Two pilot consuming teams are committed and available for the M2 demonstration.</a:t>
            </a:r>
          </a:p>
        </p:txBody>
      </p:sp>
      <p:sp>
        <p:nvSpPr>
          <p:cNvPr id="10" name="TextBox 9"/>
          <p:cNvSpPr txBox="1"/>
          <p:nvPr/>
        </p:nvSpPr>
        <p:spPr>
          <a:xfrm>
            <a:off x="6675120" y="1847088"/>
            <a:ext cx="4937760" cy="4370832"/>
          </a:xfrm>
          <a:prstGeom prst="rect">
            <a:avLst/>
          </a:prstGeom>
          <a:noFill/>
        </p:spPr>
        <p:txBody>
          <a:bodyPr wrap="square" lIns="0" tIns="0">
            <a:spAutoFit/>
          </a:bodyPr>
          <a:lstStyle/>
          <a:p>
            <a:pPr>
              <a:lnSpc>
                <a:spcPct val="116000"/>
              </a:lnSpc>
              <a:spcAft>
                <a:spcPts val="900"/>
              </a:spcAft>
            </a:pPr>
            <a:r>
              <a:rPr sz="1300" b="1">
                <a:solidFill>
                  <a:srgbClr val="2563EB"/>
                </a:solidFill>
                <a:latin typeface="Segoe UI"/>
              </a:rPr>
              <a:t>▪  </a:t>
            </a:r>
            <a:r>
              <a:rPr sz="1300" b="1">
                <a:solidFill>
                  <a:srgbClr val="B91C1C"/>
                </a:solidFill>
                <a:latin typeface="Segoe UI"/>
              </a:rPr>
              <a:t>Open questions that could move the number:</a:t>
            </a:r>
          </a:p>
          <a:p>
            <a:pPr lvl="1">
              <a:lnSpc>
                <a:spcPct val="116000"/>
              </a:lnSpc>
              <a:spcAft>
                <a:spcPts val="600"/>
              </a:spcAft>
            </a:pPr>
            <a:r>
              <a:rPr sz="1200">
                <a:solidFill>
                  <a:srgbClr val="94A3B8"/>
                </a:solidFill>
                <a:latin typeface="Segoe UI"/>
              </a:rPr>
              <a:t>      –  </a:t>
            </a:r>
            <a:r>
              <a:rPr sz="1200" b="0">
                <a:solidFill>
                  <a:srgbClr val="475569"/>
                </a:solidFill>
                <a:latin typeface="Segoe UI"/>
              </a:rPr>
              <a:t>OQ-001 — which enforcement posture the first external customers require</a:t>
            </a:r>
          </a:p>
          <a:p>
            <a:pPr lvl="1">
              <a:lnSpc>
                <a:spcPct val="116000"/>
              </a:lnSpc>
              <a:spcAft>
                <a:spcPts val="600"/>
              </a:spcAft>
            </a:pPr>
            <a:r>
              <a:rPr sz="1200">
                <a:solidFill>
                  <a:srgbClr val="94A3B8"/>
                </a:solidFill>
                <a:latin typeface="Segoe UI"/>
              </a:rPr>
              <a:t>      –  </a:t>
            </a:r>
            <a:r>
              <a:rPr sz="1200" b="0">
                <a:solidFill>
                  <a:srgbClr val="475569"/>
                </a:solidFill>
                <a:latin typeface="Segoe UI"/>
              </a:rPr>
              <a:t>OQ-009 — the trigger for a third AWS account</a:t>
            </a:r>
          </a:p>
          <a:p>
            <a:pPr lvl="1">
              <a:lnSpc>
                <a:spcPct val="116000"/>
              </a:lnSpc>
              <a:spcAft>
                <a:spcPts val="600"/>
              </a:spcAft>
            </a:pPr>
            <a:r>
              <a:rPr sz="1200">
                <a:solidFill>
                  <a:srgbClr val="94A3B8"/>
                </a:solidFill>
                <a:latin typeface="Segoe UI"/>
              </a:rPr>
              <a:t>      –  </a:t>
            </a:r>
            <a:r>
              <a:rPr sz="1200" b="0">
                <a:solidFill>
                  <a:srgbClr val="475569"/>
                </a:solidFill>
                <a:latin typeface="Segoe UI"/>
              </a:rPr>
              <a:t>OQ-014 — objective go/no-go criteria for observe → enforce</a:t>
            </a:r>
          </a:p>
          <a:p>
            <a:pPr lvl="1">
              <a:lnSpc>
                <a:spcPct val="116000"/>
              </a:lnSpc>
              <a:spcAft>
                <a:spcPts val="600"/>
              </a:spcAft>
            </a:pPr>
            <a:r>
              <a:rPr sz="1200">
                <a:solidFill>
                  <a:srgbClr val="94A3B8"/>
                </a:solidFill>
                <a:latin typeface="Segoe UI"/>
              </a:rPr>
              <a:t>      –  </a:t>
            </a:r>
            <a:r>
              <a:rPr sz="1200" b="0">
                <a:solidFill>
                  <a:srgbClr val="475569"/>
                </a:solidFill>
                <a:latin typeface="Segoe UI"/>
              </a:rPr>
              <a:t>OQ-012 — policy signing and inheritance design</a:t>
            </a:r>
          </a:p>
          <a:p>
            <a:pPr lvl="1">
              <a:lnSpc>
                <a:spcPct val="116000"/>
              </a:lnSpc>
              <a:spcAft>
                <a:spcPts val="600"/>
              </a:spcAft>
            </a:pPr>
            <a:r>
              <a:rPr sz="1200">
                <a:solidFill>
                  <a:srgbClr val="94A3B8"/>
                </a:solidFill>
                <a:latin typeface="Segoe UI"/>
              </a:rPr>
              <a:t>      –  </a:t>
            </a:r>
            <a:r>
              <a:rPr sz="1200" b="0">
                <a:solidFill>
                  <a:srgbClr val="475569"/>
                </a:solidFill>
                <a:latin typeface="Segoe UI"/>
              </a:rPr>
              <a:t>Unset SLA, latency and size limits (CON-015, CON-016)</a:t>
            </a:r>
          </a:p>
        </p:txBody>
      </p:sp>
      <p:sp>
        <p:nvSpPr>
          <p:cNvPr id="11" name="Rounded Rectangle 10"/>
          <p:cNvSpPr/>
          <p:nvPr/>
        </p:nvSpPr>
        <p:spPr>
          <a:xfrm>
            <a:off x="566928" y="5120640"/>
            <a:ext cx="11057839" cy="914400"/>
          </a:xfrm>
          <a:prstGeom prst="roundRect">
            <a:avLst>
              <a:gd name="adj" fmla="val 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66928" y="5120640"/>
            <a:ext cx="45720" cy="9144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68096" y="5239512"/>
            <a:ext cx="2743200" cy="201168"/>
          </a:xfrm>
          <a:prstGeom prst="rect">
            <a:avLst/>
          </a:prstGeom>
          <a:noFill/>
        </p:spPr>
        <p:txBody>
          <a:bodyPr wrap="square" lIns="0" rIns="0" tIns="0" bIns="0" anchor="t">
            <a:spAutoFit/>
          </a:bodyPr>
          <a:lstStyle/>
          <a:p>
            <a:pPr algn="l">
              <a:lnSpc>
                <a:spcPct val="100000"/>
              </a:lnSpc>
              <a:spcAft>
                <a:spcPts val="600"/>
              </a:spcAft>
            </a:pPr>
            <a:r>
              <a:rPr sz="900" b="1">
                <a:solidFill>
                  <a:srgbClr val="B45309"/>
                </a:solidFill>
                <a:latin typeface="Segoe UI"/>
              </a:rPr>
              <a:t>WHERE THESE NUMBERS LIVE</a:t>
            </a:r>
          </a:p>
        </p:txBody>
      </p:sp>
      <p:sp>
        <p:nvSpPr>
          <p:cNvPr id="14" name="TextBox 13"/>
          <p:cNvSpPr txBox="1"/>
          <p:nvPr/>
        </p:nvSpPr>
        <p:spPr>
          <a:xfrm>
            <a:off x="768096" y="5468112"/>
            <a:ext cx="10600639" cy="457200"/>
          </a:xfrm>
          <a:prstGeom prst="rect">
            <a:avLst/>
          </a:prstGeom>
          <a:noFill/>
        </p:spPr>
        <p:txBody>
          <a:bodyPr wrap="square" lIns="0" rIns="0" tIns="0" bIns="0" anchor="t">
            <a:spAutoFit/>
          </a:bodyPr>
          <a:lstStyle/>
          <a:p>
            <a:pPr algn="l">
              <a:lnSpc>
                <a:spcPct val="120000"/>
              </a:lnSpc>
              <a:spcAft>
                <a:spcPts val="600"/>
              </a:spcAft>
            </a:pPr>
            <a:r>
              <a:rPr sz="1150" b="0">
                <a:solidFill>
                  <a:srgbClr val="0F172A"/>
                </a:solidFill>
                <a:latin typeface="Segoe UI"/>
              </a:rPr>
              <a:t>Governance note: solution-docs/ states headcount, duration and budget as TBD on purpose — no figure exists in the seed. Everything numeric in this section was authored for this deck. If leadership adopts these numbers, they belong in ASSUMPTIONS.md, not in this file.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74320"/>
            <a:ext cx="8229600" cy="228600"/>
          </a:xfrm>
          <a:prstGeom prst="rect">
            <a:avLst/>
          </a:prstGeom>
          <a:noFill/>
        </p:spPr>
        <p:txBody>
          <a:bodyPr wrap="square" lIns="0" rIns="0" tIns="0" bIns="0" anchor="t">
            <a:spAutoFit/>
          </a:bodyPr>
          <a:lstStyle/>
          <a:p>
            <a:pPr algn="l">
              <a:lnSpc>
                <a:spcPct val="100000"/>
              </a:lnSpc>
              <a:spcAft>
                <a:spcPts val="600"/>
              </a:spcAft>
            </a:pPr>
            <a:r>
              <a:rPr sz="1000" b="1">
                <a:solidFill>
                  <a:srgbClr val="94A3B8"/>
                </a:solidFill>
                <a:latin typeface="Segoe UI"/>
              </a:rPr>
              <a:t>CLOSE</a:t>
            </a:r>
          </a:p>
        </p:txBody>
      </p:sp>
      <p:sp>
        <p:nvSpPr>
          <p:cNvPr id="4" name="TextBox 3"/>
          <p:cNvSpPr txBox="1"/>
          <p:nvPr/>
        </p:nvSpPr>
        <p:spPr>
          <a:xfrm>
            <a:off x="10527487" y="274320"/>
            <a:ext cx="1097280" cy="228600"/>
          </a:xfrm>
          <a:prstGeom prst="rect">
            <a:avLst/>
          </a:prstGeom>
          <a:noFill/>
        </p:spPr>
        <p:txBody>
          <a:bodyPr wrap="square" lIns="0" rIns="0" tIns="0" bIns="0" anchor="t">
            <a:spAutoFit/>
          </a:bodyPr>
          <a:lstStyle/>
          <a:p>
            <a:pPr algn="r">
              <a:lnSpc>
                <a:spcPct val="100000"/>
              </a:lnSpc>
              <a:spcAft>
                <a:spcPts val="600"/>
              </a:spcAft>
            </a:pPr>
            <a:r>
              <a:rPr sz="1000" b="1">
                <a:solidFill>
                  <a:srgbClr val="94A3B8"/>
                </a:solidFill>
                <a:latin typeface="Segoe UI"/>
              </a:rPr>
              <a:t>26</a:t>
            </a:r>
          </a:p>
        </p:txBody>
      </p:sp>
      <p:sp>
        <p:nvSpPr>
          <p:cNvPr id="5" name="TextBox 4"/>
          <p:cNvSpPr txBox="1"/>
          <p:nvPr/>
        </p:nvSpPr>
        <p:spPr>
          <a:xfrm>
            <a:off x="566928" y="6446520"/>
            <a:ext cx="8229600" cy="228600"/>
          </a:xfrm>
          <a:prstGeom prst="rect">
            <a:avLst/>
          </a:prstGeom>
          <a:noFill/>
        </p:spPr>
        <p:txBody>
          <a:bodyPr wrap="square" lIns="0" rIns="0" tIns="0" bIns="0" anchor="t">
            <a:spAutoFit/>
          </a:bodyPr>
          <a:lstStyle/>
          <a:p>
            <a:pPr algn="l">
              <a:lnSpc>
                <a:spcPct val="100000"/>
              </a:lnSpc>
              <a:spcAft>
                <a:spcPts val="600"/>
              </a:spcAft>
            </a:pPr>
            <a:r>
              <a:rPr sz="800" b="0">
                <a:solidFill>
                  <a:srgbClr val="94A3B8"/>
                </a:solidFill>
                <a:latin typeface="Segoe UI"/>
              </a:rPr>
              <a:t>AI Guardrails — internal proposal  ·  derived from solution-docs/  ·  not for external distribution</a:t>
            </a:r>
          </a:p>
        </p:txBody>
      </p:sp>
      <p:sp>
        <p:nvSpPr>
          <p:cNvPr id="6" name="TextBox 5"/>
          <p:cNvSpPr txBox="1"/>
          <p:nvPr/>
        </p:nvSpPr>
        <p:spPr>
          <a:xfrm>
            <a:off x="566928" y="566928"/>
            <a:ext cx="11057839" cy="548640"/>
          </a:xfrm>
          <a:prstGeom prst="rect">
            <a:avLst/>
          </a:prstGeom>
          <a:noFill/>
        </p:spPr>
        <p:txBody>
          <a:bodyPr wrap="square" lIns="0" rIns="0" tIns="0" bIns="0" anchor="t">
            <a:spAutoFit/>
          </a:bodyPr>
          <a:lstStyle/>
          <a:p>
            <a:pPr algn="l">
              <a:lnSpc>
                <a:spcPct val="100000"/>
              </a:lnSpc>
              <a:spcAft>
                <a:spcPts val="600"/>
              </a:spcAft>
            </a:pPr>
            <a:r>
              <a:rPr sz="2700" b="1">
                <a:solidFill>
                  <a:srgbClr val="0F172A"/>
                </a:solidFill>
                <a:latin typeface="Segoe UI"/>
              </a:rPr>
              <a:t>What we need from this room</a:t>
            </a:r>
          </a:p>
        </p:txBody>
      </p:sp>
      <p:sp>
        <p:nvSpPr>
          <p:cNvPr id="7" name="Rectangle 6"/>
          <p:cNvSpPr/>
          <p:nvPr/>
        </p:nvSpPr>
        <p:spPr>
          <a:xfrm>
            <a:off x="566928" y="1115568"/>
            <a:ext cx="96012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66928" y="1389888"/>
            <a:ext cx="3515258" cy="23774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389888"/>
            <a:ext cx="3515258" cy="45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1609344"/>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2563EB"/>
                </a:solidFill>
                <a:latin typeface="Segoe UI"/>
              </a:rPr>
              <a:t>DECISION 1</a:t>
            </a:r>
          </a:p>
        </p:txBody>
      </p:sp>
      <p:sp>
        <p:nvSpPr>
          <p:cNvPr id="11" name="TextBox 10"/>
          <p:cNvSpPr txBox="1"/>
          <p:nvPr/>
        </p:nvSpPr>
        <p:spPr>
          <a:xfrm>
            <a:off x="768096" y="1883664"/>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Approve Phases 1–2</a:t>
            </a:r>
          </a:p>
        </p:txBody>
      </p:sp>
      <p:sp>
        <p:nvSpPr>
          <p:cNvPr id="12" name="TextBox 11"/>
          <p:cNvSpPr txBox="1"/>
          <p:nvPr/>
        </p:nvSpPr>
        <p:spPr>
          <a:xfrm>
            <a:off x="768096" y="2414016"/>
            <a:ext cx="3112922" cy="118872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20 weeks, 166 person-weeks, 6,640 hours</a:t>
            </a:r>
          </a:p>
          <a:p>
            <a:pPr>
              <a:lnSpc>
                <a:spcPct val="115000"/>
              </a:lnSpc>
              <a:spcAft>
                <a:spcPts val="500"/>
              </a:spcAft>
            </a:pPr>
            <a:r>
              <a:rPr sz="1150">
                <a:solidFill>
                  <a:srgbClr val="475569"/>
                </a:solidFill>
                <a:latin typeface="Segoe UI"/>
              </a:rPr>
              <a:t>· Gate: all nine MVP criteria at M2</a:t>
            </a:r>
          </a:p>
          <a:p>
            <a:pPr>
              <a:lnSpc>
                <a:spcPct val="115000"/>
              </a:lnSpc>
              <a:spcAft>
                <a:spcPts val="500"/>
              </a:spcAft>
            </a:pPr>
            <a:r>
              <a:rPr sz="1150">
                <a:solidFill>
                  <a:srgbClr val="475569"/>
                </a:solidFill>
                <a:latin typeface="Segoe UI"/>
              </a:rPr>
              <a:t>· M3 and M4 stay separate, later decisions</a:t>
            </a:r>
          </a:p>
        </p:txBody>
      </p:sp>
      <p:sp>
        <p:nvSpPr>
          <p:cNvPr id="13" name="Rounded Rectangle 12"/>
          <p:cNvSpPr/>
          <p:nvPr/>
        </p:nvSpPr>
        <p:spPr>
          <a:xfrm>
            <a:off x="4338218" y="1389888"/>
            <a:ext cx="3515258" cy="23774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38218" y="1389888"/>
            <a:ext cx="3515258" cy="45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39386" y="1609344"/>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7C3AED"/>
                </a:solidFill>
                <a:latin typeface="Segoe UI"/>
              </a:rPr>
              <a:t>DECISION 2</a:t>
            </a:r>
          </a:p>
        </p:txBody>
      </p:sp>
      <p:sp>
        <p:nvSpPr>
          <p:cNvPr id="16" name="TextBox 15"/>
          <p:cNvSpPr txBox="1"/>
          <p:nvPr/>
        </p:nvSpPr>
        <p:spPr>
          <a:xfrm>
            <a:off x="4539386" y="1883664"/>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Name the two pilot teams</a:t>
            </a:r>
          </a:p>
        </p:txBody>
      </p:sp>
      <p:sp>
        <p:nvSpPr>
          <p:cNvPr id="17" name="TextBox 16"/>
          <p:cNvSpPr txBox="1"/>
          <p:nvPr/>
        </p:nvSpPr>
        <p:spPr>
          <a:xfrm>
            <a:off x="4539386" y="2414016"/>
            <a:ext cx="3112922" cy="118872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Two organizationally independent LiteLLM instances</a:t>
            </a:r>
          </a:p>
          <a:p>
            <a:pPr>
              <a:lnSpc>
                <a:spcPct val="115000"/>
              </a:lnSpc>
              <a:spcAft>
                <a:spcPts val="500"/>
              </a:spcAft>
            </a:pPr>
            <a:r>
              <a:rPr sz="1150">
                <a:solidFill>
                  <a:srgbClr val="475569"/>
                </a:solidFill>
                <a:latin typeface="Segoe UI"/>
              </a:rPr>
              <a:t>· Different provider credentials</a:t>
            </a:r>
          </a:p>
          <a:p>
            <a:pPr>
              <a:lnSpc>
                <a:spcPct val="115000"/>
              </a:lnSpc>
              <a:spcAft>
                <a:spcPts val="500"/>
              </a:spcAft>
            </a:pPr>
            <a:r>
              <a:rPr sz="1150">
                <a:solidFill>
                  <a:srgbClr val="475569"/>
                </a:solidFill>
                <a:latin typeface="Segoe UI"/>
              </a:rPr>
              <a:t>· This is a hard blocker on MVP-01</a:t>
            </a:r>
          </a:p>
        </p:txBody>
      </p:sp>
      <p:sp>
        <p:nvSpPr>
          <p:cNvPr id="18" name="Rounded Rectangle 17"/>
          <p:cNvSpPr/>
          <p:nvPr/>
        </p:nvSpPr>
        <p:spPr>
          <a:xfrm>
            <a:off x="8109508" y="1389888"/>
            <a:ext cx="3515258" cy="23774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109508" y="1389888"/>
            <a:ext cx="3515258" cy="4572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10676" y="1609344"/>
            <a:ext cx="3112922" cy="219456"/>
          </a:xfrm>
          <a:prstGeom prst="rect">
            <a:avLst/>
          </a:prstGeom>
          <a:noFill/>
        </p:spPr>
        <p:txBody>
          <a:bodyPr wrap="square" lIns="0" rIns="0" tIns="0" bIns="0" anchor="t">
            <a:spAutoFit/>
          </a:bodyPr>
          <a:lstStyle/>
          <a:p>
            <a:pPr algn="l">
              <a:lnSpc>
                <a:spcPct val="100000"/>
              </a:lnSpc>
              <a:spcAft>
                <a:spcPts val="600"/>
              </a:spcAft>
            </a:pPr>
            <a:r>
              <a:rPr sz="950" b="1">
                <a:solidFill>
                  <a:srgbClr val="059669"/>
                </a:solidFill>
                <a:latin typeface="Segoe UI"/>
              </a:rPr>
              <a:t>DECISION 3</a:t>
            </a:r>
          </a:p>
        </p:txBody>
      </p:sp>
      <p:sp>
        <p:nvSpPr>
          <p:cNvPr id="21" name="TextBox 20"/>
          <p:cNvSpPr txBox="1"/>
          <p:nvPr/>
        </p:nvSpPr>
        <p:spPr>
          <a:xfrm>
            <a:off x="8310676" y="1883664"/>
            <a:ext cx="3112922" cy="457200"/>
          </a:xfrm>
          <a:prstGeom prst="rect">
            <a:avLst/>
          </a:prstGeom>
          <a:noFill/>
        </p:spPr>
        <p:txBody>
          <a:bodyPr wrap="square" lIns="0" rIns="0" tIns="0" bIns="0" anchor="t">
            <a:spAutoFit/>
          </a:bodyPr>
          <a:lstStyle/>
          <a:p>
            <a:pPr algn="l">
              <a:lnSpc>
                <a:spcPct val="110000"/>
              </a:lnSpc>
              <a:spcAft>
                <a:spcPts val="600"/>
              </a:spcAft>
            </a:pPr>
            <a:r>
              <a:rPr sz="1500" b="1">
                <a:solidFill>
                  <a:srgbClr val="0F172A"/>
                </a:solidFill>
                <a:latin typeface="Segoe UI"/>
              </a:rPr>
              <a:t>Supply the rates</a:t>
            </a:r>
          </a:p>
        </p:txBody>
      </p:sp>
      <p:sp>
        <p:nvSpPr>
          <p:cNvPr id="22" name="TextBox 21"/>
          <p:cNvSpPr txBox="1"/>
          <p:nvPr/>
        </p:nvSpPr>
        <p:spPr>
          <a:xfrm>
            <a:off x="8310676" y="2414016"/>
            <a:ext cx="3112922" cy="1188720"/>
          </a:xfrm>
          <a:prstGeom prst="rect">
            <a:avLst/>
          </a:prstGeom>
          <a:noFill/>
        </p:spPr>
        <p:txBody>
          <a:bodyPr wrap="square" lIns="0" tIns="0">
            <a:spAutoFit/>
          </a:bodyPr>
          <a:lstStyle/>
          <a:p>
            <a:pPr>
              <a:lnSpc>
                <a:spcPct val="115000"/>
              </a:lnSpc>
              <a:spcAft>
                <a:spcPts val="500"/>
              </a:spcAft>
            </a:pPr>
            <a:r>
              <a:rPr sz="1150">
                <a:solidFill>
                  <a:srgbClr val="475569"/>
                </a:solidFill>
                <a:latin typeface="Segoe UI"/>
              </a:rPr>
              <a:t>· Per-role or blended $/hr</a:t>
            </a:r>
          </a:p>
          <a:p>
            <a:pPr>
              <a:lnSpc>
                <a:spcPct val="115000"/>
              </a:lnSpc>
              <a:spcAft>
                <a:spcPts val="500"/>
              </a:spcAft>
            </a:pPr>
            <a:r>
              <a:rPr sz="1150">
                <a:solidFill>
                  <a:srgbClr val="475569"/>
                </a:solidFill>
                <a:latin typeface="Segoe UI"/>
              </a:rPr>
              <a:t>· Plus a contingency percentage</a:t>
            </a:r>
          </a:p>
          <a:p>
            <a:pPr>
              <a:lnSpc>
                <a:spcPct val="115000"/>
              </a:lnSpc>
              <a:spcAft>
                <a:spcPts val="500"/>
              </a:spcAft>
            </a:pPr>
            <a:r>
              <a:rPr sz="1150">
                <a:solidFill>
                  <a:srgbClr val="475569"/>
                </a:solidFill>
                <a:latin typeface="Segoe UI"/>
              </a:rPr>
              <a:t>· Then the cost worksheet closes itself</a:t>
            </a:r>
          </a:p>
        </p:txBody>
      </p:sp>
      <p:sp>
        <p:nvSpPr>
          <p:cNvPr id="23" name="TextBox 22"/>
          <p:cNvSpPr txBox="1"/>
          <p:nvPr/>
        </p:nvSpPr>
        <p:spPr>
          <a:xfrm>
            <a:off x="566928" y="4087368"/>
            <a:ext cx="11057839" cy="2130552"/>
          </a:xfrm>
          <a:prstGeom prst="rect">
            <a:avLst/>
          </a:prstGeom>
          <a:noFill/>
        </p:spPr>
        <p:txBody>
          <a:bodyPr wrap="square" lIns="0" tIns="0">
            <a:spAutoFit/>
          </a:bodyPr>
          <a:lstStyle/>
          <a:p>
            <a:pPr>
              <a:lnSpc>
                <a:spcPct val="116000"/>
              </a:lnSpc>
              <a:spcAft>
                <a:spcPts val="900"/>
              </a:spcAft>
            </a:pPr>
            <a:r>
              <a:rPr sz="1300" b="1">
                <a:solidFill>
                  <a:srgbClr val="2563EB"/>
                </a:solidFill>
                <a:latin typeface="Segoe UI"/>
              </a:rPr>
              <a:t>▪  </a:t>
            </a:r>
            <a:r>
              <a:rPr sz="1300" b="0">
                <a:solidFill>
                  <a:srgbClr val="0F172A"/>
                </a:solidFill>
                <a:latin typeface="Segoe UI"/>
              </a:rPr>
              <a:t>Read next: the three per-mode integration decks — Mode A (Remote Evaluation), Mode B (Guarded Gateway), Mode C (Customer-Managed Runtime).</a:t>
            </a:r>
          </a:p>
          <a:p>
            <a:pPr>
              <a:lnSpc>
                <a:spcPct val="116000"/>
              </a:lnSpc>
              <a:spcAft>
                <a:spcPts val="900"/>
              </a:spcAft>
            </a:pPr>
            <a:r>
              <a:rPr sz="1300" b="1">
                <a:solidFill>
                  <a:srgbClr val="2563EB"/>
                </a:solidFill>
                <a:latin typeface="Segoe UI"/>
              </a:rPr>
              <a:t>▪  </a:t>
            </a:r>
            <a:r>
              <a:rPr sz="1300" b="0">
                <a:solidFill>
                  <a:srgbClr val="0F172A"/>
                </a:solidFill>
                <a:latin typeface="Segoe UI"/>
              </a:rPr>
              <a:t>Read before saying anything externally: 70-governance/CLAIMS-REGISTER.md.</a:t>
            </a:r>
          </a:p>
          <a:p>
            <a:pPr>
              <a:lnSpc>
                <a:spcPct val="116000"/>
              </a:lnSpc>
              <a:spcAft>
                <a:spcPts val="900"/>
              </a:spcAft>
            </a:pPr>
            <a:r>
              <a:rPr sz="1300" b="1">
                <a:solidFill>
                  <a:srgbClr val="2563EB"/>
                </a:solidFill>
                <a:latin typeface="Segoe UI"/>
              </a:rPr>
              <a:t>▪  </a:t>
            </a:r>
            <a:r>
              <a:rPr sz="1300" b="0">
                <a:solidFill>
                  <a:srgbClr val="0F172A"/>
                </a:solidFill>
                <a:latin typeface="Segoe UI"/>
              </a:rPr>
              <a:t>Everything non-numeric in this deck traces to solution-docs/. Where the two ever disagree, solution-docs wins and this deck gets corrected.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