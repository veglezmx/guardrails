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message per DECK-BRIEF.md. Subtitle names the ask: Phase 1 — Integration Proof only (AGR-022). The 5-week / one-engineer-plus-AI figure is the proposed resourcing being requested in this proposal — it is a proposal input, not a source-of-truth commitment. Nothing on this slide implies the platform already exists or is proven (AGR-020 is a target, not a result).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seed.md §1–§2; EXECUTIVE-BRIEF §2; CUSTOMER-PAIN-POINTS #1, #5, #7. Establish urgency without hyperbole — no incident counts or dollar figures exist in source material and none are invented (deck brief, slide 2 requirement). Bridge: 'this isn't free — here's what it costs us organizationally.'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EXECUTIVE-BRIEF §3 impact dimensions (deck brief required slide 3). Hard rule: state plainly that no cost figure exists — do not estimate one (claims discipline; ASSUMPTIONS.md). To a decision-maker audience this honesty builds credibility for the later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seed.md §23 product statement (condensed); AGR-001 (standalone), AGR-007 (policy/connector split), AGR-003/AGR-004 (first connector / first engine, not the boundary), AGR-006 (one contract). Introduce LiteLLM and Bedrock Guardrails each with one sentence of context — audience familiarity is uneven (deck brief, audience knowledge level).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seed.md §3, §10 logical architecture (control plane → runtime → engines), CAP-004/005 input &amp; output evaluation, CAP-012 normalized decisions. Keep at mental-model level per deck brief slide 5 — no component inventory. Bedrock Guardrails is the FIRST engine, not the only/permanent one (AGR-004 prohibition).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seed.md §4 onboarding flow; AGR-021 meaning of 'import' (never credentials transfer, never gateway admin access); CAP-008 generic HTTP Evaluation API. This is the 'how others consume it' slide the proposal audience asked for — keep it at this altitude, resist deep-diving.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AGR-002 three modes; CHARTER §10. Mandatory caveats: Mode A is NOT private/data-local (AGR-009 — say it every time Mode A appears); Modes B and C land in Phases 3–4, not today's ask (AGR-022, phase discipline). Mode colors (blue/amber/green) stay constant across the deck per VISUAL-DIRECTION; green reserved for Mode C's data-local posture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AGR-011 observe-before-enforce progression; CAP-013. Stepped progression bar per VISUAL-DIRECTION §2.3 diagram 5. Semantic colors map only to the literal policy states, not to product-quality claims (VISUAL-DIRECTION §6). Observe mode produces evidence, it does not itself prevent anything — value is the measured transition.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AGR-010 (guardrails are not authorization), AGR-018 (cooperative connector is not a hard security boundary), seed.md §6.3 out-of-scope list. Deck brief marks this slide MANDATORY and load-bearing for the security/compliance audience — never cut or soften it. Biggest named risk is false confidence; this slide is the mitigation.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AGR-022 five gated phases; EXECUTIVE-BRIEF §6, §9. Visual asymmetry required by DECK-BRIEF (Phase 1 foregrounded, 2–5 recede). The 5-week figure applies ONLY to Phase 1 and is this proposal's resourcing estimate — no dates or durations are claimed for Phases 2–5 (SLIDE-OUTLINE slide 12 caveat). Phase 5 is a separate product expansion, never an MVP prerequisite.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Week plan maps Phase 1 deliverables from seed.md §18 / IMPLEMENTATION-STRATEGY (evaluation contract, policy format, Bedrock adapter, LiteLLM connector, observe mode, basic auditing, internal deployment) onto the proposer's 5-week / one-engineer estimate. The estimate is this proposal's own resourcing plan — present it as proposed, not as an org-committed SLA. Scope guarded by AGR-019 MVP boundary.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presents the proposer's delivery approach — it is a resourcing proposal, not sourced from AGREEMENTS.md. Keep claims about AI productivity qualitative; no velocity multipliers or percentages are asserted. Human review of AI output is the control that makes the model acceptable to the security/compliance audience.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AGR-020 MVP success demonstration, condensed. Phrased as target ('will be considered successful when') — never as achieved (hard prohibition in DECK-BRIEF). Full criteria list also includes packaging-path readiness for customer-managed deployment; covered verbally if asked. This falsifiability is the executive sponsor's risk control.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DECK-BRIEF 'Desired audience action' — restated in substance: approve Phase 1 resourcing (AGR-022), confirm a second independent pilot team (AGR-020, ASM-002/003), pilot runs Observe-first (AGR-011). Explicit not-asking list is required. Close on the decision, not on 'thank you'. Fallback ask if not closed in the room: schedule an architecture deep-dive with 50-architecture/ material.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5486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9FB3C8"/>
                </a:solidFill>
                <a:latin typeface="Calibri"/>
              </a:rPr>
              <a:t>AI GUARDRAILS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FFFFFF"/>
                </a:solidFill>
                <a:latin typeface="Calibri"/>
              </a:rPr>
              <a:t>One guardrail policy.</a:t>
            </a:r>
          </a:p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FFFFFF"/>
                </a:solidFill>
                <a:latin typeface="Calibri"/>
              </a:rPr>
              <a:t>Any gateway you already run.</a:t>
            </a:r>
          </a:p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FFFFFF"/>
                </a:solidFill>
                <a:latin typeface="Calibri"/>
              </a:rPr>
              <a:t>The deployment mode your data needs.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4160520"/>
            <a:ext cx="2011680" cy="508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43484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Project creation proposal — requesting approval for Phase 1 · Integration Proof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292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9FB3C8"/>
                </a:solidFill>
                <a:latin typeface="Calibri"/>
              </a:rPr>
              <a:t>Proposed delivery: 5 weeks · one engineer working with multiple AI models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7E8C9A"/>
                </a:solidFill>
                <a:latin typeface="Calibri"/>
              </a:rPr>
              <a:t>Internal draft — placeholder styling pending brand ·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0F766E"/>
                </a:solidFill>
                <a:latin typeface="Calibr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2B3440"/>
                </a:solidFill>
                <a:latin typeface="Calibri"/>
              </a:rPr>
              <a:t>Every team is building its own guardrails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137160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6035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0F766E"/>
                </a:solidFill>
                <a:latin typeface="Calibri"/>
              </a:rPr>
              <a:t>▪  </a:t>
            </a:r>
            <a:r>
              <a:rPr sz="1600" b="1">
                <a:solidFill>
                  <a:srgbClr val="1F2937"/>
                </a:solidFill>
                <a:latin typeface="Calibri"/>
              </a:rPr>
              <a:t>Bespoke, per-team safeguards</a:t>
            </a:r>
            <a:r>
              <a:rPr sz="1600">
                <a:solidFill>
                  <a:srgbClr val="5B6572"/>
                </a:solidFill>
                <a:latin typeface="Calibri"/>
              </a:rPr>
              <a:t> — each coupled to one gateway and one model provider; none reusable.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0F766E"/>
                </a:solidFill>
                <a:latin typeface="Calibri"/>
              </a:rPr>
              <a:t>▪  </a:t>
            </a:r>
            <a:r>
              <a:rPr sz="1600" b="1">
                <a:solidFill>
                  <a:srgbClr val="1F2937"/>
                </a:solidFill>
                <a:latin typeface="Calibri"/>
              </a:rPr>
              <a:t>No shared policy</a:t>
            </a:r>
            <a:r>
              <a:rPr sz="1600">
                <a:solidFill>
                  <a:srgbClr val="5B6572"/>
                </a:solidFill>
                <a:latin typeface="Calibri"/>
              </a:rPr>
              <a:t> — no single definition of “safe” any workload can point to.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0F766E"/>
                </a:solidFill>
                <a:latin typeface="Calibri"/>
              </a:rPr>
              <a:t>▪  </a:t>
            </a:r>
            <a:r>
              <a:rPr sz="1600" b="1">
                <a:solidFill>
                  <a:srgbClr val="1F2937"/>
                </a:solidFill>
                <a:latin typeface="Calibri"/>
              </a:rPr>
              <a:t>No comparable audit evidence</a:t>
            </a:r>
            <a:r>
              <a:rPr sz="1600">
                <a:solidFill>
                  <a:srgbClr val="5B6572"/>
                </a:solidFill>
                <a:latin typeface="Calibri"/>
              </a:rPr>
              <a:t> — each team records different things — or nothing.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0F766E"/>
                </a:solidFill>
                <a:latin typeface="Calibri"/>
              </a:rPr>
              <a:t>▪  </a:t>
            </a:r>
            <a:r>
              <a:rPr sz="1600" b="1">
                <a:solidFill>
                  <a:srgbClr val="1F2937"/>
                </a:solidFill>
                <a:latin typeface="Calibri"/>
              </a:rPr>
              <a:t>All-or-nothing rollout</a:t>
            </a:r>
            <a:r>
              <a:rPr sz="1600">
                <a:solidFill>
                  <a:srgbClr val="5B6572"/>
                </a:solidFill>
                <a:latin typeface="Calibri"/>
              </a:rPr>
              <a:t> — no safe way to see what a policy would do before it blocks users.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40880" y="1737360"/>
            <a:ext cx="146304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1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200" b="1">
                <a:solidFill>
                  <a:srgbClr val="1F2937"/>
                </a:solidFill>
                <a:latin typeface="Calibri"/>
              </a:rPr>
              <a:t>Team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40880" y="2377440"/>
            <a:ext cx="1463040" cy="502920"/>
          </a:xfrm>
          <a:prstGeom prst="roundRect">
            <a:avLst/>
          </a:prstGeom>
          <a:solidFill>
            <a:srgbClr val="F2F4F7"/>
          </a:solidFill>
          <a:ln w="12700">
            <a:solidFill>
              <a:srgbClr val="C9D1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100" b="0">
                <a:solidFill>
                  <a:srgbClr val="1F2937"/>
                </a:solidFill>
                <a:latin typeface="Calibri"/>
              </a:rPr>
              <a:t>Own gateway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40880" y="3017520"/>
            <a:ext cx="1463040" cy="685800"/>
          </a:xfrm>
          <a:prstGeom prst="roundRect">
            <a:avLst/>
          </a:prstGeom>
          <a:solidFill>
            <a:srgbClr val="FBEAE6"/>
          </a:solidFill>
          <a:ln w="12700">
            <a:solidFill>
              <a:srgbClr val="D99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100" b="0">
                <a:solidFill>
                  <a:srgbClr val="1F2937"/>
                </a:solidFill>
                <a:latin typeface="Calibri"/>
              </a:rPr>
              <a:t>Custom checks</a:t>
            </a:r>
          </a:p>
          <a:p>
            <a:pPr algn="ctr"/>
            <a:r>
              <a:rPr sz="900">
                <a:solidFill>
                  <a:srgbClr val="5B6572"/>
                </a:solidFill>
                <a:latin typeface="Calibri"/>
              </a:rPr>
              <a:t>(or none)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32520" y="1737360"/>
            <a:ext cx="146304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1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200" b="1">
                <a:solidFill>
                  <a:srgbClr val="1F2937"/>
                </a:solidFill>
                <a:latin typeface="Calibri"/>
              </a:rPr>
              <a:t>Team 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32520" y="2377440"/>
            <a:ext cx="1463040" cy="502920"/>
          </a:xfrm>
          <a:prstGeom prst="roundRect">
            <a:avLst/>
          </a:prstGeom>
          <a:solidFill>
            <a:srgbClr val="F2F4F7"/>
          </a:solidFill>
          <a:ln w="12700">
            <a:solidFill>
              <a:srgbClr val="C9D1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100" b="0">
                <a:solidFill>
                  <a:srgbClr val="1F2937"/>
                </a:solidFill>
                <a:latin typeface="Calibri"/>
              </a:rPr>
              <a:t>Own gateway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32520" y="3017520"/>
            <a:ext cx="1463040" cy="685800"/>
          </a:xfrm>
          <a:prstGeom prst="roundRect">
            <a:avLst/>
          </a:prstGeom>
          <a:solidFill>
            <a:srgbClr val="FBEAE6"/>
          </a:solidFill>
          <a:ln w="12700">
            <a:solidFill>
              <a:srgbClr val="D99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100" b="0">
                <a:solidFill>
                  <a:srgbClr val="1F2937"/>
                </a:solidFill>
                <a:latin typeface="Calibri"/>
              </a:rPr>
              <a:t>Custom checks</a:t>
            </a:r>
          </a:p>
          <a:p>
            <a:pPr algn="ctr"/>
            <a:r>
              <a:rPr sz="900">
                <a:solidFill>
                  <a:srgbClr val="5B6572"/>
                </a:solidFill>
                <a:latin typeface="Calibri"/>
              </a:rPr>
              <a:t>(or none)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424160" y="1737360"/>
            <a:ext cx="146304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1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200" b="1">
                <a:solidFill>
                  <a:srgbClr val="1F2937"/>
                </a:solidFill>
                <a:latin typeface="Calibri"/>
              </a:rPr>
              <a:t>Team 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424160" y="2377440"/>
            <a:ext cx="1463040" cy="502920"/>
          </a:xfrm>
          <a:prstGeom prst="roundRect">
            <a:avLst/>
          </a:prstGeom>
          <a:solidFill>
            <a:srgbClr val="F2F4F7"/>
          </a:solidFill>
          <a:ln w="12700">
            <a:solidFill>
              <a:srgbClr val="C9D1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100" b="0">
                <a:solidFill>
                  <a:srgbClr val="1F2937"/>
                </a:solidFill>
                <a:latin typeface="Calibri"/>
              </a:rPr>
              <a:t>Own gateway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424160" y="3017520"/>
            <a:ext cx="1463040" cy="685800"/>
          </a:xfrm>
          <a:prstGeom prst="roundRect">
            <a:avLst/>
          </a:prstGeom>
          <a:solidFill>
            <a:srgbClr val="FBEAE6"/>
          </a:solidFill>
          <a:ln w="12700">
            <a:solidFill>
              <a:srgbClr val="D99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100" b="0">
                <a:solidFill>
                  <a:srgbClr val="1F2937"/>
                </a:solidFill>
                <a:latin typeface="Calibri"/>
              </a:rPr>
              <a:t>Custom checks</a:t>
            </a:r>
          </a:p>
          <a:p>
            <a:pPr algn="ctr"/>
            <a:r>
              <a:rPr sz="900">
                <a:solidFill>
                  <a:srgbClr val="5B6572"/>
                </a:solidFill>
                <a:latin typeface="Calibri"/>
              </a:rPr>
              <a:t>(or none)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4023360"/>
            <a:ext cx="46634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1">
                <a:solidFill>
                  <a:srgbClr val="5B6572"/>
                </a:solidFill>
                <a:latin typeface="Calibri"/>
              </a:rPr>
              <a:t>Same problem solved three times,</a:t>
            </a:r>
          </a:p>
          <a:p>
            <a:pPr algn="ctr"/>
            <a:r>
              <a:rPr sz="1300" b="0" i="1">
                <a:solidFill>
                  <a:srgbClr val="5B6572"/>
                </a:solidFill>
                <a:latin typeface="Calibri"/>
              </a:rPr>
              <a:t>three different answers to “is this safe?”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76072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2B3440"/>
                </a:solidFill>
                <a:latin typeface="Calibri"/>
              </a:rPr>
              <a:t>The organization cannot answer, with evidence: “are our AI workloads governed consistently?”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5B6572"/>
                </a:solidFill>
                <a:latin typeface="Calibri"/>
              </a:rPr>
              <a:t>AI Guardrails — project creation proposal · internal draft · placeholder styling pending brand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5B6572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0F766E"/>
                </a:solidFill>
                <a:latin typeface="Calibri"/>
              </a:rPr>
              <a:t>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2B3440"/>
                </a:solidFill>
                <a:latin typeface="Calibri"/>
              </a:rPr>
              <a:t>What the fragmentation costs us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137160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08760"/>
          <a:ext cx="1106424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8229600"/>
              </a:tblGrid>
              <a:tr h="6553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Dimension</a:t>
                      </a:r>
                    </a:p>
                  </a:txBody>
                  <a:tcPr>
                    <a:solidFill>
                      <a:srgbClr val="2B34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Consequence</a:t>
                      </a:r>
                    </a:p>
                  </a:txBody>
                  <a:tcPr>
                    <a:solidFill>
                      <a:srgbClr val="2B3440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2937"/>
                          </a:solidFill>
                          <a:latin typeface="Calibri"/>
                        </a:rPr>
                        <a:t>Governance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B6572"/>
                          </a:solidFill>
                          <a:latin typeface="Calibri"/>
                        </a:rPr>
                        <a:t>One policy cannot be applied — or proven — across teams.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2937"/>
                          </a:solidFill>
                          <a:latin typeface="Calibri"/>
                        </a:rPr>
                        <a:t>Engineering spend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B6572"/>
                          </a:solidFill>
                          <a:latin typeface="Calibri"/>
                        </a:rPr>
                        <a:t>The same detection work is paid for repeatedly, at different quality bars.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2937"/>
                          </a:solidFill>
                          <a:latin typeface="Calibri"/>
                        </a:rPr>
                        <a:t>Adoption risk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B6572"/>
                          </a:solidFill>
                          <a:latin typeface="Calibri"/>
                        </a:rPr>
                        <a:t>Unproven blocking checks get disabled — or never enabled at all.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2937"/>
                          </a:solidFill>
                          <a:latin typeface="Calibri"/>
                        </a:rPr>
                        <a:t>Compliance evidence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B6572"/>
                          </a:solidFill>
                          <a:latin typeface="Calibri"/>
                        </a:rPr>
                        <a:t>“Which policy version evaluated this request?” has no answer today.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2937"/>
                          </a:solidFill>
                          <a:latin typeface="Calibri"/>
                        </a:rPr>
                        <a:t>False assurance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5B6572"/>
                          </a:solidFill>
                          <a:latin typeface="Calibri"/>
                        </a:rPr>
                        <a:t>A passing bespoke check gets mistaken for complete AI security.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71500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5B6572"/>
                </a:solidFill>
                <a:latin typeface="Calibri"/>
              </a:rPr>
              <a:t>No dollar-figure estimate exists in the source material (TBD) — the case is qualitative, and we say so.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5B6572"/>
                </a:solidFill>
                <a:latin typeface="Calibri"/>
              </a:rPr>
              <a:t>AI Guardrails — project creation proposal · internal draft · placeholder styling pending brand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5B6572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0F766E"/>
                </a:solidFill>
                <a:latin typeface="Calibri"/>
              </a:rPr>
              <a:t>THE PROPOSAL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2B3440"/>
                </a:solidFill>
                <a:latin typeface="Calibri"/>
              </a:rPr>
              <a:t>Introducing AI Guardrails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137160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10642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0" i="0">
                <a:solidFill>
                  <a:srgbClr val="1F2937"/>
                </a:solidFill>
                <a:latin typeface="Calibri"/>
              </a:rPr>
              <a:t>A standalone policy and enforcement platform: define a guardrail policy once,</a:t>
            </a:r>
          </a:p>
          <a:p>
            <a:pPr algn="l">
              <a:lnSpc>
                <a:spcPct val="110000"/>
              </a:lnSpc>
            </a:pPr>
            <a:r>
              <a:rPr sz="2100" b="0" i="0">
                <a:solidFill>
                  <a:srgbClr val="1F2937"/>
                </a:solidFill>
                <a:latin typeface="Calibri"/>
              </a:rPr>
              <a:t>apply it to any workload, on any gateway, in the deployment mode each workload needs.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108960"/>
            <a:ext cx="11064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0F766E"/>
                </a:solidFill>
                <a:latin typeface="Calibri"/>
              </a:rPr>
              <a:t>▪  </a:t>
            </a:r>
            <a:r>
              <a:rPr sz="1500" b="1">
                <a:solidFill>
                  <a:srgbClr val="1F2937"/>
                </a:solidFill>
                <a:latin typeface="Calibri"/>
              </a:rPr>
              <a:t>Standalone platform</a:t>
            </a:r>
            <a:r>
              <a:rPr sz="1500">
                <a:solidFill>
                  <a:srgbClr val="5B6572"/>
                </a:solidFill>
                <a:latin typeface="Calibri"/>
              </a:rPr>
              <a:t> — not a feature inside any single team's LiteLLM instance.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F766E"/>
                </a:solidFill>
                <a:latin typeface="Calibri"/>
              </a:rPr>
              <a:t>▪  </a:t>
            </a:r>
            <a:r>
              <a:rPr sz="1500" b="1">
                <a:solidFill>
                  <a:srgbClr val="1F2937"/>
                </a:solidFill>
                <a:latin typeface="Calibri"/>
              </a:rPr>
              <a:t>Policy separated from plumbing</a:t>
            </a:r>
            <a:r>
              <a:rPr sz="1500">
                <a:solidFill>
                  <a:srgbClr val="5B6572"/>
                </a:solidFill>
                <a:latin typeface="Calibri"/>
              </a:rPr>
              <a:t> — the policy says “detect prompt injection and block it”; a thin connector wires it to each gateway.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F766E"/>
                </a:solidFill>
                <a:latin typeface="Calibri"/>
              </a:rPr>
              <a:t>▪  </a:t>
            </a:r>
            <a:r>
              <a:rPr sz="1500" b="1">
                <a:solidFill>
                  <a:srgbClr val="1F2937"/>
                </a:solidFill>
                <a:latin typeface="Calibri"/>
              </a:rPr>
              <a:t>First integrations</a:t>
            </a:r>
            <a:r>
              <a:rPr sz="1500">
                <a:solidFill>
                  <a:srgbClr val="5B6572"/>
                </a:solidFill>
                <a:latin typeface="Calibri"/>
              </a:rPr>
              <a:t> — LiteLLM (gateway connector) and Amazon Bedrock Guardrails (evaluation engine) — neither defines the product's boundary.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F766E"/>
                </a:solidFill>
                <a:latin typeface="Calibri"/>
              </a:rPr>
              <a:t>▪  </a:t>
            </a:r>
            <a:r>
              <a:rPr sz="1500" b="1">
                <a:solidFill>
                  <a:srgbClr val="1F2937"/>
                </a:solidFill>
                <a:latin typeface="Calibri"/>
              </a:rPr>
              <a:t>One contract everywhere</a:t>
            </a:r>
            <a:r>
              <a:rPr sz="1500">
                <a:solidFill>
                  <a:srgbClr val="5B6572"/>
                </a:solidFill>
                <a:latin typeface="Calibri"/>
              </a:rPr>
              <a:t> — same policy, same decisions, same audit metadata in every deployment mode.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5B6572"/>
                </a:solidFill>
                <a:latin typeface="Calibri"/>
              </a:rPr>
              <a:t>AI Guardrails — project creation proposal · internal draft · placeholder styling pending brand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5B6572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0F766E"/>
                </a:solidFill>
                <a:latin typeface="Calibri"/>
              </a:rPr>
              <a:t>JUST ENOUGH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2B3440"/>
                </a:solidFill>
                <a:latin typeface="Calibri"/>
              </a:rPr>
              <a:t>How it works, at a glance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137160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182880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1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Application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560320" y="2121408"/>
            <a:ext cx="502920" cy="146304"/>
          </a:xfrm>
          <a:prstGeom prst="rightArrow">
            <a:avLst/>
          </a:prstGeom>
          <a:solidFill>
            <a:srgbClr val="5B65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0">
                <a:solidFill>
                  <a:srgbClr val="1F2937"/>
                </a:solidFill>
                <a:latin typeface="Calibri"/>
              </a:rPr>
              <a:t/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54680" y="1828800"/>
            <a:ext cx="237744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1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Your gateway</a:t>
            </a:r>
          </a:p>
          <a:p>
            <a:pPr algn="ctr"/>
            <a:r>
              <a:rPr sz="1100">
                <a:solidFill>
                  <a:srgbClr val="5B6572"/>
                </a:solidFill>
                <a:latin typeface="Calibri"/>
              </a:rPr>
              <a:t>e.g. LiteLLM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623560" y="2121408"/>
            <a:ext cx="502920" cy="146304"/>
          </a:xfrm>
          <a:prstGeom prst="rightArrow">
            <a:avLst/>
          </a:prstGeom>
          <a:solidFill>
            <a:srgbClr val="5B65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0">
                <a:solidFill>
                  <a:srgbClr val="1F2937"/>
                </a:solidFill>
                <a:latin typeface="Calibri"/>
              </a:rPr>
              <a:t/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828800"/>
            <a:ext cx="201168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1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Model provider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88920" y="3566160"/>
            <a:ext cx="3108960" cy="914400"/>
          </a:xfrm>
          <a:prstGeom prst="roundRect">
            <a:avLst/>
          </a:prstGeom>
          <a:solidFill>
            <a:srgbClr val="E4F0EE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Guardrails runtime</a:t>
            </a:r>
          </a:p>
          <a:p>
            <a:pPr algn="ctr"/>
            <a:r>
              <a:rPr sz="1100">
                <a:solidFill>
                  <a:srgbClr val="5B6572"/>
                </a:solidFill>
                <a:latin typeface="Calibri"/>
              </a:rPr>
              <a:t>evaluates content against the bound policy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3566160" y="2606040"/>
            <a:ext cx="274320" cy="914400"/>
          </a:xfrm>
          <a:prstGeom prst="downArrow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0">
                <a:solidFill>
                  <a:srgbClr val="1F2937"/>
                </a:solidFill>
                <a:latin typeface="Calibri"/>
              </a:rPr>
              <a:t/>
            </a:r>
          </a:p>
        </p:txBody>
      </p:sp>
      <p:sp>
        <p:nvSpPr>
          <p:cNvPr id="12" name="Up Arrow 11"/>
          <p:cNvSpPr/>
          <p:nvPr/>
        </p:nvSpPr>
        <p:spPr>
          <a:xfrm>
            <a:off x="4892040" y="2606040"/>
            <a:ext cx="274320" cy="914400"/>
          </a:xfrm>
          <a:prstGeom prst="upArrow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0">
                <a:solidFill>
                  <a:srgbClr val="1F2937"/>
                </a:solidFill>
                <a:latin typeface="Calibr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2788920"/>
            <a:ext cx="2468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 i="0">
                <a:solidFill>
                  <a:srgbClr val="5B6572"/>
                </a:solidFill>
                <a:latin typeface="Calibri"/>
              </a:rPr>
              <a:t>1 · check the prompt</a:t>
            </a:r>
          </a:p>
          <a:p>
            <a:pPr algn="r"/>
            <a:r>
              <a:rPr sz="1100" b="0" i="0">
                <a:solidFill>
                  <a:srgbClr val="5B6572"/>
                </a:solidFill>
                <a:latin typeface="Calibri"/>
              </a:rPr>
              <a:t>before the model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57800" y="2788920"/>
            <a:ext cx="2651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B6572"/>
                </a:solidFill>
                <a:latin typeface="Calibri"/>
              </a:rPr>
              <a:t>2 · check the response</a:t>
            </a:r>
          </a:p>
          <a:p>
            <a:pPr algn="l"/>
            <a:r>
              <a:rPr sz="1100" b="0" i="0">
                <a:solidFill>
                  <a:srgbClr val="5B6572"/>
                </a:solidFill>
                <a:latin typeface="Calibri"/>
              </a:rPr>
              <a:t>before the user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75120" y="3566160"/>
            <a:ext cx="4846320" cy="914400"/>
          </a:xfrm>
          <a:prstGeom prst="roundRect">
            <a:avLst/>
          </a:prstGeom>
          <a:solidFill>
            <a:srgbClr val="F2F4F7"/>
          </a:solidFill>
          <a:ln w="12700">
            <a:solidFill>
              <a:srgbClr val="C9D1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1">
                <a:solidFill>
                  <a:srgbClr val="1F2937"/>
                </a:solidFill>
                <a:latin typeface="Calibri"/>
              </a:rPr>
              <a:t>Every check returns a decision</a:t>
            </a:r>
          </a:p>
          <a:p>
            <a:pPr algn="ctr"/>
            <a:r>
              <a:rPr sz="1100">
                <a:solidFill>
                  <a:srgbClr val="5B6572"/>
                </a:solidFill>
                <a:latin typeface="Calibri"/>
              </a:rPr>
              <a:t>allow · redact · block · log-only — with reason codes, policy version, audit record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989320" y="3950208"/>
            <a:ext cx="594360" cy="146304"/>
          </a:xfrm>
          <a:prstGeom prst="rightArrow">
            <a:avLst/>
          </a:prstGeom>
          <a:solidFill>
            <a:srgbClr val="5B65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0">
                <a:solidFill>
                  <a:srgbClr val="1F2937"/>
                </a:solidFill>
                <a:latin typeface="Calibri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89204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5B6572"/>
                </a:solidFill>
                <a:latin typeface="Calibri"/>
              </a:rPr>
              <a:t>Detection engines behind it: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91840" y="4800600"/>
            <a:ext cx="265176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1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100" b="1">
                <a:solidFill>
                  <a:srgbClr val="1F2937"/>
                </a:solidFill>
                <a:latin typeface="Calibri"/>
              </a:rPr>
              <a:t>Amazon Bedrock Guardrails</a:t>
            </a:r>
          </a:p>
          <a:p>
            <a:pPr algn="ctr"/>
            <a:r>
              <a:rPr sz="900">
                <a:solidFill>
                  <a:srgbClr val="5B6572"/>
                </a:solidFill>
                <a:latin typeface="Calibri"/>
              </a:rPr>
              <a:t>first managed engine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26480" y="4800600"/>
            <a:ext cx="265176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1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100" b="1">
                <a:solidFill>
                  <a:srgbClr val="1F2937"/>
                </a:solidFill>
                <a:latin typeface="Calibri"/>
              </a:rPr>
              <a:t>Organization rules</a:t>
            </a:r>
          </a:p>
          <a:p>
            <a:pPr algn="ctr"/>
            <a:r>
              <a:rPr sz="900">
                <a:solidFill>
                  <a:srgbClr val="5B6572"/>
                </a:solidFill>
                <a:latin typeface="Calibri"/>
              </a:rPr>
              <a:t>deterministic checks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61120" y="4800600"/>
            <a:ext cx="265176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1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100" b="1">
                <a:solidFill>
                  <a:srgbClr val="1F2937"/>
                </a:solidFill>
                <a:latin typeface="Calibri"/>
              </a:rPr>
              <a:t>Sensitive-data detection</a:t>
            </a:r>
          </a:p>
          <a:p>
            <a:pPr algn="ctr"/>
            <a:r>
              <a:rPr sz="900">
                <a:solidFill>
                  <a:srgbClr val="5B6572"/>
                </a:solidFill>
                <a:latin typeface="Calibri"/>
              </a:rPr>
              <a:t>basic PII handling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80644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B3440"/>
                </a:solidFill>
                <a:latin typeface="Calibri"/>
              </a:rPr>
              <a:t>Policies live in one central control plane; gateways only invoke and enforce them — they never redefine them.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5B6572"/>
                </a:solidFill>
                <a:latin typeface="Calibri"/>
              </a:rPr>
              <a:t>AI Guardrails — project creation proposal · internal draft · placeholder styling pending brand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5B6572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0F766E"/>
                </a:solidFill>
                <a:latin typeface="Calibri"/>
              </a:rPr>
              <a:t>ADOPTION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2B3440"/>
                </a:solidFill>
                <a:latin typeface="Calibri"/>
              </a:rPr>
              <a:t>How a team consumes it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137160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entagon 4"/>
          <p:cNvSpPr/>
          <p:nvPr/>
        </p:nvSpPr>
        <p:spPr>
          <a:xfrm>
            <a:off x="548640" y="1737360"/>
            <a:ext cx="1783080" cy="868680"/>
          </a:xfrm>
          <a:prstGeom prst="homePlate">
            <a:avLst/>
          </a:prstGeom>
          <a:solidFill>
            <a:srgbClr val="2B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Register</a:t>
            </a:r>
          </a:p>
          <a:p>
            <a:pPr algn="ctr"/>
            <a:r>
              <a:rPr sz="1200">
                <a:solidFill>
                  <a:srgbClr val="D5DDE4"/>
                </a:solidFill>
                <a:latin typeface="Calibri"/>
              </a:rPr>
              <a:t>workload</a:t>
            </a:r>
          </a:p>
        </p:txBody>
      </p:sp>
      <p:sp>
        <p:nvSpPr>
          <p:cNvPr id="6" name="Chevron 5"/>
          <p:cNvSpPr/>
          <p:nvPr/>
        </p:nvSpPr>
        <p:spPr>
          <a:xfrm>
            <a:off x="2121408" y="1737360"/>
            <a:ext cx="1783080" cy="868680"/>
          </a:xfrm>
          <a:prstGeom prst="chevron">
            <a:avLst/>
          </a:prstGeom>
          <a:solidFill>
            <a:srgbClr val="2B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Select</a:t>
            </a:r>
          </a:p>
          <a:p>
            <a:pPr algn="ctr"/>
            <a:r>
              <a:rPr sz="1200">
                <a:solidFill>
                  <a:srgbClr val="D5DDE4"/>
                </a:solidFill>
                <a:latin typeface="Calibri"/>
              </a:rPr>
              <a:t>policy</a:t>
            </a:r>
          </a:p>
        </p:txBody>
      </p:sp>
      <p:sp>
        <p:nvSpPr>
          <p:cNvPr id="7" name="Chevron 6"/>
          <p:cNvSpPr/>
          <p:nvPr/>
        </p:nvSpPr>
        <p:spPr>
          <a:xfrm>
            <a:off x="3694176" y="1737360"/>
            <a:ext cx="1783080" cy="868680"/>
          </a:xfrm>
          <a:prstGeom prst="chevron">
            <a:avLst/>
          </a:prstGeom>
          <a:solidFill>
            <a:srgbClr val="2B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Install</a:t>
            </a:r>
          </a:p>
          <a:p>
            <a:pPr algn="ctr"/>
            <a:r>
              <a:rPr sz="1200">
                <a:solidFill>
                  <a:srgbClr val="D5DDE4"/>
                </a:solidFill>
                <a:latin typeface="Calibri"/>
              </a:rPr>
              <a:t>connector</a:t>
            </a:r>
          </a:p>
        </p:txBody>
      </p:sp>
      <p:sp>
        <p:nvSpPr>
          <p:cNvPr id="8" name="Chevron 7"/>
          <p:cNvSpPr/>
          <p:nvPr/>
        </p:nvSpPr>
        <p:spPr>
          <a:xfrm>
            <a:off x="5266944" y="1737360"/>
            <a:ext cx="1783080" cy="868680"/>
          </a:xfrm>
          <a:prstGeom prst="chevron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Observe</a:t>
            </a:r>
          </a:p>
          <a:p>
            <a:pPr algn="ctr"/>
            <a:r>
              <a:rPr sz="1200">
                <a:solidFill>
                  <a:srgbClr val="D5DDE4"/>
                </a:solidFill>
                <a:latin typeface="Calibri"/>
              </a:rPr>
              <a:t>real traffic</a:t>
            </a:r>
          </a:p>
        </p:txBody>
      </p:sp>
      <p:sp>
        <p:nvSpPr>
          <p:cNvPr id="9" name="Chevron 8"/>
          <p:cNvSpPr/>
          <p:nvPr/>
        </p:nvSpPr>
        <p:spPr>
          <a:xfrm>
            <a:off x="6839712" y="1737360"/>
            <a:ext cx="1783080" cy="868680"/>
          </a:xfrm>
          <a:prstGeom prst="chevron">
            <a:avLst/>
          </a:prstGeom>
          <a:solidFill>
            <a:srgbClr val="2B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Review</a:t>
            </a:r>
          </a:p>
          <a:p>
            <a:pPr algn="ctr"/>
            <a:r>
              <a:rPr sz="1200">
                <a:solidFill>
                  <a:srgbClr val="D5DDE4"/>
                </a:solidFill>
                <a:latin typeface="Calibri"/>
              </a:rPr>
              <a:t>evidence</a:t>
            </a:r>
          </a:p>
        </p:txBody>
      </p:sp>
      <p:sp>
        <p:nvSpPr>
          <p:cNvPr id="10" name="Chevron 9"/>
          <p:cNvSpPr/>
          <p:nvPr/>
        </p:nvSpPr>
        <p:spPr>
          <a:xfrm>
            <a:off x="8412480" y="1737360"/>
            <a:ext cx="1783080" cy="868680"/>
          </a:xfrm>
          <a:prstGeom prst="chevron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Enforce</a:t>
            </a:r>
          </a:p>
          <a:p>
            <a:pPr algn="ctr"/>
            <a:r>
              <a:rPr sz="1200">
                <a:solidFill>
                  <a:srgbClr val="D5DDE4"/>
                </a:solidFill>
                <a:latin typeface="Calibri"/>
              </a:rPr>
              <a:t>when proven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108960"/>
            <a:ext cx="11064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0F766E"/>
                </a:solidFill>
                <a:latin typeface="Calibri"/>
              </a:rPr>
              <a:t>▪  </a:t>
            </a:r>
            <a:r>
              <a:rPr sz="1500" b="1">
                <a:solidFill>
                  <a:srgbClr val="1F2937"/>
                </a:solidFill>
                <a:latin typeface="Calibri"/>
              </a:rPr>
              <a:t>Minimal application change</a:t>
            </a:r>
            <a:r>
              <a:rPr sz="1500">
                <a:solidFill>
                  <a:srgbClr val="5B6572"/>
                </a:solidFill>
                <a:latin typeface="Calibri"/>
              </a:rPr>
              <a:t> — the connector sits at the gateway layer, not inside application code.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F766E"/>
                </a:solidFill>
                <a:latin typeface="Calibri"/>
              </a:rPr>
              <a:t>▪  </a:t>
            </a:r>
            <a:r>
              <a:rPr sz="1500" b="1">
                <a:solidFill>
                  <a:srgbClr val="1F2937"/>
                </a:solidFill>
                <a:latin typeface="Calibri"/>
              </a:rPr>
              <a:t>Your credentials stay yours</a:t>
            </a:r>
            <a:r>
              <a:rPr sz="1500">
                <a:solidFill>
                  <a:srgbClr val="5B6572"/>
                </a:solidFill>
                <a:latin typeface="Calibri"/>
              </a:rPr>
              <a:t> — onboarding never transfers model-provider credentials or gateway admin access to the platform.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F766E"/>
                </a:solidFill>
                <a:latin typeface="Calibri"/>
              </a:rPr>
              <a:t>▪  </a:t>
            </a:r>
            <a:r>
              <a:rPr sz="1500" b="1">
                <a:solidFill>
                  <a:srgbClr val="1F2937"/>
                </a:solidFill>
                <a:latin typeface="Calibri"/>
              </a:rPr>
              <a:t>No gateway takeover</a:t>
            </a:r>
            <a:r>
              <a:rPr sz="1500">
                <a:solidFill>
                  <a:srgbClr val="5B6572"/>
                </a:solidFill>
                <a:latin typeface="Calibri"/>
              </a:rPr>
              <a:t> — “importing” a policy never means cloning or remotely controlling a team's LiteLLM.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F766E"/>
                </a:solidFill>
                <a:latin typeface="Calibri"/>
              </a:rPr>
              <a:t>▪  </a:t>
            </a:r>
            <a:r>
              <a:rPr sz="1500" b="1">
                <a:solidFill>
                  <a:srgbClr val="1F2937"/>
                </a:solidFill>
                <a:latin typeface="Calibri"/>
              </a:rPr>
              <a:t>Non-LiteLLM consumers</a:t>
            </a:r>
            <a:r>
              <a:rPr sz="1500">
                <a:solidFill>
                  <a:srgbClr val="5B6572"/>
                </a:solidFill>
                <a:latin typeface="Calibri"/>
              </a:rPr>
              <a:t> — any app or gateway can call the same evaluation service over plain HTTP.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76072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2B3440"/>
                </a:solidFill>
                <a:latin typeface="Calibri"/>
              </a:rPr>
              <a:t>Adopting a policy is a configuration exercise, not an integration project.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5B6572"/>
                </a:solidFill>
                <a:latin typeface="Calibri"/>
              </a:rPr>
              <a:t>AI Guardrails — project creation proposal · internal draft · placeholder styling pending brand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5B6572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0F766E"/>
                </a:solidFill>
                <a:latin typeface="Calibri"/>
              </a:rPr>
              <a:t>DEPLOYMENT MODES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2B3440"/>
                </a:solidFill>
                <a:latin typeface="Calibri"/>
              </a:rPr>
              <a:t>Three ways to adopt — chosen per workload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137160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3611880" cy="640080"/>
          </a:xfrm>
          <a:prstGeom prst="roundRect">
            <a:avLst/>
          </a:prstGeom>
          <a:solidFill>
            <a:srgbClr val="3D7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Mode A — Remote Evaluation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31720"/>
            <a:ext cx="36118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1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 bIns="38100"/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/>
            </a:r>
            <a:r>
              <a:rPr sz="1200" b="1">
                <a:solidFill>
                  <a:srgbClr val="1F2937"/>
                </a:solidFill>
                <a:latin typeface="Calibri"/>
              </a:rPr>
              <a:t>What it is: </a:t>
            </a:r>
            <a:r>
              <a:rPr sz="1200">
                <a:solidFill>
                  <a:srgbClr val="5B6572"/>
                </a:solidFill>
                <a:latin typeface="Calibri"/>
              </a:rPr>
              <a:t>You keep your gateway; the platform hosts the evaluation service.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F2937"/>
                </a:solidFill>
                <a:latin typeface="Calibri"/>
              </a:rPr>
              <a:t>Best fit: </a:t>
            </a:r>
            <a:r>
              <a:rPr sz="1200">
                <a:solidFill>
                  <a:srgbClr val="5B6572"/>
                </a:solidFill>
                <a:latin typeface="Calibri"/>
              </a:rPr>
              <a:t>Teams that already run a gateway.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754880"/>
            <a:ext cx="3611880" cy="914400"/>
          </a:xfrm>
          <a:prstGeom prst="roundRect">
            <a:avLst/>
          </a:prstGeom>
          <a:solidFill>
            <a:srgbClr val="F2F4F7"/>
          </a:solidFill>
          <a:ln w="12700">
            <a:solidFill>
              <a:srgbClr val="C9D1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100" b="0">
                <a:solidFill>
                  <a:srgbClr val="2B3440"/>
                </a:solidFill>
                <a:latin typeface="Calibri"/>
              </a:rPr>
              <a:t>Content IS sent to the hosted service — not a data-local option.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62272" y="1554480"/>
            <a:ext cx="3611880" cy="640080"/>
          </a:xfrm>
          <a:prstGeom prst="roundRect">
            <a:avLst/>
          </a:prstGeom>
          <a:solidFill>
            <a:srgbClr val="C99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Mode B — Guarded Gateway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62272" y="2331720"/>
            <a:ext cx="36118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1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 bIns="38100"/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/>
            </a:r>
            <a:r>
              <a:rPr sz="1200" b="1">
                <a:solidFill>
                  <a:srgbClr val="1F2937"/>
                </a:solidFill>
                <a:latin typeface="Calibri"/>
              </a:rPr>
              <a:t>What it is: </a:t>
            </a:r>
            <a:r>
              <a:rPr sz="1200">
                <a:solidFill>
                  <a:srgbClr val="5B6572"/>
                </a:solidFill>
                <a:latin typeface="Calibri"/>
              </a:rPr>
              <a:t>Fully managed gateway with guardrails and model routing built in.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F2937"/>
                </a:solidFill>
                <a:latin typeface="Calibri"/>
              </a:rPr>
              <a:t>Best fit: </a:t>
            </a:r>
            <a:r>
              <a:rPr sz="1200">
                <a:solidFill>
                  <a:srgbClr val="5B6572"/>
                </a:solidFill>
                <a:latin typeface="Calibri"/>
              </a:rPr>
              <a:t>Teams without their own gateway.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62272" y="4754880"/>
            <a:ext cx="3611880" cy="914400"/>
          </a:xfrm>
          <a:prstGeom prst="roundRect">
            <a:avLst/>
          </a:prstGeom>
          <a:solidFill>
            <a:srgbClr val="F2F4F7"/>
          </a:solidFill>
          <a:ln w="12700">
            <a:solidFill>
              <a:srgbClr val="C9D1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100" b="0">
                <a:solidFill>
                  <a:srgbClr val="2B3440"/>
                </a:solidFill>
                <a:latin typeface="Calibri"/>
              </a:rPr>
              <a:t>Delivered in a later phase — not part of today's ask.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75904" y="1554480"/>
            <a:ext cx="3611880" cy="640080"/>
          </a:xfrm>
          <a:prstGeom prst="roundRect">
            <a:avLst/>
          </a:prstGeom>
          <a:solidFill>
            <a:srgbClr val="278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Mode C — Customer-Managed Runtime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75904" y="2331720"/>
            <a:ext cx="36118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1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 bIns="38100"/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/>
            </a:r>
            <a:r>
              <a:rPr sz="1200" b="1">
                <a:solidFill>
                  <a:srgbClr val="1F2937"/>
                </a:solidFill>
                <a:latin typeface="Calibri"/>
              </a:rPr>
              <a:t>What it is: </a:t>
            </a:r>
            <a:r>
              <a:rPr sz="1200">
                <a:solidFill>
                  <a:srgbClr val="5B6572"/>
                </a:solidFill>
                <a:latin typeface="Calibri"/>
              </a:rPr>
              <a:t>Same runtime deployed inside your own AWS account.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F2937"/>
                </a:solidFill>
                <a:latin typeface="Calibri"/>
              </a:rPr>
              <a:t>Best fit: </a:t>
            </a:r>
            <a:r>
              <a:rPr sz="1200">
                <a:solidFill>
                  <a:srgbClr val="5B6572"/>
                </a:solidFill>
                <a:latin typeface="Calibri"/>
              </a:rPr>
              <a:t>Regulated / data-residency workloads.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75904" y="4754880"/>
            <a:ext cx="3611880" cy="914400"/>
          </a:xfrm>
          <a:prstGeom prst="roundRect">
            <a:avLst/>
          </a:prstGeom>
          <a:solidFill>
            <a:srgbClr val="F2F4F7"/>
          </a:solidFill>
          <a:ln w="12700">
            <a:solidFill>
              <a:srgbClr val="C9D1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100" b="0">
                <a:solidFill>
                  <a:srgbClr val="2B3440"/>
                </a:solidFill>
                <a:latin typeface="Calibri"/>
              </a:rPr>
              <a:t>Raw content stays in your account by default. Later phase.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2B3440"/>
                </a:solidFill>
                <a:latin typeface="Calibri"/>
              </a:rPr>
              <a:t>One policy definition works in all three. Phase 1 exercises Mode A only.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5B6572"/>
                </a:solidFill>
                <a:latin typeface="Calibri"/>
              </a:rPr>
              <a:t>AI Guardrails — project creation proposal · internal draft · placeholder styling pending brand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5B6572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0F766E"/>
                </a:solidFill>
                <a:latin typeface="Calibri"/>
              </a:rPr>
              <a:t>ADOPTION RISK, REMOVED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2B3440"/>
                </a:solidFill>
                <a:latin typeface="Calibri"/>
              </a:rPr>
              <a:t>Safe by design: observe before enforce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137160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entagon 4"/>
          <p:cNvSpPr/>
          <p:nvPr/>
        </p:nvSpPr>
        <p:spPr>
          <a:xfrm>
            <a:off x="640080" y="1920240"/>
            <a:ext cx="2377440" cy="960120"/>
          </a:xfrm>
          <a:prstGeom prst="homePlate">
            <a:avLst/>
          </a:prstGeom>
          <a:solidFill>
            <a:srgbClr val="8A94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Disabled</a:t>
            </a:r>
          </a:p>
        </p:txBody>
      </p:sp>
      <p:sp>
        <p:nvSpPr>
          <p:cNvPr id="6" name="Chevron 5"/>
          <p:cNvSpPr/>
          <p:nvPr/>
        </p:nvSpPr>
        <p:spPr>
          <a:xfrm>
            <a:off x="2816352" y="1920240"/>
            <a:ext cx="2377440" cy="960120"/>
          </a:xfrm>
          <a:prstGeom prst="chevron">
            <a:avLst/>
          </a:prstGeom>
          <a:solidFill>
            <a:srgbClr val="3D7D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Observe</a:t>
            </a:r>
          </a:p>
        </p:txBody>
      </p:sp>
      <p:sp>
        <p:nvSpPr>
          <p:cNvPr id="7" name="Chevron 6"/>
          <p:cNvSpPr/>
          <p:nvPr/>
        </p:nvSpPr>
        <p:spPr>
          <a:xfrm>
            <a:off x="4992624" y="1920240"/>
            <a:ext cx="2377440" cy="960120"/>
          </a:xfrm>
          <a:prstGeom prst="chevron">
            <a:avLst/>
          </a:prstGeom>
          <a:solidFill>
            <a:srgbClr val="C99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Warn</a:t>
            </a:r>
          </a:p>
        </p:txBody>
      </p:sp>
      <p:sp>
        <p:nvSpPr>
          <p:cNvPr id="8" name="Chevron 7"/>
          <p:cNvSpPr/>
          <p:nvPr/>
        </p:nvSpPr>
        <p:spPr>
          <a:xfrm>
            <a:off x="7168896" y="1920240"/>
            <a:ext cx="2377440" cy="960120"/>
          </a:xfrm>
          <a:prstGeom prst="chevron">
            <a:avLst/>
          </a:prstGeom>
          <a:solidFill>
            <a:srgbClr val="B06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Redact</a:t>
            </a:r>
          </a:p>
        </p:txBody>
      </p:sp>
      <p:sp>
        <p:nvSpPr>
          <p:cNvPr id="9" name="Chevron 8"/>
          <p:cNvSpPr/>
          <p:nvPr/>
        </p:nvSpPr>
        <p:spPr>
          <a:xfrm>
            <a:off x="9345168" y="1920240"/>
            <a:ext cx="2377440" cy="960120"/>
          </a:xfrm>
          <a:prstGeom prst="chevron">
            <a:avLst/>
          </a:prstGeom>
          <a:solidFill>
            <a:srgbClr val="B3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Block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4600" y="306324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>
                <a:solidFill>
                  <a:srgbClr val="0F766E"/>
                </a:solidFill>
                <a:latin typeface="Calibri"/>
              </a:rPr>
              <a:t>every new workload starts here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794760"/>
            <a:ext cx="110642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0F766E"/>
                </a:solidFill>
                <a:latin typeface="Calibri"/>
              </a:rPr>
              <a:t>▪  </a:t>
            </a:r>
            <a:r>
              <a:rPr sz="1500" b="1">
                <a:solidFill>
                  <a:srgbClr val="1F2937"/>
                </a:solidFill>
                <a:latin typeface="Calibri"/>
              </a:rPr>
              <a:t>Nothing blocks on day one</a:t>
            </a:r>
            <a:r>
              <a:rPr sz="1500">
                <a:solidFill>
                  <a:srgbClr val="5B6572"/>
                </a:solidFill>
                <a:latin typeface="Calibri"/>
              </a:rPr>
              <a:t> — a new policy binding defaults to Observe — findings are recorded, traffic is untouched.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F766E"/>
                </a:solidFill>
                <a:latin typeface="Calibri"/>
              </a:rPr>
              <a:t>▪  </a:t>
            </a:r>
            <a:r>
              <a:rPr sz="1500" b="1">
                <a:solidFill>
                  <a:srgbClr val="1F2937"/>
                </a:solidFill>
                <a:latin typeface="Calibri"/>
              </a:rPr>
              <a:t>Decide on evidence</a:t>
            </a:r>
            <a:r>
              <a:rPr sz="1500">
                <a:solidFill>
                  <a:srgbClr val="5B6572"/>
                </a:solidFill>
                <a:latin typeface="Calibri"/>
              </a:rPr>
              <a:t> — teams measure false positives, latency and business impact on real traffic first.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0F766E"/>
                </a:solidFill>
                <a:latin typeface="Calibri"/>
              </a:rPr>
              <a:t>▪  </a:t>
            </a:r>
            <a:r>
              <a:rPr sz="1500" b="1">
                <a:solidFill>
                  <a:srgbClr val="1F2937"/>
                </a:solidFill>
                <a:latin typeface="Calibri"/>
              </a:rPr>
              <a:t>Promotion is explicit</a:t>
            </a:r>
            <a:r>
              <a:rPr sz="1500">
                <a:solidFill>
                  <a:srgbClr val="5B6572"/>
                </a:solidFill>
                <a:latin typeface="Calibri"/>
              </a:rPr>
              <a:t> — moving to Warn, Redact or Block is a deliberate, auditable action — never a side effect.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80644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2B3440"/>
                </a:solidFill>
                <a:latin typeface="Calibri"/>
              </a:rPr>
              <a:t>No team is asked to accept unproven blocking behavior in production.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5B6572"/>
                </a:solidFill>
                <a:latin typeface="Calibri"/>
              </a:rPr>
              <a:t>AI Guardrails — project creation proposal · internal draft · placeholder styling pending brand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5B6572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0F766E"/>
                </a:solidFill>
                <a:latin typeface="Calibri"/>
              </a:rPr>
              <a:t>HONEST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2B3440"/>
                </a:solidFill>
                <a:latin typeface="Calibri"/>
              </a:rPr>
              <a:t>What this is — and what it is not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137160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394960" cy="54864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It 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860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>
                <a:solidFill>
                  <a:srgbClr val="0F766E"/>
                </a:solidFill>
                <a:latin typeface="Calibri"/>
              </a:rPr>
              <a:t>▪  </a:t>
            </a:r>
            <a:r>
              <a:rPr sz="1400" b="1">
                <a:solidFill>
                  <a:srgbClr val="1F2937"/>
                </a:solidFill>
                <a:latin typeface="Calibri"/>
              </a:rPr>
              <a:t>Content evaluation</a:t>
            </a:r>
            <a:r>
              <a:rPr sz="1400">
                <a:solidFill>
                  <a:srgbClr val="5B6572"/>
                </a:solidFill>
                <a:latin typeface="Calibri"/>
              </a:rPr>
              <a:t> — of prompts and responses, against a versioned policy.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0F766E"/>
                </a:solidFill>
                <a:latin typeface="Calibri"/>
              </a:rPr>
              <a:t>▪  </a:t>
            </a:r>
            <a:r>
              <a:rPr sz="1400" b="1">
                <a:solidFill>
                  <a:srgbClr val="1F2937"/>
                </a:solidFill>
                <a:latin typeface="Calibri"/>
              </a:rPr>
              <a:t>Consistent enforcement</a:t>
            </a:r>
            <a:r>
              <a:rPr sz="1400">
                <a:solidFill>
                  <a:srgbClr val="5B6572"/>
                </a:solidFill>
                <a:latin typeface="Calibri"/>
              </a:rPr>
              <a:t> — same decisions and reason codes on every gateway.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0F766E"/>
                </a:solidFill>
                <a:latin typeface="Calibri"/>
              </a:rPr>
              <a:t>▪  </a:t>
            </a:r>
            <a:r>
              <a:rPr sz="1400" b="1">
                <a:solidFill>
                  <a:srgbClr val="1F2937"/>
                </a:solidFill>
                <a:latin typeface="Calibri"/>
              </a:rPr>
              <a:t>Audit evidence</a:t>
            </a:r>
            <a:r>
              <a:rPr sz="1400">
                <a:solidFill>
                  <a:srgbClr val="5B6572"/>
                </a:solidFill>
                <a:latin typeface="Calibri"/>
              </a:rPr>
              <a:t> — who was evaluated, by which policy version, with what result.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394960" cy="548640"/>
          </a:xfrm>
          <a:prstGeom prst="roundRect">
            <a:avLst/>
          </a:prstGeom>
          <a:solidFill>
            <a:srgbClr val="2B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It is not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2286000"/>
            <a:ext cx="52120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>
                <a:solidFill>
                  <a:srgbClr val="0F766E"/>
                </a:solidFill>
                <a:latin typeface="Calibri"/>
              </a:rPr>
              <a:t>▪  </a:t>
            </a:r>
            <a:r>
              <a:rPr sz="1400" b="1">
                <a:solidFill>
                  <a:srgbClr val="1F2937"/>
                </a:solidFill>
                <a:latin typeface="Calibri"/>
              </a:rPr>
              <a:t>Not authorization</a:t>
            </a:r>
            <a:r>
              <a:rPr sz="1400">
                <a:solidFill>
                  <a:srgbClr val="5B6572"/>
                </a:solidFill>
                <a:latin typeface="Calibri"/>
              </a:rPr>
              <a:t> — “content looks safe” never means “this user may do this” — that stays with your application.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0F766E"/>
                </a:solidFill>
                <a:latin typeface="Calibri"/>
              </a:rPr>
              <a:t>▪  </a:t>
            </a:r>
            <a:r>
              <a:rPr sz="1400" b="1">
                <a:solidFill>
                  <a:srgbClr val="1F2937"/>
                </a:solidFill>
                <a:latin typeface="Calibri"/>
              </a:rPr>
              <a:t>Not bypass-proof (yet)</a:t>
            </a:r>
            <a:r>
              <a:rPr sz="1400">
                <a:solidFill>
                  <a:srgbClr val="5B6572"/>
                </a:solidFill>
                <a:latin typeface="Calibri"/>
              </a:rPr>
              <a:t> — a cooperatively installed connector can be removed; stronger enforcement postures come later, by design.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0F766E"/>
                </a:solidFill>
                <a:latin typeface="Calibri"/>
              </a:rPr>
              <a:t>▪  </a:t>
            </a:r>
            <a:r>
              <a:rPr sz="1400" b="1">
                <a:solidFill>
                  <a:srgbClr val="1F2937"/>
                </a:solidFill>
                <a:latin typeface="Calibri"/>
              </a:rPr>
              <a:t>Not a complete AI-security platform</a:t>
            </a:r>
            <a:r>
              <a:rPr sz="1400">
                <a:solidFill>
                  <a:srgbClr val="5B6572"/>
                </a:solidFill>
                <a:latin typeface="Calibri"/>
              </a:rPr>
              <a:t> — not full governance, not DLP, not compliance certification.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2B3440"/>
                </a:solidFill>
                <a:latin typeface="Calibri"/>
              </a:rPr>
              <a:t>We state the limits plainly — that is why you can trust what it does claim.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5B6572"/>
                </a:solidFill>
                <a:latin typeface="Calibri"/>
              </a:rPr>
              <a:t>AI Guardrails — project creation proposal · internal draft · placeholder styling pending brand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5B6572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0F766E"/>
                </a:solidFill>
                <a:latin typeface="Calibri"/>
              </a:rP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2B3440"/>
                </a:solidFill>
                <a:latin typeface="Calibri"/>
              </a:rPr>
              <a:t>The path we propose — one phase at a time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137160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4114800" cy="3108960"/>
          </a:xfrm>
          <a:prstGeom prst="roundRect">
            <a:avLst/>
          </a:prstGeom>
          <a:solidFill>
            <a:srgbClr val="E4F0EE"/>
          </a:solidFill>
          <a:ln w="3175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52400" rIns="76200" tIns="127000" bIns="38100"/>
          <a:lstStyle/>
          <a:p>
            <a:pPr algn="ctr"/>
            <a:r>
              <a:rPr sz="1300" b="0">
                <a:solidFill>
                  <a:srgbClr val="1F2937"/>
                </a:solidFill>
                <a:latin typeface="Calibri"/>
              </a:rPr>
              <a:t/>
            </a:r>
            <a:r>
              <a:rPr sz="1300" b="1">
                <a:solidFill>
                  <a:srgbClr val="0F766E"/>
                </a:solidFill>
                <a:latin typeface="Calibri"/>
              </a:rPr>
              <a:t>PHASE 1 — TODAY'S ASK</a:t>
            </a:r>
          </a:p>
          <a:p>
            <a:r>
              <a:rPr sz="2200" b="1">
                <a:solidFill>
                  <a:srgbClr val="2B3440"/>
                </a:solidFill>
                <a:latin typeface="Calibri"/>
              </a:rPr>
              <a:t>Integration Proof</a:t>
            </a:r>
          </a:p>
          <a:p>
            <a:r>
              <a:rPr sz="600" b="0">
                <a:solidFill>
                  <a:srgbClr val="5B6572"/>
                </a:solidFill>
                <a:latin typeface="Calibri"/>
              </a:rPr>
              <a:t/>
            </a:r>
          </a:p>
          <a:p>
            <a:r>
              <a:rPr sz="1400" b="0">
                <a:solidFill>
                  <a:srgbClr val="1F2937"/>
                </a:solidFill>
                <a:latin typeface="Calibri"/>
              </a:rPr>
              <a:t>Prove one reusable policy works across two independent LiteLLM deployments.</a:t>
            </a:r>
          </a:p>
          <a:p>
            <a:r>
              <a:rPr sz="600" b="0">
                <a:solidFill>
                  <a:srgbClr val="5B6572"/>
                </a:solidFill>
                <a:latin typeface="Calibri"/>
              </a:rPr>
              <a:t/>
            </a:r>
          </a:p>
          <a:p>
            <a:r>
              <a:rPr sz="1500" b="1">
                <a:solidFill>
                  <a:srgbClr val="0F766E"/>
                </a:solidFill>
                <a:latin typeface="Calibri"/>
              </a:rPr>
              <a:t>5 weeks · one engineer + AI models</a:t>
            </a:r>
          </a:p>
          <a:p>
            <a:r>
              <a:rPr sz="1300" b="0">
                <a:solidFill>
                  <a:srgbClr val="5B6572"/>
                </a:solidFill>
                <a:latin typeface="Calibri"/>
              </a:rPr>
              <a:t>Small, reversible, falsifiable.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0" y="1600200"/>
            <a:ext cx="6583680" cy="658368"/>
          </a:xfrm>
          <a:prstGeom prst="roundRect">
            <a:avLst/>
          </a:prstGeom>
          <a:solidFill>
            <a:srgbClr val="F2F4F7"/>
          </a:solidFill>
          <a:ln w="12700">
            <a:solidFill>
              <a:srgbClr val="C9D1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200" b="0">
                <a:solidFill>
                  <a:srgbClr val="1F2937"/>
                </a:solidFill>
                <a:latin typeface="Calibri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0" y="1673352"/>
            <a:ext cx="6309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5B6572"/>
                </a:solidFill>
                <a:latin typeface="Calibri"/>
              </a:rPr>
              <a:t>Phase 2 — Internal multi-team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0" y="1929384"/>
            <a:ext cx="6309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B6572"/>
                </a:solidFill>
                <a:latin typeface="Calibri"/>
              </a:rPr>
              <a:t>more teams onboard; completes the MVP demonstration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2404872"/>
            <a:ext cx="6583680" cy="658368"/>
          </a:xfrm>
          <a:prstGeom prst="roundRect">
            <a:avLst/>
          </a:prstGeom>
          <a:solidFill>
            <a:srgbClr val="F2F4F7"/>
          </a:solidFill>
          <a:ln w="12700">
            <a:solidFill>
              <a:srgbClr val="C9D1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200" b="0">
                <a:solidFill>
                  <a:srgbClr val="1F2937"/>
                </a:solidFill>
                <a:latin typeface="Calibr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2478024"/>
            <a:ext cx="6309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5B6572"/>
                </a:solidFill>
                <a:latin typeface="Calibri"/>
              </a:rPr>
              <a:t>Phase 3 — Guarded Gateway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2734056"/>
            <a:ext cx="6309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B6572"/>
                </a:solidFill>
                <a:latin typeface="Calibri"/>
              </a:rPr>
              <a:t>fully managed gateway (Mode B)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0" y="3209544"/>
            <a:ext cx="6583680" cy="658368"/>
          </a:xfrm>
          <a:prstGeom prst="roundRect">
            <a:avLst/>
          </a:prstGeom>
          <a:solidFill>
            <a:srgbClr val="F2F4F7"/>
          </a:solidFill>
          <a:ln w="12700">
            <a:solidFill>
              <a:srgbClr val="C9D1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200" b="0">
                <a:solidFill>
                  <a:srgbClr val="1F2937"/>
                </a:solidFill>
                <a:latin typeface="Calibr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3282696"/>
            <a:ext cx="6309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5B6572"/>
                </a:solidFill>
                <a:latin typeface="Calibri"/>
              </a:rPr>
              <a:t>Phase 4 — Customer-Managed Runtime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3538728"/>
            <a:ext cx="6309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B6572"/>
                </a:solidFill>
                <a:latin typeface="Calibri"/>
              </a:rPr>
              <a:t>runtime in the customer's AWS account (Mode C)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14216"/>
            <a:ext cx="6583680" cy="658368"/>
          </a:xfrm>
          <a:prstGeom prst="roundRect">
            <a:avLst/>
          </a:prstGeom>
          <a:solidFill>
            <a:srgbClr val="F2F4F7"/>
          </a:solidFill>
          <a:ln w="12700">
            <a:solidFill>
              <a:srgbClr val="C9D1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200" b="0">
                <a:solidFill>
                  <a:srgbClr val="1F2937"/>
                </a:solidFill>
                <a:latin typeface="Calibri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4087368"/>
            <a:ext cx="6309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5B6572"/>
                </a:solidFill>
                <a:latin typeface="Calibri"/>
              </a:rPr>
              <a:t>Phase 5 — Advanced agent protection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4343400"/>
            <a:ext cx="63093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5B6572"/>
                </a:solidFill>
                <a:latin typeface="Calibri"/>
              </a:rPr>
              <a:t>tool calls, retrieval, agent workflows — separate expansion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4892040"/>
            <a:ext cx="6583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5B6572"/>
                </a:solidFill>
                <a:latin typeface="Calibri"/>
              </a:rPr>
              <a:t>Phases 2–5: separately gated decisions — each funded only after the previous phase proves out. No dates implied.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76072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2B3440"/>
                </a:solidFill>
                <a:latin typeface="Calibri"/>
              </a:rPr>
              <a:t>Approving Phase 1 commits you to nothing beyond Phase 1.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5B6572"/>
                </a:solidFill>
                <a:latin typeface="Calibri"/>
              </a:rPr>
              <a:t>AI Guardrails — project creation proposal · internal draft · placeholder styling pending brand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5B6572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0F766E"/>
                </a:solidFill>
                <a:latin typeface="Calibri"/>
              </a:rPr>
              <a:t>EXECUTION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2B3440"/>
                </a:solidFill>
                <a:latin typeface="Calibri"/>
              </a:rPr>
              <a:t>Phase 1 in five weeks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137160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508760"/>
          <a:ext cx="1106424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3017520"/>
                <a:gridCol w="7040880"/>
              </a:tblGrid>
              <a:tr h="6858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2B34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Focus</a:t>
                      </a:r>
                    </a:p>
                  </a:txBody>
                  <a:tcPr>
                    <a:solidFill>
                      <a:srgbClr val="2B34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Delivered</a:t>
                      </a:r>
                    </a:p>
                  </a:txBody>
                  <a:tcPr>
                    <a:solidFill>
                      <a:srgbClr val="2B3440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F766E"/>
                          </a:solidFill>
                          <a:latin typeface="Calibri"/>
                        </a:rPr>
                        <a:t>Wk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F2937"/>
                          </a:solidFill>
                          <a:latin typeface="Calibri"/>
                        </a:rPr>
                        <a:t>Contracts &amp; control plane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5B6572"/>
                          </a:solidFill>
                          <a:latin typeface="Calibri"/>
                        </a:rPr>
                        <a:t>Policy format, evaluation contract, decision structure; workload registry and policy bindings.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F766E"/>
                          </a:solidFill>
                          <a:latin typeface="Calibri"/>
                        </a:rPr>
                        <a:t>Wk 2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F2937"/>
                          </a:solidFill>
                          <a:latin typeface="Calibri"/>
                        </a:rPr>
                        <a:t>Evaluation runtime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5B6572"/>
                          </a:solidFill>
                          <a:latin typeface="Calibri"/>
                        </a:rPr>
                        <a:t>Evaluation service; Bedrock Guardrails adapter, organization rules, basic PII detection — one normalized decision.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F766E"/>
                          </a:solidFill>
                          <a:latin typeface="Calibri"/>
                        </a:rPr>
                        <a:t>Wk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F2937"/>
                          </a:solidFill>
                          <a:latin typeface="Calibri"/>
                        </a:rPr>
                        <a:t>LiteLLM connector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5B6572"/>
                          </a:solidFill>
                          <a:latin typeface="Calibri"/>
                        </a:rPr>
                        <a:t>Pre-call and post-call hooks, observe mode, explicit failure behavior, latency metrics, audit records.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F766E"/>
                          </a:solidFill>
                          <a:latin typeface="Calibri"/>
                        </a:rPr>
                        <a:t>Wk 4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F2937"/>
                          </a:solidFill>
                          <a:latin typeface="Calibri"/>
                        </a:rPr>
                        <a:t>Two-instance proof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5B6572"/>
                          </a:solidFill>
                          <a:latin typeface="Calibri"/>
                        </a:rPr>
                        <a:t>Deploy hosted runtime; onboard two independent LiteLLM instances — one Observe, one Enforce; policy upgrade &amp; rollback.</a:t>
                      </a:r>
                    </a:p>
                  </a:txBody>
                  <a:tcPr>
                    <a:solidFill>
                      <a:srgbClr val="F2F4F7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0F766E"/>
                          </a:solidFill>
                          <a:latin typeface="Calibri"/>
                        </a:rPr>
                        <a:t>Wk 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F2937"/>
                          </a:solidFill>
                          <a:latin typeface="Calibri"/>
                        </a:rPr>
                        <a:t>Hardening &amp; decision pack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5B6572"/>
                          </a:solidFill>
                          <a:latin typeface="Calibri"/>
                        </a:rPr>
                        <a:t>Test and security review, documentation, live demo, measured results → go / no-go input for Phase 2.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806440"/>
            <a:ext cx="110642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2B3440"/>
                </a:solidFill>
                <a:latin typeface="Calibri"/>
              </a:rPr>
              <a:t>Aggressive but bounded: the scope is frozen to the MVP list. If anything slips, we cut polish — never the two-instance proof.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5B6572"/>
                </a:solidFill>
                <a:latin typeface="Calibri"/>
              </a:rPr>
              <a:t>AI Guardrails — project creation proposal · internal draft · placeholder styling pending brand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5B6572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0F766E"/>
                </a:solidFill>
                <a:latin typeface="Calibri"/>
              </a:rPr>
              <a:t>DELIVERY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2B3440"/>
                </a:solidFill>
                <a:latin typeface="Calibri"/>
              </a:rPr>
              <a:t>One engineer, multiplied by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137160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4572000" cy="548640"/>
          </a:xfrm>
          <a:prstGeom prst="roundRect">
            <a:avLst/>
          </a:prstGeom>
          <a:solidFill>
            <a:srgbClr val="2B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The engineer owns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40280"/>
            <a:ext cx="43891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0F766E"/>
                </a:solidFill>
                <a:latin typeface="Calibri"/>
              </a:rPr>
              <a:t>▪  </a:t>
            </a:r>
            <a:r>
              <a:rPr sz="1300" b="1">
                <a:solidFill>
                  <a:srgbClr val="1F2937"/>
                </a:solidFill>
                <a:latin typeface="Calibri"/>
              </a:rPr>
              <a:t>Architecture &amp; decisions</a:t>
            </a:r>
            <a:r>
              <a:rPr sz="1300">
                <a:solidFill>
                  <a:srgbClr val="5B6572"/>
                </a:solidFill>
                <a:latin typeface="Calibri"/>
              </a:rPr>
              <a:t> — scope, contracts, trade-offs.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0F766E"/>
                </a:solidFill>
                <a:latin typeface="Calibri"/>
              </a:rPr>
              <a:t>▪  </a:t>
            </a:r>
            <a:r>
              <a:rPr sz="1300" b="1">
                <a:solidFill>
                  <a:srgbClr val="1F2937"/>
                </a:solidFill>
                <a:latin typeface="Calibri"/>
              </a:rPr>
              <a:t>Review &amp; acceptance</a:t>
            </a:r>
            <a:r>
              <a:rPr sz="1300">
                <a:solidFill>
                  <a:srgbClr val="5B6572"/>
                </a:solidFill>
                <a:latin typeface="Calibri"/>
              </a:rPr>
              <a:t> — every AI-produced change is reviewed before merge.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0F766E"/>
                </a:solidFill>
                <a:latin typeface="Calibri"/>
              </a:rPr>
              <a:t>▪  </a:t>
            </a:r>
            <a:r>
              <a:rPr sz="1300" b="1">
                <a:solidFill>
                  <a:srgbClr val="1F2937"/>
                </a:solidFill>
                <a:latin typeface="Calibri"/>
              </a:rPr>
              <a:t>The demo</a:t>
            </a:r>
            <a:r>
              <a:rPr sz="1300">
                <a:solidFill>
                  <a:srgbClr val="5B6572"/>
                </a:solidFill>
                <a:latin typeface="Calibri"/>
              </a:rPr>
              <a:t> — runs the two-instance proof live.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0" y="1554480"/>
            <a:ext cx="6126480" cy="54864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AI models work in parallel 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23560" y="2240280"/>
            <a:ext cx="59436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0F766E"/>
                </a:solidFill>
                <a:latin typeface="Calibri"/>
              </a:rPr>
              <a:t>▪  </a:t>
            </a:r>
            <a:r>
              <a:rPr sz="1300" b="1">
                <a:solidFill>
                  <a:srgbClr val="1F2937"/>
                </a:solidFill>
                <a:latin typeface="Calibri"/>
              </a:rPr>
              <a:t>Implementation</a:t>
            </a:r>
            <a:r>
              <a:rPr sz="1300">
                <a:solidFill>
                  <a:srgbClr val="5B6572"/>
                </a:solidFill>
                <a:latin typeface="Calibri"/>
              </a:rPr>
              <a:t> — service code, connector, adapters generated and iterated.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0F766E"/>
                </a:solidFill>
                <a:latin typeface="Calibri"/>
              </a:rPr>
              <a:t>▪  </a:t>
            </a:r>
            <a:r>
              <a:rPr sz="1300" b="1">
                <a:solidFill>
                  <a:srgbClr val="1F2937"/>
                </a:solidFill>
                <a:latin typeface="Calibri"/>
              </a:rPr>
              <a:t>Testing</a:t>
            </a:r>
            <a:r>
              <a:rPr sz="1300">
                <a:solidFill>
                  <a:srgbClr val="5B6572"/>
                </a:solidFill>
                <a:latin typeface="Calibri"/>
              </a:rPr>
              <a:t> — unit, contract and conformance tests written alongside the code.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0F766E"/>
                </a:solidFill>
                <a:latin typeface="Calibri"/>
              </a:rPr>
              <a:t>▪  </a:t>
            </a:r>
            <a:r>
              <a:rPr sz="1300" b="1">
                <a:solidFill>
                  <a:srgbClr val="1F2937"/>
                </a:solidFill>
                <a:latin typeface="Calibri"/>
              </a:rPr>
              <a:t>Adversarial review</a:t>
            </a:r>
            <a:r>
              <a:rPr sz="1300">
                <a:solidFill>
                  <a:srgbClr val="5B6572"/>
                </a:solidFill>
                <a:latin typeface="Calibri"/>
              </a:rPr>
              <a:t> — separate models cross-review code for defects and security issues.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0F766E"/>
                </a:solidFill>
                <a:latin typeface="Calibri"/>
              </a:rPr>
              <a:t>▪  </a:t>
            </a:r>
            <a:r>
              <a:rPr sz="1300" b="1">
                <a:solidFill>
                  <a:srgbClr val="1F2937"/>
                </a:solidFill>
                <a:latin typeface="Calibri"/>
              </a:rPr>
              <a:t>Documentation</a:t>
            </a:r>
            <a:r>
              <a:rPr sz="1300">
                <a:solidFill>
                  <a:srgbClr val="5B6572"/>
                </a:solidFill>
                <a:latin typeface="Calibri"/>
              </a:rPr>
              <a:t> — onboarding guides and audit docs kept current from day 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12064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5B6572"/>
                </a:solidFill>
                <a:latin typeface="Calibri"/>
              </a:rPr>
              <a:t>Why this is credible in 5 weeks: a deliberately narrow MVP, proven building blocks</a:t>
            </a:r>
          </a:p>
          <a:p>
            <a:pPr algn="l"/>
            <a:r>
              <a:rPr sz="1300" b="0" i="0">
                <a:solidFill>
                  <a:srgbClr val="5B6572"/>
                </a:solidFill>
                <a:latin typeface="Calibri"/>
              </a:rPr>
              <a:t>(LiteLLM hooks, Amazon Bedrock Guardrails), and AI models doing the parallel work of a small team.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5216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2B3440"/>
                </a:solidFill>
                <a:latin typeface="Calibri"/>
              </a:rPr>
              <a:t>Cost of trying this: one person, five weeks, existing AWS accounts.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5B6572"/>
                </a:solidFill>
                <a:latin typeface="Calibri"/>
              </a:rPr>
              <a:t>AI Guardrails — project creation proposal · internal draft · placeholder styling pending brand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5B6572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0F766E"/>
                </a:solidFill>
                <a:latin typeface="Calibri"/>
              </a:rPr>
              <a:t>PHASE 1 EXIT CRITERIA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2B3440"/>
                </a:solidFill>
                <a:latin typeface="Calibri"/>
              </a:rPr>
              <a:t>What success looks like — falsifiable, not aspirational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170432"/>
            <a:ext cx="1371600" cy="381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1F2937"/>
                </a:solidFill>
                <a:latin typeface="Calibri"/>
              </a:rPr>
              <a:t>Phase 1 will be considered successful when, in a live demonstration: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203704"/>
            <a:ext cx="274320" cy="27432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48840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1F2937"/>
                </a:solidFill>
                <a:latin typeface="Calibri"/>
              </a:rPr>
              <a:t>Two independent LiteLLM instances consume the same policy</a:t>
            </a:r>
          </a:p>
        </p:txBody>
      </p:sp>
      <p:sp>
        <p:nvSpPr>
          <p:cNvPr id="8" name="Oval 7"/>
          <p:cNvSpPr/>
          <p:nvPr/>
        </p:nvSpPr>
        <p:spPr>
          <a:xfrm>
            <a:off x="6309360" y="2203704"/>
            <a:ext cx="274320" cy="27432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2148840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1F2937"/>
                </a:solidFill>
                <a:latin typeface="Calibri"/>
              </a:rPr>
              <a:t>Neither shares model-provider credentials with the platform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072384"/>
            <a:ext cx="274320" cy="27432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017520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1F2937"/>
                </a:solidFill>
                <a:latin typeface="Calibri"/>
              </a:rPr>
              <a:t>Both receive consistent, normalized decisions</a:t>
            </a:r>
          </a:p>
        </p:txBody>
      </p:sp>
      <p:sp>
        <p:nvSpPr>
          <p:cNvPr id="12" name="Oval 11"/>
          <p:cNvSpPr/>
          <p:nvPr/>
        </p:nvSpPr>
        <p:spPr>
          <a:xfrm>
            <a:off x="6309360" y="3072384"/>
            <a:ext cx="274320" cy="27432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17520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1F2937"/>
                </a:solidFill>
                <a:latin typeface="Calibri"/>
              </a:rPr>
              <a:t>One workload runs in Observe, another in Enforce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3941064"/>
            <a:ext cx="274320" cy="27432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886200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1F2937"/>
                </a:solidFill>
                <a:latin typeface="Calibri"/>
              </a:rPr>
              <a:t>A policy is upgraded — and rolled back</a:t>
            </a:r>
          </a:p>
        </p:txBody>
      </p:sp>
      <p:sp>
        <p:nvSpPr>
          <p:cNvPr id="16" name="Oval 15"/>
          <p:cNvSpPr/>
          <p:nvPr/>
        </p:nvSpPr>
        <p:spPr>
          <a:xfrm>
            <a:off x="6309360" y="3941064"/>
            <a:ext cx="274320" cy="27432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3886200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1F2937"/>
                </a:solidFill>
                <a:latin typeface="Calibri"/>
              </a:rPr>
              <a:t>Raw prompt/response persistence can be switched off</a:t>
            </a:r>
          </a:p>
        </p:txBody>
      </p:sp>
      <p:sp>
        <p:nvSpPr>
          <p:cNvPr id="18" name="Oval 17"/>
          <p:cNvSpPr/>
          <p:nvPr/>
        </p:nvSpPr>
        <p:spPr>
          <a:xfrm>
            <a:off x="640080" y="4809743"/>
            <a:ext cx="274320" cy="27432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4754879"/>
            <a:ext cx="5120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1F2937"/>
                </a:solidFill>
                <a:latin typeface="Calibri"/>
              </a:rPr>
              <a:t>Evaluation failures follow the configured failure policy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76072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2B3440"/>
                </a:solidFill>
                <a:latin typeface="Calibri"/>
              </a:rPr>
              <a:t>If we cannot demonstrate this, Phase 2 does not get funded. That is the point.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5B6572"/>
                </a:solidFill>
                <a:latin typeface="Calibri"/>
              </a:rPr>
              <a:t>AI Guardrails — project creation proposal · internal draft · placeholder styling pending brand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900" b="0" i="0">
                <a:solidFill>
                  <a:srgbClr val="5B6572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3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9FB3C8"/>
                </a:solidFill>
                <a:latin typeface="Calibri"/>
              </a:rPr>
              <a:t>THE DECISION WE ARE ASKING FOR TODAY</a:t>
            </a:r>
          </a:p>
        </p:txBody>
      </p:sp>
      <p:sp>
        <p:nvSpPr>
          <p:cNvPr id="4" name="Oval 3"/>
          <p:cNvSpPr/>
          <p:nvPr/>
        </p:nvSpPr>
        <p:spPr>
          <a:xfrm>
            <a:off x="868680" y="1371600"/>
            <a:ext cx="594360" cy="59436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91640" y="1325880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Approve Phase 1 — Integration Proof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91640" y="1755648"/>
            <a:ext cx="9601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B9C5D1"/>
                </a:solidFill>
                <a:latin typeface="Calibri"/>
              </a:rPr>
              <a:t>5 weeks, one engineer working with multiple AI models, existing AWS accounts.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2514600"/>
            <a:ext cx="594360" cy="59436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468880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Name one pilot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898648"/>
            <a:ext cx="9601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B9C5D1"/>
                </a:solidFill>
                <a:latin typeface="Calibri"/>
              </a:rPr>
              <a:t>willing to run the second, independent LiteLLM instance for the proof.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3657600"/>
            <a:ext cx="594360" cy="59436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3611880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Agree the pilot starts in Observe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4041648"/>
            <a:ext cx="9601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B9C5D1"/>
                </a:solidFill>
                <a:latin typeface="Calibri"/>
              </a:rPr>
              <a:t>no blocking behavior until the evidence supports it.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8680" y="4983480"/>
            <a:ext cx="10424160" cy="12700"/>
          </a:xfrm>
          <a:prstGeom prst="rect">
            <a:avLst/>
          </a:prstGeom>
          <a:solidFill>
            <a:srgbClr val="4A56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166360"/>
            <a:ext cx="104241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B9C5D1"/>
                </a:solidFill>
                <a:latin typeface="Calibri"/>
              </a:rPr>
              <a:t>What we are NOT asking for: funding for Phases 2–5, additional headcount,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B9C5D1"/>
                </a:solidFill>
                <a:latin typeface="Calibri"/>
              </a:rPr>
              <a:t>or any deployment mode beyond Remote Evaluation. Each of those remains a separate, later decision.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