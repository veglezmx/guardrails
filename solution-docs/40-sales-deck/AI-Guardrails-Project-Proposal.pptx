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 per DECK-BRIEF.md. SCOPE NOTE: this proposal defines the MVP as the FULL five-phase roadmap (Phases 1–5 as one program). That supersedes the phase-gated framing in AGREEMENTS.md (AGR-019/AGR-022, which treat Phases 2–5 as separately gated and Phase 5 as a separate expansion). If approved, record a scope-change decision in AGREEMENTS.md. The 5-week / one-engineer-plus-AI figure is the proposed resourcing — a proposal input, not a source-of-truth commitment. Nothing here implies the platform already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§1–§2; EXECUTIVE-BRIEF §2; CUSTOMER-PAIN-POINTS #1, #5, #7. Establish urgency without hyperbole — no incident counts or dollar figures exist in source material and none are invented (deck brief, slide 2 requirement). Bridge: 'this isn't free — here's what it costs us organizationally.'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EXECUTIVE-BRIEF §3 impact dimensions (deck brief required slide 3). Hard rule: state plainly that no cost figure exists — do not estimate one (claims discipline; ASSUMPTIONS.md). To a decision-maker audience this honesty builds credibility for the later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§23 product statement (condensed); AGR-001 (standalone), AGR-007 (policy/connector split), AGR-003/AGR-004 (first connector / first engine, not the boundary), AGR-006 (one contract). Introduce LiteLLM and Bedrock Guardrails each with one sentence of context — audience familiarity is uneven (deck brief, audience knowledge level).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§3, §10 logical architecture (control plane → runtime → engines), CAP-004/005 input &amp; output evaluation, CAP-012 normalized decisions. Keep at mental-model level per deck brief slide 5 — no component inventory. Bedrock Guardrails is the FIRST engine, not the only/permanent one (AGR-004 prohibition).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§4 onboarding flow; AGR-021 meaning of 'import' (never credentials transfer, never gateway admin access); CAP-006/007 LiteLLM connector; CAP-008 generic HTTP Evaluation API (the path that serves LangGraph/LangChain/custom-agent teams — framework-agnostic by design, AGR-005); Mode B guarded gateway (AGR-002). One contract on every path (AGR-006). This is the 'how others consume it' slide — keep at this altitude, resist deep-diving.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AGR-002 three modes; CHARTER §10. Mandatory caveat: Mode A is NOT private/data-local (AGR-009 — say it every time Mode A appears). SCOPE NOTE: this proposal includes Modes B and C inside the MVP (weeks 3–4) — a re-scope versus AGR-022's phase gating; requires a scope-change record if approved. Mode colors (blue/amber/green) stay constant across the deck per VISUAL-DIRECTION; green reserved for Mode C's data-local posture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AGR-011 observe-before-enforce progression; CAP-013. Stepped progression bar per VISUAL-DIRECTION §2.3 diagram 5. Semantic colors map only to the literal policy states, not to product-quality claims (VISUAL-DIRECTION §6). Observe mode produces evidence, it does not itself prevent anything — value is the measured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Columns 1–2: CAP-001…CAP-017 (CAPABILITIES.md, MVP set). Column 3: CAP-018…CAP-023, CAP-027 (advanced agent protection — catalogued as 'Future' in CAPABILITIES.md, pulled INTO this MVP by this proposal's re-scope; delivered week 5). Emphasize to agent-framework teams (LangGraph etc.): tool-call, retrieval, and memory-write stages are what protects agent behavior, not just chat content. Boundary still holds: tool-call validation is content/policy evaluation — business authorization stays with the application (AGR-010).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AGR-010 (guardrails are not authorization), AGR-018 (cooperative connector is not a hard security boundary), seed.md §6.3 out-of-scope list. Deck brief marks this slide MANDATORY and load-bearing for the security/compliance audience — never cut or soften it. Biggest named risk is false confidence; this slide is the mitigation.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content: seed.md §18 five-phase sequence. SCOPE NOTE: this proposal re-scopes the MVP to include ALL five phases as one funded program — superseding AGR-022 (phases separately gated) and AGR-019 (Phase 5 capabilities excluded from MVP). If approved, record a scope-change decision in AGREEMENTS.md. Mitigation kept from the original gating idea: weekly demonstrable slices act as internal checkpoints even though funding is granted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Dedicated time-estimation slide (proposal requirement). Mapping: one phase per week across the 5-week envelope, delivered by one engineer orchestrating multiple AI models in parallel. Phase deliverables from seed.md §18. This timeline is the proposer's estimate — present as proposed, not an org-committed SLA. Weekly demo = internal gate replacing the funding gates of AGR-022. Week 5 doubles as hardening/review buffer; if anything slips, agent-protection scope is trimmed before core (weeks 1–4) scope is 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presents the proposer's delivery approach — it is a resourcing proposal, not sourced from AGREEMENTS.md. Keep claims about AI productivity qualitative; no velocity multipliers or percentages are asserted. Human review of AI output is the control that makes the model acceptable to the security/compliance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AGR-020 MVP success demonstration, condensed, plus one agent-protection criterion (tool-call validation, CAP-021) added by this proposal's re-scope of the MVP to all five phases. Phrased as target ('will be considered successful when') — never as achieved (hard prohibition in DECK-BRIEF). This falsifiability is the executive sponsor's risk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restated per this proposal's re-scope: approve the FULL five-phase roadmap as one MVP program (supersedes AGR-022 phase gating — record a scope-change decision if approved). Pilot commitments: second independent LiteLLM instance (AGR-020, ASM-002/003) plus one agentic workload for week-5 agent-protection validation. Observe-first preserved (AGR-011). Close on the decision, not on 'thank you'. Fallback if not closed in the room: architecture deep-dive with 50-architecture/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9FB3C8"/>
                </a:solidFill>
                <a:latin typeface="Calibri"/>
              </a:rPr>
              <a:t>AI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One guardrail policy.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Any gateway you already run.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deployment mode your data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60520"/>
            <a:ext cx="201168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Project creation proposal — requesting approval: the AI Guardrails MVP, full five-phase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FB3C8"/>
                </a:solidFill>
                <a:latin typeface="Calibri"/>
              </a:rPr>
              <a:t>Proposed delivery: 5 weeks · one engineer working with multiple AI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7E8C9A"/>
                </a:solidFill>
                <a:latin typeface="Calibri"/>
              </a:rPr>
              <a:t>Internal draft — placeholder styling pending brand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Every team is building its own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Bespoke, per-team safeguards</a:t>
            </a:r>
            <a:r>
              <a:rPr sz="1600">
                <a:solidFill>
                  <a:srgbClr val="5B6572"/>
                </a:solidFill>
                <a:latin typeface="Calibri"/>
              </a:rPr>
              <a:t> — each coupled to one gateway and one model provider; none reusable.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No shared policy</a:t>
            </a:r>
            <a:r>
              <a:rPr sz="1600">
                <a:solidFill>
                  <a:srgbClr val="5B6572"/>
                </a:solidFill>
                <a:latin typeface="Calibri"/>
              </a:rPr>
              <a:t> — no single definition of “safe” any workload can point to.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No comparable audit evidence</a:t>
            </a:r>
            <a:r>
              <a:rPr sz="1600">
                <a:solidFill>
                  <a:srgbClr val="5B6572"/>
                </a:solidFill>
                <a:latin typeface="Calibri"/>
              </a:rPr>
              <a:t> — each team records different things — or nothing.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All-or-nothing rollout</a:t>
            </a:r>
            <a:r>
              <a:rPr sz="1600">
                <a:solidFill>
                  <a:srgbClr val="5B6572"/>
                </a:solidFill>
                <a:latin typeface="Calibri"/>
              </a:rPr>
              <a:t> — no safe way to see what a policy would do before it blocks users.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737360"/>
            <a:ext cx="14630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Team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377440"/>
            <a:ext cx="146304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Own 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3017520"/>
            <a:ext cx="1463040" cy="685800"/>
          </a:xfrm>
          <a:prstGeom prst="roundRect">
            <a:avLst/>
          </a:prstGeom>
          <a:solidFill>
            <a:srgbClr val="FBEAE6"/>
          </a:solidFill>
          <a:ln w="12700">
            <a:solidFill>
              <a:srgbClr val="D99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Custom checks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(or none)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1737360"/>
            <a:ext cx="14630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Team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2377440"/>
            <a:ext cx="146304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Own 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3017520"/>
            <a:ext cx="1463040" cy="685800"/>
          </a:xfrm>
          <a:prstGeom prst="roundRect">
            <a:avLst/>
          </a:prstGeom>
          <a:solidFill>
            <a:srgbClr val="FBEAE6"/>
          </a:solidFill>
          <a:ln w="12700">
            <a:solidFill>
              <a:srgbClr val="D99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Custom checks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(or none)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1737360"/>
            <a:ext cx="14630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Team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24160" y="2377440"/>
            <a:ext cx="146304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Own 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24160" y="3017520"/>
            <a:ext cx="1463040" cy="685800"/>
          </a:xfrm>
          <a:prstGeom prst="roundRect">
            <a:avLst/>
          </a:prstGeom>
          <a:solidFill>
            <a:srgbClr val="FBEAE6"/>
          </a:solidFill>
          <a:ln w="12700">
            <a:solidFill>
              <a:srgbClr val="D99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Custom checks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(or none)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02336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B6572"/>
                </a:solidFill>
                <a:latin typeface="Calibri"/>
              </a:rPr>
              <a:t>Same problem solved three times,</a:t>
            </a:r>
          </a:p>
          <a:p>
            <a:pPr algn="ctr"/>
            <a:r>
              <a:rPr sz="1300" b="0" i="1">
                <a:solidFill>
                  <a:srgbClr val="5B6572"/>
                </a:solidFill>
                <a:latin typeface="Calibri"/>
              </a:rPr>
              <a:t>three different answers to “is this safe?”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The organization cannot answer, with evidence: “are our AI workloads governed consistently?”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What the fragmentation costs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8229600"/>
              </a:tblGrid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2B34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>
                    <a:solidFill>
                      <a:srgbClr val="2B3440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One policy cannot be applied — or proven — across teams.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Engineering spend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The same detection work is paid for repeatedly, at different quality bars.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Adoption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Unproven blocking checks get disabled — or never enabled at all.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Compliance evidence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“Which policy version evaluated this request?” has no answer today.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False assurance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A passing bespoke check gets mistaken for complete AI security.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B6572"/>
                </a:solidFill>
                <a:latin typeface="Calibri"/>
              </a:rPr>
              <a:t>No dollar-figure estimate exists in the source material (TBD) — the case is qualitative, and we say 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THE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Introducing AI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 i="0">
                <a:solidFill>
                  <a:srgbClr val="1F2937"/>
                </a:solidFill>
                <a:latin typeface="Calibri"/>
              </a:rPr>
              <a:t>A standalone policy and enforcement platform: define a guardrail policy once,</a:t>
            </a:r>
          </a:p>
          <a:p>
            <a:pPr algn="l">
              <a:lnSpc>
                <a:spcPct val="110000"/>
              </a:lnSpc>
            </a:pPr>
            <a:r>
              <a:rPr sz="2100" b="0" i="0">
                <a:solidFill>
                  <a:srgbClr val="1F2937"/>
                </a:solidFill>
                <a:latin typeface="Calibri"/>
              </a:rPr>
              <a:t>apply it to any workload, on any gateway, in the deployment mode each workload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Standalone platform</a:t>
            </a:r>
            <a:r>
              <a:rPr sz="1500">
                <a:solidFill>
                  <a:srgbClr val="5B6572"/>
                </a:solidFill>
                <a:latin typeface="Calibri"/>
              </a:rPr>
              <a:t> — not a feature inside any single team's LiteLLM instance.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Policy separated from plumbing</a:t>
            </a:r>
            <a:r>
              <a:rPr sz="1500">
                <a:solidFill>
                  <a:srgbClr val="5B6572"/>
                </a:solidFill>
                <a:latin typeface="Calibri"/>
              </a:rPr>
              <a:t> — the policy says “detect prompt injection and block it”; a thin connector wires it to each gateway.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First integrations</a:t>
            </a:r>
            <a:r>
              <a:rPr sz="1500">
                <a:solidFill>
                  <a:srgbClr val="5B6572"/>
                </a:solidFill>
                <a:latin typeface="Calibri"/>
              </a:rPr>
              <a:t> — LiteLLM (gateway connector) and Amazon Bedrock Guardrails (evaluation engine) — neither defines the product's boundary.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One contract everywhere</a:t>
            </a:r>
            <a:r>
              <a:rPr sz="1500">
                <a:solidFill>
                  <a:srgbClr val="5B6572"/>
                </a:solidFill>
                <a:latin typeface="Calibri"/>
              </a:rPr>
              <a:t> — same policy, same decisions, same audit metadata in every deployment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JUST ENOUGH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How it works,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8288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Application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121408"/>
            <a:ext cx="502920" cy="146304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82880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Your gateway</a:t>
            </a:r>
          </a:p>
          <a:p>
            <a:pPr algn="ctr"/>
            <a:r>
              <a:rPr sz="1100">
                <a:solidFill>
                  <a:srgbClr val="5B6572"/>
                </a:solidFill>
                <a:latin typeface="Calibri"/>
              </a:rPr>
              <a:t>e.g. LiteLLM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623560" y="2121408"/>
            <a:ext cx="502920" cy="146304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20116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Model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566160"/>
            <a:ext cx="3108960" cy="914400"/>
          </a:xfrm>
          <a:prstGeom prst="roundRect">
            <a:avLst/>
          </a:prstGeom>
          <a:solidFill>
            <a:srgbClr val="E4F0E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Guardrails runtime</a:t>
            </a:r>
          </a:p>
          <a:p>
            <a:pPr algn="ctr"/>
            <a:r>
              <a:rPr sz="1100">
                <a:solidFill>
                  <a:srgbClr val="5B6572"/>
                </a:solidFill>
                <a:latin typeface="Calibri"/>
              </a:rPr>
              <a:t>evaluates content against the bound policy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566160" y="2606040"/>
            <a:ext cx="274320" cy="914400"/>
          </a:xfrm>
          <a:prstGeom prst="downArrow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2" name="Up Arrow 11"/>
          <p:cNvSpPr/>
          <p:nvPr/>
        </p:nvSpPr>
        <p:spPr>
          <a:xfrm>
            <a:off x="4892040" y="2606040"/>
            <a:ext cx="274320" cy="914400"/>
          </a:xfrm>
          <a:prstGeom prst="upArrow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88920"/>
            <a:ext cx="2468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572"/>
                </a:solidFill>
                <a:latin typeface="Calibri"/>
              </a:rPr>
              <a:t>1 · check the prompt</a:t>
            </a:r>
          </a:p>
          <a:p>
            <a:pPr algn="r"/>
            <a:r>
              <a:rPr sz="1100" b="0" i="0">
                <a:solidFill>
                  <a:srgbClr val="5B6572"/>
                </a:solidFill>
                <a:latin typeface="Calibri"/>
              </a:rPr>
              <a:t>before the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7889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2 · check the response</a:t>
            </a:r>
          </a:p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before the user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566160"/>
            <a:ext cx="484632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Every check returns a decision</a:t>
            </a:r>
          </a:p>
          <a:p>
            <a:pPr algn="ctr"/>
            <a:r>
              <a:rPr sz="1100">
                <a:solidFill>
                  <a:srgbClr val="5B6572"/>
                </a:solidFill>
                <a:latin typeface="Calibri"/>
              </a:rPr>
              <a:t>allow · redact · block · log-only — with reason codes, policy version, audit record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89320" y="3950208"/>
            <a:ext cx="594360" cy="146304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B6572"/>
                </a:solidFill>
                <a:latin typeface="Calibri"/>
              </a:rPr>
              <a:t>Detection engines behind it: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800600"/>
            <a:ext cx="26517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Amazon Bedrock Guardrails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first managed engine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800600"/>
            <a:ext cx="26517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Organization rules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deterministic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4800600"/>
            <a:ext cx="26517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Sensitive-data detection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basic PII handling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B3440"/>
                </a:solidFill>
                <a:latin typeface="Calibri"/>
              </a:rPr>
              <a:t>Policies live in one central control plane; gateways only invoke and enforce them — they never redefine them.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CONSUMPTION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How other teams consume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502920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Through your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84831"/>
            <a:ext cx="3611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l"/>
            <a:r>
              <a:rPr sz="1200" b="0">
                <a:solidFill>
                  <a:srgbClr val="5B6572"/>
                </a:solidFill>
                <a:latin typeface="Calibri"/>
              </a:rPr>
              <a:t>Install a thin connector in the gateway you already run — LiteLLM first, others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456432"/>
            <a:ext cx="361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3D7DC8"/>
                </a:solidFill>
                <a:latin typeface="Calibri"/>
              </a:rPr>
              <a:t>Zero application-code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463040"/>
            <a:ext cx="3611880" cy="50292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Directly from your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2084831"/>
            <a:ext cx="3611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l"/>
            <a:r>
              <a:rPr sz="1200" b="0">
                <a:solidFill>
                  <a:srgbClr val="5B6572"/>
                </a:solidFill>
                <a:latin typeface="Calibri"/>
              </a:rPr>
              <a:t>Call the evaluation service over plain HTTP or SDK — works for LangGraph, LangChain, custom agents, any framework.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3456432"/>
            <a:ext cx="361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No gateway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75904" y="1463040"/>
            <a:ext cx="3611880" cy="502920"/>
          </a:xfrm>
          <a:prstGeom prst="roundRect">
            <a:avLst/>
          </a:prstGeom>
          <a:solidFill>
            <a:srgbClr val="C99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Fully managed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75904" y="2084831"/>
            <a:ext cx="3611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l"/>
            <a:r>
              <a:rPr sz="1200" b="0">
                <a:solidFill>
                  <a:srgbClr val="5B6572"/>
                </a:solidFill>
                <a:latin typeface="Calibri"/>
              </a:rPr>
              <a:t>Point your app at the Guarded Gateway: an OpenAI-compatible endpoint with guardrails and model routing built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3456432"/>
            <a:ext cx="361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9971D"/>
                </a:solidFill>
                <a:latin typeface="Calibri"/>
              </a:rPr>
              <a:t>Nothing to operate.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Whichever path — onboarding is the same six steps:</a:t>
            </a:r>
          </a:p>
        </p:txBody>
      </p:sp>
      <p:sp>
        <p:nvSpPr>
          <p:cNvPr id="15" name="Pentagon 14"/>
          <p:cNvSpPr/>
          <p:nvPr/>
        </p:nvSpPr>
        <p:spPr>
          <a:xfrm>
            <a:off x="548640" y="4343400"/>
            <a:ext cx="1783080" cy="822960"/>
          </a:xfrm>
          <a:prstGeom prst="homePlate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Register</a:t>
            </a:r>
          </a:p>
          <a:p>
            <a:pPr algn="ctr"/>
            <a:r>
              <a:rPr sz="1100">
                <a:solidFill>
                  <a:srgbClr val="D5DDE4"/>
                </a:solidFill>
                <a:latin typeface="Calibri"/>
              </a:rPr>
              <a:t>workload</a:t>
            </a:r>
          </a:p>
        </p:txBody>
      </p:sp>
      <p:sp>
        <p:nvSpPr>
          <p:cNvPr id="16" name="Chevron 15"/>
          <p:cNvSpPr/>
          <p:nvPr/>
        </p:nvSpPr>
        <p:spPr>
          <a:xfrm>
            <a:off x="2121408" y="4343400"/>
            <a:ext cx="1783080" cy="822960"/>
          </a:xfrm>
          <a:prstGeom prst="chevron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Select</a:t>
            </a:r>
          </a:p>
          <a:p>
            <a:pPr algn="ctr"/>
            <a:r>
              <a:rPr sz="1100">
                <a:solidFill>
                  <a:srgbClr val="D5DDE4"/>
                </a:solidFill>
                <a:latin typeface="Calibri"/>
              </a:rPr>
              <a:t>policy</a:t>
            </a:r>
          </a:p>
        </p:txBody>
      </p:sp>
      <p:sp>
        <p:nvSpPr>
          <p:cNvPr id="17" name="Chevron 16"/>
          <p:cNvSpPr/>
          <p:nvPr/>
        </p:nvSpPr>
        <p:spPr>
          <a:xfrm>
            <a:off x="3694176" y="4343400"/>
            <a:ext cx="1783080" cy="822960"/>
          </a:xfrm>
          <a:prstGeom prst="chevron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Install</a:t>
            </a:r>
          </a:p>
          <a:p>
            <a:pPr algn="ctr"/>
            <a:r>
              <a:rPr sz="1100">
                <a:solidFill>
                  <a:srgbClr val="D5DDE4"/>
                </a:solidFill>
                <a:latin typeface="Calibri"/>
              </a:rPr>
              <a:t>connector</a:t>
            </a:r>
          </a:p>
        </p:txBody>
      </p:sp>
      <p:sp>
        <p:nvSpPr>
          <p:cNvPr id="18" name="Chevron 17"/>
          <p:cNvSpPr/>
          <p:nvPr/>
        </p:nvSpPr>
        <p:spPr>
          <a:xfrm>
            <a:off x="5266944" y="4343400"/>
            <a:ext cx="1783080" cy="82296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/>
            <a:r>
              <a:rPr sz="1100">
                <a:solidFill>
                  <a:srgbClr val="D5DDE4"/>
                </a:solidFill>
                <a:latin typeface="Calibri"/>
              </a:rPr>
              <a:t>real traffic</a:t>
            </a:r>
          </a:p>
        </p:txBody>
      </p:sp>
      <p:sp>
        <p:nvSpPr>
          <p:cNvPr id="19" name="Chevron 18"/>
          <p:cNvSpPr/>
          <p:nvPr/>
        </p:nvSpPr>
        <p:spPr>
          <a:xfrm>
            <a:off x="6839712" y="4343400"/>
            <a:ext cx="1783080" cy="822960"/>
          </a:xfrm>
          <a:prstGeom prst="chevron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/>
            <a:r>
              <a:rPr sz="1100">
                <a:solidFill>
                  <a:srgbClr val="D5DDE4"/>
                </a:solidFill>
                <a:latin typeface="Calibri"/>
              </a:rPr>
              <a:t>evidence</a:t>
            </a:r>
          </a:p>
        </p:txBody>
      </p:sp>
      <p:sp>
        <p:nvSpPr>
          <p:cNvPr id="20" name="Chevron 19"/>
          <p:cNvSpPr/>
          <p:nvPr/>
        </p:nvSpPr>
        <p:spPr>
          <a:xfrm>
            <a:off x="8412480" y="4343400"/>
            <a:ext cx="1783080" cy="82296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/>
            <a:r>
              <a:rPr sz="1100">
                <a:solidFill>
                  <a:srgbClr val="D5DDE4"/>
                </a:solidFill>
                <a:latin typeface="Calibri"/>
              </a:rPr>
              <a:t>when proven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B6572"/>
                </a:solidFill>
                <a:latin typeface="Calibri"/>
              </a:rPr>
              <a:t>Your credentials stay yours: onboarding never transfers model-provider credentials or gateway admin access.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Same policy, same decisions, same audit trail — on every consumption path.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DEPLOYMENT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Three ways to adopt — chosen per workload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611880" cy="640080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 A — Remote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381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1F2937"/>
                </a:solidFill>
                <a:latin typeface="Calibri"/>
              </a:rPr>
              <a:t>What it is: </a:t>
            </a:r>
            <a:r>
              <a:rPr sz="1200">
                <a:solidFill>
                  <a:srgbClr val="5B6572"/>
                </a:solidFill>
                <a:latin typeface="Calibri"/>
              </a:rPr>
              <a:t>You keep your gateway; the platform hosts the evaluation service.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Best fit: </a:t>
            </a:r>
            <a:r>
              <a:rPr sz="1200">
                <a:solidFill>
                  <a:srgbClr val="5B6572"/>
                </a:solidFill>
                <a:latin typeface="Calibri"/>
              </a:rPr>
              <a:t>Teams that already run a gateway.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361188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2B3440"/>
                </a:solidFill>
                <a:latin typeface="Calibri"/>
              </a:rPr>
              <a:t>Content IS sent to the hosted service — not a data-local option. MVP weeks 1–2.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554480"/>
            <a:ext cx="3611880" cy="640080"/>
          </a:xfrm>
          <a:prstGeom prst="roundRect">
            <a:avLst/>
          </a:prstGeom>
          <a:solidFill>
            <a:srgbClr val="C99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 B — Guarded 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233172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381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1F2937"/>
                </a:solidFill>
                <a:latin typeface="Calibri"/>
              </a:rPr>
              <a:t>What it is: </a:t>
            </a:r>
            <a:r>
              <a:rPr sz="1200">
                <a:solidFill>
                  <a:srgbClr val="5B6572"/>
                </a:solidFill>
                <a:latin typeface="Calibri"/>
              </a:rPr>
              <a:t>Fully managed gateway with guardrails and model routing built in.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Best fit: </a:t>
            </a:r>
            <a:r>
              <a:rPr sz="1200">
                <a:solidFill>
                  <a:srgbClr val="5B6572"/>
                </a:solidFill>
                <a:latin typeface="Calibri"/>
              </a:rPr>
              <a:t>Teams without their own gateway.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4754880"/>
            <a:ext cx="361188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2B3440"/>
                </a:solidFill>
                <a:latin typeface="Calibri"/>
              </a:rPr>
              <a:t>Delivered in week 3 of the MVP.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75904" y="1554480"/>
            <a:ext cx="3611880" cy="640080"/>
          </a:xfrm>
          <a:prstGeom prst="roundRect">
            <a:avLst/>
          </a:prstGeom>
          <a:solidFill>
            <a:srgbClr val="278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 C — Customer-Managed Runtime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75904" y="233172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381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1F2937"/>
                </a:solidFill>
                <a:latin typeface="Calibri"/>
              </a:rPr>
              <a:t>What it is: </a:t>
            </a:r>
            <a:r>
              <a:rPr sz="1200">
                <a:solidFill>
                  <a:srgbClr val="5B6572"/>
                </a:solidFill>
                <a:latin typeface="Calibri"/>
              </a:rPr>
              <a:t>Same runtime deployed inside your own AWS account.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Best fit: </a:t>
            </a:r>
            <a:r>
              <a:rPr sz="1200">
                <a:solidFill>
                  <a:srgbClr val="5B6572"/>
                </a:solidFill>
                <a:latin typeface="Calibri"/>
              </a:rPr>
              <a:t>Regulated / data-residency workloads.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75904" y="4754880"/>
            <a:ext cx="361188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2B3440"/>
                </a:solidFill>
                <a:latin typeface="Calibri"/>
              </a:rPr>
              <a:t>Raw content stays in your account by default. Week 4 of the MVP.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One policy definition works in all three — and all three are delivered inside this MVP.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ADOPTION RISK, REMOVED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Safe by design: observe before enforce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40080" y="1920240"/>
            <a:ext cx="2377440" cy="960120"/>
          </a:xfrm>
          <a:prstGeom prst="homePlate">
            <a:avLst/>
          </a:prstGeom>
          <a:solidFill>
            <a:srgbClr val="8A94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Disabled</a:t>
            </a:r>
          </a:p>
        </p:txBody>
      </p:sp>
      <p:sp>
        <p:nvSpPr>
          <p:cNvPr id="6" name="Chevron 5"/>
          <p:cNvSpPr/>
          <p:nvPr/>
        </p:nvSpPr>
        <p:spPr>
          <a:xfrm>
            <a:off x="2816352" y="1920240"/>
            <a:ext cx="2377440" cy="960120"/>
          </a:xfrm>
          <a:prstGeom prst="chevron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Observe</a:t>
            </a:r>
          </a:p>
        </p:txBody>
      </p:sp>
      <p:sp>
        <p:nvSpPr>
          <p:cNvPr id="7" name="Chevron 6"/>
          <p:cNvSpPr/>
          <p:nvPr/>
        </p:nvSpPr>
        <p:spPr>
          <a:xfrm>
            <a:off x="4992624" y="1920240"/>
            <a:ext cx="2377440" cy="960120"/>
          </a:xfrm>
          <a:prstGeom prst="chevron">
            <a:avLst/>
          </a:prstGeom>
          <a:solidFill>
            <a:srgbClr val="C99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Warn</a:t>
            </a:r>
          </a:p>
        </p:txBody>
      </p:sp>
      <p:sp>
        <p:nvSpPr>
          <p:cNvPr id="8" name="Chevron 7"/>
          <p:cNvSpPr/>
          <p:nvPr/>
        </p:nvSpPr>
        <p:spPr>
          <a:xfrm>
            <a:off x="7168896" y="1920240"/>
            <a:ext cx="2377440" cy="960120"/>
          </a:xfrm>
          <a:prstGeom prst="chevron">
            <a:avLst/>
          </a:prstGeom>
          <a:solidFill>
            <a:srgbClr val="B0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Redact</a:t>
            </a:r>
          </a:p>
        </p:txBody>
      </p:sp>
      <p:sp>
        <p:nvSpPr>
          <p:cNvPr id="9" name="Chevron 8"/>
          <p:cNvSpPr/>
          <p:nvPr/>
        </p:nvSpPr>
        <p:spPr>
          <a:xfrm>
            <a:off x="9345168" y="1920240"/>
            <a:ext cx="2377440" cy="960120"/>
          </a:xfrm>
          <a:prstGeom prst="chevron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0632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Calibri"/>
              </a:rPr>
              <a:t>every new workload starts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Nothing blocks on day one</a:t>
            </a:r>
            <a:r>
              <a:rPr sz="1500">
                <a:solidFill>
                  <a:srgbClr val="5B6572"/>
                </a:solidFill>
                <a:latin typeface="Calibri"/>
              </a:rPr>
              <a:t> — a new policy binding defaults to Observe — findings are recorded, traffic is untouched.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Decide on evidence</a:t>
            </a:r>
            <a:r>
              <a:rPr sz="1500">
                <a:solidFill>
                  <a:srgbClr val="5B6572"/>
                </a:solidFill>
                <a:latin typeface="Calibri"/>
              </a:rPr>
              <a:t> — teams measure false positives, latency and business impact on real traffic first.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Promotion is explicit</a:t>
            </a:r>
            <a:r>
              <a:rPr sz="1500">
                <a:solidFill>
                  <a:srgbClr val="5B6572"/>
                </a:solidFill>
                <a:latin typeface="Calibri"/>
              </a:rPr>
              <a:t> — moving to Warn, Redact or Block is a deliberate, auditable action — never a side effect.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No team is asked to accept unproven blocking behavior in production.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The full MVP capability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502920"/>
          </a:xfrm>
          <a:prstGeom prst="round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Policy &amp;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84831"/>
            <a:ext cx="36118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01600" tIns="101600" bIns="38100"/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>
                <a:solidFill>
                  <a:srgbClr val="2B3440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Versioned policies, promote &amp; roll back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3440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Workload registry &amp; policy bindings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3440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Observe / warn / redact / block modes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3440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Decision audit trail &amp; reason codes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2B3440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Latency metrics per evaluation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62272" y="1463040"/>
            <a:ext cx="3611880" cy="502920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Content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2084831"/>
            <a:ext cx="361188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01600" tIns="101600" bIns="38100"/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>
                <a:solidFill>
                  <a:srgbClr val="3D7DC8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Prompt (input) &amp; response (output) checks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3D7DC8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Amazon Bedrock Guardrails engine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3D7DC8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Deterministic organization rules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3D7DC8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Sensitive-data (PII) detection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3D7DC8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One normalized decision, any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75904" y="1463040"/>
            <a:ext cx="3611880" cy="50292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Advanced agent protection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2084831"/>
            <a:ext cx="3611880" cy="3566160"/>
          </a:xfrm>
          <a:prstGeom prst="roundRect">
            <a:avLst/>
          </a:prstGeom>
          <a:solidFill>
            <a:srgbClr val="E4F0EE"/>
          </a:solidFill>
          <a:ln w="254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01600" tIns="101600" bIns="38100"/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>
                <a:solidFill>
                  <a:srgbClr val="0F766E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Tool-call validation before execution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0F766E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Retrieved-content evaluation (RAG)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0F766E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Indirect prompt-injection detection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0F766E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Memory-write validation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0F766E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Streaming output evaluation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0F766E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MCP tool authorization controls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0F766E"/>
                </a:solidFill>
                <a:latin typeface="Calibri"/>
              </a:rPr>
              <a:t>▪ </a:t>
            </a:r>
            <a:r>
              <a:rPr sz="1200">
                <a:solidFill>
                  <a:srgbClr val="1F2937"/>
                </a:solidFill>
                <a:latin typeface="Calibri"/>
              </a:rPr>
              <a:t>Human-approval workflows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66928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0F766E"/>
                </a:solidFill>
                <a:latin typeface="Calibri"/>
              </a:rPr>
              <a:t>delivered in week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B3440"/>
                </a:solidFill>
                <a:latin typeface="Calibri"/>
              </a:rPr>
              <a:t>Content guardrails for every LLM app — plus action guardrails for agentic workloads (LangGraph, MCP, custom agents).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What this is — and what it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5486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Content evaluation</a:t>
            </a:r>
            <a:r>
              <a:rPr sz="1400">
                <a:solidFill>
                  <a:srgbClr val="5B6572"/>
                </a:solidFill>
                <a:latin typeface="Calibri"/>
              </a:rPr>
              <a:t> — of prompts and responses, against a versioned policy.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Consistent enforcement</a:t>
            </a:r>
            <a:r>
              <a:rPr sz="1400">
                <a:solidFill>
                  <a:srgbClr val="5B6572"/>
                </a:solidFill>
                <a:latin typeface="Calibri"/>
              </a:rPr>
              <a:t> — same decisions and reason codes on every gateway.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Audit evidence</a:t>
            </a:r>
            <a:r>
              <a:rPr sz="1400">
                <a:solidFill>
                  <a:srgbClr val="5B6572"/>
                </a:solidFill>
                <a:latin typeface="Calibri"/>
              </a:rPr>
              <a:t> — who was evaluated, by which policy version, with what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548640"/>
          </a:xfrm>
          <a:prstGeom prst="round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It is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286000"/>
            <a:ext cx="5212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Not authorization</a:t>
            </a:r>
            <a:r>
              <a:rPr sz="1400">
                <a:solidFill>
                  <a:srgbClr val="5B6572"/>
                </a:solidFill>
                <a:latin typeface="Calibri"/>
              </a:rPr>
              <a:t> — “content looks safe” never means “this user may do this” — that stays with your application.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Not bypass-proof (yet)</a:t>
            </a:r>
            <a:r>
              <a:rPr sz="1400">
                <a:solidFill>
                  <a:srgbClr val="5B6572"/>
                </a:solidFill>
                <a:latin typeface="Calibri"/>
              </a:rPr>
              <a:t> — a cooperatively installed connector can be removed; stronger enforcement postures come later, by design.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Not a complete AI-security platform</a:t>
            </a:r>
            <a:r>
              <a:rPr sz="1400">
                <a:solidFill>
                  <a:srgbClr val="5B6572"/>
                </a:solidFill>
                <a:latin typeface="Calibri"/>
              </a:rPr>
              <a:t> — not full governance, not DLP, not compliance certification.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We state the limits plainly — that is why you can trust what it does claim.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The roadmap is the MVP — five phases, one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121408" cy="548640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12140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1F2937"/>
                </a:solidFill>
                <a:latin typeface="Calibri"/>
              </a:rPr>
              <a:t>Integration proof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B6572"/>
                </a:solidFill>
                <a:latin typeface="Calibri"/>
              </a:rPr>
              <a:t>Policy &amp; evaluation separated from any gateway; LiteLLM connector; observe mode.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88336" y="3291840"/>
            <a:ext cx="182880" cy="182880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9504" y="1600200"/>
            <a:ext cx="2121408" cy="548640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9504" y="2286000"/>
            <a:ext cx="212140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1F2937"/>
                </a:solidFill>
                <a:latin typeface="Calibri"/>
              </a:rPr>
              <a:t>Multi-team platform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B6572"/>
                </a:solidFill>
                <a:latin typeface="Calibri"/>
              </a:rPr>
              <a:t>Two independent teams on one policy; promotion &amp; rollback proven.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029200" y="3291840"/>
            <a:ext cx="182880" cy="182880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1600200"/>
            <a:ext cx="2121408" cy="548640"/>
          </a:xfrm>
          <a:prstGeom prst="roundRect">
            <a:avLst/>
          </a:prstGeom>
          <a:solidFill>
            <a:srgbClr val="C99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2286000"/>
            <a:ext cx="212140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1F2937"/>
                </a:solidFill>
                <a:latin typeface="Calibri"/>
              </a:rPr>
              <a:t>Guarded Gateway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B6572"/>
                </a:solidFill>
                <a:latin typeface="Calibri"/>
              </a:rPr>
              <a:t>Fully managed, OpenAI-compatible gateway with guardrails built in (Mode B).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370064" y="3291840"/>
            <a:ext cx="182880" cy="182880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2" y="1600200"/>
            <a:ext cx="2121408" cy="548640"/>
          </a:xfrm>
          <a:prstGeom prst="roundRect">
            <a:avLst/>
          </a:prstGeom>
          <a:solidFill>
            <a:srgbClr val="278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2" y="2286000"/>
            <a:ext cx="212140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1F2937"/>
                </a:solidFill>
                <a:latin typeface="Calibri"/>
              </a:rPr>
              <a:t>Customer-managed runtime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B6572"/>
                </a:solidFill>
                <a:latin typeface="Calibri"/>
              </a:rPr>
              <a:t>Same runtime packaged for the customer's own AWS account (Mode C).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10928" y="3291840"/>
            <a:ext cx="182880" cy="182880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2096" y="1600200"/>
            <a:ext cx="2121408" cy="5486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Phase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12096" y="2286000"/>
            <a:ext cx="2121408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1F2937"/>
                </a:solidFill>
                <a:latin typeface="Calibri"/>
              </a:rPr>
              <a:t>Advanced agent protection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B6572"/>
                </a:solidFill>
                <a:latin typeface="Calibri"/>
              </a:rPr>
              <a:t>Tool calls, retrieval, memory writes, MCP, human approvals.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64240" cy="685800"/>
          </a:xfrm>
          <a:prstGeom prst="roundRect">
            <a:avLst/>
          </a:prstGeom>
          <a:solidFill>
            <a:srgbClr val="E4F0EE"/>
          </a:solidFill>
          <a:ln w="254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2B3440"/>
                </a:solidFill>
                <a:latin typeface="Calibri"/>
              </a:rPr>
              <a:t>One MVP · one approval · delivered as a single 5-week program by one engineer + AI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B3440"/>
                </a:solidFill>
                <a:latin typeface="Calibri"/>
              </a:rPr>
              <a:t>You approve the destination once — and get a working, demonstrable slice at the end of every week.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Time estimation — five weeks, one week per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298448"/>
            <a:ext cx="859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B6572"/>
                </a:solidFill>
                <a:latin typeface="Calibri"/>
              </a:rPr>
              <a:t>W1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74736" y="1298448"/>
            <a:ext cx="859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B6572"/>
                </a:solidFill>
                <a:latin typeface="Calibri"/>
              </a:rPr>
              <a:t>W2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4272" y="1298448"/>
            <a:ext cx="859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B6572"/>
                </a:solidFill>
                <a:latin typeface="Calibri"/>
              </a:rPr>
              <a:t>W3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93808" y="1298448"/>
            <a:ext cx="859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B6572"/>
                </a:solidFill>
                <a:latin typeface="Calibri"/>
              </a:rPr>
              <a:t>W4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53344" y="1298448"/>
            <a:ext cx="859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B6572"/>
                </a:solidFill>
                <a:latin typeface="Calibri"/>
              </a:rPr>
              <a:t>W5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Phase 1 · Integration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38528"/>
            <a:ext cx="6583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Evaluation contract, policy format, Bedrock Guardrails adapter, LiteLLM connector, observe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673352"/>
            <a:ext cx="4297679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737360"/>
            <a:ext cx="768096" cy="530352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505456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Phase 2 · Multi-team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816352"/>
            <a:ext cx="6583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Second independent LiteLLM instance onboarded; one Observe, one Enforce; policy upgrade &amp; rollback.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2551176"/>
            <a:ext cx="4297679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0456" y="2615184"/>
            <a:ext cx="768096" cy="530352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83280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Phase 3 · Guarded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94176"/>
            <a:ext cx="6583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Managed OpenAI-compatible endpoint with guardrails and model routing (Mode B).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3429000"/>
            <a:ext cx="4297679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3493008"/>
            <a:ext cx="768096" cy="530352"/>
          </a:xfrm>
          <a:prstGeom prst="roundRect">
            <a:avLst/>
          </a:prstGeom>
          <a:solidFill>
            <a:srgbClr val="C99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61104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Phase 4 · Customer-managed runtime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6583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Runtime packaged for a customer AWS account; local policy cache, offline execution (Mode C).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306824"/>
            <a:ext cx="4297679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39528" y="4370832"/>
            <a:ext cx="768096" cy="530352"/>
          </a:xfrm>
          <a:prstGeom prst="roundRect">
            <a:avLst/>
          </a:prstGeom>
          <a:solidFill>
            <a:srgbClr val="278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138928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Phase 5 · Agent protection + hardening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449824"/>
            <a:ext cx="6583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Tool-call, retrieval and memory-write stages; MCP controls; security review; final live demo.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5184648"/>
            <a:ext cx="4297679" cy="658368"/>
          </a:xfrm>
          <a:prstGeom prst="rect">
            <a:avLst/>
          </a:prstGeom>
          <a:solidFill>
            <a:srgbClr val="F2F4F7"/>
          </a:solidFill>
          <a:ln w="635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99064" y="5248656"/>
            <a:ext cx="768096" cy="530352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B3440"/>
                </a:solidFill>
                <a:latin typeface="Calibri"/>
              </a:rPr>
              <a:t>Every week ends with a live demo of that phase's slice — five checkpoints, one 5-week envelope, hard stop at week 5.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One engineer, multiplied by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4572000" cy="548640"/>
          </a:xfrm>
          <a:prstGeom prst="round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engineer owns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4389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Architecture &amp; decisions</a:t>
            </a:r>
            <a:r>
              <a:rPr sz="1300">
                <a:solidFill>
                  <a:srgbClr val="5B6572"/>
                </a:solidFill>
                <a:latin typeface="Calibri"/>
              </a:rPr>
              <a:t> — scope, contracts, trade-offs.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Review &amp; acceptance</a:t>
            </a:r>
            <a:r>
              <a:rPr sz="1300">
                <a:solidFill>
                  <a:srgbClr val="5B6572"/>
                </a:solidFill>
                <a:latin typeface="Calibri"/>
              </a:rPr>
              <a:t> — every AI-produced change is reviewed before merge.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The demo</a:t>
            </a:r>
            <a:r>
              <a:rPr sz="1300">
                <a:solidFill>
                  <a:srgbClr val="5B6572"/>
                </a:solidFill>
                <a:latin typeface="Calibri"/>
              </a:rPr>
              <a:t> — runs the two-instance proof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554480"/>
            <a:ext cx="6126480" cy="5486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AI models work in parallel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240280"/>
            <a:ext cx="5943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Implementation</a:t>
            </a:r>
            <a:r>
              <a:rPr sz="1300">
                <a:solidFill>
                  <a:srgbClr val="5B6572"/>
                </a:solidFill>
                <a:latin typeface="Calibri"/>
              </a:rPr>
              <a:t> — service code, connector, adapters generated and iterated.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Testing</a:t>
            </a:r>
            <a:r>
              <a:rPr sz="1300">
                <a:solidFill>
                  <a:srgbClr val="5B6572"/>
                </a:solidFill>
                <a:latin typeface="Calibri"/>
              </a:rPr>
              <a:t> — unit, contract and conformance tests written alongside the code.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Adversarial review</a:t>
            </a:r>
            <a:r>
              <a:rPr sz="1300">
                <a:solidFill>
                  <a:srgbClr val="5B6572"/>
                </a:solidFill>
                <a:latin typeface="Calibri"/>
              </a:rPr>
              <a:t> — separate models cross-review code for defects and security issues.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Documentation</a:t>
            </a:r>
            <a:r>
              <a:rPr sz="1300">
                <a:solidFill>
                  <a:srgbClr val="5B6572"/>
                </a:solidFill>
                <a:latin typeface="Calibri"/>
              </a:rPr>
              <a:t> — onboarding guides and audit docs kept current from day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572"/>
                </a:solidFill>
                <a:latin typeface="Calibri"/>
              </a:rPr>
              <a:t>Why this is credible in 5 weeks: a deliberately narrow MVP, proven building blocks</a:t>
            </a:r>
          </a:p>
          <a:p>
            <a:pPr algn="l"/>
            <a:r>
              <a:rPr sz="1300" b="0" i="0">
                <a:solidFill>
                  <a:srgbClr val="5B6572"/>
                </a:solidFill>
                <a:latin typeface="Calibri"/>
              </a:rPr>
              <a:t>(LiteLLM hooks, Amazon Bedrock Guardrails), and AI models doing the parallel work of a small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Cost of the whole MVP: one person, five weeks, existing AWS accounts.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MVP EXIT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What success looks like — falsifiable, not aspirational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libri"/>
              </a:rPr>
              <a:t>The MVP will be considered successful when, in a live demonstration at week 5: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0370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Two independent LiteLLM instances consume the same policy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20370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1488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Neither shares model-provider credentials with the platform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7238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Both receive consistent, normalized decisions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7238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1752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One workload runs in Observe, another in Enforce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4106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88620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A policy is upgraded — and rolled back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94106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88620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Raw prompt/response persistence can be switched off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809743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754879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Evaluation failures follow the configured failure policy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809743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754879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An agent's tool call is validated before it executes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If we cannot demonstrate this at week 5, nothing further gets funded. That is the point.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9FB3C8"/>
                </a:solidFill>
                <a:latin typeface="Calibri"/>
              </a:rPr>
              <a:t>THE DECISION WE ARE ASKING FOR TODAY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371600"/>
            <a:ext cx="594360" cy="5943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3258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Approve the AI Guardrails MVP — full five-phase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7556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B9C5D1"/>
                </a:solidFill>
                <a:latin typeface="Calibri"/>
              </a:rPr>
              <a:t>5 weeks, one engineer working with multiple AI models, existing AWS accounts.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514600"/>
            <a:ext cx="594360" cy="5943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688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Name one pilot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986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B9C5D1"/>
                </a:solidFill>
                <a:latin typeface="Calibri"/>
              </a:rPr>
              <a:t>second independent LiteLLM instance for the proof — plus one agentic workload (e.g. LangGraph) for week-5 validation.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657600"/>
            <a:ext cx="594360" cy="5943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6118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Agree every pilot starts in Observe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0416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B9C5D1"/>
                </a:solidFill>
                <a:latin typeface="Calibri"/>
              </a:rPr>
              <a:t>no blocking behavior until the evidence supports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983480"/>
            <a:ext cx="10424160" cy="12700"/>
          </a:xfrm>
          <a:prstGeom prst="rect">
            <a:avLst/>
          </a:prstGeom>
          <a:solidFill>
            <a:srgbClr val="4A5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9C5D1"/>
                </a:solidFill>
                <a:latin typeface="Calibri"/>
              </a:rPr>
              <a:t>What we are NOT asking for: additional headcount, external spend beyond existing AWS accounts,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9C5D1"/>
                </a:solidFill>
                <a:latin typeface="Calibri"/>
              </a:rPr>
              <a:t>or production enforcement on day one. Anything beyond week 5 is a separate, later decision.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