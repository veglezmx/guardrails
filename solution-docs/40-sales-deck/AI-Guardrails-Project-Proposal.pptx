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Core message and ask per DECK-BRIEF 'Core message' and 'Desired audience action'; three modes per AGR-002; full-solution scope basis per DEC-008.</a:t>
            </a:r>
          </a:p>
          <a:p>
            <a:r>
              <a:t>CAVEATS: Deck styling uses placeholder tokens only (VISUAL-DIRECTION §1) — no brand kit exists yet. Platform is pre-approval: nothing here is built or proven yet. The scope being approved and estimated is the full feature set across five phases (DEC-008); execution remains phase-gated (AGR-020).</a:t>
            </a:r>
          </a:p>
          <a:p>
            <a:r>
              <a:t>TALK TRACK: Open on the one sentence everything else supports, then name the decision this meeting exists to make: approve the AI Guardrails solution — full feature set, five delivery phases.</a:t>
            </a:r>
          </a:p>
          <a:p>
            <a:r>
              <a:t>ANTICIPATED QUESTIONS: 'Is this already running somewhere?' — No. This deck asks for approval to build it; delivery starts with Phase 1, Integration Proof.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seed.md §1–§2; EXECUTIVE-BRIEF §2. Fragmentation is the root condition (CUSTOMER-PAIN-POINTS pain #1).</a:t>
            </a:r>
          </a:p>
          <a:p>
            <a:r>
              <a:t>CAVEATS: No incident counts, dollar figures, or adoption timelines exist in the source material — do not improvise any in Q&amp;A.</a:t>
            </a:r>
          </a:p>
          <a:p>
            <a:r>
              <a:t>TALK TRACK: Establish that this is today's reality, not a hypothetical. Bridge: 'and it is costing us in five concrete ways' → next slide.</a:t>
            </a:r>
          </a:p>
          <a:p>
            <a:r>
              <a:t>ANTICIPATED QUESTIONS: 'Don't some teams already have guardrails?' — Some do: bespoke regex filters, ad hoc moderation calls, one-off Bedrock wiring. Undocumented, untested against other traffic, and they drift or vanish when the author moves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EXECUTIVE-BRIEF §3 (business impact table), seed.md §7, §20.</a:t>
            </a:r>
          </a:p>
          <a:p>
            <a:r>
              <a:t>CAVEATS: The TBD line is deliberate and must be said out loud: we do not invent figures. If leadership wants a quantified cost baseline, that is a follow-up work item.</a:t>
            </a:r>
          </a:p>
          <a:p>
            <a:r>
              <a:t>TALK TRACK: Translate the problem into organizational impact dimensions a decision-maker owns. Bridge: 'here is the fix we are proposing' → next slide.</a:t>
            </a:r>
          </a:p>
          <a:p>
            <a:r>
              <a:t>ANTICIPATED QUESTIONS: 'What does this cost us per year?' — TBD; the source material contains no quantified estimate and we will not improvise one. We can scope a measurement exercise as part of Phase 1 observe-mode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Product statement quoted near-verbatim from seed.md §23. Standalone-platform line per AGR-001.</a:t>
            </a:r>
          </a:p>
          <a:p>
            <a:r>
              <a:t>CAVEATS: LiteLLM is the first connector and Bedrock Guardrails the first engine — neither defines the product boundary (AGR-003, AGR-004). Do not present either as exclusive or permanent.</a:t>
            </a:r>
          </a:p>
          <a:p>
            <a:r>
              <a:t>TALK TRACK: Read the statement once, slowly — it is the only long text block in the deck. Bridge: 'one mental model of how it works' → next slide.</a:t>
            </a:r>
          </a:p>
          <a:p>
            <a:r>
              <a:t>ANTICIPATED QUESTIONS: 'Why not just extend our existing LiteLLM?' — Embedding couples enforcement to one team's gateway lifecycle and prevents reuse (AGR-001); that is the exact failure mode we have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Logical architecture from seed.md §10 (control plane → policy distribution → runtime → engines); decision structure from seed.md §9; one contract across modes per AGR-006.</a:t>
            </a:r>
          </a:p>
          <a:p>
            <a:r>
              <a:t>CAVEATS: Keep to this three-part model — do not expand into full component inventory. Decision structure holds identically across all three deployment modes.</a:t>
            </a:r>
          </a:p>
          <a:p>
            <a:r>
              <a:t>TALK TRACK: One mental model before any deployment detail: policy lives centrally, evaluation happens in a runtime, engines are pluggable behind adapters. Bridge: 'the key design choice that makes policy reusable' → next slide.</a:t>
            </a:r>
          </a:p>
          <a:p>
            <a:r>
              <a:t>ANTICIPATED QUESTIONS: 'Which engines besides Bedrock Guardrails?' — Bedrock Guardrails plus deterministic organization rules in the MVP; the contract is vendor-independent so additional engines land behind the same adapter (AGR-004).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seed.md §5.3 example, near-verbatim; separation mandatory per AGR-007; portability per AGR-005 (no coupling to LiteLLM config or Bedrock response formats — CON-003/CON-004).</a:t>
            </a:r>
          </a:p>
          <a:p>
            <a:r>
              <a:t>CAVEATS: This is the frequent buyer-confusion point — keep the two sentences verbatim; they carry the whole distinction.</a:t>
            </a:r>
          </a:p>
          <a:p>
            <a:r>
              <a:t>TALK TRACK: Pause here; this is the architectural heart of the proposal. Bridge: 'that separation is what lets us offer three ways to adopt' → next slide.</a:t>
            </a:r>
          </a:p>
          <a:p>
            <a:r>
              <a:t>ANTICIPATED QUESTIONS: 'Is a policy just a Bedrock Guardrails config?' — No; vendor behavior sits behind adapters. Policies do not depend on LiteLLM configuration structures or Bedrock response formats.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Three modes per AGR-002 and seed.md §3; one contract across modes per AGR-006; mode-choice framing per DECK-BRIEF supporting message 3.</a:t>
            </a:r>
          </a:p>
          <a:p>
            <a:r>
              <a:t>CAVEATS: MANDATORY (AGR-009): Mode A must only be described as 'bring your own gateway while consuming a hosted guardrail runtime' — never private-data or data-local; its benefit is reduced operational ownership, not reduced data exposure. Modes are NOT equally mature: Phase 1 exercises the Mode A path; Mode B lands in Phase 3, Mode C in Phase 4.</a:t>
            </a:r>
          </a:p>
          <a:p>
            <a:r>
              <a:t>TALK TRACK: Present as a genuine choice driven by each workload's needs. Bridge: 'security's first question is where content goes — next slide answers it head-on.'</a:t>
            </a:r>
          </a:p>
          <a:p>
            <a:r>
              <a:t>ANTICIPATED QUESTIONS: 'Which mode is available today?' — None yet; Phase 1 builds and proves the Remote Evaluation path via the LiteLLM connector. Modes B and C are later phases of the approved program (3 and 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Ownership-vs-exposure separation per AGR-008; Mode A exposure per AGR-009; retention default per AGR-014; Mode C telemetry control per AGR-016; per-deployment documentation per CON-007.</a:t>
            </a:r>
          </a:p>
          <a:p>
            <a:r>
              <a:t>CAVEATS: Never say 'never retained' without the 'by default / unless explicitly configured' qualifier. The red Mode A cell is deliberate — this deck states the exposure before security asks.</a:t>
            </a:r>
          </a:p>
          <a:p>
            <a:r>
              <a:t>TALK TRACK: This slide exists to answer security's first question before it is asked. Bridge: 'the other adoption fear is breaking production — next slide.'</a:t>
            </a:r>
          </a:p>
          <a:p>
            <a:r>
              <a:t>ANTICIPATED QUESTIONS: 'Can we keep content in our account?' — That is Mode C, Customer-Managed Runtime, delivered in Phase 4 — a separately gated decision, not part of today's 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Graduated progression per AGR-011 and seed.md §5.6; adoption-risk framing per DECK-BRIEF supporting message 4.</a:t>
            </a:r>
          </a:p>
          <a:p>
            <a:r>
              <a:t>CAVEATS: Detection quality of Bedrock Guardrails + deterministic rules is itself still an assumption under validation (ASSUMPTIONS ASM-017) — which is exactly why observe mode comes first. Do not quote false-positive or latency figures; none exist yet.</a:t>
            </a:r>
          </a:p>
          <a:p>
            <a:r>
              <a:t>TALK TRACK: This removes the strongest rational objection to adoption: fear of breaking production. Bridge: 'we are equally explicit about what this platform is not' → next slide.</a:t>
            </a:r>
          </a:p>
          <a:p>
            <a:r>
              <a:t>ANTICIPATED QUESTIONS: 'How long does a workload stay in Observe?' — Until its own measured evidence supports promotion; no fixed duration is defined in the source material.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Not-authorization per AGR-010; cooperative connector not a hard boundary per AGR-018; out-of-scope categories per seed.md §6.3, §20 ('false confidence'); credibility framing per DECK-BRIEF supporting message 5.</a:t>
            </a:r>
          </a:p>
          <a:p>
            <a:r>
              <a:t>CAVEATS: MANDATORY SLIDE — must never be cut, shortened to a footnote, or moved to backup (DECK-BRIEF output requirement 5). It is load-bearing for the security/compliance audience.</a:t>
            </a:r>
          </a:p>
          <a:p>
            <a:r>
              <a:t>TALK TRACK: Deliver as a credibility signal, not an apology: every vendor that overclaims here creates the exact false-confidence failure we are trying to prevent. Bridge: 'so what IS structurally different?' → next slide.</a:t>
            </a:r>
          </a:p>
          <a:p>
            <a:r>
              <a:t>ANTICIPATED QUESTIONS: 'If it's not a security boundary, why buy it?' — Cooperative mode is the adoption posture; platform-managed and network/IAM-enforced postures raise bypass resistance later (AGR-018). Content evaluation done consistently, with evidence, is the value — not a false guarantee.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Differentiators #1, #2, #5 selected from 20-product/DIFFERENTIATORS.md per DECK-BRIEF slide-11 guidance; independence per AGR-003/AGR-004/AGR-005.</a:t>
            </a:r>
          </a:p>
          <a:p>
            <a:r>
              <a:t>CAVEATS: Do not claim broad out-of-the-box gateway/provider support (only LiteLLM + Bedrock validated), automatic feature parity across modes, or any named competitive benchmark — none exists in source.</a:t>
            </a:r>
          </a:p>
          <a:p>
            <a:r>
              <a:t>TALK TRACK: Land the argument in three points; resist listing all six differentiators. Bridge: 'here is the path we propose to deliver it' → roadmap.</a:t>
            </a:r>
          </a:p>
          <a:p>
            <a:r>
              <a:t>ANTICIPATED QUESTIONS: 'How is this different from vendor X?' — No competitive benchmark exists in our source material; the structural argument is the portable contract plus the separated ownership/exposure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Five-phase delivery per AGR-020 and seed.md §18; full-feature scope and estimation basis per DEC-008; phasing framing per EXECUTIVE-BRIEF §6, §9.</a:t>
            </a:r>
          </a:p>
          <a:p>
            <a:r>
              <a:t>CAVEATS: MANDATORY: no calendar dates, quarters, durations, or headcounts — none are decided (deliberately absent, not omitted). All five phases are in the approved scope, but NOTHING is available today — Phase 3/4/5 capabilities must never be presented as delivered. Each phase's deliverables are validated before the next proceeds (AGR-020).</a:t>
            </a:r>
          </a:p>
          <a:p>
            <a:r>
              <a:t>TALK TRACK: Phase 1 is where delivery starts, not the only thing being approved: the scope and estimation cover the whole program. Bridge: 'and the first proof point is falsifiable' → next slide.</a:t>
            </a:r>
          </a:p>
          <a:p>
            <a:r>
              <a:t>ANTICIPATED QUESTIONS: 'When does Phase 3 land?' — Dates are TBD by design; sequencing is fixed and each phase gate must pass first.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Phase 1–2 validation demonstration per seed.md §16, 60-delivery/VALIDATION-PLAN.md, and DEC-008 (no longer a register-level agreement — it is a delivery-plan milestone). Overall solution success = five phases delivered and validated (AGR-020).</a:t>
            </a:r>
          </a:p>
          <a:p>
            <a:r>
              <a:t>CAVEATS: Future/conditional phrasing only — nothing has been built or executed; nothing here is in progress or proven. Requires two genuinely independent LiteLLM deployments, not one tested twice. This gate governs whether execution proceeds past Phase 2.</a:t>
            </a:r>
          </a:p>
          <a:p>
            <a:r>
              <a:t>TALK TRACK: Falsifiability is the credibility move: the program's first proof point is testable, and delivery does not proceed past it unvalidated. Bridge: 'what this costs each group in effort' → next slide.</a:t>
            </a:r>
          </a:p>
          <a:p>
            <a:r>
              <a:t>ANTICIPATED QUESTIONS: 'What if only one pilot team signs up?' — The demonstration cannot run; confirming a second independent team is part of today's ask (ASSUMPTIONS ASM-002/ASM-003).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Ownership boundaries per seed.md §21 and EXECUTIVE-BRIEF §7; onboarding ('import') boundaries per AGR-019.</a:t>
            </a:r>
          </a:p>
          <a:p>
            <a:r>
              <a:t>CAVEATS: MVP infrastructure is deliberately minimal: AWS, two accounts (one non-prod, one prod), managed services — AGR-013. Budget/headcount are TBD and supplied by delivery/product leads before final sign-off.</a:t>
            </a:r>
          </a:p>
          <a:p>
            <a:r>
              <a:t>TALK TRACK: This answers 'what does it cost my team in effort' before it is asked — consuming teams install a connector and review findings; they do not surrender their gateway. Effort/headcount figures are TBD pending the full-scope estimation. Bridge: 'which brings us to the decision' → the ask.</a:t>
            </a:r>
          </a:p>
          <a:p>
            <a:r>
              <a:t>ANTICIPATED QUESTIONS: 'Does the platform team take over our gateway?' — No. 'Import' means adopting a policy, a workload identity, a manifest, and a connector config — never remote control of your LiteLLM (AGR-019).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Ask per DECK-BRIEF 'Desired audience action' and EXECUTIVE-BRIEF §9–§10 as reframed by DEC-008 (full solution, full-feature estimation basis); in-room commitments per ASSUMPTIONS ASM-002/ASM-003 and AGR-011; five-phase gating per AGR-020.</a:t>
            </a:r>
          </a:p>
          <a:p>
            <a:r>
              <a:t>CAVEATS: The approval covers the full solution scope; it does NOT commit a budget figure (TBD until the estimation is supplied) or dates. Do not let 'full scope' drift into the seed.md §6.3 exclusions — those stay out. Named contact and scheduling details are TBD in the source material.</a:t>
            </a:r>
          </a:p>
          <a:p>
            <a:r>
              <a:t>TALK TRACK: Close on the decision, not on thank-you. Restate: standalone platform, full feature set across five validation-gated phases, second pilot team named, observe-first. Then stop talking.</a:t>
            </a:r>
          </a:p>
          <a:p>
            <a:r>
              <a:t>ANTICIPATED QUESTIONS: 'Can we approve conditionally on budget?' — Yes in substance: this decision approves scope and approach; delivery and product leads supply the full-scope estimation figures before final sign-off.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Condensed from CUSTOMER-PAIN-POINTS sales cautions and EXECUTIVE-BRIEF §8 risk table; boundaries per AGR-009, AGR-010, AGR-014, AGR-018; latency-tolerance open per ASSUMPTIONS ASM-011/ASM-012.</a:t>
            </a:r>
          </a:p>
          <a:p>
            <a:r>
              <a:t>CAVEATS: Pull only the row matching the objection actually raised — do not walk the whole table. For anything deeper, defer to a follow-up with the architecture set (50-architecture/).</a:t>
            </a:r>
          </a:p>
          <a:p>
            <a:r>
              <a:t>TALK TRACK: Backup only; never in the default flow.</a:t>
            </a:r>
          </a:p>
          <a:p>
            <a:r>
              <a:t>ANTICIPATED QUESTIONS: For objections not covered here, consult 20-product/FAQ.md rather than improvising a claim.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Core domain model per AGR-017 and seed.md §9.</a:t>
            </a:r>
          </a:p>
          <a:p>
            <a:r>
              <a:t>CAVEATS: Definitions are introductory, not exhaustive — the full attribute lists in seed.md §9 stay out of the deck by design (slide-density rule).</a:t>
            </a:r>
          </a:p>
          <a:p>
            <a:r>
              <a:t>TALK TRACK: Backup only; use if the audience loses the tenant/workload/policy/binding thread.</a:t>
            </a:r>
          </a:p>
          <a:p>
            <a:r>
              <a:t>ANTICIPATED QUESTIONS: 'Where is the full schema?' — seed.md §9 and the 50-architecture set; offer a technical deep-dive.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486400" cy="365760"/>
          </a:xfrm>
          <a:prstGeom prst="rect">
            <a:avLst/>
          </a:prstGeom>
          <a:noFill/>
        </p:spPr>
        <p:txBody>
          <a:bodyPr wrap="square" anchor="t">
            <a:spAutoFit/>
          </a:bodyPr>
          <a:lstStyle/>
          <a:p>
            <a:pPr algn="l">
              <a:lnSpc>
                <a:spcPct val="100000"/>
              </a:lnSpc>
              <a:spcAft>
                <a:spcPts val="600"/>
              </a:spcAft>
            </a:pPr>
            <a:r>
              <a:rPr sz="1500" b="1">
                <a:solidFill>
                  <a:srgbClr val="FFFFFF"/>
                </a:solidFill>
                <a:latin typeface="Arial"/>
              </a:rPr>
              <a:t>AI GUARDRAILS</a:t>
            </a:r>
          </a:p>
        </p:txBody>
      </p:sp>
      <p:sp>
        <p:nvSpPr>
          <p:cNvPr id="4" name="TextBox 3"/>
          <p:cNvSpPr txBox="1"/>
          <p:nvPr/>
        </p:nvSpPr>
        <p:spPr>
          <a:xfrm>
            <a:off x="548640" y="1920240"/>
            <a:ext cx="11094415" cy="2194560"/>
          </a:xfrm>
          <a:prstGeom prst="rect">
            <a:avLst/>
          </a:prstGeom>
          <a:noFill/>
        </p:spPr>
        <p:txBody>
          <a:bodyPr wrap="square" anchor="t">
            <a:spAutoFit/>
          </a:bodyPr>
          <a:lstStyle/>
          <a:p>
            <a:pPr algn="l">
              <a:lnSpc>
                <a:spcPct val="105000"/>
              </a:lnSpc>
              <a:spcAft>
                <a:spcPts val="1000"/>
              </a:spcAft>
            </a:pPr>
            <a:r>
              <a:rPr sz="3200" b="1">
                <a:solidFill>
                  <a:srgbClr val="FFFFFF"/>
                </a:solidFill>
                <a:latin typeface="Arial"/>
              </a:rPr>
              <a:t>One guardrail policy. Any gateway you already run.</a:t>
            </a:r>
          </a:p>
          <a:p>
            <a:pPr algn="l">
              <a:lnSpc>
                <a:spcPct val="105000"/>
              </a:lnSpc>
              <a:spcAft>
                <a:spcPts val="1000"/>
              </a:spcAft>
            </a:pPr>
            <a:r>
              <a:rPr sz="3200" b="1">
                <a:solidFill>
                  <a:srgbClr val="BFCCDA"/>
                </a:solidFill>
                <a:latin typeface="Arial"/>
              </a:rPr>
              <a:t>The deployment mode your data needs — not the one we happen to support best.</a:t>
            </a:r>
          </a:p>
        </p:txBody>
      </p:sp>
      <p:sp>
        <p:nvSpPr>
          <p:cNvPr id="5" name="TextBox 4"/>
          <p:cNvSpPr txBox="1"/>
          <p:nvPr/>
        </p:nvSpPr>
        <p:spPr>
          <a:xfrm>
            <a:off x="548640" y="4160520"/>
            <a:ext cx="11094415" cy="457200"/>
          </a:xfrm>
          <a:prstGeom prst="rect">
            <a:avLst/>
          </a:prstGeom>
          <a:noFill/>
        </p:spPr>
        <p:txBody>
          <a:bodyPr wrap="square" anchor="t">
            <a:spAutoFit/>
          </a:bodyPr>
          <a:lstStyle/>
          <a:p>
            <a:pPr algn="l">
              <a:lnSpc>
                <a:spcPct val="100000"/>
              </a:lnSpc>
              <a:spcAft>
                <a:spcPts val="600"/>
              </a:spcAft>
            </a:pPr>
            <a:r>
              <a:rPr sz="1600" b="0">
                <a:solidFill>
                  <a:srgbClr val="FFFFFF"/>
                </a:solidFill>
                <a:latin typeface="Arial"/>
              </a:rPr>
              <a:t>Implementation proposal  ·  Requesting approval: </a:t>
            </a:r>
            <a:r>
              <a:rPr sz="1600" b="1">
                <a:solidFill>
                  <a:srgbClr val="C9971D"/>
                </a:solidFill>
                <a:latin typeface="Arial"/>
              </a:rPr>
              <a:t>the full solution — five delivery phases</a:t>
            </a:r>
          </a:p>
        </p:txBody>
      </p:sp>
      <p:sp>
        <p:nvSpPr>
          <p:cNvPr id="6" name="Rounded Rectangle 5"/>
          <p:cNvSpPr/>
          <p:nvPr/>
        </p:nvSpPr>
        <p:spPr>
          <a:xfrm>
            <a:off x="548640" y="4892040"/>
            <a:ext cx="2926080" cy="457200"/>
          </a:xfrm>
          <a:prstGeom prst="roundRect">
            <a:avLst/>
          </a:prstGeom>
          <a:noFill/>
          <a:ln w="19050">
            <a:solidFill>
              <a:srgbClr val="4A90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100" b="1">
                <a:solidFill>
                  <a:srgbClr val="FFFFFF"/>
                </a:solidFill>
                <a:latin typeface="Arial"/>
              </a:rPr>
              <a:t>Mode A · Remote Evaluation</a:t>
            </a:r>
          </a:p>
        </p:txBody>
      </p:sp>
      <p:sp>
        <p:nvSpPr>
          <p:cNvPr id="7" name="Rounded Rectangle 6"/>
          <p:cNvSpPr/>
          <p:nvPr/>
        </p:nvSpPr>
        <p:spPr>
          <a:xfrm>
            <a:off x="3703320" y="4892040"/>
            <a:ext cx="2926080" cy="457200"/>
          </a:xfrm>
          <a:prstGeom prst="roundRect">
            <a:avLst/>
          </a:prstGeom>
          <a:noFill/>
          <a:ln w="19050">
            <a:solidFill>
              <a:srgbClr val="8A4F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100" b="1">
                <a:solidFill>
                  <a:srgbClr val="FFFFFF"/>
                </a:solidFill>
                <a:latin typeface="Arial"/>
              </a:rPr>
              <a:t>Mode B · Guarded Gateway</a:t>
            </a:r>
          </a:p>
        </p:txBody>
      </p:sp>
      <p:sp>
        <p:nvSpPr>
          <p:cNvPr id="8" name="Rounded Rectangle 7"/>
          <p:cNvSpPr/>
          <p:nvPr/>
        </p:nvSpPr>
        <p:spPr>
          <a:xfrm>
            <a:off x="6858000" y="4892040"/>
            <a:ext cx="2926080" cy="457200"/>
          </a:xfrm>
          <a:prstGeom prst="roundRect">
            <a:avLst/>
          </a:prstGeom>
          <a:noFill/>
          <a:ln w="19050">
            <a:solidFill>
              <a:srgbClr val="2783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100" b="1">
                <a:solidFill>
                  <a:srgbClr val="FFFFFF"/>
                </a:solidFill>
                <a:latin typeface="Arial"/>
              </a:rPr>
              <a:t>Mode C · Customer-Managed Runtime</a:t>
            </a:r>
          </a:p>
        </p:txBody>
      </p:sp>
      <p:sp>
        <p:nvSpPr>
          <p:cNvPr id="9" name="TextBox 8"/>
          <p:cNvSpPr txBox="1"/>
          <p:nvPr/>
        </p:nvSpPr>
        <p:spPr>
          <a:xfrm>
            <a:off x="548640" y="6172200"/>
            <a:ext cx="11094415" cy="365760"/>
          </a:xfrm>
          <a:prstGeom prst="rect">
            <a:avLst/>
          </a:prstGeom>
          <a:noFill/>
        </p:spPr>
        <p:txBody>
          <a:bodyPr wrap="square" anchor="t">
            <a:spAutoFit/>
          </a:bodyPr>
          <a:lstStyle/>
          <a:p>
            <a:pPr algn="l">
              <a:lnSpc>
                <a:spcPct val="100000"/>
              </a:lnSpc>
              <a:spcAft>
                <a:spcPts val="600"/>
              </a:spcAft>
            </a:pPr>
            <a:r>
              <a:rPr sz="900" b="0">
                <a:solidFill>
                  <a:srgbClr val="8E9DAD"/>
                </a:solidFill>
                <a:latin typeface="Arial"/>
              </a:rPr>
              <a:t>Internal — pre-approval draft  ·  2026-07-24  ·  placeholder styling, pending brand kit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THE PROBLEM</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Every team is inventing its own guardrails</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6675120" cy="3840480"/>
          </a:xfrm>
          <a:prstGeom prst="rect">
            <a:avLst/>
          </a:prstGeom>
          <a:noFill/>
        </p:spPr>
        <p:txBody>
          <a:bodyPr wrap="square" anchor="t">
            <a:spAutoFit/>
          </a:bodyPr>
          <a:lstStyle/>
          <a:p>
            <a:pPr algn="l">
              <a:lnSpc>
                <a:spcPct val="105000"/>
              </a:lnSpc>
              <a:spcAft>
                <a:spcPts val="1400"/>
              </a:spcAft>
            </a:pPr>
            <a:r>
              <a:rPr sz="1600" b="0">
                <a:solidFill>
                  <a:srgbClr val="2B3A49"/>
                </a:solidFill>
                <a:latin typeface="Arial"/>
              </a:rPr>
              <a:t>—  Teams adopt LLMs one by one — each builds its own safeguards, coupled to its own gateway and model provider.</a:t>
            </a:r>
          </a:p>
          <a:p>
            <a:pPr algn="l">
              <a:lnSpc>
                <a:spcPct val="105000"/>
              </a:lnSpc>
              <a:spcAft>
                <a:spcPts val="1400"/>
              </a:spcAft>
            </a:pPr>
            <a:r>
              <a:rPr sz="1600" b="0">
                <a:solidFill>
                  <a:srgbClr val="2B3A49"/>
                </a:solidFill>
                <a:latin typeface="Arial"/>
              </a:rPr>
              <a:t>—  No shared policy definition, decision format, or audit trail exists across teams.</a:t>
            </a:r>
          </a:p>
          <a:p>
            <a:pPr algn="l">
              <a:lnSpc>
                <a:spcPct val="105000"/>
              </a:lnSpc>
              <a:spcAft>
                <a:spcPts val="1400"/>
              </a:spcAft>
            </a:pPr>
            <a:r>
              <a:rPr sz="1600" b="0">
                <a:solidFill>
                  <a:srgbClr val="2B3A49"/>
                </a:solidFill>
                <a:latin typeface="Arial"/>
              </a:rPr>
              <a:t>—  No safe way to test a policy before it can block real production traffic.</a:t>
            </a:r>
          </a:p>
        </p:txBody>
      </p:sp>
      <p:sp>
        <p:nvSpPr>
          <p:cNvPr id="6" name="Rounded Rectangle 5"/>
          <p:cNvSpPr/>
          <p:nvPr/>
        </p:nvSpPr>
        <p:spPr>
          <a:xfrm>
            <a:off x="7589520" y="1828800"/>
            <a:ext cx="4023360" cy="3017520"/>
          </a:xfrm>
          <a:prstGeom prst="roundRect">
            <a:avLst/>
          </a:prstGeom>
          <a:solidFill>
            <a:srgbClr val="F2F5F8"/>
          </a:solidFill>
          <a:ln w="12700">
            <a:solidFill>
              <a:srgbClr val="C5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18120" y="2286000"/>
            <a:ext cx="3566160" cy="2377440"/>
          </a:xfrm>
          <a:prstGeom prst="rect">
            <a:avLst/>
          </a:prstGeom>
          <a:noFill/>
        </p:spPr>
        <p:txBody>
          <a:bodyPr wrap="square" anchor="t">
            <a:spAutoFit/>
          </a:bodyPr>
          <a:lstStyle/>
          <a:p>
            <a:pPr algn="l">
              <a:lnSpc>
                <a:spcPct val="110000"/>
              </a:lnSpc>
              <a:spcAft>
                <a:spcPts val="1200"/>
              </a:spcAft>
            </a:pPr>
            <a:r>
              <a:rPr sz="1300" b="0">
                <a:solidFill>
                  <a:srgbClr val="607086"/>
                </a:solidFill>
                <a:latin typeface="Arial"/>
              </a:rPr>
              <a:t>The question we cannot answer today, with evidence:</a:t>
            </a:r>
          </a:p>
          <a:p>
            <a:pPr algn="l">
              <a:lnSpc>
                <a:spcPct val="110000"/>
              </a:lnSpc>
              <a:spcAft>
                <a:spcPts val="1200"/>
              </a:spcAft>
            </a:pPr>
            <a:r>
              <a:rPr sz="1900" b="1">
                <a:solidFill>
                  <a:srgbClr val="2B3A49"/>
                </a:solidFill>
                <a:latin typeface="Arial"/>
              </a:rPr>
              <a:t>“Are our AI workloads governed consistently?”</a:t>
            </a:r>
          </a:p>
        </p:txBody>
      </p:sp>
      <p:sp>
        <p:nvSpPr>
          <p:cNvPr id="8" name="TextBox 7"/>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9" name="TextBox 8"/>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IMPACT</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Why this is costing us</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00200"/>
          <a:ext cx="11091672" cy="3566160"/>
        </p:xfrm>
        <a:graphic>
          <a:graphicData uri="http://schemas.openxmlformats.org/drawingml/2006/table">
            <a:tbl>
              <a:tblPr firstRow="1" bandRow="1">
                <a:tableStyleId>{5C22544A-7EE6-4342-B048-85BDC9FD1C3A}</a:tableStyleId>
              </a:tblPr>
              <a:tblGrid>
                <a:gridCol w="3017520"/>
                <a:gridCol w="8074152"/>
              </a:tblGrid>
              <a:tr h="594360">
                <a:tc>
                  <a:txBody>
                    <a:bodyPr wrap="square"/>
                    <a:lstStyle/>
                    <a:p>
                      <a:r>
                        <a:rPr sz="1100" b="1">
                          <a:solidFill>
                            <a:srgbClr val="FFFFFF"/>
                          </a:solidFill>
                          <a:latin typeface="Arial"/>
                        </a:rPr>
                        <a:t>Dimension</a:t>
                      </a:r>
                    </a:p>
                  </a:txBody>
                  <a:tcPr marL="73152" marR="73152" marT="36576" marB="36576" anchor="ctr">
                    <a:solidFill>
                      <a:srgbClr val="2B3A49"/>
                    </a:solidFill>
                  </a:tcPr>
                </a:tc>
                <a:tc>
                  <a:txBody>
                    <a:bodyPr wrap="square"/>
                    <a:lstStyle/>
                    <a:p>
                      <a:r>
                        <a:rPr sz="1100" b="1">
                          <a:solidFill>
                            <a:srgbClr val="FFFFFF"/>
                          </a:solidFill>
                          <a:latin typeface="Arial"/>
                        </a:rPr>
                        <a:t>Impact of the current gap</a:t>
                      </a:r>
                    </a:p>
                  </a:txBody>
                  <a:tcPr marL="73152" marR="73152" marT="36576" marB="36576" anchor="ctr">
                    <a:solidFill>
                      <a:srgbClr val="2B3A49"/>
                    </a:solidFill>
                  </a:tcPr>
                </a:tc>
              </a:tr>
              <a:tr h="594360">
                <a:tc>
                  <a:txBody>
                    <a:bodyPr wrap="square"/>
                    <a:lstStyle/>
                    <a:p>
                      <a:r>
                        <a:rPr sz="1200" b="0">
                          <a:solidFill>
                            <a:srgbClr val="2B3A49"/>
                          </a:solidFill>
                          <a:latin typeface="Arial"/>
                        </a:rPr>
                        <a:t>Governance consistency</a:t>
                      </a:r>
                    </a:p>
                  </a:txBody>
                  <a:tcPr marL="73152" marR="73152" marT="36576" marB="36576" anchor="ctr">
                    <a:solidFill>
                      <a:srgbClr val="FFFFFF"/>
                    </a:solidFill>
                  </a:tcPr>
                </a:tc>
                <a:tc>
                  <a:txBody>
                    <a:bodyPr wrap="square"/>
                    <a:lstStyle/>
                    <a:p>
                      <a:r>
                        <a:rPr sz="1200" b="0">
                          <a:solidFill>
                            <a:srgbClr val="2B3A49"/>
                          </a:solidFill>
                          <a:latin typeface="Arial"/>
                        </a:rPr>
                        <a:t>No policy-version traceability or decision evidence across teams.</a:t>
                      </a:r>
                    </a:p>
                  </a:txBody>
                  <a:tcPr marL="73152" marR="73152" marT="36576" marB="36576" anchor="ctr">
                    <a:solidFill>
                      <a:srgbClr val="FFFFFF"/>
                    </a:solidFill>
                  </a:tcPr>
                </a:tc>
              </a:tr>
              <a:tr h="594360">
                <a:tc>
                  <a:txBody>
                    <a:bodyPr wrap="square"/>
                    <a:lstStyle/>
                    <a:p>
                      <a:r>
                        <a:rPr sz="1200" b="0">
                          <a:solidFill>
                            <a:srgbClr val="2B3A49"/>
                          </a:solidFill>
                          <a:latin typeface="Arial"/>
                        </a:rPr>
                        <a:t>Engineering duplication</a:t>
                      </a:r>
                    </a:p>
                  </a:txBody>
                  <a:tcPr marL="73152" marR="73152" marT="36576" marB="36576" anchor="ctr">
                    <a:solidFill>
                      <a:srgbClr val="FFFFFF"/>
                    </a:solidFill>
                  </a:tcPr>
                </a:tc>
                <a:tc>
                  <a:txBody>
                    <a:bodyPr wrap="square"/>
                    <a:lstStyle/>
                    <a:p>
                      <a:r>
                        <a:rPr sz="1200" b="0">
                          <a:solidFill>
                            <a:srgbClr val="2B3A49"/>
                          </a:solidFill>
                          <a:latin typeface="Arial"/>
                        </a:rPr>
                        <a:t>Each team builds or integrates its own detection and enforcement logic.</a:t>
                      </a:r>
                    </a:p>
                  </a:txBody>
                  <a:tcPr marL="73152" marR="73152" marT="36576" marB="36576" anchor="ctr">
                    <a:solidFill>
                      <a:srgbClr val="FFFFFF"/>
                    </a:solidFill>
                  </a:tcPr>
                </a:tc>
              </a:tr>
              <a:tr h="594360">
                <a:tc>
                  <a:txBody>
                    <a:bodyPr wrap="square"/>
                    <a:lstStyle/>
                    <a:p>
                      <a:r>
                        <a:rPr sz="1200" b="0">
                          <a:solidFill>
                            <a:srgbClr val="2B3A49"/>
                          </a:solidFill>
                          <a:latin typeface="Arial"/>
                        </a:rPr>
                        <a:t>Adoption risk</a:t>
                      </a:r>
                    </a:p>
                  </a:txBody>
                  <a:tcPr marL="73152" marR="73152" marT="36576" marB="36576" anchor="ctr">
                    <a:solidFill>
                      <a:srgbClr val="FFFFFF"/>
                    </a:solidFill>
                  </a:tcPr>
                </a:tc>
                <a:tc>
                  <a:txBody>
                    <a:bodyPr wrap="square"/>
                    <a:lstStyle/>
                    <a:p>
                      <a:r>
                        <a:rPr sz="1200" b="0">
                          <a:solidFill>
                            <a:srgbClr val="2B3A49"/>
                          </a:solidFill>
                          <a:latin typeface="Arial"/>
                        </a:rPr>
                        <a:t>Ship unguarded, or risk breaking production with an unproven blocking policy.</a:t>
                      </a:r>
                    </a:p>
                  </a:txBody>
                  <a:tcPr marL="73152" marR="73152" marT="36576" marB="36576" anchor="ctr">
                    <a:solidFill>
                      <a:srgbClr val="FFFFFF"/>
                    </a:solidFill>
                  </a:tcPr>
                </a:tc>
              </a:tr>
              <a:tr h="594360">
                <a:tc>
                  <a:txBody>
                    <a:bodyPr wrap="square"/>
                    <a:lstStyle/>
                    <a:p>
                      <a:r>
                        <a:rPr sz="1200" b="0">
                          <a:solidFill>
                            <a:srgbClr val="2B3A49"/>
                          </a:solidFill>
                          <a:latin typeface="Arial"/>
                        </a:rPr>
                        <a:t>Compliance and residency</a:t>
                      </a:r>
                    </a:p>
                  </a:txBody>
                  <a:tcPr marL="73152" marR="73152" marT="36576" marB="36576" anchor="ctr">
                    <a:solidFill>
                      <a:srgbClr val="FFFFFF"/>
                    </a:solidFill>
                  </a:tcPr>
                </a:tc>
                <a:tc>
                  <a:txBody>
                    <a:bodyPr wrap="square"/>
                    <a:lstStyle/>
                    <a:p>
                      <a:r>
                        <a:rPr sz="1200" b="0">
                          <a:solidFill>
                            <a:srgbClr val="2B3A49"/>
                          </a:solidFill>
                          <a:latin typeface="Arial"/>
                        </a:rPr>
                        <a:t>Regulated workloads have no way to adopt central guardrails without content leaving their AWS environment.</a:t>
                      </a:r>
                    </a:p>
                  </a:txBody>
                  <a:tcPr marL="73152" marR="73152" marT="36576" marB="36576" anchor="ctr">
                    <a:solidFill>
                      <a:srgbClr val="FFFFFF"/>
                    </a:solidFill>
                  </a:tcPr>
                </a:tc>
              </a:tr>
              <a:tr h="594360">
                <a:tc>
                  <a:txBody>
                    <a:bodyPr wrap="square"/>
                    <a:lstStyle/>
                    <a:p>
                      <a:r>
                        <a:rPr sz="1200" b="0">
                          <a:solidFill>
                            <a:srgbClr val="2B3A49"/>
                          </a:solidFill>
                          <a:latin typeface="Arial"/>
                        </a:rPr>
                        <a:t>False assurance</a:t>
                      </a:r>
                    </a:p>
                  </a:txBody>
                  <a:tcPr marL="73152" marR="73152" marT="36576" marB="36576" anchor="ctr">
                    <a:solidFill>
                      <a:srgbClr val="FFFFFF"/>
                    </a:solidFill>
                  </a:tcPr>
                </a:tc>
                <a:tc>
                  <a:txBody>
                    <a:bodyPr wrap="square"/>
                    <a:lstStyle/>
                    <a:p>
                      <a:r>
                        <a:rPr sz="1200" b="0">
                          <a:solidFill>
                            <a:srgbClr val="2B3A49"/>
                          </a:solidFill>
                          <a:latin typeface="Arial"/>
                        </a:rPr>
                        <a:t>Removable, cooperative integrations get mistaken for hard security boundaries.</a:t>
                      </a:r>
                    </a:p>
                  </a:txBody>
                  <a:tcPr marL="73152" marR="73152" marT="36576" marB="36576" anchor="ctr">
                    <a:solidFill>
                      <a:srgbClr val="FFFFFF"/>
                    </a:solidFill>
                  </a:tcPr>
                </a:tc>
              </a:tr>
            </a:tbl>
          </a:graphicData>
        </a:graphic>
      </p:graphicFrame>
      <p:sp>
        <p:nvSpPr>
          <p:cNvPr id="6" name="TextBox 5"/>
          <p:cNvSpPr txBox="1"/>
          <p:nvPr/>
        </p:nvSpPr>
        <p:spPr>
          <a:xfrm>
            <a:off x="548640" y="5623560"/>
            <a:ext cx="11094415" cy="54864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No dollar-figure cost estimate exists in the source material — recorded as TBD, not estimated.</a:t>
            </a:r>
          </a:p>
        </p:txBody>
      </p:sp>
      <p:sp>
        <p:nvSpPr>
          <p:cNvPr id="7" name="TextBox 6"/>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8" name="TextBox 7"/>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THE PROPOSAL</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Introducing AI Guardrails</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11094415" cy="2880360"/>
          </a:xfrm>
          <a:prstGeom prst="roundRect">
            <a:avLst/>
          </a:prstGeom>
          <a:solidFill>
            <a:srgbClr val="F2F5F8"/>
          </a:solidFill>
          <a:ln w="12700">
            <a:solidFill>
              <a:srgbClr val="C5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74519"/>
            <a:ext cx="10454335" cy="2560320"/>
          </a:xfrm>
          <a:prstGeom prst="rect">
            <a:avLst/>
          </a:prstGeom>
          <a:noFill/>
        </p:spPr>
        <p:txBody>
          <a:bodyPr wrap="square" anchor="t">
            <a:spAutoFit/>
          </a:bodyPr>
          <a:lstStyle/>
          <a:p>
            <a:pPr algn="l">
              <a:lnSpc>
                <a:spcPct val="125000"/>
              </a:lnSpc>
              <a:spcAft>
                <a:spcPts val="600"/>
              </a:spcAft>
            </a:pPr>
            <a:r>
              <a:rPr sz="1600" b="0">
                <a:solidFill>
                  <a:srgbClr val="2B3A49"/>
                </a:solidFill>
                <a:latin typeface="Arial"/>
              </a:rPr>
              <a:t>“AI Guardrails is an AWS-based policy and enforcement platform that applies reusable safeguards to LLM applications and gateways. Teams may connect their existing LiteLLM instance to a hosted Evaluation API, consume a fully managed Guarded Gateway, or deploy the same guardrail runtime within their own AWS account. Policies remain portable across all three modes, while operational ownership and content exposure are explicitly defined for each deployment.”</a:t>
            </a:r>
          </a:p>
        </p:txBody>
      </p:sp>
      <p:sp>
        <p:nvSpPr>
          <p:cNvPr id="7" name="TextBox 6"/>
          <p:cNvSpPr txBox="1"/>
          <p:nvPr/>
        </p:nvSpPr>
        <p:spPr>
          <a:xfrm>
            <a:off x="548640" y="4892040"/>
            <a:ext cx="11094415" cy="548640"/>
          </a:xfrm>
          <a:prstGeom prst="rect">
            <a:avLst/>
          </a:prstGeom>
          <a:noFill/>
        </p:spPr>
        <p:txBody>
          <a:bodyPr wrap="square" anchor="t">
            <a:spAutoFit/>
          </a:bodyPr>
          <a:lstStyle/>
          <a:p>
            <a:pPr algn="l">
              <a:lnSpc>
                <a:spcPct val="100000"/>
              </a:lnSpc>
              <a:spcAft>
                <a:spcPts val="600"/>
              </a:spcAft>
            </a:pPr>
            <a:r>
              <a:rPr sz="1700" b="1">
                <a:solidFill>
                  <a:srgbClr val="2B3A49"/>
                </a:solidFill>
                <a:latin typeface="Arial"/>
              </a:rPr>
              <a:t>A standalone platform — </a:t>
            </a:r>
            <a:r>
              <a:rPr sz="1700" b="0">
                <a:solidFill>
                  <a:srgbClr val="2B3A49"/>
                </a:solidFill>
                <a:latin typeface="Arial"/>
              </a:rPr>
              <a:t>not a feature inside any single team's LiteLLM instance.</a:t>
            </a:r>
          </a:p>
        </p:txBody>
      </p:sp>
      <p:sp>
        <p:nvSpPr>
          <p:cNvPr id="8" name="TextBox 7"/>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9" name="TextBox 8"/>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HOW IT WORKS</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One mental model: control plane, runtime, engines</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3246120"/>
            <a:ext cx="1737360" cy="960120"/>
          </a:xfrm>
          <a:prstGeom prst="roundRect">
            <a:avLst/>
          </a:prstGeom>
          <a:solidFill>
            <a:srgbClr val="FFFFFF"/>
          </a:solidFill>
          <a:ln w="1905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200" b="1">
                <a:solidFill>
                  <a:srgbClr val="2B3A49"/>
                </a:solidFill>
                <a:latin typeface="Arial"/>
              </a:rPr>
              <a:t>Application</a:t>
            </a:r>
          </a:p>
        </p:txBody>
      </p:sp>
      <p:sp>
        <p:nvSpPr>
          <p:cNvPr id="6" name="Rounded Rectangle 5"/>
          <p:cNvSpPr/>
          <p:nvPr/>
        </p:nvSpPr>
        <p:spPr>
          <a:xfrm>
            <a:off x="2743200" y="3246120"/>
            <a:ext cx="2194560" cy="960120"/>
          </a:xfrm>
          <a:prstGeom prst="roundRect">
            <a:avLst/>
          </a:prstGeom>
          <a:solidFill>
            <a:srgbClr val="FFFFFF"/>
          </a:solidFill>
          <a:ln w="1905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200" b="1">
                <a:solidFill>
                  <a:srgbClr val="2B3A49"/>
                </a:solidFill>
                <a:latin typeface="Arial"/>
              </a:rPr>
              <a:t>Gateway</a:t>
            </a:r>
          </a:p>
          <a:p>
            <a:pPr algn="ctr">
              <a:lnSpc>
                <a:spcPct val="100000"/>
              </a:lnSpc>
              <a:spcAft>
                <a:spcPts val="200"/>
              </a:spcAft>
            </a:pPr>
            <a:r>
              <a:rPr sz="1200" b="1">
                <a:solidFill>
                  <a:srgbClr val="2B3A49"/>
                </a:solidFill>
                <a:latin typeface="Arial"/>
              </a:rPr>
              <a:t>(e.g., LiteLLM)</a:t>
            </a:r>
          </a:p>
        </p:txBody>
      </p:sp>
      <p:sp>
        <p:nvSpPr>
          <p:cNvPr id="7" name="Rounded Rectangle 6"/>
          <p:cNvSpPr/>
          <p:nvPr/>
        </p:nvSpPr>
        <p:spPr>
          <a:xfrm>
            <a:off x="5394960" y="3246120"/>
            <a:ext cx="2560320" cy="960120"/>
          </a:xfrm>
          <a:prstGeom prst="roundRect">
            <a:avLst/>
          </a:prstGeom>
          <a:solidFill>
            <a:srgbClr val="FFFFFF"/>
          </a:solidFill>
          <a:ln w="1905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200" b="1">
                <a:solidFill>
                  <a:srgbClr val="2B3A49"/>
                </a:solidFill>
                <a:latin typeface="Arial"/>
              </a:rPr>
              <a:t>Guardrails Runtime</a:t>
            </a:r>
          </a:p>
          <a:p>
            <a:pPr algn="ctr">
              <a:lnSpc>
                <a:spcPct val="100000"/>
              </a:lnSpc>
              <a:spcAft>
                <a:spcPts val="200"/>
              </a:spcAft>
            </a:pPr>
            <a:r>
              <a:rPr sz="1200" b="1">
                <a:solidFill>
                  <a:srgbClr val="2B3A49"/>
                </a:solidFill>
                <a:latin typeface="Arial"/>
              </a:rPr>
              <a:t>(evaluation + decision)</a:t>
            </a:r>
          </a:p>
        </p:txBody>
      </p:sp>
      <p:sp>
        <p:nvSpPr>
          <p:cNvPr id="8" name="Rounded Rectangle 7"/>
          <p:cNvSpPr/>
          <p:nvPr/>
        </p:nvSpPr>
        <p:spPr>
          <a:xfrm>
            <a:off x="8732520" y="3246120"/>
            <a:ext cx="2880360" cy="960120"/>
          </a:xfrm>
          <a:prstGeom prst="roundRect">
            <a:avLst/>
          </a:prstGeom>
          <a:solidFill>
            <a:srgbClr val="FFFFFF"/>
          </a:solidFill>
          <a:ln w="1905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200" b="1">
                <a:solidFill>
                  <a:srgbClr val="2B3A49"/>
                </a:solidFill>
                <a:latin typeface="Arial"/>
              </a:rPr>
              <a:t>Evaluation engines</a:t>
            </a:r>
          </a:p>
          <a:p>
            <a:pPr algn="ctr">
              <a:lnSpc>
                <a:spcPct val="100000"/>
              </a:lnSpc>
              <a:spcAft>
                <a:spcPts val="200"/>
              </a:spcAft>
            </a:pPr>
            <a:r>
              <a:rPr sz="1200" b="1">
                <a:solidFill>
                  <a:srgbClr val="2B3A49"/>
                </a:solidFill>
                <a:latin typeface="Arial"/>
              </a:rPr>
              <a:t>Bedrock Guardrails adapter</a:t>
            </a:r>
          </a:p>
          <a:p>
            <a:pPr algn="ctr">
              <a:lnSpc>
                <a:spcPct val="100000"/>
              </a:lnSpc>
              <a:spcAft>
                <a:spcPts val="200"/>
              </a:spcAft>
            </a:pPr>
            <a:r>
              <a:rPr sz="1200" b="1">
                <a:solidFill>
                  <a:srgbClr val="2B3A49"/>
                </a:solidFill>
                <a:latin typeface="Arial"/>
              </a:rPr>
              <a:t>+ deterministic org rules</a:t>
            </a:r>
          </a:p>
        </p:txBody>
      </p:sp>
      <p:cxnSp>
        <p:nvCxnSpPr>
          <p:cNvPr id="9" name="Connector 8"/>
          <p:cNvCxnSpPr/>
          <p:nvPr/>
        </p:nvCxnSpPr>
        <p:spPr>
          <a:xfrm>
            <a:off x="2286000" y="3726180"/>
            <a:ext cx="457200" cy="0"/>
          </a:xfrm>
          <a:prstGeom prst="line">
            <a:avLst/>
          </a:prstGeom>
          <a:ln w="19050">
            <a:solidFill>
              <a:srgbClr val="607086"/>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286000" y="3506724"/>
            <a:ext cx="1280160" cy="274320"/>
          </a:xfrm>
          <a:prstGeom prst="rect">
            <a:avLst/>
          </a:prstGeom>
          <a:noFill/>
        </p:spPr>
        <p:txBody>
          <a:bodyPr wrap="square" anchor="t">
            <a:spAutoFit/>
          </a:bodyPr>
          <a:lstStyle/>
          <a:p>
            <a:pPr algn="ctr">
              <a:lnSpc>
                <a:spcPct val="100000"/>
              </a:lnSpc>
              <a:spcAft>
                <a:spcPts val="600"/>
              </a:spcAft>
            </a:pPr>
            <a:r>
              <a:rPr sz="900" b="0">
                <a:solidFill>
                  <a:srgbClr val="607086"/>
                </a:solidFill>
                <a:latin typeface="Arial"/>
              </a:rPr>
              <a:t>invokes</a:t>
            </a:r>
          </a:p>
        </p:txBody>
      </p:sp>
      <p:cxnSp>
        <p:nvCxnSpPr>
          <p:cNvPr id="11" name="Connector 10"/>
          <p:cNvCxnSpPr/>
          <p:nvPr/>
        </p:nvCxnSpPr>
        <p:spPr>
          <a:xfrm>
            <a:off x="4937760" y="3726180"/>
            <a:ext cx="457200" cy="0"/>
          </a:xfrm>
          <a:prstGeom prst="line">
            <a:avLst/>
          </a:prstGeom>
          <a:ln w="19050">
            <a:solidFill>
              <a:srgbClr val="607086"/>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37760" y="3506724"/>
            <a:ext cx="1280160" cy="274320"/>
          </a:xfrm>
          <a:prstGeom prst="rect">
            <a:avLst/>
          </a:prstGeom>
          <a:noFill/>
        </p:spPr>
        <p:txBody>
          <a:bodyPr wrap="square" anchor="t">
            <a:spAutoFit/>
          </a:bodyPr>
          <a:lstStyle/>
          <a:p>
            <a:pPr algn="ctr">
              <a:lnSpc>
                <a:spcPct val="100000"/>
              </a:lnSpc>
              <a:spcAft>
                <a:spcPts val="600"/>
              </a:spcAft>
            </a:pPr>
            <a:r>
              <a:rPr sz="900" b="0">
                <a:solidFill>
                  <a:srgbClr val="607086"/>
                </a:solidFill>
                <a:latin typeface="Arial"/>
              </a:rPr>
              <a:t>input / output
evaluation</a:t>
            </a:r>
          </a:p>
        </p:txBody>
      </p:sp>
      <p:cxnSp>
        <p:nvCxnSpPr>
          <p:cNvPr id="13" name="Connector 12"/>
          <p:cNvCxnSpPr/>
          <p:nvPr/>
        </p:nvCxnSpPr>
        <p:spPr>
          <a:xfrm>
            <a:off x="7955280" y="3726180"/>
            <a:ext cx="777240" cy="0"/>
          </a:xfrm>
          <a:prstGeom prst="line">
            <a:avLst/>
          </a:prstGeom>
          <a:ln w="19050">
            <a:solidFill>
              <a:srgbClr val="607086"/>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955280" y="3506724"/>
            <a:ext cx="1280160" cy="274320"/>
          </a:xfrm>
          <a:prstGeom prst="rect">
            <a:avLst/>
          </a:prstGeom>
          <a:noFill/>
        </p:spPr>
        <p:txBody>
          <a:bodyPr wrap="square" anchor="t">
            <a:spAutoFit/>
          </a:bodyPr>
          <a:lstStyle/>
          <a:p>
            <a:pPr algn="ctr">
              <a:lnSpc>
                <a:spcPct val="100000"/>
              </a:lnSpc>
              <a:spcAft>
                <a:spcPts val="600"/>
              </a:spcAft>
            </a:pPr>
            <a:r>
              <a:rPr sz="900" b="0">
                <a:solidFill>
                  <a:srgbClr val="607086"/>
                </a:solidFill>
                <a:latin typeface="Arial"/>
              </a:rPr>
              <a:t>evaluates via</a:t>
            </a:r>
          </a:p>
        </p:txBody>
      </p:sp>
      <p:sp>
        <p:nvSpPr>
          <p:cNvPr id="15" name="Rounded Rectangle 14"/>
          <p:cNvSpPr/>
          <p:nvPr/>
        </p:nvSpPr>
        <p:spPr>
          <a:xfrm>
            <a:off x="5394960" y="1691640"/>
            <a:ext cx="2560320" cy="777240"/>
          </a:xfrm>
          <a:prstGeom prst="roundRect">
            <a:avLst/>
          </a:prstGeom>
          <a:solidFill>
            <a:srgbClr val="2B3A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200" b="1">
                <a:solidFill>
                  <a:srgbClr val="FFFFFF"/>
                </a:solidFill>
                <a:latin typeface="Arial"/>
              </a:rPr>
              <a:t>Control Plane</a:t>
            </a:r>
          </a:p>
          <a:p>
            <a:pPr algn="ctr">
              <a:lnSpc>
                <a:spcPct val="100000"/>
              </a:lnSpc>
              <a:spcAft>
                <a:spcPts val="200"/>
              </a:spcAft>
            </a:pPr>
            <a:r>
              <a:rPr sz="1200" b="1">
                <a:solidFill>
                  <a:srgbClr val="FFFFFF"/>
                </a:solidFill>
                <a:latin typeface="Arial"/>
              </a:rPr>
              <a:t>policies · versions · bindings</a:t>
            </a:r>
          </a:p>
        </p:txBody>
      </p:sp>
      <p:cxnSp>
        <p:nvCxnSpPr>
          <p:cNvPr id="16" name="Connector 15"/>
          <p:cNvCxnSpPr/>
          <p:nvPr/>
        </p:nvCxnSpPr>
        <p:spPr>
          <a:xfrm>
            <a:off x="6675120" y="2468880"/>
            <a:ext cx="0" cy="777240"/>
          </a:xfrm>
          <a:prstGeom prst="line">
            <a:avLst/>
          </a:prstGeom>
          <a:ln w="19050">
            <a:solidFill>
              <a:srgbClr val="607086"/>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748272" y="2747772"/>
            <a:ext cx="1280160" cy="274320"/>
          </a:xfrm>
          <a:prstGeom prst="rect">
            <a:avLst/>
          </a:prstGeom>
          <a:noFill/>
        </p:spPr>
        <p:txBody>
          <a:bodyPr wrap="square" anchor="t">
            <a:spAutoFit/>
          </a:bodyPr>
          <a:lstStyle/>
          <a:p>
            <a:pPr algn="ctr">
              <a:lnSpc>
                <a:spcPct val="100000"/>
              </a:lnSpc>
              <a:spcAft>
                <a:spcPts val="600"/>
              </a:spcAft>
            </a:pPr>
            <a:r>
              <a:rPr sz="900" b="0">
                <a:solidFill>
                  <a:srgbClr val="607086"/>
                </a:solidFill>
                <a:latin typeface="Arial"/>
              </a:rPr>
              <a:t>policy distribution</a:t>
            </a:r>
          </a:p>
        </p:txBody>
      </p:sp>
      <p:sp>
        <p:nvSpPr>
          <p:cNvPr id="18" name="TextBox 17"/>
          <p:cNvSpPr txBox="1"/>
          <p:nvPr/>
        </p:nvSpPr>
        <p:spPr>
          <a:xfrm>
            <a:off x="548640" y="4754880"/>
            <a:ext cx="11094415" cy="822960"/>
          </a:xfrm>
          <a:prstGeom prst="rect">
            <a:avLst/>
          </a:prstGeom>
          <a:noFill/>
        </p:spPr>
        <p:txBody>
          <a:bodyPr wrap="square" anchor="t">
            <a:spAutoFit/>
          </a:bodyPr>
          <a:lstStyle/>
          <a:p>
            <a:pPr algn="l">
              <a:lnSpc>
                <a:spcPct val="100000"/>
              </a:lnSpc>
              <a:spcAft>
                <a:spcPts val="600"/>
              </a:spcAft>
            </a:pPr>
            <a:r>
              <a:rPr sz="1300" b="0">
                <a:solidFill>
                  <a:srgbClr val="607086"/>
                </a:solidFill>
                <a:latin typeface="Arial"/>
              </a:rPr>
              <a:t>Every evaluation returns a normalized decision: allow · block · redact · log_only, with reason codes, policy version, and audit metadata.</a:t>
            </a:r>
          </a:p>
        </p:txBody>
      </p:sp>
      <p:sp>
        <p:nvSpPr>
          <p:cNvPr id="19" name="TextBox 18"/>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20" name="TextBox 19"/>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THE KEY DESIGN CHOICE</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Policy and connector are separate — by mandate</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828800"/>
            <a:ext cx="5394960" cy="2377440"/>
          </a:xfrm>
          <a:prstGeom prst="roundRect">
            <a:avLst/>
          </a:prstGeom>
          <a:solidFill>
            <a:srgbClr val="F2F5F8"/>
          </a:solidFill>
          <a:ln w="1905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57400"/>
            <a:ext cx="4846320" cy="1920240"/>
          </a:xfrm>
          <a:prstGeom prst="rect">
            <a:avLst/>
          </a:prstGeom>
          <a:noFill/>
        </p:spPr>
        <p:txBody>
          <a:bodyPr wrap="square" anchor="t">
            <a:spAutoFit/>
          </a:bodyPr>
          <a:lstStyle/>
          <a:p>
            <a:pPr algn="l">
              <a:lnSpc>
                <a:spcPct val="100000"/>
              </a:lnSpc>
              <a:spcAft>
                <a:spcPts val="1200"/>
              </a:spcAft>
            </a:pPr>
            <a:r>
              <a:rPr sz="1300" b="1">
                <a:solidFill>
                  <a:srgbClr val="2B3A49"/>
                </a:solidFill>
                <a:latin typeface="Arial"/>
              </a:rPr>
              <a:t>POLICY  —  what to evaluate</a:t>
            </a:r>
          </a:p>
          <a:p>
            <a:pPr algn="l">
              <a:lnSpc>
                <a:spcPct val="100000"/>
              </a:lnSpc>
              <a:spcAft>
                <a:spcPts val="1200"/>
              </a:spcAft>
            </a:pPr>
            <a:r>
              <a:rPr sz="1700" b="0">
                <a:solidFill>
                  <a:srgbClr val="2B3A49"/>
                </a:solidFill>
                <a:latin typeface="Arial"/>
              </a:rPr>
              <a:t>“Detect prompt injection and block it.”</a:t>
            </a:r>
          </a:p>
          <a:p>
            <a:pPr algn="l">
              <a:lnSpc>
                <a:spcPct val="100000"/>
              </a:lnSpc>
              <a:spcAft>
                <a:spcPts val="1200"/>
              </a:spcAft>
            </a:pPr>
            <a:r>
              <a:rPr sz="1100" b="0">
                <a:solidFill>
                  <a:srgbClr val="607086"/>
                </a:solidFill>
                <a:latin typeface="Arial"/>
              </a:rPr>
              <a:t>Owned by security and governance. Portable.</a:t>
            </a:r>
          </a:p>
        </p:txBody>
      </p:sp>
      <p:sp>
        <p:nvSpPr>
          <p:cNvPr id="7" name="Rounded Rectangle 6"/>
          <p:cNvSpPr/>
          <p:nvPr/>
        </p:nvSpPr>
        <p:spPr>
          <a:xfrm>
            <a:off x="6263640" y="1828800"/>
            <a:ext cx="5394960" cy="2377440"/>
          </a:xfrm>
          <a:prstGeom prst="roundRect">
            <a:avLst/>
          </a:prstGeom>
          <a:solidFill>
            <a:srgbClr val="FFFFFF"/>
          </a:solidFill>
          <a:ln w="19050">
            <a:solidFill>
              <a:srgbClr val="C5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2057400"/>
            <a:ext cx="4846320" cy="1920240"/>
          </a:xfrm>
          <a:prstGeom prst="rect">
            <a:avLst/>
          </a:prstGeom>
          <a:noFill/>
        </p:spPr>
        <p:txBody>
          <a:bodyPr wrap="square" anchor="t">
            <a:spAutoFit/>
          </a:bodyPr>
          <a:lstStyle/>
          <a:p>
            <a:pPr algn="l">
              <a:lnSpc>
                <a:spcPct val="100000"/>
              </a:lnSpc>
              <a:spcAft>
                <a:spcPts val="1200"/>
              </a:spcAft>
            </a:pPr>
            <a:r>
              <a:rPr sz="1300" b="1">
                <a:solidFill>
                  <a:srgbClr val="2B3A49"/>
                </a:solidFill>
                <a:latin typeface="Arial"/>
              </a:rPr>
              <a:t>CONNECTOR  —  how a gateway invokes it</a:t>
            </a:r>
          </a:p>
          <a:p>
            <a:pPr algn="l">
              <a:lnSpc>
                <a:spcPct val="100000"/>
              </a:lnSpc>
              <a:spcAft>
                <a:spcPts val="1200"/>
              </a:spcAft>
            </a:pPr>
            <a:r>
              <a:rPr sz="1700" b="0">
                <a:solidFill>
                  <a:srgbClr val="2B3A49"/>
                </a:solidFill>
                <a:latin typeface="Arial"/>
              </a:rPr>
              <a:t>“Invoke the Evaluation API during LiteLLM pre-call execution.”</a:t>
            </a:r>
          </a:p>
          <a:p>
            <a:pPr algn="l">
              <a:lnSpc>
                <a:spcPct val="100000"/>
              </a:lnSpc>
              <a:spcAft>
                <a:spcPts val="1200"/>
              </a:spcAft>
            </a:pPr>
            <a:r>
              <a:rPr sz="1100" b="0">
                <a:solidFill>
                  <a:srgbClr val="607086"/>
                </a:solidFill>
                <a:latin typeface="Arial"/>
              </a:rPr>
              <a:t>Gateway-specific. Replaceable.</a:t>
            </a:r>
          </a:p>
        </p:txBody>
      </p:sp>
      <p:sp>
        <p:nvSpPr>
          <p:cNvPr id="9" name="TextBox 8"/>
          <p:cNvSpPr txBox="1"/>
          <p:nvPr/>
        </p:nvSpPr>
        <p:spPr>
          <a:xfrm>
            <a:off x="548640" y="4617720"/>
            <a:ext cx="11094415" cy="731520"/>
          </a:xfrm>
          <a:prstGeom prst="rect">
            <a:avLst/>
          </a:prstGeom>
          <a:noFill/>
        </p:spPr>
        <p:txBody>
          <a:bodyPr wrap="square" anchor="t">
            <a:spAutoFit/>
          </a:bodyPr>
          <a:lstStyle/>
          <a:p>
            <a:pPr algn="l">
              <a:lnSpc>
                <a:spcPct val="100000"/>
              </a:lnSpc>
              <a:spcAft>
                <a:spcPts val="600"/>
              </a:spcAft>
            </a:pPr>
            <a:r>
              <a:rPr sz="1500" b="1">
                <a:solidFill>
                  <a:srgbClr val="2B3A49"/>
                </a:solidFill>
                <a:latin typeface="Arial"/>
              </a:rPr>
              <a:t>This means a team never re-defines its policy when it changes gateway or provider — it swaps a connector.</a:t>
            </a:r>
          </a:p>
        </p:txBody>
      </p:sp>
      <p:sp>
        <p:nvSpPr>
          <p:cNvPr id="10" name="TextBox 9"/>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11" name="TextBox 10"/>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DEPLOYMENT</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Three ways to adopt — a choice, not a maturity ladder</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00200"/>
            <a:ext cx="3611880" cy="457200"/>
          </a:xfrm>
          <a:prstGeom prst="round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200" b="1">
                <a:solidFill>
                  <a:srgbClr val="FFFFFF"/>
                </a:solidFill>
                <a:latin typeface="Arial"/>
              </a:rPr>
              <a:t>MODE A — Remote Evaluation</a:t>
            </a:r>
          </a:p>
        </p:txBody>
      </p:sp>
      <p:sp>
        <p:nvSpPr>
          <p:cNvPr id="6" name="Rounded Rectangle 5"/>
          <p:cNvSpPr/>
          <p:nvPr/>
        </p:nvSpPr>
        <p:spPr>
          <a:xfrm>
            <a:off x="548640" y="2240280"/>
            <a:ext cx="3611880" cy="3246120"/>
          </a:xfrm>
          <a:prstGeom prst="roundRect">
            <a:avLst/>
          </a:prstGeom>
          <a:solidFill>
            <a:srgbClr val="FFFFFF"/>
          </a:solidFill>
          <a:ln w="19050">
            <a:solidFill>
              <a:srgbClr val="4A90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2468880"/>
            <a:ext cx="2788920" cy="548640"/>
          </a:xfrm>
          <a:prstGeom prst="roundRect">
            <a:avLst/>
          </a:prstGeom>
          <a:solidFill>
            <a:srgbClr val="F2F5F8"/>
          </a:solidFill>
          <a:ln w="12700">
            <a:solidFill>
              <a:srgbClr val="60708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100" b="0">
                <a:solidFill>
                  <a:srgbClr val="2B3A49"/>
                </a:solidFill>
                <a:latin typeface="Arial"/>
              </a:rPr>
              <a:t>Your LiteLLM gateway</a:t>
            </a:r>
          </a:p>
        </p:txBody>
      </p:sp>
      <p:cxnSp>
        <p:nvCxnSpPr>
          <p:cNvPr id="8" name="Connector 7"/>
          <p:cNvCxnSpPr/>
          <p:nvPr/>
        </p:nvCxnSpPr>
        <p:spPr>
          <a:xfrm>
            <a:off x="2354580" y="3017520"/>
            <a:ext cx="0" cy="384048"/>
          </a:xfrm>
          <a:prstGeom prst="line">
            <a:avLst/>
          </a:prstGeom>
          <a:ln w="22860">
            <a:solidFill>
              <a:srgbClr val="4A90D9"/>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60120" y="3401568"/>
            <a:ext cx="2788920" cy="658368"/>
          </a:xfrm>
          <a:prstGeom prst="roundRect">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100" b="1">
                <a:solidFill>
                  <a:srgbClr val="FFFFFF"/>
                </a:solidFill>
                <a:latin typeface="Arial"/>
              </a:rPr>
              <a:t>Hosted Evaluation API</a:t>
            </a:r>
          </a:p>
        </p:txBody>
      </p:sp>
      <p:sp>
        <p:nvSpPr>
          <p:cNvPr id="10" name="TextBox 9"/>
          <p:cNvSpPr txBox="1"/>
          <p:nvPr/>
        </p:nvSpPr>
        <p:spPr>
          <a:xfrm>
            <a:off x="822960" y="4206240"/>
            <a:ext cx="3063240" cy="731520"/>
          </a:xfrm>
          <a:prstGeom prst="rect">
            <a:avLst/>
          </a:prstGeom>
          <a:noFill/>
        </p:spPr>
        <p:txBody>
          <a:bodyPr wrap="square" anchor="t">
            <a:spAutoFit/>
          </a:bodyPr>
          <a:lstStyle/>
          <a:p>
            <a:pPr algn="ctr">
              <a:lnSpc>
                <a:spcPct val="105000"/>
              </a:lnSpc>
              <a:spcAft>
                <a:spcPts val="600"/>
              </a:spcAft>
            </a:pPr>
            <a:r>
              <a:rPr sz="1100" b="1">
                <a:solidFill>
                  <a:srgbClr val="2B3A49"/>
                </a:solidFill>
                <a:latin typeface="Arial"/>
              </a:rPr>
              <a:t>You run the gateway.
We run the guardrails.</a:t>
            </a:r>
          </a:p>
        </p:txBody>
      </p:sp>
      <p:sp>
        <p:nvSpPr>
          <p:cNvPr id="11" name="TextBox 10"/>
          <p:cNvSpPr txBox="1"/>
          <p:nvPr/>
        </p:nvSpPr>
        <p:spPr>
          <a:xfrm>
            <a:off x="822960" y="4892040"/>
            <a:ext cx="3063240" cy="566928"/>
          </a:xfrm>
          <a:prstGeom prst="rect">
            <a:avLst/>
          </a:prstGeom>
          <a:noFill/>
        </p:spPr>
        <p:txBody>
          <a:bodyPr wrap="square" anchor="t">
            <a:spAutoFit/>
          </a:bodyPr>
          <a:lstStyle/>
          <a:p>
            <a:pPr algn="ctr">
              <a:lnSpc>
                <a:spcPct val="100000"/>
              </a:lnSpc>
              <a:spcAft>
                <a:spcPts val="600"/>
              </a:spcAft>
            </a:pPr>
            <a:r>
              <a:rPr sz="950" b="0">
                <a:solidFill>
                  <a:srgbClr val="607086"/>
                </a:solidFill>
                <a:latin typeface="Arial"/>
              </a:rPr>
              <a:t>Content is transmitted to the hosted service — not data-local.</a:t>
            </a:r>
          </a:p>
        </p:txBody>
      </p:sp>
      <p:sp>
        <p:nvSpPr>
          <p:cNvPr id="12" name="Rounded Rectangle 11"/>
          <p:cNvSpPr/>
          <p:nvPr/>
        </p:nvSpPr>
        <p:spPr>
          <a:xfrm>
            <a:off x="4306824" y="1600200"/>
            <a:ext cx="3611880" cy="457200"/>
          </a:xfrm>
          <a:prstGeom prst="roundRect">
            <a:avLst/>
          </a:prstGeom>
          <a:solidFill>
            <a:srgbClr val="8A4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200" b="1">
                <a:solidFill>
                  <a:srgbClr val="FFFFFF"/>
                </a:solidFill>
                <a:latin typeface="Arial"/>
              </a:rPr>
              <a:t>MODE B — Guarded Gateway</a:t>
            </a:r>
          </a:p>
        </p:txBody>
      </p:sp>
      <p:sp>
        <p:nvSpPr>
          <p:cNvPr id="13" name="Rounded Rectangle 12"/>
          <p:cNvSpPr/>
          <p:nvPr/>
        </p:nvSpPr>
        <p:spPr>
          <a:xfrm>
            <a:off x="4306824" y="2240280"/>
            <a:ext cx="3611880" cy="3246120"/>
          </a:xfrm>
          <a:prstGeom prst="roundRect">
            <a:avLst/>
          </a:prstGeom>
          <a:solidFill>
            <a:srgbClr val="FFFFFF"/>
          </a:solidFill>
          <a:ln w="19050">
            <a:solidFill>
              <a:srgbClr val="8A4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718304" y="2468880"/>
            <a:ext cx="2788920" cy="548640"/>
          </a:xfrm>
          <a:prstGeom prst="roundRect">
            <a:avLst/>
          </a:prstGeom>
          <a:solidFill>
            <a:srgbClr val="F2F5F8"/>
          </a:solidFill>
          <a:ln w="12700">
            <a:solidFill>
              <a:srgbClr val="60708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100" b="0">
                <a:solidFill>
                  <a:srgbClr val="2B3A49"/>
                </a:solidFill>
                <a:latin typeface="Arial"/>
              </a:rPr>
              <a:t>Your application</a:t>
            </a:r>
          </a:p>
        </p:txBody>
      </p:sp>
      <p:cxnSp>
        <p:nvCxnSpPr>
          <p:cNvPr id="15" name="Connector 14"/>
          <p:cNvCxnSpPr/>
          <p:nvPr/>
        </p:nvCxnSpPr>
        <p:spPr>
          <a:xfrm>
            <a:off x="6112764" y="3017520"/>
            <a:ext cx="0" cy="384048"/>
          </a:xfrm>
          <a:prstGeom prst="line">
            <a:avLst/>
          </a:prstGeom>
          <a:ln w="22860">
            <a:solidFill>
              <a:srgbClr val="8A4FD9"/>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718304" y="3401568"/>
            <a:ext cx="2788920" cy="658368"/>
          </a:xfrm>
          <a:prstGeom prst="roundRect">
            <a:avLst/>
          </a:prstGeom>
          <a:solidFill>
            <a:srgbClr val="8A4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100" b="1">
                <a:solidFill>
                  <a:srgbClr val="FFFFFF"/>
                </a:solidFill>
                <a:latin typeface="Arial"/>
              </a:rPr>
              <a:t>Managed gateway + guardrails + routing</a:t>
            </a:r>
          </a:p>
        </p:txBody>
      </p:sp>
      <p:sp>
        <p:nvSpPr>
          <p:cNvPr id="17" name="TextBox 16"/>
          <p:cNvSpPr txBox="1"/>
          <p:nvPr/>
        </p:nvSpPr>
        <p:spPr>
          <a:xfrm>
            <a:off x="4581144" y="4206240"/>
            <a:ext cx="3063240" cy="731520"/>
          </a:xfrm>
          <a:prstGeom prst="rect">
            <a:avLst/>
          </a:prstGeom>
          <a:noFill/>
        </p:spPr>
        <p:txBody>
          <a:bodyPr wrap="square" anchor="t">
            <a:spAutoFit/>
          </a:bodyPr>
          <a:lstStyle/>
          <a:p>
            <a:pPr algn="ctr">
              <a:lnSpc>
                <a:spcPct val="105000"/>
              </a:lnSpc>
              <a:spcAft>
                <a:spcPts val="600"/>
              </a:spcAft>
            </a:pPr>
            <a:r>
              <a:rPr sz="1100" b="1">
                <a:solidFill>
                  <a:srgbClr val="2B3A49"/>
                </a:solidFill>
                <a:latin typeface="Arial"/>
              </a:rPr>
              <a:t>We run both.
OpenAI-compatible path.</a:t>
            </a:r>
          </a:p>
        </p:txBody>
      </p:sp>
      <p:sp>
        <p:nvSpPr>
          <p:cNvPr id="18" name="TextBox 17"/>
          <p:cNvSpPr txBox="1"/>
          <p:nvPr/>
        </p:nvSpPr>
        <p:spPr>
          <a:xfrm>
            <a:off x="4581144" y="4892040"/>
            <a:ext cx="3063240" cy="566928"/>
          </a:xfrm>
          <a:prstGeom prst="rect">
            <a:avLst/>
          </a:prstGeom>
          <a:noFill/>
        </p:spPr>
        <p:txBody>
          <a:bodyPr wrap="square" anchor="t">
            <a:spAutoFit/>
          </a:bodyPr>
          <a:lstStyle/>
          <a:p>
            <a:pPr algn="ctr">
              <a:lnSpc>
                <a:spcPct val="100000"/>
              </a:lnSpc>
              <a:spcAft>
                <a:spcPts val="600"/>
              </a:spcAft>
            </a:pPr>
            <a:r>
              <a:rPr sz="950" b="0">
                <a:solidFill>
                  <a:srgbClr val="607086"/>
                </a:solidFill>
                <a:latin typeface="Arial"/>
              </a:rPr>
              <a:t>For teams without their own gateway.</a:t>
            </a:r>
          </a:p>
        </p:txBody>
      </p:sp>
      <p:sp>
        <p:nvSpPr>
          <p:cNvPr id="19" name="Rounded Rectangle 18"/>
          <p:cNvSpPr/>
          <p:nvPr/>
        </p:nvSpPr>
        <p:spPr>
          <a:xfrm>
            <a:off x="8065008" y="1600200"/>
            <a:ext cx="3611880" cy="457200"/>
          </a:xfrm>
          <a:prstGeom prst="roundRect">
            <a:avLst/>
          </a:prstGeom>
          <a:solidFill>
            <a:srgbClr val="278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200" b="1">
                <a:solidFill>
                  <a:srgbClr val="FFFFFF"/>
                </a:solidFill>
                <a:latin typeface="Arial"/>
              </a:rPr>
              <a:t>MODE C — Customer-Managed Runtime</a:t>
            </a:r>
          </a:p>
        </p:txBody>
      </p:sp>
      <p:sp>
        <p:nvSpPr>
          <p:cNvPr id="20" name="Rounded Rectangle 19"/>
          <p:cNvSpPr/>
          <p:nvPr/>
        </p:nvSpPr>
        <p:spPr>
          <a:xfrm>
            <a:off x="8065008" y="2240280"/>
            <a:ext cx="3611880" cy="3246120"/>
          </a:xfrm>
          <a:prstGeom prst="roundRect">
            <a:avLst/>
          </a:prstGeom>
          <a:solidFill>
            <a:srgbClr val="FFFFFF"/>
          </a:solidFill>
          <a:ln w="19050">
            <a:solidFill>
              <a:srgbClr val="278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76488" y="2468880"/>
            <a:ext cx="2788920" cy="548640"/>
          </a:xfrm>
          <a:prstGeom prst="roundRect">
            <a:avLst/>
          </a:prstGeom>
          <a:solidFill>
            <a:srgbClr val="F2F5F8"/>
          </a:solidFill>
          <a:ln w="12700">
            <a:solidFill>
              <a:srgbClr val="60708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100" b="0">
                <a:solidFill>
                  <a:srgbClr val="2B3A49"/>
                </a:solidFill>
                <a:latin typeface="Arial"/>
              </a:rPr>
              <a:t>Your application</a:t>
            </a:r>
          </a:p>
        </p:txBody>
      </p:sp>
      <p:cxnSp>
        <p:nvCxnSpPr>
          <p:cNvPr id="22" name="Connector 21"/>
          <p:cNvCxnSpPr/>
          <p:nvPr/>
        </p:nvCxnSpPr>
        <p:spPr>
          <a:xfrm>
            <a:off x="9870948" y="3017520"/>
            <a:ext cx="0" cy="384048"/>
          </a:xfrm>
          <a:prstGeom prst="line">
            <a:avLst/>
          </a:prstGeom>
          <a:ln w="22860">
            <a:solidFill>
              <a:srgbClr val="27834A"/>
            </a:solidFill>
            <a:tailEnd type="arrow"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476488" y="3401568"/>
            <a:ext cx="2788920" cy="658368"/>
          </a:xfrm>
          <a:prstGeom prst="roundRect">
            <a:avLst/>
          </a:prstGeom>
          <a:solidFill>
            <a:srgbClr val="278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100" b="1">
                <a:solidFill>
                  <a:srgbClr val="FFFFFF"/>
                </a:solidFill>
                <a:latin typeface="Arial"/>
              </a:rPr>
              <a:t>Guardrails runtime in your AWS account</a:t>
            </a:r>
          </a:p>
        </p:txBody>
      </p:sp>
      <p:sp>
        <p:nvSpPr>
          <p:cNvPr id="24" name="TextBox 23"/>
          <p:cNvSpPr txBox="1"/>
          <p:nvPr/>
        </p:nvSpPr>
        <p:spPr>
          <a:xfrm>
            <a:off x="8339328" y="4206240"/>
            <a:ext cx="3063240" cy="731520"/>
          </a:xfrm>
          <a:prstGeom prst="rect">
            <a:avLst/>
          </a:prstGeom>
          <a:noFill/>
        </p:spPr>
        <p:txBody>
          <a:bodyPr wrap="square" anchor="t">
            <a:spAutoFit/>
          </a:bodyPr>
          <a:lstStyle/>
          <a:p>
            <a:pPr algn="ctr">
              <a:lnSpc>
                <a:spcPct val="105000"/>
              </a:lnSpc>
              <a:spcAft>
                <a:spcPts val="600"/>
              </a:spcAft>
            </a:pPr>
            <a:r>
              <a:rPr sz="1100" b="1">
                <a:solidFill>
                  <a:srgbClr val="2B3A49"/>
                </a:solidFill>
                <a:latin typeface="Arial"/>
              </a:rPr>
              <a:t>You run both.
Telemetry is your choice — down to none.</a:t>
            </a:r>
          </a:p>
        </p:txBody>
      </p:sp>
      <p:sp>
        <p:nvSpPr>
          <p:cNvPr id="25" name="TextBox 24"/>
          <p:cNvSpPr txBox="1"/>
          <p:nvPr/>
        </p:nvSpPr>
        <p:spPr>
          <a:xfrm>
            <a:off x="8339328" y="4892040"/>
            <a:ext cx="3063240" cy="566928"/>
          </a:xfrm>
          <a:prstGeom prst="rect">
            <a:avLst/>
          </a:prstGeom>
          <a:noFill/>
        </p:spPr>
        <p:txBody>
          <a:bodyPr wrap="square" anchor="t">
            <a:spAutoFit/>
          </a:bodyPr>
          <a:lstStyle/>
          <a:p>
            <a:pPr algn="ctr">
              <a:lnSpc>
                <a:spcPct val="100000"/>
              </a:lnSpc>
              <a:spcAft>
                <a:spcPts val="600"/>
              </a:spcAft>
            </a:pPr>
            <a:r>
              <a:rPr sz="950" b="0">
                <a:solidFill>
                  <a:srgbClr val="607086"/>
                </a:solidFill>
                <a:latin typeface="Arial"/>
              </a:rPr>
              <a:t>For regulated, residency-bound, high-volume, or air-gapped workloads.</a:t>
            </a:r>
          </a:p>
        </p:txBody>
      </p:sp>
      <p:sp>
        <p:nvSpPr>
          <p:cNvPr id="26" name="TextBox 25"/>
          <p:cNvSpPr txBox="1"/>
          <p:nvPr/>
        </p:nvSpPr>
        <p:spPr>
          <a:xfrm>
            <a:off x="548640" y="5806440"/>
            <a:ext cx="11094415" cy="548640"/>
          </a:xfrm>
          <a:prstGeom prst="rect">
            <a:avLst/>
          </a:prstGeom>
          <a:noFill/>
        </p:spPr>
        <p:txBody>
          <a:bodyPr wrap="square" anchor="t">
            <a:spAutoFit/>
          </a:bodyPr>
          <a:lstStyle/>
          <a:p>
            <a:pPr algn="l">
              <a:lnSpc>
                <a:spcPct val="100000"/>
              </a:lnSpc>
              <a:spcAft>
                <a:spcPts val="600"/>
              </a:spcAft>
            </a:pPr>
            <a:r>
              <a:rPr sz="1250" b="1">
                <a:solidFill>
                  <a:srgbClr val="2B3A49"/>
                </a:solidFill>
                <a:latin typeface="Arial"/>
              </a:rPr>
              <a:t>One policy, one evaluation contract, all three modes. Each workload picks the mode its ownership and data-residency needs require.</a:t>
            </a:r>
          </a:p>
        </p:txBody>
      </p:sp>
      <p:sp>
        <p:nvSpPr>
          <p:cNvPr id="27" name="TextBox 26"/>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28" name="TextBox 27"/>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SECURITY &amp; COMPLIANCE</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Who runs it — and where content goes — are two questions</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45920"/>
          <a:ext cx="11091672" cy="2926080"/>
        </p:xfrm>
        <a:graphic>
          <a:graphicData uri="http://schemas.openxmlformats.org/drawingml/2006/table">
            <a:tbl>
              <a:tblPr firstRow="1" bandRow="1">
                <a:tableStyleId>{5C22544A-7EE6-4342-B048-85BDC9FD1C3A}</a:tableStyleId>
              </a:tblPr>
              <a:tblGrid>
                <a:gridCol w="2377440"/>
                <a:gridCol w="2103120"/>
                <a:gridCol w="2468880"/>
                <a:gridCol w="4142232"/>
              </a:tblGrid>
              <a:tr h="731520">
                <a:tc>
                  <a:txBody>
                    <a:bodyPr wrap="square"/>
                    <a:lstStyle/>
                    <a:p>
                      <a:r>
                        <a:rPr sz="1100" b="1">
                          <a:solidFill>
                            <a:srgbClr val="FFFFFF"/>
                          </a:solidFill>
                          <a:latin typeface="Arial"/>
                        </a:rPr>
                        <a:t>Mode</a:t>
                      </a:r>
                    </a:p>
                  </a:txBody>
                  <a:tcPr marL="73152" marR="73152" marT="36576" marB="36576" anchor="ctr">
                    <a:solidFill>
                      <a:srgbClr val="2B3A49"/>
                    </a:solidFill>
                  </a:tcPr>
                </a:tc>
                <a:tc>
                  <a:txBody>
                    <a:bodyPr wrap="square"/>
                    <a:lstStyle/>
                    <a:p>
                      <a:r>
                        <a:rPr sz="1100" b="1">
                          <a:solidFill>
                            <a:srgbClr val="FFFFFF"/>
                          </a:solidFill>
                          <a:latin typeface="Arial"/>
                        </a:rPr>
                        <a:t>Who operates gateway</a:t>
                      </a:r>
                    </a:p>
                  </a:txBody>
                  <a:tcPr marL="73152" marR="73152" marT="36576" marB="36576" anchor="ctr">
                    <a:solidFill>
                      <a:srgbClr val="2B3A49"/>
                    </a:solidFill>
                  </a:tcPr>
                </a:tc>
                <a:tc>
                  <a:txBody>
                    <a:bodyPr wrap="square"/>
                    <a:lstStyle/>
                    <a:p>
                      <a:r>
                        <a:rPr sz="1100" b="1">
                          <a:solidFill>
                            <a:srgbClr val="FFFFFF"/>
                          </a:solidFill>
                          <a:latin typeface="Arial"/>
                        </a:rPr>
                        <a:t>Who operates guardrail runtime</a:t>
                      </a:r>
                    </a:p>
                  </a:txBody>
                  <a:tcPr marL="73152" marR="73152" marT="36576" marB="36576" anchor="ctr">
                    <a:solidFill>
                      <a:srgbClr val="2B3A49"/>
                    </a:solidFill>
                  </a:tcPr>
                </a:tc>
                <a:tc>
                  <a:txBody>
                    <a:bodyPr wrap="square"/>
                    <a:lstStyle/>
                    <a:p>
                      <a:r>
                        <a:rPr sz="1100" b="1">
                          <a:solidFill>
                            <a:srgbClr val="FFFFFF"/>
                          </a:solidFill>
                          <a:latin typeface="Arial"/>
                        </a:rPr>
                        <a:t>Where prompts / responses are processed</a:t>
                      </a:r>
                    </a:p>
                  </a:txBody>
                  <a:tcPr marL="73152" marR="73152" marT="36576" marB="36576" anchor="ctr">
                    <a:solidFill>
                      <a:srgbClr val="2B3A49"/>
                    </a:solidFill>
                  </a:tcPr>
                </a:tc>
              </a:tr>
              <a:tr h="731520">
                <a:tc>
                  <a:txBody>
                    <a:bodyPr wrap="square"/>
                    <a:lstStyle/>
                    <a:p>
                      <a:r>
                        <a:rPr sz="1150" b="1">
                          <a:solidFill>
                            <a:srgbClr val="4A90D9"/>
                          </a:solidFill>
                          <a:latin typeface="Arial"/>
                        </a:rPr>
                        <a:t>A — Remote Evaluation</a:t>
                      </a:r>
                    </a:p>
                  </a:txBody>
                  <a:tcPr marL="73152" marR="73152" marT="36576" marB="36576" anchor="ctr">
                    <a:solidFill>
                      <a:srgbClr val="FFFFFF"/>
                    </a:solidFill>
                  </a:tcPr>
                </a:tc>
                <a:tc>
                  <a:txBody>
                    <a:bodyPr wrap="square"/>
                    <a:lstStyle/>
                    <a:p>
                      <a:r>
                        <a:rPr sz="1150" b="0">
                          <a:solidFill>
                            <a:srgbClr val="2B3A49"/>
                          </a:solidFill>
                          <a:latin typeface="Arial"/>
                        </a:rPr>
                        <a:t>Consuming team</a:t>
                      </a:r>
                    </a:p>
                  </a:txBody>
                  <a:tcPr marL="73152" marR="73152" marT="36576" marB="36576" anchor="ctr">
                    <a:solidFill>
                      <a:srgbClr val="FFFFFF"/>
                    </a:solidFill>
                  </a:tcPr>
                </a:tc>
                <a:tc>
                  <a:txBody>
                    <a:bodyPr wrap="square"/>
                    <a:lstStyle/>
                    <a:p>
                      <a:r>
                        <a:rPr sz="1150" b="0">
                          <a:solidFill>
                            <a:srgbClr val="2B3A49"/>
                          </a:solidFill>
                          <a:latin typeface="Arial"/>
                        </a:rPr>
                        <a:t>AI Guardrails (hosted)</a:t>
                      </a:r>
                    </a:p>
                  </a:txBody>
                  <a:tcPr marL="73152" marR="73152" marT="36576" marB="36576" anchor="ctr">
                    <a:solidFill>
                      <a:srgbClr val="FFFFFF"/>
                    </a:solidFill>
                  </a:tcPr>
                </a:tc>
                <a:tc>
                  <a:txBody>
                    <a:bodyPr wrap="square"/>
                    <a:lstStyle/>
                    <a:p>
                      <a:r>
                        <a:rPr sz="1150" b="1">
                          <a:solidFill>
                            <a:srgbClr val="C0392B"/>
                          </a:solidFill>
                          <a:latin typeface="Arial"/>
                        </a:rPr>
                        <a:t>Hosted Evaluation API — NOT a private-data or data-local model</a:t>
                      </a:r>
                    </a:p>
                  </a:txBody>
                  <a:tcPr marL="73152" marR="73152" marT="36576" marB="36576" anchor="ctr">
                    <a:solidFill>
                      <a:srgbClr val="FFFFFF"/>
                    </a:solidFill>
                  </a:tcPr>
                </a:tc>
              </a:tr>
              <a:tr h="731520">
                <a:tc>
                  <a:txBody>
                    <a:bodyPr wrap="square"/>
                    <a:lstStyle/>
                    <a:p>
                      <a:r>
                        <a:rPr sz="1150" b="1">
                          <a:solidFill>
                            <a:srgbClr val="8A4FD9"/>
                          </a:solidFill>
                          <a:latin typeface="Arial"/>
                        </a:rPr>
                        <a:t>B — Guarded Gateway</a:t>
                      </a:r>
                    </a:p>
                  </a:txBody>
                  <a:tcPr marL="73152" marR="73152" marT="36576" marB="36576" anchor="ctr">
                    <a:solidFill>
                      <a:srgbClr val="FFFFFF"/>
                    </a:solidFill>
                  </a:tcPr>
                </a:tc>
                <a:tc>
                  <a:txBody>
                    <a:bodyPr wrap="square"/>
                    <a:lstStyle/>
                    <a:p>
                      <a:r>
                        <a:rPr sz="1150" b="0">
                          <a:solidFill>
                            <a:srgbClr val="2B3A49"/>
                          </a:solidFill>
                          <a:latin typeface="Arial"/>
                        </a:rPr>
                        <a:t>AI Guardrails</a:t>
                      </a:r>
                    </a:p>
                  </a:txBody>
                  <a:tcPr marL="73152" marR="73152" marT="36576" marB="36576" anchor="ctr">
                    <a:solidFill>
                      <a:srgbClr val="FFFFFF"/>
                    </a:solidFill>
                  </a:tcPr>
                </a:tc>
                <a:tc>
                  <a:txBody>
                    <a:bodyPr wrap="square"/>
                    <a:lstStyle/>
                    <a:p>
                      <a:r>
                        <a:rPr sz="1150" b="0">
                          <a:solidFill>
                            <a:srgbClr val="2B3A49"/>
                          </a:solidFill>
                          <a:latin typeface="Arial"/>
                        </a:rPr>
                        <a:t>AI Guardrails (hosted)</a:t>
                      </a:r>
                    </a:p>
                  </a:txBody>
                  <a:tcPr marL="73152" marR="73152" marT="36576" marB="36576" anchor="ctr">
                    <a:solidFill>
                      <a:srgbClr val="FFFFFF"/>
                    </a:solidFill>
                  </a:tcPr>
                </a:tc>
                <a:tc>
                  <a:txBody>
                    <a:bodyPr wrap="square"/>
                    <a:lstStyle/>
                    <a:p>
                      <a:r>
                        <a:rPr sz="1150" b="0">
                          <a:solidFill>
                            <a:srgbClr val="2B3A49"/>
                          </a:solidFill>
                          <a:latin typeface="Arial"/>
                        </a:rPr>
                        <a:t>Hosted gateway and runtime</a:t>
                      </a:r>
                    </a:p>
                  </a:txBody>
                  <a:tcPr marL="73152" marR="73152" marT="36576" marB="36576" anchor="ctr">
                    <a:solidFill>
                      <a:srgbClr val="FFFFFF"/>
                    </a:solidFill>
                  </a:tcPr>
                </a:tc>
              </a:tr>
              <a:tr h="731520">
                <a:tc>
                  <a:txBody>
                    <a:bodyPr wrap="square"/>
                    <a:lstStyle/>
                    <a:p>
                      <a:r>
                        <a:rPr sz="1150" b="1">
                          <a:solidFill>
                            <a:srgbClr val="27834A"/>
                          </a:solidFill>
                          <a:latin typeface="Arial"/>
                        </a:rPr>
                        <a:t>C — Customer-Managed Runtime</a:t>
                      </a:r>
                    </a:p>
                  </a:txBody>
                  <a:tcPr marL="73152" marR="73152" marT="36576" marB="36576" anchor="ctr">
                    <a:solidFill>
                      <a:srgbClr val="FFFFFF"/>
                    </a:solidFill>
                  </a:tcPr>
                </a:tc>
                <a:tc>
                  <a:txBody>
                    <a:bodyPr wrap="square"/>
                    <a:lstStyle/>
                    <a:p>
                      <a:r>
                        <a:rPr sz="1150" b="0">
                          <a:solidFill>
                            <a:srgbClr val="2B3A49"/>
                          </a:solidFill>
                          <a:latin typeface="Arial"/>
                        </a:rPr>
                        <a:t>Consuming team</a:t>
                      </a:r>
                    </a:p>
                  </a:txBody>
                  <a:tcPr marL="73152" marR="73152" marT="36576" marB="36576" anchor="ctr">
                    <a:solidFill>
                      <a:srgbClr val="FFFFFF"/>
                    </a:solidFill>
                  </a:tcPr>
                </a:tc>
                <a:tc>
                  <a:txBody>
                    <a:bodyPr wrap="square"/>
                    <a:lstStyle/>
                    <a:p>
                      <a:r>
                        <a:rPr sz="1150" b="0">
                          <a:solidFill>
                            <a:srgbClr val="2B3A49"/>
                          </a:solidFill>
                          <a:latin typeface="Arial"/>
                        </a:rPr>
                        <a:t>Consuming team</a:t>
                      </a:r>
                    </a:p>
                  </a:txBody>
                  <a:tcPr marL="73152" marR="73152" marT="36576" marB="36576" anchor="ctr">
                    <a:solidFill>
                      <a:srgbClr val="FFFFFF"/>
                    </a:solidFill>
                  </a:tcPr>
                </a:tc>
                <a:tc>
                  <a:txBody>
                    <a:bodyPr wrap="square"/>
                    <a:lstStyle/>
                    <a:p>
                      <a:r>
                        <a:rPr sz="1150" b="0">
                          <a:solidFill>
                            <a:srgbClr val="2B3A49"/>
                          </a:solidFill>
                          <a:latin typeface="Arial"/>
                        </a:rPr>
                        <a:t>Inside the customer's own AWS account; raw content does not leave unless explicitly configured</a:t>
                      </a:r>
                    </a:p>
                  </a:txBody>
                  <a:tcPr marL="73152" marR="73152" marT="36576" marB="36576" anchor="ctr">
                    <a:solidFill>
                      <a:srgbClr val="FFFFFF"/>
                    </a:solidFill>
                  </a:tcPr>
                </a:tc>
              </a:tr>
            </a:tbl>
          </a:graphicData>
        </a:graphic>
      </p:graphicFrame>
      <p:sp>
        <p:nvSpPr>
          <p:cNvPr id="6" name="TextBox 5"/>
          <p:cNvSpPr txBox="1"/>
          <p:nvPr/>
        </p:nvSpPr>
        <p:spPr>
          <a:xfrm>
            <a:off x="548640" y="4892040"/>
            <a:ext cx="11094415" cy="1188720"/>
          </a:xfrm>
          <a:prstGeom prst="rect">
            <a:avLst/>
          </a:prstGeom>
          <a:noFill/>
        </p:spPr>
        <p:txBody>
          <a:bodyPr wrap="square" anchor="t">
            <a:spAutoFit/>
          </a:bodyPr>
          <a:lstStyle/>
          <a:p>
            <a:pPr algn="l">
              <a:lnSpc>
                <a:spcPct val="105000"/>
              </a:lnSpc>
              <a:spcAft>
                <a:spcPts val="600"/>
              </a:spcAft>
            </a:pPr>
            <a:r>
              <a:rPr sz="1250" b="0">
                <a:solidFill>
                  <a:srgbClr val="2B3A49"/>
                </a:solidFill>
                <a:latin typeface="Arial"/>
              </a:rPr>
              <a:t>—  Hosted runtime: no raw prompt/response retention by default — any retention requires explicit tenant-level configuration.</a:t>
            </a:r>
          </a:p>
          <a:p>
            <a:pPr algn="l">
              <a:lnSpc>
                <a:spcPct val="105000"/>
              </a:lnSpc>
              <a:spcAft>
                <a:spcPts val="600"/>
              </a:spcAft>
            </a:pPr>
            <a:r>
              <a:rPr sz="1250" b="0">
                <a:solidFill>
                  <a:srgbClr val="2B3A49"/>
                </a:solidFill>
                <a:latin typeface="Arial"/>
              </a:rPr>
              <a:t>—  Both questions are documented per deployment, before onboarding — never discovered during a security review.</a:t>
            </a:r>
          </a:p>
        </p:txBody>
      </p:sp>
      <p:sp>
        <p:nvSpPr>
          <p:cNvPr id="7" name="TextBox 6"/>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8" name="TextBox 7"/>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SAFE BY DESIGN</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Observe before enforce — no day-one blocking</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hevron 4"/>
          <p:cNvSpPr/>
          <p:nvPr/>
        </p:nvSpPr>
        <p:spPr>
          <a:xfrm>
            <a:off x="548640" y="2377440"/>
            <a:ext cx="2148840" cy="868680"/>
          </a:xfrm>
          <a:prstGeom prst="chevron">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500" b="1">
                <a:solidFill>
                  <a:srgbClr val="FFFFFF"/>
                </a:solidFill>
                <a:latin typeface="Arial"/>
              </a:rPr>
              <a:t>Disabled</a:t>
            </a:r>
          </a:p>
        </p:txBody>
      </p:sp>
      <p:sp>
        <p:nvSpPr>
          <p:cNvPr id="6" name="Chevron 5"/>
          <p:cNvSpPr/>
          <p:nvPr/>
        </p:nvSpPr>
        <p:spPr>
          <a:xfrm>
            <a:off x="2752344" y="2377440"/>
            <a:ext cx="2148840" cy="868680"/>
          </a:xfrm>
          <a:prstGeom prst="chevron">
            <a:avLst/>
          </a:prstGeom>
          <a:solidFill>
            <a:srgbClr val="4A90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500" b="1">
                <a:solidFill>
                  <a:srgbClr val="FFFFFF"/>
                </a:solidFill>
                <a:latin typeface="Arial"/>
              </a:rPr>
              <a:t>Observe</a:t>
            </a:r>
          </a:p>
        </p:txBody>
      </p:sp>
      <p:sp>
        <p:nvSpPr>
          <p:cNvPr id="7" name="Chevron 6"/>
          <p:cNvSpPr/>
          <p:nvPr/>
        </p:nvSpPr>
        <p:spPr>
          <a:xfrm>
            <a:off x="4956048" y="2377440"/>
            <a:ext cx="2148840" cy="868680"/>
          </a:xfrm>
          <a:prstGeom prst="chevron">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500" b="1">
                <a:solidFill>
                  <a:srgbClr val="FFFFFF"/>
                </a:solidFill>
                <a:latin typeface="Arial"/>
              </a:rPr>
              <a:t>Warn</a:t>
            </a:r>
          </a:p>
        </p:txBody>
      </p:sp>
      <p:sp>
        <p:nvSpPr>
          <p:cNvPr id="8" name="Chevron 7"/>
          <p:cNvSpPr/>
          <p:nvPr/>
        </p:nvSpPr>
        <p:spPr>
          <a:xfrm>
            <a:off x="7159752" y="2377440"/>
            <a:ext cx="2148840" cy="868680"/>
          </a:xfrm>
          <a:prstGeom prst="chevron">
            <a:avLst/>
          </a:prstGeom>
          <a:solidFill>
            <a:srgbClr val="D97E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500" b="1">
                <a:solidFill>
                  <a:srgbClr val="FFFFFF"/>
                </a:solidFill>
                <a:latin typeface="Arial"/>
              </a:rPr>
              <a:t>Redact</a:t>
            </a:r>
          </a:p>
        </p:txBody>
      </p:sp>
      <p:sp>
        <p:nvSpPr>
          <p:cNvPr id="9" name="Chevron 8"/>
          <p:cNvSpPr/>
          <p:nvPr/>
        </p:nvSpPr>
        <p:spPr>
          <a:xfrm>
            <a:off x="9363456" y="2377440"/>
            <a:ext cx="2148840" cy="868680"/>
          </a:xfrm>
          <a:prstGeom prst="chevron">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500" b="1">
                <a:solidFill>
                  <a:srgbClr val="FFFFFF"/>
                </a:solidFill>
                <a:latin typeface="Arial"/>
              </a:rPr>
              <a:t>Block</a:t>
            </a:r>
          </a:p>
        </p:txBody>
      </p:sp>
      <p:sp>
        <p:nvSpPr>
          <p:cNvPr id="10" name="Rectangle 9"/>
          <p:cNvSpPr/>
          <p:nvPr/>
        </p:nvSpPr>
        <p:spPr>
          <a:xfrm>
            <a:off x="2642616" y="2176272"/>
            <a:ext cx="2368296" cy="1271016"/>
          </a:xfrm>
          <a:prstGeom prst="rect">
            <a:avLst/>
          </a:prstGeom>
          <a:noFill/>
          <a:ln w="2540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52344" y="3502152"/>
            <a:ext cx="2148840" cy="320040"/>
          </a:xfrm>
          <a:prstGeom prst="rect">
            <a:avLst/>
          </a:prstGeom>
          <a:noFill/>
        </p:spPr>
        <p:txBody>
          <a:bodyPr wrap="square" anchor="t">
            <a:spAutoFit/>
          </a:bodyPr>
          <a:lstStyle/>
          <a:p>
            <a:pPr algn="ctr">
              <a:lnSpc>
                <a:spcPct val="100000"/>
              </a:lnSpc>
              <a:spcAft>
                <a:spcPts val="600"/>
              </a:spcAft>
            </a:pPr>
            <a:r>
              <a:rPr sz="1100" b="1">
                <a:solidFill>
                  <a:srgbClr val="2B3A49"/>
                </a:solidFill>
                <a:latin typeface="Arial"/>
              </a:rPr>
              <a:t>default on onboarding</a:t>
            </a:r>
          </a:p>
        </p:txBody>
      </p:sp>
      <p:sp>
        <p:nvSpPr>
          <p:cNvPr id="12" name="TextBox 11"/>
          <p:cNvSpPr txBox="1"/>
          <p:nvPr/>
        </p:nvSpPr>
        <p:spPr>
          <a:xfrm>
            <a:off x="548640" y="4160520"/>
            <a:ext cx="11094415" cy="1645920"/>
          </a:xfrm>
          <a:prstGeom prst="rect">
            <a:avLst/>
          </a:prstGeom>
          <a:noFill/>
        </p:spPr>
        <p:txBody>
          <a:bodyPr wrap="square" anchor="t">
            <a:spAutoFit/>
          </a:bodyPr>
          <a:lstStyle/>
          <a:p>
            <a:pPr algn="l">
              <a:lnSpc>
                <a:spcPct val="105000"/>
              </a:lnSpc>
              <a:spcAft>
                <a:spcPts val="1000"/>
              </a:spcAft>
            </a:pPr>
            <a:r>
              <a:rPr sz="1400" b="0">
                <a:solidFill>
                  <a:srgbClr val="2B3A49"/>
                </a:solidFill>
                <a:latin typeface="Arial"/>
              </a:rPr>
              <a:t>—  Every policy binding starts in Observe — measuring false positives, latency, and business impact on real traffic, blocking nothing.</a:t>
            </a:r>
          </a:p>
          <a:p>
            <a:pPr algn="l">
              <a:lnSpc>
                <a:spcPct val="105000"/>
              </a:lnSpc>
              <a:spcAft>
                <a:spcPts val="1000"/>
              </a:spcAft>
            </a:pPr>
            <a:r>
              <a:rPr sz="1400" b="0">
                <a:solidFill>
                  <a:srgbClr val="2B3A49"/>
                </a:solidFill>
                <a:latin typeface="Arial"/>
              </a:rPr>
              <a:t>—  Promotion toward Block is an explicit, auditable action — never an implicit side effect.</a:t>
            </a:r>
          </a:p>
          <a:p>
            <a:pPr algn="l">
              <a:lnSpc>
                <a:spcPct val="105000"/>
              </a:lnSpc>
              <a:spcAft>
                <a:spcPts val="1000"/>
              </a:spcAft>
            </a:pPr>
            <a:r>
              <a:rPr sz="1400" b="0">
                <a:solidFill>
                  <a:srgbClr val="2B3A49"/>
                </a:solidFill>
                <a:latin typeface="Arial"/>
              </a:rPr>
              <a:t>—  No team is asked to accept unproven blocking behavior in production.</a:t>
            </a:r>
          </a:p>
        </p:txBody>
      </p:sp>
      <p:sp>
        <p:nvSpPr>
          <p:cNvPr id="13" name="TextBox 12"/>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14" name="TextBox 13"/>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HONEST SCOPING</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What this is — and what it is not</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645920"/>
            <a:ext cx="5394960" cy="3977639"/>
          </a:xfrm>
          <a:prstGeom prst="roundRect">
            <a:avLst/>
          </a:prstGeom>
          <a:solidFill>
            <a:srgbClr val="F2F5F8"/>
          </a:solidFill>
          <a:ln w="12700">
            <a:solidFill>
              <a:srgbClr val="C5CE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4892040" cy="365760"/>
          </a:xfrm>
          <a:prstGeom prst="rect">
            <a:avLst/>
          </a:prstGeom>
          <a:noFill/>
        </p:spPr>
        <p:txBody>
          <a:bodyPr wrap="square" anchor="t">
            <a:spAutoFit/>
          </a:bodyPr>
          <a:lstStyle/>
          <a:p>
            <a:pPr algn="l">
              <a:lnSpc>
                <a:spcPct val="100000"/>
              </a:lnSpc>
              <a:spcAft>
                <a:spcPts val="600"/>
              </a:spcAft>
            </a:pPr>
            <a:r>
              <a:rPr sz="1400" b="1">
                <a:solidFill>
                  <a:srgbClr val="2B3A49"/>
                </a:solidFill>
                <a:latin typeface="Arial"/>
              </a:rPr>
              <a:t>IT IS</a:t>
            </a:r>
          </a:p>
        </p:txBody>
      </p:sp>
      <p:sp>
        <p:nvSpPr>
          <p:cNvPr id="7" name="TextBox 6"/>
          <p:cNvSpPr txBox="1"/>
          <p:nvPr/>
        </p:nvSpPr>
        <p:spPr>
          <a:xfrm>
            <a:off x="822960" y="2286000"/>
            <a:ext cx="4892040" cy="3108960"/>
          </a:xfrm>
          <a:prstGeom prst="rect">
            <a:avLst/>
          </a:prstGeom>
          <a:noFill/>
        </p:spPr>
        <p:txBody>
          <a:bodyPr wrap="square" anchor="t">
            <a:spAutoFit/>
          </a:bodyPr>
          <a:lstStyle/>
          <a:p>
            <a:pPr algn="l">
              <a:lnSpc>
                <a:spcPct val="105000"/>
              </a:lnSpc>
              <a:spcAft>
                <a:spcPts val="1200"/>
              </a:spcAft>
            </a:pPr>
            <a:r>
              <a:rPr sz="1350" b="0">
                <a:solidFill>
                  <a:srgbClr val="2B3A49"/>
                </a:solidFill>
                <a:latin typeface="Arial"/>
              </a:rPr>
              <a:t>—  A reusable policy, evaluation, and enforcement layer for LLM traffic.</a:t>
            </a:r>
          </a:p>
          <a:p>
            <a:pPr algn="l">
              <a:lnSpc>
                <a:spcPct val="105000"/>
              </a:lnSpc>
              <a:spcAft>
                <a:spcPts val="1200"/>
              </a:spcAft>
            </a:pPr>
            <a:r>
              <a:rPr sz="1350" b="0">
                <a:solidFill>
                  <a:srgbClr val="2B3A49"/>
                </a:solidFill>
                <a:latin typeface="Arial"/>
              </a:rPr>
              <a:t>—  One evaluation contract across all three deployment modes.</a:t>
            </a:r>
          </a:p>
          <a:p>
            <a:pPr algn="l">
              <a:lnSpc>
                <a:spcPct val="105000"/>
              </a:lnSpc>
              <a:spcAft>
                <a:spcPts val="1200"/>
              </a:spcAft>
            </a:pPr>
            <a:r>
              <a:rPr sz="1350" b="0">
                <a:solidFill>
                  <a:srgbClr val="2B3A49"/>
                </a:solidFill>
                <a:latin typeface="Arial"/>
              </a:rPr>
              <a:t>—  A source of normalized, auditable decisions with reason codes and policy versions.</a:t>
            </a:r>
          </a:p>
        </p:txBody>
      </p:sp>
      <p:sp>
        <p:nvSpPr>
          <p:cNvPr id="8" name="Rounded Rectangle 7"/>
          <p:cNvSpPr/>
          <p:nvPr/>
        </p:nvSpPr>
        <p:spPr>
          <a:xfrm>
            <a:off x="6263640" y="1645920"/>
            <a:ext cx="5394960" cy="3977639"/>
          </a:xfrm>
          <a:prstGeom prst="roundRect">
            <a:avLst/>
          </a:prstGeom>
          <a:solidFill>
            <a:srgbClr val="FFFFFF"/>
          </a:solidFill>
          <a:ln w="1905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28800"/>
            <a:ext cx="4892040" cy="365760"/>
          </a:xfrm>
          <a:prstGeom prst="rect">
            <a:avLst/>
          </a:prstGeom>
          <a:noFill/>
        </p:spPr>
        <p:txBody>
          <a:bodyPr wrap="square" anchor="t">
            <a:spAutoFit/>
          </a:bodyPr>
          <a:lstStyle/>
          <a:p>
            <a:pPr algn="l">
              <a:lnSpc>
                <a:spcPct val="100000"/>
              </a:lnSpc>
              <a:spcAft>
                <a:spcPts val="600"/>
              </a:spcAft>
            </a:pPr>
            <a:r>
              <a:rPr sz="1400" b="1">
                <a:solidFill>
                  <a:srgbClr val="2B3A49"/>
                </a:solidFill>
                <a:latin typeface="Arial"/>
              </a:rPr>
              <a:t>IT IS NOT</a:t>
            </a:r>
          </a:p>
        </p:txBody>
      </p:sp>
      <p:sp>
        <p:nvSpPr>
          <p:cNvPr id="10" name="TextBox 9"/>
          <p:cNvSpPr txBox="1"/>
          <p:nvPr/>
        </p:nvSpPr>
        <p:spPr>
          <a:xfrm>
            <a:off x="6537960" y="2286000"/>
            <a:ext cx="4892040" cy="3108960"/>
          </a:xfrm>
          <a:prstGeom prst="rect">
            <a:avLst/>
          </a:prstGeom>
          <a:noFill/>
        </p:spPr>
        <p:txBody>
          <a:bodyPr wrap="square" anchor="t">
            <a:spAutoFit/>
          </a:bodyPr>
          <a:lstStyle/>
          <a:p>
            <a:pPr algn="l">
              <a:lnSpc>
                <a:spcPct val="105000"/>
              </a:lnSpc>
              <a:spcAft>
                <a:spcPts val="1200"/>
              </a:spcAft>
            </a:pPr>
            <a:r>
              <a:rPr sz="1350" b="0">
                <a:solidFill>
                  <a:srgbClr val="2B3A49"/>
                </a:solidFill>
                <a:latin typeface="Arial"/>
              </a:rPr>
              <a:t>—  Not authorization — authentication, tenant isolation, and approval workflows remain the application's job.</a:t>
            </a:r>
          </a:p>
          <a:p>
            <a:pPr algn="l">
              <a:lnSpc>
                <a:spcPct val="105000"/>
              </a:lnSpc>
              <a:spcAft>
                <a:spcPts val="1200"/>
              </a:spcAft>
            </a:pPr>
            <a:r>
              <a:rPr sz="1350" b="0">
                <a:solidFill>
                  <a:srgbClr val="2B3A49"/>
                </a:solidFill>
                <a:latin typeface="Arial"/>
              </a:rPr>
              <a:t>—  Not a bypass-proof boundary in cooperative mode — a team-installed connector can be removed or misconfigured.</a:t>
            </a:r>
          </a:p>
          <a:p>
            <a:pPr algn="l">
              <a:lnSpc>
                <a:spcPct val="105000"/>
              </a:lnSpc>
              <a:spcAft>
                <a:spcPts val="1200"/>
              </a:spcAft>
            </a:pPr>
            <a:r>
              <a:rPr sz="1350" b="0">
                <a:solidFill>
                  <a:srgbClr val="2B3A49"/>
                </a:solidFill>
                <a:latin typeface="Arial"/>
              </a:rPr>
              <a:t>—  Not a complete AI-governance or DLP platform — and we will not sell it as one.</a:t>
            </a:r>
          </a:p>
        </p:txBody>
      </p:sp>
      <p:sp>
        <p:nvSpPr>
          <p:cNvPr id="11" name="TextBox 10"/>
          <p:cNvSpPr txBox="1"/>
          <p:nvPr/>
        </p:nvSpPr>
        <p:spPr>
          <a:xfrm>
            <a:off x="548640" y="5806440"/>
            <a:ext cx="11094415" cy="457200"/>
          </a:xfrm>
          <a:prstGeom prst="rect">
            <a:avLst/>
          </a:prstGeom>
          <a:noFill/>
        </p:spPr>
        <p:txBody>
          <a:bodyPr wrap="square" anchor="t">
            <a:spAutoFit/>
          </a:bodyPr>
          <a:lstStyle/>
          <a:p>
            <a:pPr algn="l">
              <a:lnSpc>
                <a:spcPct val="100000"/>
              </a:lnSpc>
              <a:spcAft>
                <a:spcPts val="600"/>
              </a:spcAft>
            </a:pPr>
            <a:r>
              <a:rPr sz="1250" b="1">
                <a:solidFill>
                  <a:srgbClr val="607086"/>
                </a:solidFill>
                <a:latin typeface="Arial"/>
              </a:rPr>
              <a:t>Saying this plainly is the point: false confidence is the risk our source material names most explicitly.</a:t>
            </a:r>
          </a:p>
        </p:txBody>
      </p:sp>
      <p:sp>
        <p:nvSpPr>
          <p:cNvPr id="12" name="TextBox 11"/>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13" name="TextBox 12"/>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DIFFERENTIATION</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Why this is structurally different</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48640" y="1691640"/>
            <a:ext cx="566928" cy="566928"/>
          </a:xfrm>
          <a:prstGeom prst="ellipse">
            <a:avLst/>
          </a:prstGeom>
          <a:solidFill>
            <a:srgbClr val="2B3A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700" b="1">
                <a:solidFill>
                  <a:srgbClr val="FFFFFF"/>
                </a:solidFill>
                <a:latin typeface="Arial"/>
              </a:rPr>
              <a:t>1</a:t>
            </a:r>
          </a:p>
        </p:txBody>
      </p:sp>
      <p:sp>
        <p:nvSpPr>
          <p:cNvPr id="6" name="TextBox 5"/>
          <p:cNvSpPr txBox="1"/>
          <p:nvPr/>
        </p:nvSpPr>
        <p:spPr>
          <a:xfrm>
            <a:off x="1417320" y="1655064"/>
            <a:ext cx="10241280" cy="411480"/>
          </a:xfrm>
          <a:prstGeom prst="rect">
            <a:avLst/>
          </a:prstGeom>
          <a:noFill/>
        </p:spPr>
        <p:txBody>
          <a:bodyPr wrap="square" anchor="t">
            <a:spAutoFit/>
          </a:bodyPr>
          <a:lstStyle/>
          <a:p>
            <a:pPr algn="l">
              <a:lnSpc>
                <a:spcPct val="100000"/>
              </a:lnSpc>
              <a:spcAft>
                <a:spcPts val="600"/>
              </a:spcAft>
            </a:pPr>
            <a:r>
              <a:rPr sz="1650" b="1">
                <a:solidFill>
                  <a:srgbClr val="2B3A49"/>
                </a:solidFill>
                <a:latin typeface="Arial"/>
              </a:rPr>
              <a:t>Model- and gateway-independent contract</a:t>
            </a:r>
          </a:p>
        </p:txBody>
      </p:sp>
      <p:sp>
        <p:nvSpPr>
          <p:cNvPr id="7" name="TextBox 6"/>
          <p:cNvSpPr txBox="1"/>
          <p:nvPr/>
        </p:nvSpPr>
        <p:spPr>
          <a:xfrm>
            <a:off x="1417320" y="2075688"/>
            <a:ext cx="10241280" cy="640080"/>
          </a:xfrm>
          <a:prstGeom prst="rect">
            <a:avLst/>
          </a:prstGeom>
          <a:noFill/>
        </p:spPr>
        <p:txBody>
          <a:bodyPr wrap="square" anchor="t">
            <a:spAutoFit/>
          </a:bodyPr>
          <a:lstStyle/>
          <a:p>
            <a:pPr algn="l">
              <a:lnSpc>
                <a:spcPct val="100000"/>
              </a:lnSpc>
              <a:spcAft>
                <a:spcPts val="600"/>
              </a:spcAft>
            </a:pPr>
            <a:r>
              <a:rPr sz="1250" b="0">
                <a:solidFill>
                  <a:srgbClr val="607086"/>
                </a:solidFill>
                <a:latin typeface="Arial"/>
              </a:rPr>
              <a:t>Vendor- and framework-specific logic lives behind adapters and connectors — never inside the policy.</a:t>
            </a:r>
          </a:p>
        </p:txBody>
      </p:sp>
      <p:sp>
        <p:nvSpPr>
          <p:cNvPr id="8" name="Oval 7"/>
          <p:cNvSpPr/>
          <p:nvPr/>
        </p:nvSpPr>
        <p:spPr>
          <a:xfrm>
            <a:off x="548640" y="2990088"/>
            <a:ext cx="566928" cy="566928"/>
          </a:xfrm>
          <a:prstGeom prst="ellipse">
            <a:avLst/>
          </a:prstGeom>
          <a:solidFill>
            <a:srgbClr val="2B3A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700" b="1">
                <a:solidFill>
                  <a:srgbClr val="FFFFFF"/>
                </a:solidFill>
                <a:latin typeface="Arial"/>
              </a:rPr>
              <a:t>2</a:t>
            </a:r>
          </a:p>
        </p:txBody>
      </p:sp>
      <p:sp>
        <p:nvSpPr>
          <p:cNvPr id="9" name="TextBox 8"/>
          <p:cNvSpPr txBox="1"/>
          <p:nvPr/>
        </p:nvSpPr>
        <p:spPr>
          <a:xfrm>
            <a:off x="1417320" y="2953512"/>
            <a:ext cx="10241280" cy="411480"/>
          </a:xfrm>
          <a:prstGeom prst="rect">
            <a:avLst/>
          </a:prstGeom>
          <a:noFill/>
        </p:spPr>
        <p:txBody>
          <a:bodyPr wrap="square" anchor="t">
            <a:spAutoFit/>
          </a:bodyPr>
          <a:lstStyle/>
          <a:p>
            <a:pPr algn="l">
              <a:lnSpc>
                <a:spcPct val="100000"/>
              </a:lnSpc>
              <a:spcAft>
                <a:spcPts val="600"/>
              </a:spcAft>
            </a:pPr>
            <a:r>
              <a:rPr sz="1650" b="1">
                <a:solidFill>
                  <a:srgbClr val="2B3A49"/>
                </a:solidFill>
                <a:latin typeface="Arial"/>
              </a:rPr>
              <a:t>One policy, portable across all three deployment modes</a:t>
            </a:r>
          </a:p>
        </p:txBody>
      </p:sp>
      <p:sp>
        <p:nvSpPr>
          <p:cNvPr id="10" name="TextBox 9"/>
          <p:cNvSpPr txBox="1"/>
          <p:nvPr/>
        </p:nvSpPr>
        <p:spPr>
          <a:xfrm>
            <a:off x="1417320" y="3374136"/>
            <a:ext cx="10241280" cy="640080"/>
          </a:xfrm>
          <a:prstGeom prst="rect">
            <a:avLst/>
          </a:prstGeom>
          <a:noFill/>
        </p:spPr>
        <p:txBody>
          <a:bodyPr wrap="square" anchor="t">
            <a:spAutoFit/>
          </a:bodyPr>
          <a:lstStyle/>
          <a:p>
            <a:pPr algn="l">
              <a:lnSpc>
                <a:spcPct val="100000"/>
              </a:lnSpc>
              <a:spcAft>
                <a:spcPts val="600"/>
              </a:spcAft>
            </a:pPr>
            <a:r>
              <a:rPr sz="1250" b="0">
                <a:solidFill>
                  <a:srgbClr val="607086"/>
                </a:solidFill>
                <a:latin typeface="Arial"/>
              </a:rPr>
              <a:t>The same policy definition binds to a workload in Remote Evaluation, Guarded Gateway, or Customer-Managed Runtime.</a:t>
            </a:r>
          </a:p>
        </p:txBody>
      </p:sp>
      <p:sp>
        <p:nvSpPr>
          <p:cNvPr id="11" name="Oval 10"/>
          <p:cNvSpPr/>
          <p:nvPr/>
        </p:nvSpPr>
        <p:spPr>
          <a:xfrm>
            <a:off x="548640" y="4288536"/>
            <a:ext cx="566928" cy="566928"/>
          </a:xfrm>
          <a:prstGeom prst="ellipse">
            <a:avLst/>
          </a:prstGeom>
          <a:solidFill>
            <a:srgbClr val="2B3A4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0000"/>
              </a:lnSpc>
              <a:spcAft>
                <a:spcPts val="200"/>
              </a:spcAft>
            </a:pPr>
            <a:r>
              <a:rPr sz="1700" b="1">
                <a:solidFill>
                  <a:srgbClr val="FFFFFF"/>
                </a:solidFill>
                <a:latin typeface="Arial"/>
              </a:rPr>
              <a:t>3</a:t>
            </a:r>
          </a:p>
        </p:txBody>
      </p:sp>
      <p:sp>
        <p:nvSpPr>
          <p:cNvPr id="12" name="TextBox 11"/>
          <p:cNvSpPr txBox="1"/>
          <p:nvPr/>
        </p:nvSpPr>
        <p:spPr>
          <a:xfrm>
            <a:off x="1417320" y="4251960"/>
            <a:ext cx="10241280" cy="411480"/>
          </a:xfrm>
          <a:prstGeom prst="rect">
            <a:avLst/>
          </a:prstGeom>
          <a:noFill/>
        </p:spPr>
        <p:txBody>
          <a:bodyPr wrap="square" anchor="t">
            <a:spAutoFit/>
          </a:bodyPr>
          <a:lstStyle/>
          <a:p>
            <a:pPr algn="l">
              <a:lnSpc>
                <a:spcPct val="100000"/>
              </a:lnSpc>
              <a:spcAft>
                <a:spcPts val="600"/>
              </a:spcAft>
            </a:pPr>
            <a:r>
              <a:rPr sz="1650" b="1">
                <a:solidFill>
                  <a:srgbClr val="2B3A49"/>
                </a:solidFill>
                <a:latin typeface="Arial"/>
              </a:rPr>
              <a:t>Honest scoping as a feature</a:t>
            </a:r>
          </a:p>
        </p:txBody>
      </p:sp>
      <p:sp>
        <p:nvSpPr>
          <p:cNvPr id="13" name="TextBox 12"/>
          <p:cNvSpPr txBox="1"/>
          <p:nvPr/>
        </p:nvSpPr>
        <p:spPr>
          <a:xfrm>
            <a:off x="1417320" y="4672584"/>
            <a:ext cx="10241280" cy="640080"/>
          </a:xfrm>
          <a:prstGeom prst="rect">
            <a:avLst/>
          </a:prstGeom>
          <a:noFill/>
        </p:spPr>
        <p:txBody>
          <a:bodyPr wrap="square" anchor="t">
            <a:spAutoFit/>
          </a:bodyPr>
          <a:lstStyle/>
          <a:p>
            <a:pPr algn="l">
              <a:lnSpc>
                <a:spcPct val="100000"/>
              </a:lnSpc>
              <a:spcAft>
                <a:spcPts val="600"/>
              </a:spcAft>
            </a:pPr>
            <a:r>
              <a:rPr sz="1250" b="0">
                <a:solidFill>
                  <a:srgbClr val="607086"/>
                </a:solidFill>
                <a:latin typeface="Arial"/>
              </a:rPr>
              <a:t>The platform states plainly what it is not — no false-confidence sale, no quietly overclaimed boundary.</a:t>
            </a:r>
          </a:p>
        </p:txBody>
      </p:sp>
      <p:sp>
        <p:nvSpPr>
          <p:cNvPr id="14" name="TextBox 13"/>
          <p:cNvSpPr txBox="1"/>
          <p:nvPr/>
        </p:nvSpPr>
        <p:spPr>
          <a:xfrm>
            <a:off x="548640" y="5715000"/>
            <a:ext cx="11094415" cy="502920"/>
          </a:xfrm>
          <a:prstGeom prst="rect">
            <a:avLst/>
          </a:prstGeom>
          <a:noFill/>
        </p:spPr>
        <p:txBody>
          <a:bodyPr wrap="square" anchor="t">
            <a:spAutoFit/>
          </a:bodyPr>
          <a:lstStyle/>
          <a:p>
            <a:pPr algn="l">
              <a:lnSpc>
                <a:spcPct val="100000"/>
              </a:lnSpc>
              <a:spcAft>
                <a:spcPts val="600"/>
              </a:spcAft>
            </a:pPr>
            <a:r>
              <a:rPr sz="1200" b="0">
                <a:solidFill>
                  <a:srgbClr val="607086"/>
                </a:solidFill>
                <a:latin typeface="Arial"/>
              </a:rPr>
              <a:t>Validated today: LiteLLM connector + Bedrock Guardrails engine. The contract is built so neither is the boundary.</a:t>
            </a:r>
          </a:p>
        </p:txBody>
      </p:sp>
      <p:sp>
        <p:nvSpPr>
          <p:cNvPr id="15" name="TextBox 14"/>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16" name="TextBox 15"/>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ROADMAP</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Five phases — the full solution, sequenced</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737360"/>
            <a:ext cx="3657600" cy="3200400"/>
          </a:xfrm>
          <a:prstGeom prst="roundRect">
            <a:avLst/>
          </a:prstGeom>
          <a:solidFill>
            <a:srgbClr val="2B3A49"/>
          </a:solidFill>
          <a:ln w="31750">
            <a:solidFill>
              <a:srgbClr val="C997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20240"/>
            <a:ext cx="3200400" cy="2834640"/>
          </a:xfrm>
          <a:prstGeom prst="rect">
            <a:avLst/>
          </a:prstGeom>
          <a:noFill/>
        </p:spPr>
        <p:txBody>
          <a:bodyPr wrap="square" anchor="t">
            <a:spAutoFit/>
          </a:bodyPr>
          <a:lstStyle/>
          <a:p>
            <a:pPr algn="l">
              <a:lnSpc>
                <a:spcPct val="110000"/>
              </a:lnSpc>
              <a:spcAft>
                <a:spcPts val="1000"/>
              </a:spcAft>
            </a:pPr>
            <a:r>
              <a:rPr sz="1200" b="1">
                <a:solidFill>
                  <a:srgbClr val="C9971D"/>
                </a:solidFill>
                <a:latin typeface="Arial"/>
              </a:rPr>
              <a:t>PHASE 1 — DELIVERY STARTS HERE</a:t>
            </a:r>
          </a:p>
          <a:p>
            <a:pPr algn="l">
              <a:lnSpc>
                <a:spcPct val="110000"/>
              </a:lnSpc>
              <a:spcAft>
                <a:spcPts val="1000"/>
              </a:spcAft>
            </a:pPr>
            <a:r>
              <a:rPr sz="2100" b="1">
                <a:solidFill>
                  <a:srgbClr val="FFFFFF"/>
                </a:solidFill>
                <a:latin typeface="Arial"/>
              </a:rPr>
              <a:t>Integration Proof</a:t>
            </a:r>
          </a:p>
          <a:p>
            <a:pPr algn="l">
              <a:lnSpc>
                <a:spcPct val="110000"/>
              </a:lnSpc>
              <a:spcAft>
                <a:spcPts val="1000"/>
              </a:spcAft>
            </a:pPr>
            <a:r>
              <a:rPr sz="1200" b="0">
                <a:solidFill>
                  <a:srgbClr val="D5DEE7"/>
                </a:solidFill>
                <a:latin typeface="Arial"/>
              </a:rPr>
              <a:t>Prove guardrail policy and evaluation can be separated from LiteLLM and reused across gateways.</a:t>
            </a:r>
          </a:p>
          <a:p>
            <a:pPr algn="l">
              <a:lnSpc>
                <a:spcPct val="110000"/>
              </a:lnSpc>
              <a:spcAft>
                <a:spcPts val="1000"/>
              </a:spcAft>
            </a:pPr>
            <a:r>
              <a:rPr sz="1050" b="0">
                <a:solidFill>
                  <a:srgbClr val="AFBECD"/>
                </a:solidFill>
                <a:latin typeface="Arial"/>
              </a:rPr>
              <a:t>Evaluation contract · policy format · Bedrock adapter · LiteLLM connector · observe mode · basic auditing · internal deployment</a:t>
            </a:r>
          </a:p>
        </p:txBody>
      </p:sp>
      <p:sp>
        <p:nvSpPr>
          <p:cNvPr id="7" name="Rounded Rectangle 6"/>
          <p:cNvSpPr/>
          <p:nvPr/>
        </p:nvSpPr>
        <p:spPr>
          <a:xfrm>
            <a:off x="4663440" y="1737360"/>
            <a:ext cx="6976872" cy="713232"/>
          </a:xfrm>
          <a:prstGeom prst="roundRect">
            <a:avLst/>
          </a:prstGeom>
          <a:solidFill>
            <a:srgbClr val="FFFFFF"/>
          </a:solidFill>
          <a:ln w="15240">
            <a:solidFill>
              <a:srgbClr val="607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801368"/>
            <a:ext cx="6583680" cy="566928"/>
          </a:xfrm>
          <a:prstGeom prst="rect">
            <a:avLst/>
          </a:prstGeom>
          <a:noFill/>
        </p:spPr>
        <p:txBody>
          <a:bodyPr wrap="square" anchor="t">
            <a:spAutoFit/>
          </a:bodyPr>
          <a:lstStyle/>
          <a:p>
            <a:pPr algn="l">
              <a:lnSpc>
                <a:spcPct val="100000"/>
              </a:lnSpc>
              <a:spcAft>
                <a:spcPts val="600"/>
              </a:spcAft>
            </a:pPr>
            <a:r>
              <a:rPr sz="1250" b="1">
                <a:solidFill>
                  <a:srgbClr val="2B3A49"/>
                </a:solidFill>
                <a:latin typeface="Arial"/>
              </a:rPr>
              <a:t>Phase 2 — Internal multi-team platform   </a:t>
            </a:r>
            <a:r>
              <a:rPr sz="1050" b="0">
                <a:solidFill>
                  <a:srgbClr val="607086"/>
                </a:solidFill>
                <a:latin typeface="Arial"/>
              </a:rPr>
              <a:t>Multiple internal teams onboard; runs the Phase 1–2 validation demonstration.</a:t>
            </a:r>
          </a:p>
        </p:txBody>
      </p:sp>
      <p:sp>
        <p:nvSpPr>
          <p:cNvPr id="9" name="Rounded Rectangle 8"/>
          <p:cNvSpPr/>
          <p:nvPr/>
        </p:nvSpPr>
        <p:spPr>
          <a:xfrm>
            <a:off x="4663440" y="2578608"/>
            <a:ext cx="6976872" cy="713232"/>
          </a:xfrm>
          <a:prstGeom prst="roundRect">
            <a:avLst/>
          </a:prstGeom>
          <a:solidFill>
            <a:srgbClr val="FFFFFF"/>
          </a:solidFill>
          <a:ln w="15240">
            <a:solidFill>
              <a:srgbClr val="607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2642616"/>
            <a:ext cx="6583680" cy="566928"/>
          </a:xfrm>
          <a:prstGeom prst="rect">
            <a:avLst/>
          </a:prstGeom>
          <a:noFill/>
        </p:spPr>
        <p:txBody>
          <a:bodyPr wrap="square" anchor="t">
            <a:spAutoFit/>
          </a:bodyPr>
          <a:lstStyle/>
          <a:p>
            <a:pPr algn="l">
              <a:lnSpc>
                <a:spcPct val="100000"/>
              </a:lnSpc>
              <a:spcAft>
                <a:spcPts val="600"/>
              </a:spcAft>
            </a:pPr>
            <a:r>
              <a:rPr sz="1250" b="1">
                <a:solidFill>
                  <a:srgbClr val="2B3A49"/>
                </a:solidFill>
                <a:latin typeface="Arial"/>
              </a:rPr>
              <a:t>Phase 3 — Guarded Gateway   </a:t>
            </a:r>
            <a:r>
              <a:rPr sz="1050" b="0">
                <a:solidFill>
                  <a:srgbClr val="607086"/>
                </a:solidFill>
                <a:latin typeface="Arial"/>
              </a:rPr>
              <a:t>Fully hosted model + guardrail path (Mode B).</a:t>
            </a:r>
          </a:p>
        </p:txBody>
      </p:sp>
      <p:sp>
        <p:nvSpPr>
          <p:cNvPr id="11" name="Rounded Rectangle 10"/>
          <p:cNvSpPr/>
          <p:nvPr/>
        </p:nvSpPr>
        <p:spPr>
          <a:xfrm>
            <a:off x="4663440" y="3419856"/>
            <a:ext cx="6976872" cy="713232"/>
          </a:xfrm>
          <a:prstGeom prst="roundRect">
            <a:avLst/>
          </a:prstGeom>
          <a:solidFill>
            <a:srgbClr val="FFFFFF"/>
          </a:solidFill>
          <a:ln w="15240">
            <a:solidFill>
              <a:srgbClr val="607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46320" y="3483864"/>
            <a:ext cx="6583680" cy="566928"/>
          </a:xfrm>
          <a:prstGeom prst="rect">
            <a:avLst/>
          </a:prstGeom>
          <a:noFill/>
        </p:spPr>
        <p:txBody>
          <a:bodyPr wrap="square" anchor="t">
            <a:spAutoFit/>
          </a:bodyPr>
          <a:lstStyle/>
          <a:p>
            <a:pPr algn="l">
              <a:lnSpc>
                <a:spcPct val="100000"/>
              </a:lnSpc>
              <a:spcAft>
                <a:spcPts val="600"/>
              </a:spcAft>
            </a:pPr>
            <a:r>
              <a:rPr sz="1250" b="1">
                <a:solidFill>
                  <a:srgbClr val="2B3A49"/>
                </a:solidFill>
                <a:latin typeface="Arial"/>
              </a:rPr>
              <a:t>Phase 4 — Customer-Managed Runtime   </a:t>
            </a:r>
            <a:r>
              <a:rPr sz="1050" b="0">
                <a:solidFill>
                  <a:srgbClr val="607086"/>
                </a:solidFill>
                <a:latin typeface="Arial"/>
              </a:rPr>
              <a:t>Local evaluation and content isolation (Mode C).</a:t>
            </a:r>
          </a:p>
        </p:txBody>
      </p:sp>
      <p:sp>
        <p:nvSpPr>
          <p:cNvPr id="13" name="Rounded Rectangle 12"/>
          <p:cNvSpPr/>
          <p:nvPr/>
        </p:nvSpPr>
        <p:spPr>
          <a:xfrm>
            <a:off x="4663440" y="4261104"/>
            <a:ext cx="6976872" cy="713232"/>
          </a:xfrm>
          <a:prstGeom prst="roundRect">
            <a:avLst/>
          </a:prstGeom>
          <a:solidFill>
            <a:srgbClr val="FFFFFF"/>
          </a:solidFill>
          <a:ln w="15240">
            <a:solidFill>
              <a:srgbClr val="6070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4325112"/>
            <a:ext cx="6583680" cy="566928"/>
          </a:xfrm>
          <a:prstGeom prst="rect">
            <a:avLst/>
          </a:prstGeom>
          <a:noFill/>
        </p:spPr>
        <p:txBody>
          <a:bodyPr wrap="square" anchor="t">
            <a:spAutoFit/>
          </a:bodyPr>
          <a:lstStyle/>
          <a:p>
            <a:pPr algn="l">
              <a:lnSpc>
                <a:spcPct val="100000"/>
              </a:lnSpc>
              <a:spcAft>
                <a:spcPts val="600"/>
              </a:spcAft>
            </a:pPr>
            <a:r>
              <a:rPr sz="1250" b="1">
                <a:solidFill>
                  <a:srgbClr val="2B3A49"/>
                </a:solidFill>
                <a:latin typeface="Arial"/>
              </a:rPr>
              <a:t>Phase 5 — Advanced agent protection   </a:t>
            </a:r>
            <a:r>
              <a:rPr sz="1050" b="0">
                <a:solidFill>
                  <a:srgbClr val="607086"/>
                </a:solidFill>
                <a:latin typeface="Arial"/>
              </a:rPr>
              <a:t>Retrieval, tool calls, memory writes, MCP — delivered last; not available until built.</a:t>
            </a:r>
          </a:p>
        </p:txBody>
      </p:sp>
      <p:sp>
        <p:nvSpPr>
          <p:cNvPr id="15" name="TextBox 14"/>
          <p:cNvSpPr txBox="1"/>
          <p:nvPr/>
        </p:nvSpPr>
        <p:spPr>
          <a:xfrm>
            <a:off x="4663440" y="5148072"/>
            <a:ext cx="6976872" cy="594360"/>
          </a:xfrm>
          <a:prstGeom prst="rect">
            <a:avLst/>
          </a:prstGeom>
          <a:noFill/>
        </p:spPr>
        <p:txBody>
          <a:bodyPr wrap="square" anchor="t">
            <a:spAutoFit/>
          </a:bodyPr>
          <a:lstStyle/>
          <a:p>
            <a:pPr algn="l">
              <a:lnSpc>
                <a:spcPct val="100000"/>
              </a:lnSpc>
              <a:spcAft>
                <a:spcPts val="600"/>
              </a:spcAft>
            </a:pPr>
            <a:r>
              <a:rPr sz="1150" b="1">
                <a:solidFill>
                  <a:srgbClr val="2B3A49"/>
                </a:solidFill>
                <a:latin typeface="Arial"/>
              </a:rPr>
              <a:t>All five phases are in the approved scope and the estimation. Sequence is agreed; dates are TBD. Each phase is validated before the next proceeds.</a:t>
            </a:r>
          </a:p>
        </p:txBody>
      </p:sp>
      <p:sp>
        <p:nvSpPr>
          <p:cNvPr id="16" name="TextBox 15"/>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17" name="TextBox 16"/>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DELIVERY EXPECTATIONS</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What success looks like — concrete and falsifiable</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54480"/>
            <a:ext cx="11094415" cy="411480"/>
          </a:xfrm>
          <a:prstGeom prst="rect">
            <a:avLst/>
          </a:prstGeom>
          <a:noFill/>
        </p:spPr>
        <p:txBody>
          <a:bodyPr wrap="square" anchor="t">
            <a:spAutoFit/>
          </a:bodyPr>
          <a:lstStyle/>
          <a:p>
            <a:pPr algn="l">
              <a:lnSpc>
                <a:spcPct val="100000"/>
              </a:lnSpc>
              <a:spcAft>
                <a:spcPts val="600"/>
              </a:spcAft>
            </a:pPr>
            <a:r>
              <a:rPr sz="1450" b="1">
                <a:solidFill>
                  <a:srgbClr val="2B3A49"/>
                </a:solidFill>
                <a:latin typeface="Arial"/>
              </a:rPr>
              <a:t>The Phase 1–2 validation demonstration passes when:</a:t>
            </a:r>
          </a:p>
        </p:txBody>
      </p:sp>
      <p:sp>
        <p:nvSpPr>
          <p:cNvPr id="6" name="Rectangle 5"/>
          <p:cNvSpPr/>
          <p:nvPr/>
        </p:nvSpPr>
        <p:spPr>
          <a:xfrm>
            <a:off x="548640" y="2176272"/>
            <a:ext cx="256032" cy="256032"/>
          </a:xfrm>
          <a:prstGeom prst="rect">
            <a:avLst/>
          </a:prstGeom>
          <a:noFill/>
          <a:ln w="1778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30552"/>
            <a:ext cx="10698480" cy="457200"/>
          </a:xfrm>
          <a:prstGeom prst="rect">
            <a:avLst/>
          </a:prstGeom>
          <a:noFill/>
        </p:spPr>
        <p:txBody>
          <a:bodyPr wrap="square" anchor="t">
            <a:spAutoFit/>
          </a:bodyPr>
          <a:lstStyle/>
          <a:p>
            <a:pPr algn="l">
              <a:lnSpc>
                <a:spcPct val="100000"/>
              </a:lnSpc>
              <a:spcAft>
                <a:spcPts val="600"/>
              </a:spcAft>
            </a:pPr>
            <a:r>
              <a:rPr sz="1350" b="0">
                <a:solidFill>
                  <a:srgbClr val="2B3A49"/>
                </a:solidFill>
                <a:latin typeface="Arial"/>
              </a:rPr>
              <a:t>Two organizationally independent LiteLLM instances consume the same versioned policy.</a:t>
            </a:r>
          </a:p>
        </p:txBody>
      </p:sp>
      <p:sp>
        <p:nvSpPr>
          <p:cNvPr id="8" name="Rectangle 7"/>
          <p:cNvSpPr/>
          <p:nvPr/>
        </p:nvSpPr>
        <p:spPr>
          <a:xfrm>
            <a:off x="548640" y="2688336"/>
            <a:ext cx="256032" cy="256032"/>
          </a:xfrm>
          <a:prstGeom prst="rect">
            <a:avLst/>
          </a:prstGeom>
          <a:noFill/>
          <a:ln w="1778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42616"/>
            <a:ext cx="10698480" cy="457200"/>
          </a:xfrm>
          <a:prstGeom prst="rect">
            <a:avLst/>
          </a:prstGeom>
          <a:noFill/>
        </p:spPr>
        <p:txBody>
          <a:bodyPr wrap="square" anchor="t">
            <a:spAutoFit/>
          </a:bodyPr>
          <a:lstStyle/>
          <a:p>
            <a:pPr algn="l">
              <a:lnSpc>
                <a:spcPct val="100000"/>
              </a:lnSpc>
              <a:spcAft>
                <a:spcPts val="600"/>
              </a:spcAft>
            </a:pPr>
            <a:r>
              <a:rPr sz="1350" b="0">
                <a:solidFill>
                  <a:srgbClr val="2B3A49"/>
                </a:solidFill>
                <a:latin typeface="Arial"/>
              </a:rPr>
              <a:t>Neither instance shares model-provider credentials with the guardrail platform.</a:t>
            </a:r>
          </a:p>
        </p:txBody>
      </p:sp>
      <p:sp>
        <p:nvSpPr>
          <p:cNvPr id="10" name="Rectangle 9"/>
          <p:cNvSpPr/>
          <p:nvPr/>
        </p:nvSpPr>
        <p:spPr>
          <a:xfrm>
            <a:off x="548640" y="3200400"/>
            <a:ext cx="256032" cy="256032"/>
          </a:xfrm>
          <a:prstGeom prst="rect">
            <a:avLst/>
          </a:prstGeom>
          <a:noFill/>
          <a:ln w="1778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54680"/>
            <a:ext cx="10698480" cy="457200"/>
          </a:xfrm>
          <a:prstGeom prst="rect">
            <a:avLst/>
          </a:prstGeom>
          <a:noFill/>
        </p:spPr>
        <p:txBody>
          <a:bodyPr wrap="square" anchor="t">
            <a:spAutoFit/>
          </a:bodyPr>
          <a:lstStyle/>
          <a:p>
            <a:pPr algn="l">
              <a:lnSpc>
                <a:spcPct val="100000"/>
              </a:lnSpc>
              <a:spcAft>
                <a:spcPts val="600"/>
              </a:spcAft>
            </a:pPr>
            <a:r>
              <a:rPr sz="1350" b="0">
                <a:solidFill>
                  <a:srgbClr val="2B3A49"/>
                </a:solidFill>
                <a:latin typeface="Arial"/>
              </a:rPr>
              <a:t>Both receive consistent, normalized decisions.</a:t>
            </a:r>
          </a:p>
        </p:txBody>
      </p:sp>
      <p:sp>
        <p:nvSpPr>
          <p:cNvPr id="12" name="Rectangle 11"/>
          <p:cNvSpPr/>
          <p:nvPr/>
        </p:nvSpPr>
        <p:spPr>
          <a:xfrm>
            <a:off x="548640" y="3712464"/>
            <a:ext cx="256032" cy="256032"/>
          </a:xfrm>
          <a:prstGeom prst="rect">
            <a:avLst/>
          </a:prstGeom>
          <a:noFill/>
          <a:ln w="1778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666744"/>
            <a:ext cx="10698480" cy="457200"/>
          </a:xfrm>
          <a:prstGeom prst="rect">
            <a:avLst/>
          </a:prstGeom>
          <a:noFill/>
        </p:spPr>
        <p:txBody>
          <a:bodyPr wrap="square" anchor="t">
            <a:spAutoFit/>
          </a:bodyPr>
          <a:lstStyle/>
          <a:p>
            <a:pPr algn="l">
              <a:lnSpc>
                <a:spcPct val="100000"/>
              </a:lnSpc>
              <a:spcAft>
                <a:spcPts val="600"/>
              </a:spcAft>
            </a:pPr>
            <a:r>
              <a:rPr sz="1350" b="0">
                <a:solidFill>
                  <a:srgbClr val="2B3A49"/>
                </a:solidFill>
                <a:latin typeface="Arial"/>
              </a:rPr>
              <a:t>One workload runs in Observe while another runs in Enforce.</a:t>
            </a:r>
          </a:p>
        </p:txBody>
      </p:sp>
      <p:sp>
        <p:nvSpPr>
          <p:cNvPr id="14" name="Rectangle 13"/>
          <p:cNvSpPr/>
          <p:nvPr/>
        </p:nvSpPr>
        <p:spPr>
          <a:xfrm>
            <a:off x="548640" y="4224528"/>
            <a:ext cx="256032" cy="256032"/>
          </a:xfrm>
          <a:prstGeom prst="rect">
            <a:avLst/>
          </a:prstGeom>
          <a:noFill/>
          <a:ln w="1778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178808"/>
            <a:ext cx="10698480" cy="457200"/>
          </a:xfrm>
          <a:prstGeom prst="rect">
            <a:avLst/>
          </a:prstGeom>
          <a:noFill/>
        </p:spPr>
        <p:txBody>
          <a:bodyPr wrap="square" anchor="t">
            <a:spAutoFit/>
          </a:bodyPr>
          <a:lstStyle/>
          <a:p>
            <a:pPr algn="l">
              <a:lnSpc>
                <a:spcPct val="100000"/>
              </a:lnSpc>
              <a:spcAft>
                <a:spcPts val="600"/>
              </a:spcAft>
            </a:pPr>
            <a:r>
              <a:rPr sz="1350" b="0">
                <a:solidFill>
                  <a:srgbClr val="2B3A49"/>
                </a:solidFill>
                <a:latin typeface="Arial"/>
              </a:rPr>
              <a:t>A policy version can be upgraded and rolled back.</a:t>
            </a:r>
          </a:p>
        </p:txBody>
      </p:sp>
      <p:sp>
        <p:nvSpPr>
          <p:cNvPr id="16" name="Rectangle 15"/>
          <p:cNvSpPr/>
          <p:nvPr/>
        </p:nvSpPr>
        <p:spPr>
          <a:xfrm>
            <a:off x="548640" y="4736592"/>
            <a:ext cx="256032" cy="256032"/>
          </a:xfrm>
          <a:prstGeom prst="rect">
            <a:avLst/>
          </a:prstGeom>
          <a:noFill/>
          <a:ln w="1778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690872"/>
            <a:ext cx="10698480" cy="457200"/>
          </a:xfrm>
          <a:prstGeom prst="rect">
            <a:avLst/>
          </a:prstGeom>
          <a:noFill/>
        </p:spPr>
        <p:txBody>
          <a:bodyPr wrap="square" anchor="t">
            <a:spAutoFit/>
          </a:bodyPr>
          <a:lstStyle/>
          <a:p>
            <a:pPr algn="l">
              <a:lnSpc>
                <a:spcPct val="100000"/>
              </a:lnSpc>
              <a:spcAft>
                <a:spcPts val="600"/>
              </a:spcAft>
            </a:pPr>
            <a:r>
              <a:rPr sz="1350" b="0">
                <a:solidFill>
                  <a:srgbClr val="2B3A49"/>
                </a:solidFill>
                <a:latin typeface="Arial"/>
              </a:rPr>
              <a:t>Raw prompt/response persistence can be disabled.</a:t>
            </a:r>
          </a:p>
        </p:txBody>
      </p:sp>
      <p:sp>
        <p:nvSpPr>
          <p:cNvPr id="18" name="Rectangle 17"/>
          <p:cNvSpPr/>
          <p:nvPr/>
        </p:nvSpPr>
        <p:spPr>
          <a:xfrm>
            <a:off x="548640" y="5248656"/>
            <a:ext cx="256032" cy="256032"/>
          </a:xfrm>
          <a:prstGeom prst="rect">
            <a:avLst/>
          </a:prstGeom>
          <a:noFill/>
          <a:ln w="17780">
            <a:solidFill>
              <a:srgbClr val="2B3A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202936"/>
            <a:ext cx="10698480" cy="457200"/>
          </a:xfrm>
          <a:prstGeom prst="rect">
            <a:avLst/>
          </a:prstGeom>
          <a:noFill/>
        </p:spPr>
        <p:txBody>
          <a:bodyPr wrap="square" anchor="t">
            <a:spAutoFit/>
          </a:bodyPr>
          <a:lstStyle/>
          <a:p>
            <a:pPr algn="l">
              <a:lnSpc>
                <a:spcPct val="100000"/>
              </a:lnSpc>
              <a:spcAft>
                <a:spcPts val="600"/>
              </a:spcAft>
            </a:pPr>
            <a:r>
              <a:rPr sz="1350" b="0">
                <a:solidFill>
                  <a:srgbClr val="2B3A49"/>
                </a:solidFill>
                <a:latin typeface="Arial"/>
              </a:rPr>
              <a:t>Evaluation failures follow an explicitly configured failure policy — no undocumented fallback.</a:t>
            </a:r>
          </a:p>
        </p:txBody>
      </p:sp>
      <p:sp>
        <p:nvSpPr>
          <p:cNvPr id="20" name="TextBox 19"/>
          <p:cNvSpPr txBox="1"/>
          <p:nvPr/>
        </p:nvSpPr>
        <p:spPr>
          <a:xfrm>
            <a:off x="548640" y="5870448"/>
            <a:ext cx="11094415" cy="457200"/>
          </a:xfrm>
          <a:prstGeom prst="rect">
            <a:avLst/>
          </a:prstGeom>
          <a:noFill/>
        </p:spPr>
        <p:txBody>
          <a:bodyPr wrap="square" anchor="t">
            <a:spAutoFit/>
          </a:bodyPr>
          <a:lstStyle/>
          <a:p>
            <a:pPr algn="l">
              <a:lnSpc>
                <a:spcPct val="100000"/>
              </a:lnSpc>
              <a:spcAft>
                <a:spcPts val="600"/>
              </a:spcAft>
            </a:pPr>
            <a:r>
              <a:rPr sz="1250" b="1">
                <a:solidFill>
                  <a:srgbClr val="607086"/>
                </a:solidFill>
                <a:latin typeface="Arial"/>
              </a:rPr>
              <a:t>A target, not an achieved result — the first proof gate of the program. Full solution success: all five phases delivered and validated.</a:t>
            </a:r>
          </a:p>
        </p:txBody>
      </p:sp>
      <p:sp>
        <p:nvSpPr>
          <p:cNvPr id="21" name="TextBox 20"/>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22" name="TextBox 21"/>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DELIVERY EXPECTATIONS</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Who owns what</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45920"/>
          <a:ext cx="11091672" cy="3291840"/>
        </p:xfrm>
        <a:graphic>
          <a:graphicData uri="http://schemas.openxmlformats.org/drawingml/2006/table">
            <a:tbl>
              <a:tblPr firstRow="1" bandRow="1">
                <a:tableStyleId>{5C22544A-7EE6-4342-B048-85BDC9FD1C3A}</a:tableStyleId>
              </a:tblPr>
              <a:tblGrid>
                <a:gridCol w="2926080"/>
                <a:gridCol w="8165592"/>
              </a:tblGrid>
              <a:tr h="658368">
                <a:tc>
                  <a:txBody>
                    <a:bodyPr wrap="square"/>
                    <a:lstStyle/>
                    <a:p>
                      <a:r>
                        <a:rPr sz="1100" b="1">
                          <a:solidFill>
                            <a:srgbClr val="FFFFFF"/>
                          </a:solidFill>
                          <a:latin typeface="Arial"/>
                        </a:rPr>
                        <a:t>Group</a:t>
                      </a:r>
                    </a:p>
                  </a:txBody>
                  <a:tcPr marL="73152" marR="73152" marT="36576" marB="36576" anchor="ctr">
                    <a:solidFill>
                      <a:srgbClr val="2B3A49"/>
                    </a:solidFill>
                  </a:tcPr>
                </a:tc>
                <a:tc>
                  <a:txBody>
                    <a:bodyPr wrap="square"/>
                    <a:lstStyle/>
                    <a:p>
                      <a:r>
                        <a:rPr sz="1100" b="1">
                          <a:solidFill>
                            <a:srgbClr val="FFFFFF"/>
                          </a:solidFill>
                          <a:latin typeface="Arial"/>
                        </a:rPr>
                        <a:t>Owns</a:t>
                      </a:r>
                    </a:p>
                  </a:txBody>
                  <a:tcPr marL="73152" marR="73152" marT="36576" marB="36576" anchor="ctr">
                    <a:solidFill>
                      <a:srgbClr val="2B3A49"/>
                    </a:solidFill>
                  </a:tcPr>
                </a:tc>
              </a:tr>
              <a:tr h="658368">
                <a:tc>
                  <a:txBody>
                    <a:bodyPr wrap="square"/>
                    <a:lstStyle/>
                    <a:p>
                      <a:r>
                        <a:rPr sz="1200" b="0">
                          <a:solidFill>
                            <a:srgbClr val="2B3A49"/>
                          </a:solidFill>
                          <a:latin typeface="Arial"/>
                        </a:rPr>
                        <a:t>AI Guardrails team</a:t>
                      </a:r>
                    </a:p>
                  </a:txBody>
                  <a:tcPr marL="73152" marR="73152" marT="36576" marB="36576" anchor="ctr">
                    <a:solidFill>
                      <a:srgbClr val="FFFFFF"/>
                    </a:solidFill>
                  </a:tcPr>
                </a:tc>
                <a:tc>
                  <a:txBody>
                    <a:bodyPr wrap="square"/>
                    <a:lstStyle/>
                    <a:p>
                      <a:r>
                        <a:rPr sz="1200" b="0">
                          <a:solidFill>
                            <a:srgbClr val="2B3A49"/>
                          </a:solidFill>
                          <a:latin typeface="Arial"/>
                        </a:rPr>
                        <a:t>Product architecture, policy schemas, evaluation contract, runtime, LiteLLM connector, Bedrock integration, documentation.</a:t>
                      </a:r>
                    </a:p>
                  </a:txBody>
                  <a:tcPr marL="73152" marR="73152" marT="36576" marB="36576" anchor="ctr">
                    <a:solidFill>
                      <a:srgbClr val="FFFFFF"/>
                    </a:solidFill>
                  </a:tcPr>
                </a:tc>
              </a:tr>
              <a:tr h="658368">
                <a:tc>
                  <a:txBody>
                    <a:bodyPr wrap="square"/>
                    <a:lstStyle/>
                    <a:p>
                      <a:r>
                        <a:rPr sz="1200" b="0">
                          <a:solidFill>
                            <a:srgbClr val="2B3A49"/>
                          </a:solidFill>
                          <a:latin typeface="Arial"/>
                        </a:rPr>
                        <a:t>Platform operations</a:t>
                      </a:r>
                    </a:p>
                  </a:txBody>
                  <a:tcPr marL="73152" marR="73152" marT="36576" marB="36576" anchor="ctr">
                    <a:solidFill>
                      <a:srgbClr val="FFFFFF"/>
                    </a:solidFill>
                  </a:tcPr>
                </a:tc>
                <a:tc>
                  <a:txBody>
                    <a:bodyPr wrap="square"/>
                    <a:lstStyle/>
                    <a:p>
                      <a:r>
                        <a:rPr sz="1200" b="0">
                          <a:solidFill>
                            <a:srgbClr val="2B3A49"/>
                          </a:solidFill>
                          <a:latin typeface="Arial"/>
                        </a:rPr>
                        <a:t>Hosted infrastructure, deployment, monitoring, capacity, production incident response.</a:t>
                      </a:r>
                    </a:p>
                  </a:txBody>
                  <a:tcPr marL="73152" marR="73152" marT="36576" marB="36576" anchor="ctr">
                    <a:solidFill>
                      <a:srgbClr val="FFFFFF"/>
                    </a:solidFill>
                  </a:tcPr>
                </a:tc>
              </a:tr>
              <a:tr h="658368">
                <a:tc>
                  <a:txBody>
                    <a:bodyPr wrap="square"/>
                    <a:lstStyle/>
                    <a:p>
                      <a:r>
                        <a:rPr sz="1200" b="0">
                          <a:solidFill>
                            <a:srgbClr val="2B3A49"/>
                          </a:solidFill>
                          <a:latin typeface="Arial"/>
                        </a:rPr>
                        <a:t>Security and governance</a:t>
                      </a:r>
                    </a:p>
                  </a:txBody>
                  <a:tcPr marL="73152" marR="73152" marT="36576" marB="36576" anchor="ctr">
                    <a:solidFill>
                      <a:srgbClr val="FFFFFF"/>
                    </a:solidFill>
                  </a:tcPr>
                </a:tc>
                <a:tc>
                  <a:txBody>
                    <a:bodyPr wrap="square"/>
                    <a:lstStyle/>
                    <a:p>
                      <a:r>
                        <a:rPr sz="1200" b="0">
                          <a:solidFill>
                            <a:srgbClr val="2B3A49"/>
                          </a:solidFill>
                          <a:latin typeface="Arial"/>
                        </a:rPr>
                        <a:t>Organization-level policy requirements, risk classifications, policy approval, audit requirements.</a:t>
                      </a:r>
                    </a:p>
                  </a:txBody>
                  <a:tcPr marL="73152" marR="73152" marT="36576" marB="36576" anchor="ctr">
                    <a:solidFill>
                      <a:srgbClr val="FFFFFF"/>
                    </a:solidFill>
                  </a:tcPr>
                </a:tc>
              </a:tr>
              <a:tr h="658368">
                <a:tc>
                  <a:txBody>
                    <a:bodyPr wrap="square"/>
                    <a:lstStyle/>
                    <a:p>
                      <a:r>
                        <a:rPr sz="1200" b="0">
                          <a:solidFill>
                            <a:srgbClr val="2B3A49"/>
                          </a:solidFill>
                          <a:latin typeface="Arial"/>
                        </a:rPr>
                        <a:t>Consuming (application) teams</a:t>
                      </a:r>
                    </a:p>
                  </a:txBody>
                  <a:tcPr marL="73152" marR="73152" marT="36576" marB="36576" anchor="ctr">
                    <a:solidFill>
                      <a:srgbClr val="FFFFFF"/>
                    </a:solidFill>
                  </a:tcPr>
                </a:tc>
                <a:tc>
                  <a:txBody>
                    <a:bodyPr wrap="square"/>
                    <a:lstStyle/>
                    <a:p>
                      <a:r>
                        <a:rPr sz="1200" b="0">
                          <a:solidFill>
                            <a:srgbClr val="2B3A49"/>
                          </a:solidFill>
                          <a:latin typeface="Arial"/>
                        </a:rPr>
                        <a:t>Application behavior, correct connector installation, workload registration accuracy, review of observe-mode findings before accepting enforcement.</a:t>
                      </a:r>
                    </a:p>
                  </a:txBody>
                  <a:tcPr marL="73152" marR="73152" marT="36576" marB="36576" anchor="ctr">
                    <a:solidFill>
                      <a:srgbClr val="FFFFFF"/>
                    </a:solidFill>
                  </a:tcPr>
                </a:tc>
              </a:tr>
            </a:tbl>
          </a:graphicData>
        </a:graphic>
      </p:graphicFrame>
      <p:sp>
        <p:nvSpPr>
          <p:cNvPr id="6" name="TextBox 5"/>
          <p:cNvSpPr txBox="1"/>
          <p:nvPr/>
        </p:nvSpPr>
        <p:spPr>
          <a:xfrm>
            <a:off x="548640" y="5349240"/>
            <a:ext cx="11094415" cy="822960"/>
          </a:xfrm>
          <a:prstGeom prst="rect">
            <a:avLst/>
          </a:prstGeom>
          <a:noFill/>
        </p:spPr>
        <p:txBody>
          <a:bodyPr wrap="square" anchor="t">
            <a:spAutoFit/>
          </a:bodyPr>
          <a:lstStyle/>
          <a:p>
            <a:pPr algn="l">
              <a:lnSpc>
                <a:spcPct val="100000"/>
              </a:lnSpc>
              <a:spcAft>
                <a:spcPts val="600"/>
              </a:spcAft>
            </a:pPr>
            <a:r>
              <a:rPr sz="1250" b="1">
                <a:solidFill>
                  <a:srgbClr val="2B3A49"/>
                </a:solidFill>
                <a:latin typeface="Arial"/>
              </a:rPr>
              <a:t>Onboarding never requires copying a team's LiteLLM database, transferring model-provider credentials, or granting admin access to a team's gateway.</a:t>
            </a:r>
          </a:p>
        </p:txBody>
      </p:sp>
      <p:sp>
        <p:nvSpPr>
          <p:cNvPr id="7" name="TextBox 6"/>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Internal draft — placeholder styling, pending brand</a:t>
            </a:r>
          </a:p>
        </p:txBody>
      </p:sp>
      <p:sp>
        <p:nvSpPr>
          <p:cNvPr id="8" name="TextBox 7"/>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3A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94415" cy="365760"/>
          </a:xfrm>
          <a:prstGeom prst="rect">
            <a:avLst/>
          </a:prstGeom>
          <a:noFill/>
        </p:spPr>
        <p:txBody>
          <a:bodyPr wrap="square" anchor="t">
            <a:spAutoFit/>
          </a:bodyPr>
          <a:lstStyle/>
          <a:p>
            <a:pPr algn="l">
              <a:lnSpc>
                <a:spcPct val="100000"/>
              </a:lnSpc>
              <a:spcAft>
                <a:spcPts val="600"/>
              </a:spcAft>
            </a:pPr>
            <a:r>
              <a:rPr sz="1200" b="1">
                <a:solidFill>
                  <a:srgbClr val="C9971D"/>
                </a:solidFill>
                <a:latin typeface="Arial"/>
              </a:rPr>
              <a:t>THE DECISION REQUESTED TODAY</a:t>
            </a:r>
          </a:p>
        </p:txBody>
      </p:sp>
      <p:sp>
        <p:nvSpPr>
          <p:cNvPr id="4" name="TextBox 3"/>
          <p:cNvSpPr txBox="1"/>
          <p:nvPr/>
        </p:nvSpPr>
        <p:spPr>
          <a:xfrm>
            <a:off x="548640" y="960120"/>
            <a:ext cx="11094415" cy="1554480"/>
          </a:xfrm>
          <a:prstGeom prst="rect">
            <a:avLst/>
          </a:prstGeom>
          <a:noFill/>
        </p:spPr>
        <p:txBody>
          <a:bodyPr wrap="square" anchor="t">
            <a:spAutoFit/>
          </a:bodyPr>
          <a:lstStyle/>
          <a:p>
            <a:pPr algn="l">
              <a:lnSpc>
                <a:spcPct val="110000"/>
              </a:lnSpc>
              <a:spcAft>
                <a:spcPts val="600"/>
              </a:spcAft>
            </a:pPr>
            <a:r>
              <a:rPr sz="2500" b="1">
                <a:solidFill>
                  <a:srgbClr val="FFFFFF"/>
                </a:solidFill>
                <a:latin typeface="Arial"/>
              </a:rPr>
              <a:t>Approve the AI Guardrails solution — the full feature set, delivered in five phases — with its estimation built over the full scope.</a:t>
            </a:r>
          </a:p>
        </p:txBody>
      </p:sp>
      <p:sp>
        <p:nvSpPr>
          <p:cNvPr id="5" name="Rounded Rectangle 4"/>
          <p:cNvSpPr/>
          <p:nvPr/>
        </p:nvSpPr>
        <p:spPr>
          <a:xfrm>
            <a:off x="548640" y="2697480"/>
            <a:ext cx="5486400" cy="2743200"/>
          </a:xfrm>
          <a:prstGeom prst="roundRect">
            <a:avLst/>
          </a:prstGeom>
          <a:noFill/>
          <a:ln w="19050">
            <a:solidFill>
              <a:srgbClr val="C997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4983480" cy="365760"/>
          </a:xfrm>
          <a:prstGeom prst="rect">
            <a:avLst/>
          </a:prstGeom>
          <a:noFill/>
        </p:spPr>
        <p:txBody>
          <a:bodyPr wrap="square" anchor="t">
            <a:spAutoFit/>
          </a:bodyPr>
          <a:lstStyle/>
          <a:p>
            <a:pPr algn="l">
              <a:lnSpc>
                <a:spcPct val="100000"/>
              </a:lnSpc>
              <a:spcAft>
                <a:spcPts val="600"/>
              </a:spcAft>
            </a:pPr>
            <a:r>
              <a:rPr sz="1150" b="1">
                <a:solidFill>
                  <a:srgbClr val="C9971D"/>
                </a:solidFill>
                <a:latin typeface="Arial"/>
              </a:rPr>
              <a:t>AND IN THE ROOM TODAY</a:t>
            </a:r>
          </a:p>
        </p:txBody>
      </p:sp>
      <p:sp>
        <p:nvSpPr>
          <p:cNvPr id="7" name="TextBox 6"/>
          <p:cNvSpPr txBox="1"/>
          <p:nvPr/>
        </p:nvSpPr>
        <p:spPr>
          <a:xfrm>
            <a:off x="822960" y="3291840"/>
            <a:ext cx="4983480" cy="2011680"/>
          </a:xfrm>
          <a:prstGeom prst="rect">
            <a:avLst/>
          </a:prstGeom>
          <a:noFill/>
        </p:spPr>
        <p:txBody>
          <a:bodyPr wrap="square" anchor="t">
            <a:spAutoFit/>
          </a:bodyPr>
          <a:lstStyle/>
          <a:p>
            <a:pPr algn="l">
              <a:lnSpc>
                <a:spcPct val="105000"/>
              </a:lnSpc>
              <a:spcAft>
                <a:spcPts val="1200"/>
              </a:spcAft>
            </a:pPr>
            <a:r>
              <a:rPr sz="1300" b="0">
                <a:solidFill>
                  <a:srgbClr val="FFFFFF"/>
                </a:solidFill>
                <a:latin typeface="Arial"/>
              </a:rPr>
              <a:t>—  Name at least one additional independent team to run the second LiteLLM instance for the MVP demonstration.</a:t>
            </a:r>
          </a:p>
          <a:p>
            <a:pPr algn="l">
              <a:lnSpc>
                <a:spcPct val="105000"/>
              </a:lnSpc>
              <a:spcAft>
                <a:spcPts val="1200"/>
              </a:spcAft>
            </a:pPr>
            <a:r>
              <a:rPr sz="1300" b="0">
                <a:solidFill>
                  <a:srgbClr val="FFFFFF"/>
                </a:solidFill>
                <a:latin typeface="Arial"/>
              </a:rPr>
              <a:t>—  Agree the pilot workload starts in Observe mode — never Block on day one.</a:t>
            </a:r>
          </a:p>
        </p:txBody>
      </p:sp>
      <p:sp>
        <p:nvSpPr>
          <p:cNvPr id="8" name="Rounded Rectangle 7"/>
          <p:cNvSpPr/>
          <p:nvPr/>
        </p:nvSpPr>
        <p:spPr>
          <a:xfrm>
            <a:off x="6355080" y="2697480"/>
            <a:ext cx="5303520" cy="2743200"/>
          </a:xfrm>
          <a:prstGeom prst="roundRect">
            <a:avLst/>
          </a:prstGeom>
          <a:noFill/>
          <a:ln w="15240">
            <a:solidFill>
              <a:srgbClr val="5C6E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2880360"/>
            <a:ext cx="4800600" cy="365760"/>
          </a:xfrm>
          <a:prstGeom prst="rect">
            <a:avLst/>
          </a:prstGeom>
          <a:noFill/>
        </p:spPr>
        <p:txBody>
          <a:bodyPr wrap="square" anchor="t">
            <a:spAutoFit/>
          </a:bodyPr>
          <a:lstStyle/>
          <a:p>
            <a:pPr algn="l">
              <a:lnSpc>
                <a:spcPct val="100000"/>
              </a:lnSpc>
              <a:spcAft>
                <a:spcPts val="600"/>
              </a:spcAft>
            </a:pPr>
            <a:r>
              <a:rPr sz="1150" b="1">
                <a:solidFill>
                  <a:srgbClr val="9FAEBE"/>
                </a:solidFill>
                <a:latin typeface="Arial"/>
              </a:rPr>
              <a:t>EXPLICITLY NOT BEING ASKED FOR</a:t>
            </a:r>
          </a:p>
        </p:txBody>
      </p:sp>
      <p:sp>
        <p:nvSpPr>
          <p:cNvPr id="10" name="TextBox 9"/>
          <p:cNvSpPr txBox="1"/>
          <p:nvPr/>
        </p:nvSpPr>
        <p:spPr>
          <a:xfrm>
            <a:off x="6629400" y="3291840"/>
            <a:ext cx="4800600" cy="2011680"/>
          </a:xfrm>
          <a:prstGeom prst="rect">
            <a:avLst/>
          </a:prstGeom>
          <a:noFill/>
        </p:spPr>
        <p:txBody>
          <a:bodyPr wrap="square" anchor="t">
            <a:spAutoFit/>
          </a:bodyPr>
          <a:lstStyle/>
          <a:p>
            <a:pPr algn="l">
              <a:lnSpc>
                <a:spcPct val="105000"/>
              </a:lnSpc>
              <a:spcAft>
                <a:spcPts val="800"/>
              </a:spcAft>
            </a:pPr>
            <a:r>
              <a:rPr sz="1200" b="0">
                <a:solidFill>
                  <a:srgbClr val="C9D3DD"/>
                </a:solidFill>
                <a:latin typeface="Arial"/>
              </a:rPr>
              <a:t>—  A specific budget figure or headcount — TBD until the full-scope estimation is supplied by delivery and product leads.</a:t>
            </a:r>
          </a:p>
          <a:p>
            <a:pPr algn="l">
              <a:lnSpc>
                <a:spcPct val="105000"/>
              </a:lnSpc>
              <a:spcAft>
                <a:spcPts val="800"/>
              </a:spcAft>
            </a:pPr>
            <a:r>
              <a:rPr sz="1200" b="0">
                <a:solidFill>
                  <a:srgbClr val="C9D3DD"/>
                </a:solidFill>
                <a:latin typeface="Arial"/>
              </a:rPr>
              <a:t>—  Calendar dates — sequencing is agreed; dates are not.</a:t>
            </a:r>
          </a:p>
          <a:p>
            <a:pPr algn="l">
              <a:lnSpc>
                <a:spcPct val="105000"/>
              </a:lnSpc>
              <a:spcAft>
                <a:spcPts val="800"/>
              </a:spcAft>
            </a:pPr>
            <a:r>
              <a:rPr sz="1200" b="0">
                <a:solidFill>
                  <a:srgbClr val="C9D3DD"/>
                </a:solidFill>
                <a:latin typeface="Arial"/>
              </a:rPr>
              <a:t>—  Anything outside the defined feature set (authorization, DLP, compliance certification, MCP security platform).</a:t>
            </a:r>
          </a:p>
        </p:txBody>
      </p:sp>
      <p:sp>
        <p:nvSpPr>
          <p:cNvPr id="11" name="TextBox 10"/>
          <p:cNvSpPr txBox="1"/>
          <p:nvPr/>
        </p:nvSpPr>
        <p:spPr>
          <a:xfrm>
            <a:off x="548640" y="5897880"/>
            <a:ext cx="11094415" cy="457200"/>
          </a:xfrm>
          <a:prstGeom prst="rect">
            <a:avLst/>
          </a:prstGeom>
          <a:noFill/>
        </p:spPr>
        <p:txBody>
          <a:bodyPr wrap="square" anchor="t">
            <a:spAutoFit/>
          </a:bodyPr>
          <a:lstStyle/>
          <a:p>
            <a:pPr algn="l">
              <a:lnSpc>
                <a:spcPct val="100000"/>
              </a:lnSpc>
              <a:spcAft>
                <a:spcPts val="600"/>
              </a:spcAft>
            </a:pPr>
            <a:r>
              <a:rPr sz="1400" b="1">
                <a:solidFill>
                  <a:srgbClr val="FFFFFF"/>
                </a:solidFill>
                <a:latin typeface="Arial"/>
              </a:rPr>
              <a:t>Full scope approved and estimated up front — execution disciplined by five validation-gated phases.</a:t>
            </a:r>
          </a:p>
        </p:txBody>
      </p:sp>
      <p:sp>
        <p:nvSpPr>
          <p:cNvPr id="12" name="TextBox 11"/>
          <p:cNvSpPr txBox="1"/>
          <p:nvPr/>
        </p:nvSpPr>
        <p:spPr>
          <a:xfrm>
            <a:off x="548640" y="6400800"/>
            <a:ext cx="11094415" cy="320040"/>
          </a:xfrm>
          <a:prstGeom prst="rect">
            <a:avLst/>
          </a:prstGeom>
          <a:noFill/>
        </p:spPr>
        <p:txBody>
          <a:bodyPr wrap="square" anchor="t">
            <a:spAutoFit/>
          </a:bodyPr>
          <a:lstStyle/>
          <a:p>
            <a:pPr algn="l">
              <a:lnSpc>
                <a:spcPct val="100000"/>
              </a:lnSpc>
              <a:spcAft>
                <a:spcPts val="600"/>
              </a:spcAft>
            </a:pPr>
            <a:r>
              <a:rPr sz="1000" b="0">
                <a:solidFill>
                  <a:srgbClr val="8E9DAD"/>
                </a:solidFill>
                <a:latin typeface="Arial"/>
              </a:rPr>
              <a:t>Fallback if not decidable today: schedule a technical deep-dive against the architecture documentation.  ·  Contact / scheduling: TBD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BACKUP — USE ONLY IF RAISED IN Q&amp;A</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Objection handling</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600200"/>
          <a:ext cx="11091672" cy="4206240"/>
        </p:xfrm>
        <a:graphic>
          <a:graphicData uri="http://schemas.openxmlformats.org/drawingml/2006/table">
            <a:tbl>
              <a:tblPr firstRow="1" bandRow="1">
                <a:tableStyleId>{5C22544A-7EE6-4342-B048-85BDC9FD1C3A}</a:tableStyleId>
              </a:tblPr>
              <a:tblGrid>
                <a:gridCol w="4206240"/>
                <a:gridCol w="6885432"/>
              </a:tblGrid>
              <a:tr h="841248">
                <a:tc>
                  <a:txBody>
                    <a:bodyPr wrap="square"/>
                    <a:lstStyle/>
                    <a:p>
                      <a:r>
                        <a:rPr sz="1100" b="1">
                          <a:solidFill>
                            <a:srgbClr val="FFFFFF"/>
                          </a:solidFill>
                          <a:latin typeface="Arial"/>
                        </a:rPr>
                        <a:t>If asked…</a:t>
                      </a:r>
                    </a:p>
                  </a:txBody>
                  <a:tcPr marL="73152" marR="73152" marT="36576" marB="36576" anchor="ctr">
                    <a:solidFill>
                      <a:srgbClr val="2B3A49"/>
                    </a:solidFill>
                  </a:tcPr>
                </a:tc>
                <a:tc>
                  <a:txBody>
                    <a:bodyPr wrap="square"/>
                    <a:lstStyle/>
                    <a:p>
                      <a:r>
                        <a:rPr sz="1100" b="1">
                          <a:solidFill>
                            <a:srgbClr val="FFFFFF"/>
                          </a:solidFill>
                          <a:latin typeface="Arial"/>
                        </a:rPr>
                        <a:t>The grounded answer</a:t>
                      </a:r>
                    </a:p>
                  </a:txBody>
                  <a:tcPr marL="73152" marR="73152" marT="36576" marB="36576" anchor="ctr">
                    <a:solidFill>
                      <a:srgbClr val="2B3A49"/>
                    </a:solidFill>
                  </a:tcPr>
                </a:tc>
              </a:tr>
              <a:tr h="841248">
                <a:tc>
                  <a:txBody>
                    <a:bodyPr wrap="square"/>
                    <a:lstStyle/>
                    <a:p>
                      <a:r>
                        <a:rPr sz="1150" b="0">
                          <a:solidFill>
                            <a:srgbClr val="2B3A49"/>
                          </a:solidFill>
                          <a:latin typeface="Arial"/>
                        </a:rPr>
                        <a:t>“Doesn't sending prompts to your service create a data problem?”</a:t>
                      </a:r>
                    </a:p>
                  </a:txBody>
                  <a:tcPr marL="73152" marR="73152" marT="36576" marB="36576" anchor="ctr">
                    <a:solidFill>
                      <a:srgbClr val="FFFFFF"/>
                    </a:solidFill>
                  </a:tcPr>
                </a:tc>
                <a:tc>
                  <a:txBody>
                    <a:bodyPr wrap="square"/>
                    <a:lstStyle/>
                    <a:p>
                      <a:r>
                        <a:rPr sz="1150" b="0">
                          <a:solidFill>
                            <a:srgbClr val="2B3A49"/>
                          </a:solidFill>
                          <a:latin typeface="Arial"/>
                        </a:rPr>
                        <a:t>In Mode A, yes — content reaches the hosted Evaluation API, and we say so upfront. No raw retention by default. Workloads that cannot accept it target Customer-Managed Runtime (Phase 4).</a:t>
                      </a:r>
                    </a:p>
                  </a:txBody>
                  <a:tcPr marL="73152" marR="73152" marT="36576" marB="36576" anchor="ctr">
                    <a:solidFill>
                      <a:srgbClr val="FFFFFF"/>
                    </a:solidFill>
                  </a:tcPr>
                </a:tc>
              </a:tr>
              <a:tr h="841248">
                <a:tc>
                  <a:txBody>
                    <a:bodyPr wrap="square"/>
                    <a:lstStyle/>
                    <a:p>
                      <a:r>
                        <a:rPr sz="1150" b="0">
                          <a:solidFill>
                            <a:srgbClr val="2B3A49"/>
                          </a:solidFill>
                          <a:latin typeface="Arial"/>
                        </a:rPr>
                        <a:t>“Can't a team just remove the connector?”</a:t>
                      </a:r>
                    </a:p>
                  </a:txBody>
                  <a:tcPr marL="73152" marR="73152" marT="36576" marB="36576" anchor="ctr">
                    <a:solidFill>
                      <a:srgbClr val="FFFFFF"/>
                    </a:solidFill>
                  </a:tcPr>
                </a:tc>
                <a:tc>
                  <a:txBody>
                    <a:bodyPr wrap="square"/>
                    <a:lstStyle/>
                    <a:p>
                      <a:r>
                        <a:rPr sz="1150" b="0">
                          <a:solidFill>
                            <a:srgbClr val="2B3A49"/>
                          </a:solidFill>
                          <a:latin typeface="Arial"/>
                        </a:rPr>
                        <a:t>In cooperative mode, yes — it is not a hard boundary and we never claim otherwise. Platform-managed and network/IAM-enforced postures exist for bypass resistance, later.</a:t>
                      </a:r>
                    </a:p>
                  </a:txBody>
                  <a:tcPr marL="73152" marR="73152" marT="36576" marB="36576" anchor="ctr">
                    <a:solidFill>
                      <a:srgbClr val="FFFFFF"/>
                    </a:solidFill>
                  </a:tcPr>
                </a:tc>
              </a:tr>
              <a:tr h="841248">
                <a:tc>
                  <a:txBody>
                    <a:bodyPr wrap="square"/>
                    <a:lstStyle/>
                    <a:p>
                      <a:r>
                        <a:rPr sz="1150" b="0">
                          <a:solidFill>
                            <a:srgbClr val="2B3A49"/>
                          </a:solidFill>
                          <a:latin typeface="Arial"/>
                        </a:rPr>
                        <a:t>“What latency does evaluation add?”</a:t>
                      </a:r>
                    </a:p>
                  </a:txBody>
                  <a:tcPr marL="73152" marR="73152" marT="36576" marB="36576" anchor="ctr">
                    <a:solidFill>
                      <a:srgbClr val="FFFFFF"/>
                    </a:solidFill>
                  </a:tcPr>
                </a:tc>
                <a:tc>
                  <a:txBody>
                    <a:bodyPr wrap="square"/>
                    <a:lstStyle/>
                    <a:p>
                      <a:r>
                        <a:rPr sz="1150" b="0">
                          <a:solidFill>
                            <a:srgbClr val="2B3A49"/>
                          </a:solidFill>
                          <a:latin typeface="Arial"/>
                        </a:rPr>
                        <a:t>A real cost on every request; no figure exists yet. The platform measures P50/P95/P99 per stage, and Observe mode measures a workload's own tolerance before enforcement.</a:t>
                      </a:r>
                    </a:p>
                  </a:txBody>
                  <a:tcPr marL="73152" marR="73152" marT="36576" marB="36576" anchor="ctr">
                    <a:solidFill>
                      <a:srgbClr val="FFFFFF"/>
                    </a:solidFill>
                  </a:tcPr>
                </a:tc>
              </a:tr>
              <a:tr h="841248">
                <a:tc>
                  <a:txBody>
                    <a:bodyPr wrap="square"/>
                    <a:lstStyle/>
                    <a:p>
                      <a:r>
                        <a:rPr sz="1150" b="0">
                          <a:solidFill>
                            <a:srgbClr val="2B3A49"/>
                          </a:solidFill>
                          <a:latin typeface="Arial"/>
                        </a:rPr>
                        <a:t>“Does a passing guardrail check mean the workload is secure?”</a:t>
                      </a:r>
                    </a:p>
                  </a:txBody>
                  <a:tcPr marL="73152" marR="73152" marT="36576" marB="36576" anchor="ctr">
                    <a:solidFill>
                      <a:srgbClr val="FFFFFF"/>
                    </a:solidFill>
                  </a:tcPr>
                </a:tc>
                <a:tc>
                  <a:txBody>
                    <a:bodyPr wrap="square"/>
                    <a:lstStyle/>
                    <a:p>
                      <a:r>
                        <a:rPr sz="1150" b="0">
                          <a:solidFill>
                            <a:srgbClr val="2B3A49"/>
                          </a:solidFill>
                          <a:latin typeface="Arial"/>
                        </a:rPr>
                        <a:t>No. Content evaluation is one narrow layer — authorization, tenant isolation, and application security remain the application's responsibility.</a:t>
                      </a:r>
                    </a:p>
                  </a:txBody>
                  <a:tcPr marL="73152" marR="73152" marT="36576" marB="36576" anchor="ctr">
                    <a:solidFill>
                      <a:srgbClr val="FFFFFF"/>
                    </a:solidFill>
                  </a:tcPr>
                </a:tc>
              </a:tr>
            </a:tbl>
          </a:graphicData>
        </a:graphic>
      </p:graphicFrame>
      <p:sp>
        <p:nvSpPr>
          <p:cNvPr id="6" name="TextBox 5"/>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Backup slide — not presented by default</a:t>
            </a:r>
          </a:p>
        </p:txBody>
      </p:sp>
      <p:sp>
        <p:nvSpPr>
          <p:cNvPr id="7" name="TextBox 6"/>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B1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94415" cy="274320"/>
          </a:xfrm>
          <a:prstGeom prst="rect">
            <a:avLst/>
          </a:prstGeom>
          <a:noFill/>
        </p:spPr>
        <p:txBody>
          <a:bodyPr wrap="square" anchor="t">
            <a:spAutoFit/>
          </a:bodyPr>
          <a:lstStyle/>
          <a:p>
            <a:pPr algn="l">
              <a:lnSpc>
                <a:spcPct val="100000"/>
              </a:lnSpc>
              <a:spcAft>
                <a:spcPts val="600"/>
              </a:spcAft>
            </a:pPr>
            <a:r>
              <a:rPr sz="1100" b="1">
                <a:solidFill>
                  <a:srgbClr val="607086"/>
                </a:solidFill>
                <a:latin typeface="Arial"/>
              </a:rPr>
              <a:t>BACKUP — USE ONLY IF TERMINOLOGY GETS LOST</a:t>
            </a:r>
          </a:p>
        </p:txBody>
      </p:sp>
      <p:sp>
        <p:nvSpPr>
          <p:cNvPr id="3" name="TextBox 2"/>
          <p:cNvSpPr txBox="1"/>
          <p:nvPr/>
        </p:nvSpPr>
        <p:spPr>
          <a:xfrm>
            <a:off x="548640" y="566928"/>
            <a:ext cx="11094415" cy="685800"/>
          </a:xfrm>
          <a:prstGeom prst="rect">
            <a:avLst/>
          </a:prstGeom>
          <a:noFill/>
        </p:spPr>
        <p:txBody>
          <a:bodyPr wrap="square" anchor="t">
            <a:spAutoFit/>
          </a:bodyPr>
          <a:lstStyle/>
          <a:p>
            <a:pPr algn="l">
              <a:lnSpc>
                <a:spcPct val="100000"/>
              </a:lnSpc>
              <a:spcAft>
                <a:spcPts val="600"/>
              </a:spcAft>
            </a:pPr>
            <a:r>
              <a:rPr sz="2700" b="1">
                <a:solidFill>
                  <a:srgbClr val="2B3A49"/>
                </a:solidFill>
                <a:latin typeface="Arial"/>
              </a:rPr>
              <a:t>Domain model, in six terms</a:t>
            </a:r>
          </a:p>
        </p:txBody>
      </p:sp>
      <p:sp>
        <p:nvSpPr>
          <p:cNvPr id="4" name="Rectangle 3"/>
          <p:cNvSpPr/>
          <p:nvPr/>
        </p:nvSpPr>
        <p:spPr>
          <a:xfrm>
            <a:off x="548640" y="1261872"/>
            <a:ext cx="1371600" cy="33020"/>
          </a:xfrm>
          <a:prstGeom prst="rect">
            <a:avLst/>
          </a:prstGeom>
          <a:solidFill>
            <a:srgbClr val="C997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2468880" cy="457200"/>
          </a:xfrm>
          <a:prstGeom prst="rect">
            <a:avLst/>
          </a:prstGeom>
          <a:noFill/>
        </p:spPr>
        <p:txBody>
          <a:bodyPr wrap="square" anchor="t">
            <a:spAutoFit/>
          </a:bodyPr>
          <a:lstStyle/>
          <a:p>
            <a:pPr algn="l">
              <a:lnSpc>
                <a:spcPct val="100000"/>
              </a:lnSpc>
              <a:spcAft>
                <a:spcPts val="600"/>
              </a:spcAft>
            </a:pPr>
            <a:r>
              <a:rPr sz="1500" b="1">
                <a:solidFill>
                  <a:srgbClr val="2B3A49"/>
                </a:solidFill>
                <a:latin typeface="Arial"/>
              </a:rPr>
              <a:t>Tenant</a:t>
            </a:r>
          </a:p>
        </p:txBody>
      </p:sp>
      <p:sp>
        <p:nvSpPr>
          <p:cNvPr id="6" name="TextBox 5"/>
          <p:cNvSpPr txBox="1"/>
          <p:nvPr/>
        </p:nvSpPr>
        <p:spPr>
          <a:xfrm>
            <a:off x="3200400" y="1691640"/>
            <a:ext cx="8412480" cy="566928"/>
          </a:xfrm>
          <a:prstGeom prst="rect">
            <a:avLst/>
          </a:prstGeom>
          <a:noFill/>
        </p:spPr>
        <p:txBody>
          <a:bodyPr wrap="square" anchor="t">
            <a:spAutoFit/>
          </a:bodyPr>
          <a:lstStyle/>
          <a:p>
            <a:pPr algn="l">
              <a:lnSpc>
                <a:spcPct val="100000"/>
              </a:lnSpc>
              <a:spcAft>
                <a:spcPts val="600"/>
              </a:spcAft>
            </a:pPr>
            <a:r>
              <a:rPr sz="1300" b="0">
                <a:solidFill>
                  <a:srgbClr val="607086"/>
                </a:solidFill>
                <a:latin typeface="Arial"/>
              </a:rPr>
              <a:t>The organizational unit that owns policies and workloads.</a:t>
            </a:r>
          </a:p>
        </p:txBody>
      </p:sp>
      <p:sp>
        <p:nvSpPr>
          <p:cNvPr id="7" name="TextBox 6"/>
          <p:cNvSpPr txBox="1"/>
          <p:nvPr/>
        </p:nvSpPr>
        <p:spPr>
          <a:xfrm>
            <a:off x="548640" y="2377440"/>
            <a:ext cx="2468880" cy="457200"/>
          </a:xfrm>
          <a:prstGeom prst="rect">
            <a:avLst/>
          </a:prstGeom>
          <a:noFill/>
        </p:spPr>
        <p:txBody>
          <a:bodyPr wrap="square" anchor="t">
            <a:spAutoFit/>
          </a:bodyPr>
          <a:lstStyle/>
          <a:p>
            <a:pPr algn="l">
              <a:lnSpc>
                <a:spcPct val="100000"/>
              </a:lnSpc>
              <a:spcAft>
                <a:spcPts val="600"/>
              </a:spcAft>
            </a:pPr>
            <a:r>
              <a:rPr sz="1500" b="1">
                <a:solidFill>
                  <a:srgbClr val="2B3A49"/>
                </a:solidFill>
                <a:latin typeface="Arial"/>
              </a:rPr>
              <a:t>Workload</a:t>
            </a:r>
          </a:p>
        </p:txBody>
      </p:sp>
      <p:sp>
        <p:nvSpPr>
          <p:cNvPr id="8" name="TextBox 7"/>
          <p:cNvSpPr txBox="1"/>
          <p:nvPr/>
        </p:nvSpPr>
        <p:spPr>
          <a:xfrm>
            <a:off x="3200400" y="2377440"/>
            <a:ext cx="8412480" cy="566928"/>
          </a:xfrm>
          <a:prstGeom prst="rect">
            <a:avLst/>
          </a:prstGeom>
          <a:noFill/>
        </p:spPr>
        <p:txBody>
          <a:bodyPr wrap="square" anchor="t">
            <a:spAutoFit/>
          </a:bodyPr>
          <a:lstStyle/>
          <a:p>
            <a:pPr algn="l">
              <a:lnSpc>
                <a:spcPct val="100000"/>
              </a:lnSpc>
              <a:spcAft>
                <a:spcPts val="600"/>
              </a:spcAft>
            </a:pPr>
            <a:r>
              <a:rPr sz="1300" b="0">
                <a:solidFill>
                  <a:srgbClr val="607086"/>
                </a:solidFill>
                <a:latin typeface="Arial"/>
              </a:rPr>
              <a:t>A registered application or gateway integration whose traffic gets evaluated.</a:t>
            </a:r>
          </a:p>
        </p:txBody>
      </p:sp>
      <p:sp>
        <p:nvSpPr>
          <p:cNvPr id="9" name="TextBox 8"/>
          <p:cNvSpPr txBox="1"/>
          <p:nvPr/>
        </p:nvSpPr>
        <p:spPr>
          <a:xfrm>
            <a:off x="548640" y="3063240"/>
            <a:ext cx="2468880" cy="457200"/>
          </a:xfrm>
          <a:prstGeom prst="rect">
            <a:avLst/>
          </a:prstGeom>
          <a:noFill/>
        </p:spPr>
        <p:txBody>
          <a:bodyPr wrap="square" anchor="t">
            <a:spAutoFit/>
          </a:bodyPr>
          <a:lstStyle/>
          <a:p>
            <a:pPr algn="l">
              <a:lnSpc>
                <a:spcPct val="100000"/>
              </a:lnSpc>
              <a:spcAft>
                <a:spcPts val="600"/>
              </a:spcAft>
            </a:pPr>
            <a:r>
              <a:rPr sz="1500" b="1">
                <a:solidFill>
                  <a:srgbClr val="2B3A49"/>
                </a:solidFill>
                <a:latin typeface="Arial"/>
              </a:rPr>
              <a:t>Policy</a:t>
            </a:r>
          </a:p>
        </p:txBody>
      </p:sp>
      <p:sp>
        <p:nvSpPr>
          <p:cNvPr id="10" name="TextBox 9"/>
          <p:cNvSpPr txBox="1"/>
          <p:nvPr/>
        </p:nvSpPr>
        <p:spPr>
          <a:xfrm>
            <a:off x="3200400" y="3063240"/>
            <a:ext cx="8412480" cy="566928"/>
          </a:xfrm>
          <a:prstGeom prst="rect">
            <a:avLst/>
          </a:prstGeom>
          <a:noFill/>
        </p:spPr>
        <p:txBody>
          <a:bodyPr wrap="square" anchor="t">
            <a:spAutoFit/>
          </a:bodyPr>
          <a:lstStyle/>
          <a:p>
            <a:pPr algn="l">
              <a:lnSpc>
                <a:spcPct val="100000"/>
              </a:lnSpc>
              <a:spcAft>
                <a:spcPts val="600"/>
              </a:spcAft>
            </a:pPr>
            <a:r>
              <a:rPr sz="1300" b="0">
                <a:solidFill>
                  <a:srgbClr val="607086"/>
                </a:solidFill>
                <a:latin typeface="Arial"/>
              </a:rPr>
              <a:t>A versioned definition of what to evaluate and how to act on violations.</a:t>
            </a:r>
          </a:p>
        </p:txBody>
      </p:sp>
      <p:sp>
        <p:nvSpPr>
          <p:cNvPr id="11" name="TextBox 10"/>
          <p:cNvSpPr txBox="1"/>
          <p:nvPr/>
        </p:nvSpPr>
        <p:spPr>
          <a:xfrm>
            <a:off x="548640" y="3749040"/>
            <a:ext cx="2468880" cy="457200"/>
          </a:xfrm>
          <a:prstGeom prst="rect">
            <a:avLst/>
          </a:prstGeom>
          <a:noFill/>
        </p:spPr>
        <p:txBody>
          <a:bodyPr wrap="square" anchor="t">
            <a:spAutoFit/>
          </a:bodyPr>
          <a:lstStyle/>
          <a:p>
            <a:pPr algn="l">
              <a:lnSpc>
                <a:spcPct val="100000"/>
              </a:lnSpc>
              <a:spcAft>
                <a:spcPts val="600"/>
              </a:spcAft>
            </a:pPr>
            <a:r>
              <a:rPr sz="1500" b="1">
                <a:solidFill>
                  <a:srgbClr val="2B3A49"/>
                </a:solidFill>
                <a:latin typeface="Arial"/>
              </a:rPr>
              <a:t>Policy binding</a:t>
            </a:r>
          </a:p>
        </p:txBody>
      </p:sp>
      <p:sp>
        <p:nvSpPr>
          <p:cNvPr id="12" name="TextBox 11"/>
          <p:cNvSpPr txBox="1"/>
          <p:nvPr/>
        </p:nvSpPr>
        <p:spPr>
          <a:xfrm>
            <a:off x="3200400" y="3749040"/>
            <a:ext cx="8412480" cy="566928"/>
          </a:xfrm>
          <a:prstGeom prst="rect">
            <a:avLst/>
          </a:prstGeom>
          <a:noFill/>
        </p:spPr>
        <p:txBody>
          <a:bodyPr wrap="square" anchor="t">
            <a:spAutoFit/>
          </a:bodyPr>
          <a:lstStyle/>
          <a:p>
            <a:pPr algn="l">
              <a:lnSpc>
                <a:spcPct val="100000"/>
              </a:lnSpc>
              <a:spcAft>
                <a:spcPts val="600"/>
              </a:spcAft>
            </a:pPr>
            <a:r>
              <a:rPr sz="1300" b="0">
                <a:solidFill>
                  <a:srgbClr val="607086"/>
                </a:solidFill>
                <a:latin typeface="Arial"/>
              </a:rPr>
              <a:t>The attachment of one policy version to one workload, with an enforcement mode.</a:t>
            </a:r>
          </a:p>
        </p:txBody>
      </p:sp>
      <p:sp>
        <p:nvSpPr>
          <p:cNvPr id="13" name="TextBox 12"/>
          <p:cNvSpPr txBox="1"/>
          <p:nvPr/>
        </p:nvSpPr>
        <p:spPr>
          <a:xfrm>
            <a:off x="548640" y="4434840"/>
            <a:ext cx="2468880" cy="457200"/>
          </a:xfrm>
          <a:prstGeom prst="rect">
            <a:avLst/>
          </a:prstGeom>
          <a:noFill/>
        </p:spPr>
        <p:txBody>
          <a:bodyPr wrap="square" anchor="t">
            <a:spAutoFit/>
          </a:bodyPr>
          <a:lstStyle/>
          <a:p>
            <a:pPr algn="l">
              <a:lnSpc>
                <a:spcPct val="100000"/>
              </a:lnSpc>
              <a:spcAft>
                <a:spcPts val="600"/>
              </a:spcAft>
            </a:pPr>
            <a:r>
              <a:rPr sz="1500" b="1">
                <a:solidFill>
                  <a:srgbClr val="2B3A49"/>
                </a:solidFill>
                <a:latin typeface="Arial"/>
              </a:rPr>
              <a:t>Evaluation</a:t>
            </a:r>
          </a:p>
        </p:txBody>
      </p:sp>
      <p:sp>
        <p:nvSpPr>
          <p:cNvPr id="14" name="TextBox 13"/>
          <p:cNvSpPr txBox="1"/>
          <p:nvPr/>
        </p:nvSpPr>
        <p:spPr>
          <a:xfrm>
            <a:off x="3200400" y="4434840"/>
            <a:ext cx="8412480" cy="566928"/>
          </a:xfrm>
          <a:prstGeom prst="rect">
            <a:avLst/>
          </a:prstGeom>
          <a:noFill/>
        </p:spPr>
        <p:txBody>
          <a:bodyPr wrap="square" anchor="t">
            <a:spAutoFit/>
          </a:bodyPr>
          <a:lstStyle/>
          <a:p>
            <a:pPr algn="l">
              <a:lnSpc>
                <a:spcPct val="100000"/>
              </a:lnSpc>
              <a:spcAft>
                <a:spcPts val="600"/>
              </a:spcAft>
            </a:pPr>
            <a:r>
              <a:rPr sz="1300" b="0">
                <a:solidFill>
                  <a:srgbClr val="607086"/>
                </a:solidFill>
                <a:latin typeface="Arial"/>
              </a:rPr>
              <a:t>One input- or output-stage check of content against a bound policy.</a:t>
            </a:r>
          </a:p>
        </p:txBody>
      </p:sp>
      <p:sp>
        <p:nvSpPr>
          <p:cNvPr id="15" name="TextBox 14"/>
          <p:cNvSpPr txBox="1"/>
          <p:nvPr/>
        </p:nvSpPr>
        <p:spPr>
          <a:xfrm>
            <a:off x="548640" y="5120640"/>
            <a:ext cx="2468880" cy="457200"/>
          </a:xfrm>
          <a:prstGeom prst="rect">
            <a:avLst/>
          </a:prstGeom>
          <a:noFill/>
        </p:spPr>
        <p:txBody>
          <a:bodyPr wrap="square" anchor="t">
            <a:spAutoFit/>
          </a:bodyPr>
          <a:lstStyle/>
          <a:p>
            <a:pPr algn="l">
              <a:lnSpc>
                <a:spcPct val="100000"/>
              </a:lnSpc>
              <a:spcAft>
                <a:spcPts val="600"/>
              </a:spcAft>
            </a:pPr>
            <a:r>
              <a:rPr sz="1500" b="1">
                <a:solidFill>
                  <a:srgbClr val="2B3A49"/>
                </a:solidFill>
                <a:latin typeface="Arial"/>
              </a:rPr>
              <a:t>Decision</a:t>
            </a:r>
          </a:p>
        </p:txBody>
      </p:sp>
      <p:sp>
        <p:nvSpPr>
          <p:cNvPr id="16" name="TextBox 15"/>
          <p:cNvSpPr txBox="1"/>
          <p:nvPr/>
        </p:nvSpPr>
        <p:spPr>
          <a:xfrm>
            <a:off x="3200400" y="5120640"/>
            <a:ext cx="8412480" cy="566928"/>
          </a:xfrm>
          <a:prstGeom prst="rect">
            <a:avLst/>
          </a:prstGeom>
          <a:noFill/>
        </p:spPr>
        <p:txBody>
          <a:bodyPr wrap="square" anchor="t">
            <a:spAutoFit/>
          </a:bodyPr>
          <a:lstStyle/>
          <a:p>
            <a:pPr algn="l">
              <a:lnSpc>
                <a:spcPct val="100000"/>
              </a:lnSpc>
              <a:spcAft>
                <a:spcPts val="600"/>
              </a:spcAft>
            </a:pPr>
            <a:r>
              <a:rPr sz="1300" b="0">
                <a:solidFill>
                  <a:srgbClr val="607086"/>
                </a:solidFill>
                <a:latin typeface="Arial"/>
              </a:rPr>
              <a:t>The normalized result: allow / block / redact / log_only, with reason codes, policy version, and audit metadata.</a:t>
            </a:r>
          </a:p>
        </p:txBody>
      </p:sp>
      <p:sp>
        <p:nvSpPr>
          <p:cNvPr id="17" name="TextBox 16"/>
          <p:cNvSpPr txBox="1"/>
          <p:nvPr/>
        </p:nvSpPr>
        <p:spPr>
          <a:xfrm>
            <a:off x="548640" y="5897880"/>
            <a:ext cx="11094415" cy="457200"/>
          </a:xfrm>
          <a:prstGeom prst="rect">
            <a:avLst/>
          </a:prstGeom>
          <a:noFill/>
        </p:spPr>
        <p:txBody>
          <a:bodyPr wrap="square" anchor="t">
            <a:spAutoFit/>
          </a:bodyPr>
          <a:lstStyle/>
          <a:p>
            <a:pPr algn="l">
              <a:lnSpc>
                <a:spcPct val="100000"/>
              </a:lnSpc>
              <a:spcAft>
                <a:spcPts val="600"/>
              </a:spcAft>
            </a:pPr>
            <a:r>
              <a:rPr sz="1250" b="1">
                <a:solidFill>
                  <a:srgbClr val="2B3A49"/>
                </a:solidFill>
                <a:latin typeface="Arial"/>
              </a:rPr>
              <a:t>Stable across every deployment mode — the same six concepts, hosted or customer-managed.</a:t>
            </a:r>
          </a:p>
        </p:txBody>
      </p:sp>
      <p:sp>
        <p:nvSpPr>
          <p:cNvPr id="18" name="TextBox 17"/>
          <p:cNvSpPr txBox="1"/>
          <p:nvPr/>
        </p:nvSpPr>
        <p:spPr>
          <a:xfrm>
            <a:off x="548640" y="6473952"/>
            <a:ext cx="8686800" cy="274320"/>
          </a:xfrm>
          <a:prstGeom prst="rect">
            <a:avLst/>
          </a:prstGeom>
          <a:noFill/>
        </p:spPr>
        <p:txBody>
          <a:bodyPr wrap="square" anchor="t">
            <a:spAutoFit/>
          </a:bodyPr>
          <a:lstStyle/>
          <a:p>
            <a:pPr algn="l">
              <a:lnSpc>
                <a:spcPct val="100000"/>
              </a:lnSpc>
              <a:spcAft>
                <a:spcPts val="600"/>
              </a:spcAft>
            </a:pPr>
            <a:r>
              <a:rPr sz="800" b="0">
                <a:solidFill>
                  <a:srgbClr val="607086"/>
                </a:solidFill>
                <a:latin typeface="Arial"/>
              </a:rPr>
              <a:t>AI Guardrails — implementation proposal  ·  Backup slide — not presented by default</a:t>
            </a:r>
          </a:p>
        </p:txBody>
      </p:sp>
      <p:sp>
        <p:nvSpPr>
          <p:cNvPr id="19" name="TextBox 18"/>
          <p:cNvSpPr txBox="1"/>
          <p:nvPr/>
        </p:nvSpPr>
        <p:spPr>
          <a:xfrm>
            <a:off x="10911535" y="6473952"/>
            <a:ext cx="731520" cy="274320"/>
          </a:xfrm>
          <a:prstGeom prst="rect">
            <a:avLst/>
          </a:prstGeom>
          <a:noFill/>
        </p:spPr>
        <p:txBody>
          <a:bodyPr wrap="square" anchor="t">
            <a:spAutoFit/>
          </a:bodyPr>
          <a:lstStyle/>
          <a:p>
            <a:pPr algn="r">
              <a:lnSpc>
                <a:spcPct val="100000"/>
              </a:lnSpc>
              <a:spcAft>
                <a:spcPts val="600"/>
              </a:spcAft>
            </a:pPr>
            <a:r>
              <a:rPr sz="800" b="0">
                <a:solidFill>
                  <a:srgbClr val="607086"/>
                </a:solidFill>
                <a:latin typeface="Arial"/>
              </a:rPr>
              <a:t>B2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